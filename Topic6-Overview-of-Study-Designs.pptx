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5728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5374F"/>
        </a:solidFill>
        <a:effectLst/>
      </p:bgPr>
    </p:bg>
    <p:spTree>
      <p:nvGrpSpPr>
        <p:cNvPr id="1" name=""/>
        <p:cNvGrpSpPr/>
        <p:nvPr/>
      </p:nvGrpSpPr>
      <p:grpSpPr>
        <a:xfrm>
          <a:off x="0" y="0"/>
          <a:ext cx="0" cy="0"/>
          <a:chOff x="0" y="0"/>
          <a:chExt cx="0" cy="0"/>
        </a:xfrm>
      </p:grpSpPr>
      <p:sp>
        <p:nvSpPr>
          <p:cNvPr id="3" name="Shape 1"/>
          <p:cNvSpPr/>
          <p:nvPr/>
        </p:nvSpPr>
        <p:spPr>
          <a:xfrm>
            <a:off x="6995160" y="3634740"/>
            <a:ext cx="1783080" cy="1783080"/>
          </a:xfrm>
          <a:prstGeom prst="ellipse">
            <a:avLst/>
          </a:prstGeom>
          <a:solidFill>
            <a:srgbClr val="FFFFFF"/>
          </a:solidFill>
          <a:ln/>
        </p:spPr>
        <p:txBody>
          <a:bodyPr/>
          <a:lstStyle/>
          <a:p>
            <a:endParaRPr lang="en-ZW"/>
          </a:p>
        </p:txBody>
      </p:sp>
      <p:sp>
        <p:nvSpPr>
          <p:cNvPr id="4" name="Shape 2"/>
          <p:cNvSpPr/>
          <p:nvPr/>
        </p:nvSpPr>
        <p:spPr>
          <a:xfrm>
            <a:off x="7178040" y="4000500"/>
            <a:ext cx="246888" cy="502920"/>
          </a:xfrm>
          <a:prstGeom prst="roundRect">
            <a:avLst>
              <a:gd name="adj" fmla="val 7407"/>
            </a:avLst>
          </a:prstGeom>
          <a:solidFill>
            <a:srgbClr val="E63425"/>
          </a:solidFill>
          <a:ln/>
        </p:spPr>
        <p:txBody>
          <a:bodyPr/>
          <a:lstStyle/>
          <a:p>
            <a:endParaRPr lang="en-ZW"/>
          </a:p>
        </p:txBody>
      </p:sp>
      <p:sp>
        <p:nvSpPr>
          <p:cNvPr id="5" name="Shape 3"/>
          <p:cNvSpPr/>
          <p:nvPr/>
        </p:nvSpPr>
        <p:spPr>
          <a:xfrm>
            <a:off x="7479792" y="3680460"/>
            <a:ext cx="246888" cy="822960"/>
          </a:xfrm>
          <a:prstGeom prst="roundRect">
            <a:avLst>
              <a:gd name="adj" fmla="val 7407"/>
            </a:avLst>
          </a:prstGeom>
          <a:solidFill>
            <a:srgbClr val="F2A93B"/>
          </a:solidFill>
          <a:ln/>
        </p:spPr>
        <p:txBody>
          <a:bodyPr/>
          <a:lstStyle/>
          <a:p>
            <a:endParaRPr lang="en-ZW"/>
          </a:p>
        </p:txBody>
      </p:sp>
      <p:sp>
        <p:nvSpPr>
          <p:cNvPr id="6" name="Shape 4"/>
          <p:cNvSpPr/>
          <p:nvPr/>
        </p:nvSpPr>
        <p:spPr>
          <a:xfrm>
            <a:off x="7781544" y="3406140"/>
            <a:ext cx="246888" cy="1097280"/>
          </a:xfrm>
          <a:prstGeom prst="roundRect">
            <a:avLst>
              <a:gd name="adj" fmla="val 7407"/>
            </a:avLst>
          </a:prstGeom>
          <a:solidFill>
            <a:srgbClr val="5B9A56"/>
          </a:solidFill>
          <a:ln/>
        </p:spPr>
        <p:txBody>
          <a:bodyPr/>
          <a:lstStyle/>
          <a:p>
            <a:endParaRPr lang="en-ZW"/>
          </a:p>
        </p:txBody>
      </p:sp>
      <p:sp>
        <p:nvSpPr>
          <p:cNvPr id="7" name="Shape 5"/>
          <p:cNvSpPr/>
          <p:nvPr/>
        </p:nvSpPr>
        <p:spPr>
          <a:xfrm>
            <a:off x="8083296" y="3131820"/>
            <a:ext cx="246888" cy="1371600"/>
          </a:xfrm>
          <a:prstGeom prst="roundRect">
            <a:avLst>
              <a:gd name="adj" fmla="val 7407"/>
            </a:avLst>
          </a:prstGeom>
          <a:solidFill>
            <a:srgbClr val="2E8B9B"/>
          </a:solidFill>
          <a:ln/>
        </p:spPr>
        <p:txBody>
          <a:bodyPr/>
          <a:lstStyle/>
          <a:p>
            <a:endParaRPr lang="en-ZW"/>
          </a:p>
        </p:txBody>
      </p:sp>
      <p:sp>
        <p:nvSpPr>
          <p:cNvPr id="9" name="Text 7"/>
          <p:cNvSpPr/>
          <p:nvPr/>
        </p:nvSpPr>
        <p:spPr>
          <a:xfrm>
            <a:off x="548640" y="1417320"/>
            <a:ext cx="6217920" cy="228600"/>
          </a:xfrm>
          <a:prstGeom prst="rect">
            <a:avLst/>
          </a:prstGeom>
          <a:noFill/>
          <a:ln/>
        </p:spPr>
        <p:txBody>
          <a:bodyPr wrap="square" rtlCol="0" anchor="ctr"/>
          <a:lstStyle/>
          <a:p>
            <a:pPr marL="0" indent="0">
              <a:buNone/>
            </a:pPr>
            <a:r>
              <a:rPr lang="en-US" sz="1100" b="1" kern="0" spc="120" dirty="0">
                <a:solidFill>
                  <a:srgbClr val="E63425"/>
                </a:solidFill>
                <a:latin typeface="Calibri" pitchFamily="34" charset="0"/>
                <a:ea typeface="Calibri" pitchFamily="34" charset="-122"/>
                <a:cs typeface="Calibri" pitchFamily="34" charset="-120"/>
              </a:rPr>
              <a:t>RESEARCH MASTERCLASS FOR CLINICIANS · MODULE 1</a:t>
            </a:r>
            <a:endParaRPr lang="en-US" sz="1100" dirty="0"/>
          </a:p>
        </p:txBody>
      </p:sp>
      <p:sp>
        <p:nvSpPr>
          <p:cNvPr id="10" name="Text 8"/>
          <p:cNvSpPr/>
          <p:nvPr/>
        </p:nvSpPr>
        <p:spPr>
          <a:xfrm>
            <a:off x="548640" y="1801368"/>
            <a:ext cx="6217920" cy="578358"/>
          </a:xfrm>
          <a:prstGeom prst="rect">
            <a:avLst/>
          </a:prstGeom>
          <a:noFill/>
          <a:ln/>
        </p:spPr>
        <p:txBody>
          <a:bodyPr wrap="square" rtlCol="0" anchor="t"/>
          <a:lstStyle/>
          <a:p>
            <a:pPr marL="0" indent="0">
              <a:buNone/>
            </a:pPr>
            <a:r>
              <a:rPr lang="en-US" sz="3000" b="1" dirty="0">
                <a:solidFill>
                  <a:srgbClr val="FFFFFF"/>
                </a:solidFill>
                <a:latin typeface="Poppins" pitchFamily="34" charset="0"/>
                <a:ea typeface="Poppins" pitchFamily="34" charset="-122"/>
                <a:cs typeface="Poppins" pitchFamily="34" charset="-120"/>
              </a:rPr>
              <a:t>Overview of Study Designs</a:t>
            </a:r>
            <a:endParaRPr lang="en-US" sz="3000" dirty="0"/>
          </a:p>
        </p:txBody>
      </p:sp>
      <p:sp>
        <p:nvSpPr>
          <p:cNvPr id="11" name="Text 9"/>
          <p:cNvSpPr/>
          <p:nvPr/>
        </p:nvSpPr>
        <p:spPr>
          <a:xfrm>
            <a:off x="548640" y="2608326"/>
            <a:ext cx="6217920" cy="320040"/>
          </a:xfrm>
          <a:prstGeom prst="rect">
            <a:avLst/>
          </a:prstGeom>
          <a:noFill/>
          <a:ln/>
        </p:spPr>
        <p:txBody>
          <a:bodyPr wrap="square" rtlCol="0" anchor="ctr"/>
          <a:lstStyle/>
          <a:p>
            <a:pPr marL="0" indent="0">
              <a:buNone/>
            </a:pPr>
            <a:r>
              <a:rPr lang="en-US" sz="1600" b="1" dirty="0">
                <a:solidFill>
                  <a:srgbClr val="E63425"/>
                </a:solidFill>
                <a:latin typeface="Poppins" pitchFamily="34" charset="0"/>
                <a:ea typeface="Poppins" pitchFamily="34" charset="-122"/>
                <a:cs typeface="Poppins" pitchFamily="34" charset="-120"/>
              </a:rPr>
              <a:t>Observational and Experimental Approaches</a:t>
            </a:r>
            <a:endParaRPr lang="en-US" sz="1600" dirty="0"/>
          </a:p>
        </p:txBody>
      </p:sp>
      <p:sp>
        <p:nvSpPr>
          <p:cNvPr id="12" name="Text 10"/>
          <p:cNvSpPr/>
          <p:nvPr/>
        </p:nvSpPr>
        <p:spPr>
          <a:xfrm>
            <a:off x="548640" y="3065526"/>
            <a:ext cx="4206240" cy="584073"/>
          </a:xfrm>
          <a:prstGeom prst="rect">
            <a:avLst/>
          </a:prstGeom>
          <a:noFill/>
          <a:ln/>
        </p:spPr>
        <p:txBody>
          <a:bodyPr wrap="square" rtlCol="0" anchor="t"/>
          <a:lstStyle/>
          <a:p>
            <a:pPr marL="0" indent="0">
              <a:buNone/>
            </a:pPr>
            <a:r>
              <a:rPr lang="en-US" sz="1100" i="1" dirty="0">
                <a:solidFill>
                  <a:srgbClr val="C9D3DD"/>
                </a:solidFill>
                <a:latin typeface="Calibri" pitchFamily="34" charset="0"/>
                <a:ea typeface="Calibri" pitchFamily="34" charset="-122"/>
                <a:cs typeface="Calibri" pitchFamily="34" charset="-120"/>
              </a:rPr>
              <a:t>Built around peer-reviewed evidence from Zimbabwe, Southern Africa and the Democratic Republic of the Congo — HIV, Ebola, tuberculosis and cholera research.</a:t>
            </a:r>
            <a:endParaRPr lang="en-US" sz="1100" dirty="0"/>
          </a:p>
        </p:txBody>
      </p:sp>
      <p:sp>
        <p:nvSpPr>
          <p:cNvPr id="13" name="Text 11"/>
          <p:cNvSpPr/>
          <p:nvPr/>
        </p:nvSpPr>
        <p:spPr>
          <a:xfrm>
            <a:off x="548640" y="4823460"/>
            <a:ext cx="3657600" cy="182880"/>
          </a:xfrm>
          <a:prstGeom prst="rect">
            <a:avLst/>
          </a:prstGeom>
          <a:noFill/>
          <a:ln/>
        </p:spPr>
        <p:txBody>
          <a:bodyPr wrap="square" rtlCol="0" anchor="ctr"/>
          <a:lstStyle/>
          <a:p>
            <a:pPr marL="0" indent="0">
              <a:buNone/>
            </a:pPr>
            <a:r>
              <a:rPr lang="en-US" sz="900" dirty="0">
                <a:solidFill>
                  <a:srgbClr val="C9D3DD"/>
                </a:solidFill>
                <a:latin typeface="Calibri" pitchFamily="34" charset="0"/>
                <a:ea typeface="Calibri" pitchFamily="34" charset="-122"/>
                <a:cs typeface="Calibri" pitchFamily="34" charset="-120"/>
              </a:rPr>
              <a:t>www.newlandsclinic.org.zw</a:t>
            </a:r>
            <a:endParaRPr lang="en-US" sz="900" dirty="0"/>
          </a:p>
        </p:txBody>
      </p:sp>
      <p:pic>
        <p:nvPicPr>
          <p:cNvPr id="14" name="Picture 13">
            <a:extLst>
              <a:ext uri="{FF2B5EF4-FFF2-40B4-BE49-F238E27FC236}">
                <a16:creationId xmlns:a16="http://schemas.microsoft.com/office/drawing/2014/main" id="{8C0E4ED8-78A6-CBAA-E0E6-4D85E03B1476}"/>
              </a:ext>
            </a:extLst>
          </p:cNvPr>
          <p:cNvPicPr>
            <a:picLocks noChangeAspect="1"/>
          </p:cNvPicPr>
          <p:nvPr/>
        </p:nvPicPr>
        <p:blipFill>
          <a:blip r:embed="rId3"/>
          <a:stretch>
            <a:fillRect/>
          </a:stretch>
        </p:blipFill>
        <p:spPr>
          <a:xfrm>
            <a:off x="635771" y="240008"/>
            <a:ext cx="1085760" cy="59038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428625" y="4759452"/>
            <a:ext cx="4572000" cy="201168"/>
          </a:xfrm>
          <a:prstGeom prst="rect">
            <a:avLst/>
          </a:prstGeom>
          <a:noFill/>
          <a:ln/>
        </p:spPr>
        <p:txBody>
          <a:bodyPr wrap="square" rtlCol="0" anchor="ctr"/>
          <a:lstStyle/>
          <a:p>
            <a:pPr marL="0" indent="0">
              <a:buNone/>
            </a:pPr>
            <a:r>
              <a:rPr lang="en-US" sz="950" b="1" dirty="0">
                <a:solidFill>
                  <a:srgbClr val="E63425"/>
                </a:solidFill>
                <a:latin typeface="Calibri" pitchFamily="34" charset="0"/>
                <a:ea typeface="Calibri" pitchFamily="34" charset="-122"/>
                <a:cs typeface="Calibri" pitchFamily="34" charset="-120"/>
              </a:rPr>
              <a:t>Research Masterclass for Clinicians</a:t>
            </a:r>
            <a:endParaRPr lang="en-US" sz="950" dirty="0"/>
          </a:p>
        </p:txBody>
      </p:sp>
      <p:sp>
        <p:nvSpPr>
          <p:cNvPr id="5" name="Text 3"/>
          <p:cNvSpPr/>
          <p:nvPr/>
        </p:nvSpPr>
        <p:spPr>
          <a:xfrm>
            <a:off x="428625" y="4924044"/>
            <a:ext cx="4572000" cy="182880"/>
          </a:xfrm>
          <a:prstGeom prst="rect">
            <a:avLst/>
          </a:prstGeom>
          <a:noFill/>
          <a:ln/>
        </p:spPr>
        <p:txBody>
          <a:bodyPr wrap="square" rtlCol="0" anchor="ctr"/>
          <a:lstStyle/>
          <a:p>
            <a:pPr marL="0" indent="0">
              <a:buNone/>
            </a:pPr>
            <a:r>
              <a:rPr lang="en-US" sz="800" dirty="0">
                <a:solidFill>
                  <a:srgbClr val="5B6B7C"/>
                </a:solidFill>
                <a:latin typeface="Calibri" pitchFamily="34" charset="0"/>
                <a:ea typeface="Calibri" pitchFamily="34" charset="-122"/>
                <a:cs typeface="Calibri" pitchFamily="34" charset="-120"/>
              </a:rPr>
              <a:t>www.newlandsclinic.org.zw</a:t>
            </a:r>
            <a:endParaRPr lang="en-US" sz="800" dirty="0"/>
          </a:p>
        </p:txBody>
      </p:sp>
      <p:sp>
        <p:nvSpPr>
          <p:cNvPr id="6" name="Text 4"/>
          <p:cNvSpPr/>
          <p:nvPr/>
        </p:nvSpPr>
        <p:spPr>
          <a:xfrm>
            <a:off x="428625" y="428625"/>
            <a:ext cx="7680960" cy="201168"/>
          </a:xfrm>
          <a:prstGeom prst="rect">
            <a:avLst/>
          </a:prstGeom>
          <a:noFill/>
          <a:ln/>
        </p:spPr>
        <p:txBody>
          <a:bodyPr wrap="square" rtlCol="0" anchor="ctr"/>
          <a:lstStyle/>
          <a:p>
            <a:pPr marL="0" indent="0">
              <a:buNone/>
            </a:pPr>
            <a:r>
              <a:rPr lang="en-US" sz="1050" b="1" kern="0" spc="100" dirty="0">
                <a:solidFill>
                  <a:srgbClr val="E63425"/>
                </a:solidFill>
                <a:latin typeface="Calibri" pitchFamily="34" charset="0"/>
                <a:ea typeface="Calibri" pitchFamily="34" charset="-122"/>
                <a:cs typeface="Calibri" pitchFamily="34" charset="-120"/>
              </a:rPr>
              <a:t>MODULE 1 · TOPIC 6 · FOUNDATIONS IN EPIDEMIOLOGY</a:t>
            </a:r>
            <a:endParaRPr lang="en-US" sz="1050" dirty="0"/>
          </a:p>
        </p:txBody>
      </p:sp>
      <p:sp>
        <p:nvSpPr>
          <p:cNvPr id="7" name="Text 5"/>
          <p:cNvSpPr/>
          <p:nvPr/>
        </p:nvSpPr>
        <p:spPr>
          <a:xfrm>
            <a:off x="428625" y="628650"/>
            <a:ext cx="7680960" cy="395478"/>
          </a:xfrm>
          <a:prstGeom prst="rect">
            <a:avLst/>
          </a:prstGeom>
          <a:noFill/>
          <a:ln/>
        </p:spPr>
        <p:txBody>
          <a:bodyPr wrap="square" rtlCol="0" anchor="t"/>
          <a:lstStyle/>
          <a:p>
            <a:pPr marL="0" indent="0">
              <a:buNone/>
            </a:pPr>
            <a:r>
              <a:rPr lang="en-US" sz="2200" b="1" dirty="0">
                <a:solidFill>
                  <a:srgbClr val="25374F"/>
                </a:solidFill>
                <a:latin typeface="Poppins" pitchFamily="34" charset="0"/>
                <a:ea typeface="Poppins" pitchFamily="34" charset="-122"/>
                <a:cs typeface="Poppins" pitchFamily="34" charset="-120"/>
              </a:rPr>
              <a:t>Overview of Study Designs</a:t>
            </a:r>
            <a:endParaRPr lang="en-US" sz="2200" dirty="0"/>
          </a:p>
        </p:txBody>
      </p:sp>
      <p:sp>
        <p:nvSpPr>
          <p:cNvPr id="8" name="Text 6"/>
          <p:cNvSpPr/>
          <p:nvPr/>
        </p:nvSpPr>
        <p:spPr>
          <a:xfrm>
            <a:off x="428625" y="1138428"/>
            <a:ext cx="4000500" cy="558356"/>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Every research question — from an HIV case in Harare to an Ebola outbreak in the DRC — needs a design that matches it. This session builds that map.</a:t>
            </a:r>
            <a:endParaRPr lang="en-US" sz="1100" dirty="0"/>
          </a:p>
        </p:txBody>
      </p:sp>
      <p:sp>
        <p:nvSpPr>
          <p:cNvPr id="9" name="Text 7"/>
          <p:cNvSpPr/>
          <p:nvPr/>
        </p:nvSpPr>
        <p:spPr>
          <a:xfrm>
            <a:off x="428625" y="1753934"/>
            <a:ext cx="3937635" cy="391192"/>
          </a:xfrm>
          <a:prstGeom prst="rect">
            <a:avLst/>
          </a:prstGeom>
          <a:noFill/>
          <a:ln/>
        </p:spPr>
        <p:txBody>
          <a:bodyPr wrap="square" rtlCol="0" anchor="t"/>
          <a:lstStyle/>
          <a:p>
            <a:pPr marL="0" indent="0">
              <a:buNone/>
            </a:pPr>
            <a:r>
              <a:rPr lang="en-US" sz="1100" b="1" dirty="0">
                <a:solidFill>
                  <a:srgbClr val="E63425"/>
                </a:solidFill>
                <a:latin typeface="Calibri" pitchFamily="34" charset="0"/>
                <a:ea typeface="Calibri" pitchFamily="34" charset="-122"/>
                <a:cs typeface="Calibri" pitchFamily="34" charset="-120"/>
              </a:rPr>
              <a:t>By the end of this session, you will be able to:</a:t>
            </a:r>
            <a:endParaRPr lang="en-US" sz="1100" dirty="0"/>
          </a:p>
        </p:txBody>
      </p:sp>
      <p:sp>
        <p:nvSpPr>
          <p:cNvPr id="10" name="Shape 8"/>
          <p:cNvSpPr/>
          <p:nvPr/>
        </p:nvSpPr>
        <p:spPr>
          <a:xfrm>
            <a:off x="428625" y="2202275"/>
            <a:ext cx="171450" cy="171450"/>
          </a:xfrm>
          <a:prstGeom prst="ellipse">
            <a:avLst/>
          </a:prstGeom>
          <a:solidFill>
            <a:srgbClr val="25374F"/>
          </a:solidFill>
          <a:ln/>
        </p:spPr>
        <p:txBody>
          <a:bodyPr/>
          <a:lstStyle/>
          <a:p>
            <a:endParaRPr lang="en-ZW" sz="1100"/>
          </a:p>
        </p:txBody>
      </p:sp>
      <p:sp>
        <p:nvSpPr>
          <p:cNvPr id="11" name="Text 9"/>
          <p:cNvSpPr/>
          <p:nvPr/>
        </p:nvSpPr>
        <p:spPr>
          <a:xfrm>
            <a:off x="428625" y="2202275"/>
            <a:ext cx="171450" cy="171450"/>
          </a:xfrm>
          <a:prstGeom prst="rect">
            <a:avLst/>
          </a:prstGeom>
          <a:noFill/>
          <a:ln/>
        </p:spPr>
        <p:txBody>
          <a:bodyPr wrap="square" rtlCol="0" anchor="ctr"/>
          <a:lstStyle/>
          <a:p>
            <a:pPr marL="0" indent="0" algn="ctr">
              <a:buNone/>
            </a:pPr>
            <a:r>
              <a:rPr lang="en-US" sz="1100" dirty="0">
                <a:solidFill>
                  <a:srgbClr val="FFFFFF"/>
                </a:solidFill>
                <a:latin typeface="Courier New" pitchFamily="34" charset="0"/>
                <a:ea typeface="Courier New" pitchFamily="34" charset="-122"/>
                <a:cs typeface="Courier New" pitchFamily="34" charset="-120"/>
              </a:rPr>
              <a:t>1</a:t>
            </a:r>
            <a:endParaRPr lang="en-US" sz="1100" dirty="0"/>
          </a:p>
        </p:txBody>
      </p:sp>
      <p:sp>
        <p:nvSpPr>
          <p:cNvPr id="12" name="Text 10"/>
          <p:cNvSpPr/>
          <p:nvPr/>
        </p:nvSpPr>
        <p:spPr>
          <a:xfrm>
            <a:off x="671513" y="2187988"/>
            <a:ext cx="3694748" cy="489776"/>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Differentiate descriptive, analytical and experimental study designs.</a:t>
            </a:r>
            <a:endParaRPr lang="en-US" sz="1100" dirty="0"/>
          </a:p>
        </p:txBody>
      </p:sp>
      <p:sp>
        <p:nvSpPr>
          <p:cNvPr id="13" name="Shape 11"/>
          <p:cNvSpPr/>
          <p:nvPr/>
        </p:nvSpPr>
        <p:spPr>
          <a:xfrm>
            <a:off x="428625" y="2763488"/>
            <a:ext cx="171450" cy="171450"/>
          </a:xfrm>
          <a:prstGeom prst="ellipse">
            <a:avLst/>
          </a:prstGeom>
          <a:solidFill>
            <a:srgbClr val="25374F"/>
          </a:solidFill>
          <a:ln/>
        </p:spPr>
        <p:txBody>
          <a:bodyPr/>
          <a:lstStyle/>
          <a:p>
            <a:endParaRPr lang="en-ZW" sz="1100"/>
          </a:p>
        </p:txBody>
      </p:sp>
      <p:sp>
        <p:nvSpPr>
          <p:cNvPr id="14" name="Text 12"/>
          <p:cNvSpPr/>
          <p:nvPr/>
        </p:nvSpPr>
        <p:spPr>
          <a:xfrm>
            <a:off x="428625" y="2763488"/>
            <a:ext cx="171450" cy="171450"/>
          </a:xfrm>
          <a:prstGeom prst="rect">
            <a:avLst/>
          </a:prstGeom>
          <a:noFill/>
          <a:ln/>
        </p:spPr>
        <p:txBody>
          <a:bodyPr wrap="square" rtlCol="0" anchor="ctr"/>
          <a:lstStyle/>
          <a:p>
            <a:pPr marL="0" indent="0" algn="ctr">
              <a:buNone/>
            </a:pPr>
            <a:r>
              <a:rPr lang="en-US" sz="1100" dirty="0">
                <a:solidFill>
                  <a:srgbClr val="FFFFFF"/>
                </a:solidFill>
                <a:latin typeface="Courier New" pitchFamily="34" charset="0"/>
                <a:ea typeface="Courier New" pitchFamily="34" charset="-122"/>
                <a:cs typeface="Courier New" pitchFamily="34" charset="-120"/>
              </a:rPr>
              <a:t>2</a:t>
            </a:r>
            <a:endParaRPr lang="en-US" sz="1100" dirty="0"/>
          </a:p>
        </p:txBody>
      </p:sp>
      <p:sp>
        <p:nvSpPr>
          <p:cNvPr id="15" name="Text 13"/>
          <p:cNvSpPr/>
          <p:nvPr/>
        </p:nvSpPr>
        <p:spPr>
          <a:xfrm>
            <a:off x="671513" y="2749201"/>
            <a:ext cx="3694748" cy="489776"/>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Match a clinical or public-health question to the right design.</a:t>
            </a:r>
            <a:endParaRPr lang="en-US" sz="1100" dirty="0"/>
          </a:p>
        </p:txBody>
      </p:sp>
      <p:sp>
        <p:nvSpPr>
          <p:cNvPr id="16" name="Shape 14"/>
          <p:cNvSpPr/>
          <p:nvPr/>
        </p:nvSpPr>
        <p:spPr>
          <a:xfrm>
            <a:off x="428625" y="3324701"/>
            <a:ext cx="171450" cy="171450"/>
          </a:xfrm>
          <a:prstGeom prst="ellipse">
            <a:avLst/>
          </a:prstGeom>
          <a:solidFill>
            <a:srgbClr val="25374F"/>
          </a:solidFill>
          <a:ln/>
        </p:spPr>
        <p:txBody>
          <a:bodyPr/>
          <a:lstStyle/>
          <a:p>
            <a:endParaRPr lang="en-ZW" sz="1100"/>
          </a:p>
        </p:txBody>
      </p:sp>
      <p:sp>
        <p:nvSpPr>
          <p:cNvPr id="17" name="Text 15"/>
          <p:cNvSpPr/>
          <p:nvPr/>
        </p:nvSpPr>
        <p:spPr>
          <a:xfrm>
            <a:off x="428625" y="3324701"/>
            <a:ext cx="171450" cy="171450"/>
          </a:xfrm>
          <a:prstGeom prst="rect">
            <a:avLst/>
          </a:prstGeom>
          <a:noFill/>
          <a:ln/>
        </p:spPr>
        <p:txBody>
          <a:bodyPr wrap="square" rtlCol="0" anchor="ctr"/>
          <a:lstStyle/>
          <a:p>
            <a:pPr marL="0" indent="0" algn="ctr">
              <a:buNone/>
            </a:pPr>
            <a:r>
              <a:rPr lang="en-US" sz="1100" dirty="0">
                <a:solidFill>
                  <a:srgbClr val="FFFFFF"/>
                </a:solidFill>
                <a:latin typeface="Courier New" pitchFamily="34" charset="0"/>
                <a:ea typeface="Courier New" pitchFamily="34" charset="-122"/>
                <a:cs typeface="Courier New" pitchFamily="34" charset="-120"/>
              </a:rPr>
              <a:t>3</a:t>
            </a:r>
            <a:endParaRPr lang="en-US" sz="1100" dirty="0"/>
          </a:p>
        </p:txBody>
      </p:sp>
      <p:sp>
        <p:nvSpPr>
          <p:cNvPr id="18" name="Text 16"/>
          <p:cNvSpPr/>
          <p:nvPr/>
        </p:nvSpPr>
        <p:spPr>
          <a:xfrm>
            <a:off x="668655" y="3258288"/>
            <a:ext cx="3694748" cy="489776"/>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Explain the direction of inquiry in cohort vs case-control studies.</a:t>
            </a:r>
            <a:endParaRPr lang="en-US" sz="1100" dirty="0"/>
          </a:p>
        </p:txBody>
      </p:sp>
      <p:sp>
        <p:nvSpPr>
          <p:cNvPr id="19" name="Shape 17"/>
          <p:cNvSpPr/>
          <p:nvPr/>
        </p:nvSpPr>
        <p:spPr>
          <a:xfrm>
            <a:off x="428625" y="3885914"/>
            <a:ext cx="171450" cy="171450"/>
          </a:xfrm>
          <a:prstGeom prst="ellipse">
            <a:avLst/>
          </a:prstGeom>
          <a:solidFill>
            <a:srgbClr val="25374F"/>
          </a:solidFill>
          <a:ln/>
        </p:spPr>
        <p:txBody>
          <a:bodyPr/>
          <a:lstStyle/>
          <a:p>
            <a:endParaRPr lang="en-ZW" sz="1100"/>
          </a:p>
        </p:txBody>
      </p:sp>
      <p:sp>
        <p:nvSpPr>
          <p:cNvPr id="20" name="Text 18"/>
          <p:cNvSpPr/>
          <p:nvPr/>
        </p:nvSpPr>
        <p:spPr>
          <a:xfrm>
            <a:off x="428625" y="3885914"/>
            <a:ext cx="171450" cy="171450"/>
          </a:xfrm>
          <a:prstGeom prst="rect">
            <a:avLst/>
          </a:prstGeom>
          <a:noFill/>
          <a:ln/>
        </p:spPr>
        <p:txBody>
          <a:bodyPr wrap="square" rtlCol="0" anchor="ctr"/>
          <a:lstStyle/>
          <a:p>
            <a:pPr marL="0" indent="0" algn="ctr">
              <a:buNone/>
            </a:pPr>
            <a:r>
              <a:rPr lang="en-US" sz="1100" dirty="0">
                <a:solidFill>
                  <a:srgbClr val="FFFFFF"/>
                </a:solidFill>
                <a:latin typeface="Courier New" pitchFamily="34" charset="0"/>
                <a:ea typeface="Courier New" pitchFamily="34" charset="-122"/>
                <a:cs typeface="Courier New" pitchFamily="34" charset="-120"/>
              </a:rPr>
              <a:t>4</a:t>
            </a:r>
            <a:endParaRPr lang="en-US" sz="1100" dirty="0"/>
          </a:p>
        </p:txBody>
      </p:sp>
      <p:sp>
        <p:nvSpPr>
          <p:cNvPr id="21" name="Text 19"/>
          <p:cNvSpPr/>
          <p:nvPr/>
        </p:nvSpPr>
        <p:spPr>
          <a:xfrm>
            <a:off x="671513" y="3803028"/>
            <a:ext cx="3694748" cy="489776"/>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Recognise each design’s strengths, weaknesses and typical biases.</a:t>
            </a:r>
            <a:endParaRPr lang="en-US" sz="1100" dirty="0"/>
          </a:p>
        </p:txBody>
      </p:sp>
      <p:sp>
        <p:nvSpPr>
          <p:cNvPr id="22" name="Shape 20"/>
          <p:cNvSpPr/>
          <p:nvPr/>
        </p:nvSpPr>
        <p:spPr>
          <a:xfrm>
            <a:off x="428625" y="4447127"/>
            <a:ext cx="171450" cy="171450"/>
          </a:xfrm>
          <a:prstGeom prst="ellipse">
            <a:avLst/>
          </a:prstGeom>
          <a:solidFill>
            <a:srgbClr val="25374F"/>
          </a:solidFill>
          <a:ln/>
        </p:spPr>
        <p:txBody>
          <a:bodyPr/>
          <a:lstStyle/>
          <a:p>
            <a:endParaRPr lang="en-ZW" sz="1100"/>
          </a:p>
        </p:txBody>
      </p:sp>
      <p:sp>
        <p:nvSpPr>
          <p:cNvPr id="23" name="Text 21"/>
          <p:cNvSpPr/>
          <p:nvPr/>
        </p:nvSpPr>
        <p:spPr>
          <a:xfrm>
            <a:off x="428625" y="4447127"/>
            <a:ext cx="171450" cy="171450"/>
          </a:xfrm>
          <a:prstGeom prst="rect">
            <a:avLst/>
          </a:prstGeom>
          <a:noFill/>
          <a:ln/>
        </p:spPr>
        <p:txBody>
          <a:bodyPr wrap="square" rtlCol="0" anchor="ctr"/>
          <a:lstStyle/>
          <a:p>
            <a:pPr marL="0" indent="0" algn="ctr">
              <a:buNone/>
            </a:pPr>
            <a:r>
              <a:rPr lang="en-US" sz="1100" dirty="0">
                <a:solidFill>
                  <a:srgbClr val="FFFFFF"/>
                </a:solidFill>
                <a:latin typeface="Courier New" pitchFamily="34" charset="0"/>
                <a:ea typeface="Courier New" pitchFamily="34" charset="-122"/>
                <a:cs typeface="Courier New" pitchFamily="34" charset="-120"/>
              </a:rPr>
              <a:t>5</a:t>
            </a:r>
            <a:endParaRPr lang="en-US" sz="1100" dirty="0"/>
          </a:p>
        </p:txBody>
      </p:sp>
      <p:sp>
        <p:nvSpPr>
          <p:cNvPr id="24" name="Text 22"/>
          <p:cNvSpPr/>
          <p:nvPr/>
        </p:nvSpPr>
        <p:spPr>
          <a:xfrm>
            <a:off x="671513" y="4375100"/>
            <a:ext cx="3694748" cy="489776"/>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Critically read Southern African examples spanning HIV, Ebola, TB and cholera.</a:t>
            </a:r>
            <a:endParaRPr lang="en-US" sz="1100" dirty="0"/>
          </a:p>
        </p:txBody>
      </p:sp>
      <p:sp>
        <p:nvSpPr>
          <p:cNvPr id="25" name="Shape 23"/>
          <p:cNvSpPr/>
          <p:nvPr/>
        </p:nvSpPr>
        <p:spPr>
          <a:xfrm>
            <a:off x="4537710" y="1753934"/>
            <a:ext cx="3937635" cy="1588199"/>
          </a:xfrm>
          <a:prstGeom prst="roundRect">
            <a:avLst>
              <a:gd name="adj" fmla="val 3454"/>
            </a:avLst>
          </a:prstGeom>
          <a:solidFill>
            <a:srgbClr val="25374F"/>
          </a:solidFill>
          <a:ln/>
        </p:spPr>
        <p:txBody>
          <a:bodyPr/>
          <a:lstStyle/>
          <a:p>
            <a:endParaRPr lang="en-ZW"/>
          </a:p>
        </p:txBody>
      </p:sp>
      <p:sp>
        <p:nvSpPr>
          <p:cNvPr id="26" name="Text 24"/>
          <p:cNvSpPr/>
          <p:nvPr/>
        </p:nvSpPr>
        <p:spPr>
          <a:xfrm>
            <a:off x="4652010" y="1853946"/>
            <a:ext cx="3709035" cy="114300"/>
          </a:xfrm>
          <a:prstGeom prst="rect">
            <a:avLst/>
          </a:prstGeom>
          <a:noFill/>
          <a:ln/>
        </p:spPr>
        <p:txBody>
          <a:bodyPr wrap="square" rtlCol="0" anchor="ctr"/>
          <a:lstStyle/>
          <a:p>
            <a:pPr marL="0" indent="0">
              <a:buNone/>
            </a:pPr>
            <a:r>
              <a:rPr lang="en-US" sz="1100" b="1" kern="0" spc="50" dirty="0">
                <a:solidFill>
                  <a:srgbClr val="E63425"/>
                </a:solidFill>
                <a:latin typeface="Calibri" pitchFamily="34" charset="0"/>
                <a:ea typeface="Calibri" pitchFamily="34" charset="-122"/>
                <a:cs typeface="Calibri" pitchFamily="34" charset="-120"/>
              </a:rPr>
              <a:t>WHY IT MATTERS</a:t>
            </a:r>
            <a:endParaRPr lang="en-US" sz="1100" dirty="0"/>
          </a:p>
        </p:txBody>
      </p:sp>
      <p:sp>
        <p:nvSpPr>
          <p:cNvPr id="27" name="Text 25"/>
          <p:cNvSpPr/>
          <p:nvPr/>
        </p:nvSpPr>
        <p:spPr>
          <a:xfrm>
            <a:off x="4652010" y="2011109"/>
            <a:ext cx="3709035" cy="558356"/>
          </a:xfrm>
          <a:prstGeom prst="rect">
            <a:avLst/>
          </a:prstGeom>
          <a:noFill/>
          <a:ln/>
        </p:spPr>
        <p:txBody>
          <a:bodyPr wrap="square" rtlCol="0" anchor="t"/>
          <a:lstStyle/>
          <a:p>
            <a:pPr marL="0" indent="0">
              <a:buNone/>
            </a:pPr>
            <a:r>
              <a:rPr lang="en-US" sz="1100" i="1" dirty="0">
                <a:solidFill>
                  <a:srgbClr val="DCE3EA"/>
                </a:solidFill>
                <a:latin typeface="Calibri" pitchFamily="34" charset="0"/>
                <a:ea typeface="Calibri" pitchFamily="34" charset="-122"/>
                <a:cs typeface="Calibri" pitchFamily="34" charset="-120"/>
              </a:rPr>
              <a:t>Choosing the wrong design is the most common — and most preventable — flaw in clinical research from this region.</a:t>
            </a:r>
            <a:endParaRPr lang="en-US" sz="1100" dirty="0"/>
          </a:p>
        </p:txBody>
      </p:sp>
      <p:sp>
        <p:nvSpPr>
          <p:cNvPr id="28" name="Text 26"/>
          <p:cNvSpPr/>
          <p:nvPr/>
        </p:nvSpPr>
        <p:spPr>
          <a:xfrm>
            <a:off x="4652010" y="2640902"/>
            <a:ext cx="3709035" cy="558356"/>
          </a:xfrm>
          <a:prstGeom prst="rect">
            <a:avLst/>
          </a:prstGeom>
          <a:noFill/>
          <a:ln/>
        </p:spPr>
        <p:txBody>
          <a:bodyPr wrap="square" rtlCol="0" anchor="t"/>
          <a:lstStyle/>
          <a:p>
            <a:pPr marL="0" indent="0">
              <a:buNone/>
            </a:pPr>
            <a:r>
              <a:rPr lang="en-US" sz="1100" i="1" dirty="0">
                <a:solidFill>
                  <a:srgbClr val="DCE3EA"/>
                </a:solidFill>
                <a:latin typeface="Calibri" pitchFamily="34" charset="0"/>
                <a:ea typeface="Calibri" pitchFamily="34" charset="-122"/>
                <a:cs typeface="Calibri" pitchFamily="34" charset="-120"/>
              </a:rPr>
              <a:t>This topic feeds directly into your Final Presentation Project (40% of your grade) and the weekly quiz (30%).</a:t>
            </a:r>
            <a:endParaRPr lang="en-US" sz="1100" dirty="0"/>
          </a:p>
        </p:txBody>
      </p:sp>
      <p:pic>
        <p:nvPicPr>
          <p:cNvPr id="29" name="Picture 28">
            <a:extLst>
              <a:ext uri="{FF2B5EF4-FFF2-40B4-BE49-F238E27FC236}">
                <a16:creationId xmlns:a16="http://schemas.microsoft.com/office/drawing/2014/main" id="{CA54882F-08BA-8D2A-34ED-143448E73B9C}"/>
              </a:ext>
            </a:extLst>
          </p:cNvPr>
          <p:cNvPicPr>
            <a:picLocks noChangeAspect="1"/>
          </p:cNvPicPr>
          <p:nvPr/>
        </p:nvPicPr>
        <p:blipFill>
          <a:blip r:embed="rId3"/>
          <a:stretch>
            <a:fillRect/>
          </a:stretch>
        </p:blipFill>
        <p:spPr>
          <a:xfrm>
            <a:off x="7965371" y="133434"/>
            <a:ext cx="1085760" cy="59038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428625" y="4759452"/>
            <a:ext cx="4572000" cy="201168"/>
          </a:xfrm>
          <a:prstGeom prst="rect">
            <a:avLst/>
          </a:prstGeom>
          <a:noFill/>
          <a:ln/>
        </p:spPr>
        <p:txBody>
          <a:bodyPr wrap="square" rtlCol="0" anchor="ctr"/>
          <a:lstStyle/>
          <a:p>
            <a:pPr marL="0" indent="0">
              <a:buNone/>
            </a:pPr>
            <a:r>
              <a:rPr lang="en-US" sz="950" b="1" dirty="0">
                <a:solidFill>
                  <a:srgbClr val="E63425"/>
                </a:solidFill>
                <a:latin typeface="Calibri" pitchFamily="34" charset="0"/>
                <a:ea typeface="Calibri" pitchFamily="34" charset="-122"/>
                <a:cs typeface="Calibri" pitchFamily="34" charset="-120"/>
              </a:rPr>
              <a:t>Research Masterclass for Clinicians</a:t>
            </a:r>
            <a:endParaRPr lang="en-US" sz="950" dirty="0"/>
          </a:p>
        </p:txBody>
      </p:sp>
      <p:sp>
        <p:nvSpPr>
          <p:cNvPr id="5" name="Text 3"/>
          <p:cNvSpPr/>
          <p:nvPr/>
        </p:nvSpPr>
        <p:spPr>
          <a:xfrm>
            <a:off x="428625" y="4924044"/>
            <a:ext cx="4572000" cy="182880"/>
          </a:xfrm>
          <a:prstGeom prst="rect">
            <a:avLst/>
          </a:prstGeom>
          <a:noFill/>
          <a:ln/>
        </p:spPr>
        <p:txBody>
          <a:bodyPr wrap="square" rtlCol="0" anchor="ctr"/>
          <a:lstStyle/>
          <a:p>
            <a:pPr marL="0" indent="0">
              <a:buNone/>
            </a:pPr>
            <a:r>
              <a:rPr lang="en-US" sz="800" dirty="0">
                <a:solidFill>
                  <a:srgbClr val="5B6B7C"/>
                </a:solidFill>
                <a:latin typeface="Calibri" pitchFamily="34" charset="0"/>
                <a:ea typeface="Calibri" pitchFamily="34" charset="-122"/>
                <a:cs typeface="Calibri" pitchFamily="34" charset="-120"/>
              </a:rPr>
              <a:t>www.newlandsclinic.org.zw</a:t>
            </a:r>
            <a:endParaRPr lang="en-US" sz="800" dirty="0"/>
          </a:p>
        </p:txBody>
      </p:sp>
      <p:sp>
        <p:nvSpPr>
          <p:cNvPr id="6" name="Text 4"/>
          <p:cNvSpPr/>
          <p:nvPr/>
        </p:nvSpPr>
        <p:spPr>
          <a:xfrm>
            <a:off x="428625" y="428625"/>
            <a:ext cx="7680960" cy="201168"/>
          </a:xfrm>
          <a:prstGeom prst="rect">
            <a:avLst/>
          </a:prstGeom>
          <a:noFill/>
          <a:ln/>
        </p:spPr>
        <p:txBody>
          <a:bodyPr wrap="square" rtlCol="0" anchor="ctr"/>
          <a:lstStyle/>
          <a:p>
            <a:pPr marL="0" indent="0">
              <a:buNone/>
            </a:pPr>
            <a:r>
              <a:rPr lang="en-US" sz="1050" b="1" kern="0" spc="100" dirty="0">
                <a:solidFill>
                  <a:srgbClr val="E63425"/>
                </a:solidFill>
                <a:latin typeface="Calibri" pitchFamily="34" charset="0"/>
                <a:ea typeface="Calibri" pitchFamily="34" charset="-122"/>
                <a:cs typeface="Calibri" pitchFamily="34" charset="-120"/>
              </a:rPr>
              <a:t>SECTION 1 · FOUNDATIONS</a:t>
            </a:r>
            <a:endParaRPr lang="en-US" sz="1050" dirty="0"/>
          </a:p>
        </p:txBody>
      </p:sp>
      <p:sp>
        <p:nvSpPr>
          <p:cNvPr id="7" name="Text 5"/>
          <p:cNvSpPr/>
          <p:nvPr/>
        </p:nvSpPr>
        <p:spPr>
          <a:xfrm>
            <a:off x="428625" y="628650"/>
            <a:ext cx="7680960" cy="772668"/>
          </a:xfrm>
          <a:prstGeom prst="rect">
            <a:avLst/>
          </a:prstGeom>
          <a:noFill/>
          <a:ln/>
        </p:spPr>
        <p:txBody>
          <a:bodyPr wrap="square" rtlCol="0" anchor="t"/>
          <a:lstStyle/>
          <a:p>
            <a:pPr marL="0" indent="0">
              <a:buNone/>
            </a:pPr>
            <a:r>
              <a:rPr lang="en-US" sz="2200" b="1" dirty="0">
                <a:solidFill>
                  <a:srgbClr val="25374F"/>
                </a:solidFill>
                <a:latin typeface="Poppins" pitchFamily="34" charset="0"/>
                <a:ea typeface="Poppins" pitchFamily="34" charset="-122"/>
                <a:cs typeface="Poppins" pitchFamily="34" charset="-120"/>
              </a:rPr>
              <a:t>Why Study Design Is the First Decision You Make</a:t>
            </a:r>
            <a:endParaRPr lang="en-US" sz="2200" dirty="0"/>
          </a:p>
        </p:txBody>
      </p:sp>
      <p:sp>
        <p:nvSpPr>
          <p:cNvPr id="8" name="Text 6"/>
          <p:cNvSpPr/>
          <p:nvPr/>
        </p:nvSpPr>
        <p:spPr>
          <a:xfrm>
            <a:off x="428625" y="1515618"/>
            <a:ext cx="3937635" cy="224028"/>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Systematic reviews &amp; meta-analyses</a:t>
            </a:r>
            <a:endParaRPr lang="en-US" sz="1100" dirty="0"/>
          </a:p>
        </p:txBody>
      </p:sp>
      <p:sp>
        <p:nvSpPr>
          <p:cNvPr id="9" name="Text 7"/>
          <p:cNvSpPr/>
          <p:nvPr/>
        </p:nvSpPr>
        <p:spPr>
          <a:xfrm>
            <a:off x="428625" y="1796796"/>
            <a:ext cx="3937635" cy="429768"/>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Randomised controlled trials (individual &amp; cluster)</a:t>
            </a:r>
            <a:endParaRPr lang="en-US" sz="1100" dirty="0"/>
          </a:p>
        </p:txBody>
      </p:sp>
      <p:sp>
        <p:nvSpPr>
          <p:cNvPr id="10" name="Text 8"/>
          <p:cNvSpPr/>
          <p:nvPr/>
        </p:nvSpPr>
        <p:spPr>
          <a:xfrm>
            <a:off x="428625" y="2283714"/>
            <a:ext cx="3937635" cy="224028"/>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Cohort studies</a:t>
            </a:r>
            <a:endParaRPr lang="en-US" sz="1100" dirty="0"/>
          </a:p>
        </p:txBody>
      </p:sp>
      <p:sp>
        <p:nvSpPr>
          <p:cNvPr id="11" name="Text 9"/>
          <p:cNvSpPr/>
          <p:nvPr/>
        </p:nvSpPr>
        <p:spPr>
          <a:xfrm>
            <a:off x="428625" y="2564892"/>
            <a:ext cx="3937635" cy="224028"/>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Case-control studies</a:t>
            </a:r>
            <a:endParaRPr lang="en-US" sz="1100" dirty="0"/>
          </a:p>
        </p:txBody>
      </p:sp>
      <p:sp>
        <p:nvSpPr>
          <p:cNvPr id="12" name="Text 10"/>
          <p:cNvSpPr/>
          <p:nvPr/>
        </p:nvSpPr>
        <p:spPr>
          <a:xfrm>
            <a:off x="428625" y="2846070"/>
            <a:ext cx="3937635" cy="224028"/>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Cross-sectional &amp; ecological studies</a:t>
            </a:r>
            <a:endParaRPr lang="en-US" sz="1100" dirty="0"/>
          </a:p>
        </p:txBody>
      </p:sp>
      <p:sp>
        <p:nvSpPr>
          <p:cNvPr id="13" name="Text 11"/>
          <p:cNvSpPr/>
          <p:nvPr/>
        </p:nvSpPr>
        <p:spPr>
          <a:xfrm>
            <a:off x="428625" y="3127248"/>
            <a:ext cx="3937635" cy="224028"/>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Case reports, case series &amp; expert opinion</a:t>
            </a:r>
            <a:endParaRPr lang="en-US" sz="1100" dirty="0"/>
          </a:p>
        </p:txBody>
      </p:sp>
      <p:sp>
        <p:nvSpPr>
          <p:cNvPr id="14" name="Text 12"/>
          <p:cNvSpPr/>
          <p:nvPr/>
        </p:nvSpPr>
        <p:spPr>
          <a:xfrm>
            <a:off x="428625" y="3408426"/>
            <a:ext cx="3937635" cy="224028"/>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Increasing confidence for causal inference ↑</a:t>
            </a:r>
            <a:endParaRPr lang="en-US" sz="1100" dirty="0"/>
          </a:p>
        </p:txBody>
      </p:sp>
      <p:sp>
        <p:nvSpPr>
          <p:cNvPr id="15" name="Text 13"/>
          <p:cNvSpPr/>
          <p:nvPr/>
        </p:nvSpPr>
        <p:spPr>
          <a:xfrm>
            <a:off x="4537710" y="1353440"/>
            <a:ext cx="3937635" cy="519779"/>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Design determines what a study can and cannot tell you — no amount of statistical sophistication later can fix a mismatched design.</a:t>
            </a:r>
            <a:endParaRPr lang="en-US" sz="1100" dirty="0"/>
          </a:p>
        </p:txBody>
      </p:sp>
      <p:sp>
        <p:nvSpPr>
          <p:cNvPr id="16" name="Text 14"/>
          <p:cNvSpPr/>
          <p:nvPr/>
        </p:nvSpPr>
        <p:spPr>
          <a:xfrm>
            <a:off x="4537710" y="1943656"/>
            <a:ext cx="3937635" cy="224028"/>
          </a:xfrm>
          <a:prstGeom prst="rect">
            <a:avLst/>
          </a:prstGeom>
          <a:noFill/>
          <a:ln/>
        </p:spPr>
        <p:txBody>
          <a:bodyPr wrap="square" rtlCol="0" anchor="t"/>
          <a:lstStyle/>
          <a:p>
            <a:pPr marL="0" indent="0">
              <a:buNone/>
            </a:pPr>
            <a:r>
              <a:rPr lang="en-US" sz="2800" b="1" dirty="0">
                <a:solidFill>
                  <a:srgbClr val="27313B"/>
                </a:solidFill>
                <a:latin typeface="Calibri" pitchFamily="34" charset="0"/>
                <a:ea typeface="Calibri" pitchFamily="34" charset="-122"/>
                <a:cs typeface="Calibri" pitchFamily="34" charset="-120"/>
              </a:rPr>
              <a:t>84%</a:t>
            </a:r>
            <a:endParaRPr lang="en-US" sz="2800" b="1" dirty="0"/>
          </a:p>
        </p:txBody>
      </p:sp>
      <p:sp>
        <p:nvSpPr>
          <p:cNvPr id="17" name="Text 15"/>
          <p:cNvSpPr/>
          <p:nvPr/>
        </p:nvSpPr>
        <p:spPr>
          <a:xfrm>
            <a:off x="4537710" y="2373725"/>
            <a:ext cx="3937635" cy="841248"/>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Estimated effectiveness of the rVSV-ZEBOV Ebola vaccine, from a test-negative case-control study during the DRC’s 2018–20 outbreak (Meakin et al., Lancet Infect Dis, 2024).</a:t>
            </a:r>
            <a:endParaRPr lang="en-US" sz="1100" dirty="0"/>
          </a:p>
        </p:txBody>
      </p:sp>
      <p:sp>
        <p:nvSpPr>
          <p:cNvPr id="18" name="Text 16"/>
          <p:cNvSpPr/>
          <p:nvPr/>
        </p:nvSpPr>
        <p:spPr>
          <a:xfrm>
            <a:off x="4537709" y="3002131"/>
            <a:ext cx="3937635" cy="224028"/>
          </a:xfrm>
          <a:prstGeom prst="rect">
            <a:avLst/>
          </a:prstGeom>
          <a:noFill/>
          <a:ln/>
        </p:spPr>
        <p:txBody>
          <a:bodyPr wrap="square" rtlCol="0" anchor="t"/>
          <a:lstStyle/>
          <a:p>
            <a:pPr marL="0" indent="0">
              <a:buNone/>
            </a:pPr>
            <a:r>
              <a:rPr lang="en-US" sz="2800" b="1" dirty="0">
                <a:solidFill>
                  <a:srgbClr val="27313B"/>
                </a:solidFill>
                <a:latin typeface="Calibri" pitchFamily="34" charset="0"/>
                <a:ea typeface="Calibri" pitchFamily="34" charset="-122"/>
                <a:cs typeface="Calibri" pitchFamily="34" charset="-120"/>
              </a:rPr>
              <a:t>21%</a:t>
            </a:r>
            <a:endParaRPr lang="en-US" sz="2800" b="1" dirty="0"/>
          </a:p>
        </p:txBody>
      </p:sp>
      <p:sp>
        <p:nvSpPr>
          <p:cNvPr id="19" name="Text 17"/>
          <p:cNvSpPr/>
          <p:nvPr/>
        </p:nvSpPr>
        <p:spPr>
          <a:xfrm>
            <a:off x="4537710" y="3494151"/>
            <a:ext cx="3937635" cy="841248"/>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Communities in Zambia &amp; South Africa randomised as whole clusters in HPTN 071 (PopART) to test universal HIV testing and treatment (Hayes et al., NEJM, 2019).</a:t>
            </a:r>
            <a:endParaRPr lang="en-US" sz="1100" dirty="0"/>
          </a:p>
        </p:txBody>
      </p:sp>
      <p:pic>
        <p:nvPicPr>
          <p:cNvPr id="20" name="Picture 19">
            <a:extLst>
              <a:ext uri="{FF2B5EF4-FFF2-40B4-BE49-F238E27FC236}">
                <a16:creationId xmlns:a16="http://schemas.microsoft.com/office/drawing/2014/main" id="{158CA076-0B81-5A6F-0FEC-0217E0990BC6}"/>
              </a:ext>
            </a:extLst>
          </p:cNvPr>
          <p:cNvPicPr>
            <a:picLocks noChangeAspect="1"/>
          </p:cNvPicPr>
          <p:nvPr/>
        </p:nvPicPr>
        <p:blipFill>
          <a:blip r:embed="rId3"/>
          <a:stretch>
            <a:fillRect/>
          </a:stretch>
        </p:blipFill>
        <p:spPr>
          <a:xfrm>
            <a:off x="7965371" y="133434"/>
            <a:ext cx="1085760" cy="59038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428625" y="4759452"/>
            <a:ext cx="4572000" cy="201168"/>
          </a:xfrm>
          <a:prstGeom prst="rect">
            <a:avLst/>
          </a:prstGeom>
          <a:noFill/>
          <a:ln/>
        </p:spPr>
        <p:txBody>
          <a:bodyPr wrap="square" rtlCol="0" anchor="ctr"/>
          <a:lstStyle/>
          <a:p>
            <a:pPr marL="0" indent="0">
              <a:buNone/>
            </a:pPr>
            <a:r>
              <a:rPr lang="en-US" sz="950" b="1" dirty="0">
                <a:solidFill>
                  <a:srgbClr val="E63425"/>
                </a:solidFill>
                <a:latin typeface="Calibri" pitchFamily="34" charset="0"/>
                <a:ea typeface="Calibri" pitchFamily="34" charset="-122"/>
                <a:cs typeface="Calibri" pitchFamily="34" charset="-120"/>
              </a:rPr>
              <a:t>Research Masterclass for Clinicians</a:t>
            </a:r>
            <a:endParaRPr lang="en-US" sz="950" dirty="0"/>
          </a:p>
        </p:txBody>
      </p:sp>
      <p:sp>
        <p:nvSpPr>
          <p:cNvPr id="5" name="Text 3"/>
          <p:cNvSpPr/>
          <p:nvPr/>
        </p:nvSpPr>
        <p:spPr>
          <a:xfrm>
            <a:off x="428625" y="4924044"/>
            <a:ext cx="4572000" cy="182880"/>
          </a:xfrm>
          <a:prstGeom prst="rect">
            <a:avLst/>
          </a:prstGeom>
          <a:noFill/>
          <a:ln/>
        </p:spPr>
        <p:txBody>
          <a:bodyPr wrap="square" rtlCol="0" anchor="ctr"/>
          <a:lstStyle/>
          <a:p>
            <a:pPr marL="0" indent="0">
              <a:buNone/>
            </a:pPr>
            <a:r>
              <a:rPr lang="en-US" sz="800" dirty="0">
                <a:solidFill>
                  <a:srgbClr val="5B6B7C"/>
                </a:solidFill>
                <a:latin typeface="Calibri" pitchFamily="34" charset="0"/>
                <a:ea typeface="Calibri" pitchFamily="34" charset="-122"/>
                <a:cs typeface="Calibri" pitchFamily="34" charset="-120"/>
              </a:rPr>
              <a:t>www.newlandsclinic.org.zw</a:t>
            </a:r>
            <a:endParaRPr lang="en-US" sz="800" dirty="0"/>
          </a:p>
        </p:txBody>
      </p:sp>
      <p:sp>
        <p:nvSpPr>
          <p:cNvPr id="6" name="Text 4"/>
          <p:cNvSpPr/>
          <p:nvPr/>
        </p:nvSpPr>
        <p:spPr>
          <a:xfrm>
            <a:off x="428625" y="428625"/>
            <a:ext cx="7680960" cy="201168"/>
          </a:xfrm>
          <a:prstGeom prst="rect">
            <a:avLst/>
          </a:prstGeom>
          <a:noFill/>
          <a:ln/>
        </p:spPr>
        <p:txBody>
          <a:bodyPr wrap="square" rtlCol="0" anchor="ctr"/>
          <a:lstStyle/>
          <a:p>
            <a:pPr marL="0" indent="0">
              <a:buNone/>
            </a:pPr>
            <a:r>
              <a:rPr lang="en-US" sz="1050" b="1" kern="0" spc="100" dirty="0">
                <a:solidFill>
                  <a:srgbClr val="E63425"/>
                </a:solidFill>
                <a:latin typeface="Calibri" pitchFamily="34" charset="0"/>
                <a:ea typeface="Calibri" pitchFamily="34" charset="-122"/>
                <a:cs typeface="Calibri" pitchFamily="34" charset="-120"/>
              </a:rPr>
              <a:t>SECTION 1 · FOUNDATIONS</a:t>
            </a:r>
            <a:endParaRPr lang="en-US" sz="1050" dirty="0"/>
          </a:p>
        </p:txBody>
      </p:sp>
      <p:sp>
        <p:nvSpPr>
          <p:cNvPr id="7" name="Text 5"/>
          <p:cNvSpPr/>
          <p:nvPr/>
        </p:nvSpPr>
        <p:spPr>
          <a:xfrm>
            <a:off x="428625" y="628650"/>
            <a:ext cx="7680960" cy="772668"/>
          </a:xfrm>
          <a:prstGeom prst="rect">
            <a:avLst/>
          </a:prstGeom>
          <a:noFill/>
          <a:ln/>
        </p:spPr>
        <p:txBody>
          <a:bodyPr wrap="square" rtlCol="0" anchor="t"/>
          <a:lstStyle/>
          <a:p>
            <a:pPr marL="0" indent="0">
              <a:buNone/>
            </a:pPr>
            <a:r>
              <a:rPr lang="en-US" sz="2200" b="1" dirty="0">
                <a:solidFill>
                  <a:srgbClr val="25374F"/>
                </a:solidFill>
                <a:latin typeface="Poppins" pitchFamily="34" charset="0"/>
                <a:ea typeface="Poppins" pitchFamily="34" charset="-122"/>
                <a:cs typeface="Poppins" pitchFamily="34" charset="-120"/>
              </a:rPr>
              <a:t>The Big Picture: Observational vs Experimental</a:t>
            </a:r>
            <a:endParaRPr lang="en-US" sz="2200" dirty="0"/>
          </a:p>
        </p:txBody>
      </p:sp>
      <p:sp>
        <p:nvSpPr>
          <p:cNvPr id="8" name="Shape 6"/>
          <p:cNvSpPr/>
          <p:nvPr/>
        </p:nvSpPr>
        <p:spPr>
          <a:xfrm>
            <a:off x="428625" y="1515618"/>
            <a:ext cx="3937635" cy="2212705"/>
          </a:xfrm>
          <a:prstGeom prst="roundRect">
            <a:avLst>
              <a:gd name="adj" fmla="val 2479"/>
            </a:avLst>
          </a:prstGeom>
          <a:solidFill>
            <a:srgbClr val="F4F5F7"/>
          </a:solidFill>
          <a:ln/>
          <a:effectLst>
            <a:outerShdw blurRad="76200" dist="25400" dir="2700000" algn="bl" rotWithShape="0">
              <a:srgbClr val="1B2A3D">
                <a:alpha val="10000"/>
              </a:srgbClr>
            </a:outerShdw>
          </a:effectLst>
        </p:spPr>
        <p:txBody>
          <a:bodyPr/>
          <a:lstStyle/>
          <a:p>
            <a:endParaRPr lang="en-ZW" sz="1100"/>
          </a:p>
        </p:txBody>
      </p:sp>
      <p:sp>
        <p:nvSpPr>
          <p:cNvPr id="9" name="Shape 7"/>
          <p:cNvSpPr/>
          <p:nvPr/>
        </p:nvSpPr>
        <p:spPr>
          <a:xfrm>
            <a:off x="542925" y="1615631"/>
            <a:ext cx="157163" cy="157163"/>
          </a:xfrm>
          <a:prstGeom prst="ellipse">
            <a:avLst/>
          </a:prstGeom>
          <a:solidFill>
            <a:srgbClr val="2E8B9B"/>
          </a:solidFill>
          <a:ln/>
        </p:spPr>
        <p:txBody>
          <a:bodyPr/>
          <a:lstStyle/>
          <a:p>
            <a:endParaRPr lang="en-ZW" sz="1100"/>
          </a:p>
        </p:txBody>
      </p:sp>
      <p:sp>
        <p:nvSpPr>
          <p:cNvPr id="10" name="Text 8"/>
          <p:cNvSpPr/>
          <p:nvPr/>
        </p:nvSpPr>
        <p:spPr>
          <a:xfrm>
            <a:off x="500063" y="1615631"/>
            <a:ext cx="242888" cy="157163"/>
          </a:xfrm>
          <a:prstGeom prst="rect">
            <a:avLst/>
          </a:prstGeom>
          <a:noFill/>
          <a:ln/>
        </p:spPr>
        <p:txBody>
          <a:bodyPr wrap="square" rtlCol="0" anchor="ctr"/>
          <a:lstStyle/>
          <a:p>
            <a:pPr marL="0" indent="0" algn="ctr">
              <a:buNone/>
            </a:pPr>
            <a:endParaRPr lang="en-US" sz="1100" dirty="0"/>
          </a:p>
        </p:txBody>
      </p:sp>
      <p:sp>
        <p:nvSpPr>
          <p:cNvPr id="11" name="Text 9"/>
          <p:cNvSpPr/>
          <p:nvPr/>
        </p:nvSpPr>
        <p:spPr>
          <a:xfrm>
            <a:off x="757238" y="1615631"/>
            <a:ext cx="3494723" cy="171450"/>
          </a:xfrm>
          <a:prstGeom prst="rect">
            <a:avLst/>
          </a:prstGeom>
          <a:noFill/>
          <a:ln/>
        </p:spPr>
        <p:txBody>
          <a:bodyPr wrap="square" rtlCol="0" anchor="ctr"/>
          <a:lstStyle/>
          <a:p>
            <a:pPr marL="0" indent="0">
              <a:buNone/>
            </a:pPr>
            <a:r>
              <a:rPr lang="en-US" sz="1100" b="1" dirty="0">
                <a:solidFill>
                  <a:srgbClr val="25374F"/>
                </a:solidFill>
                <a:latin typeface="Poppins" pitchFamily="34" charset="0"/>
                <a:ea typeface="Poppins" pitchFamily="34" charset="-122"/>
                <a:cs typeface="Poppins" pitchFamily="34" charset="-120"/>
              </a:rPr>
              <a:t>Observational — we watch</a:t>
            </a:r>
            <a:endParaRPr lang="en-US" sz="1100" dirty="0"/>
          </a:p>
        </p:txBody>
      </p:sp>
      <p:sp>
        <p:nvSpPr>
          <p:cNvPr id="12" name="Text 10"/>
          <p:cNvSpPr/>
          <p:nvPr/>
        </p:nvSpPr>
        <p:spPr>
          <a:xfrm>
            <a:off x="542925" y="1829943"/>
            <a:ext cx="3709035" cy="500491"/>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The researcher does not assign exposure. Nature, behaviour or circumstance has already done so — we simply measure and compare.</a:t>
            </a:r>
            <a:endParaRPr lang="en-US" sz="1100" dirty="0"/>
          </a:p>
        </p:txBody>
      </p:sp>
      <p:sp>
        <p:nvSpPr>
          <p:cNvPr id="13" name="Text 11"/>
          <p:cNvSpPr/>
          <p:nvPr/>
        </p:nvSpPr>
        <p:spPr>
          <a:xfrm>
            <a:off x="542925" y="2387584"/>
            <a:ext cx="3709035" cy="224028"/>
          </a:xfrm>
          <a:prstGeom prst="rect">
            <a:avLst/>
          </a:prstGeom>
          <a:noFill/>
          <a:ln/>
        </p:spPr>
        <p:txBody>
          <a:bodyPr wrap="square" rtlCol="0" anchor="t"/>
          <a:lstStyle/>
          <a:p>
            <a:pPr marL="0" indent="0">
              <a:buNone/>
            </a:pPr>
            <a:r>
              <a:rPr lang="en-US" sz="1100" b="1" dirty="0">
                <a:solidFill>
                  <a:srgbClr val="27313B"/>
                </a:solidFill>
                <a:latin typeface="Calibri" pitchFamily="34" charset="0"/>
                <a:ea typeface="Calibri" pitchFamily="34" charset="-122"/>
                <a:cs typeface="Calibri" pitchFamily="34" charset="-120"/>
              </a:rPr>
              <a:t>Descriptive</a:t>
            </a:r>
            <a:endParaRPr lang="en-US" sz="1100" dirty="0"/>
          </a:p>
        </p:txBody>
      </p:sp>
      <p:sp>
        <p:nvSpPr>
          <p:cNvPr id="14" name="Text 12"/>
          <p:cNvSpPr/>
          <p:nvPr/>
        </p:nvSpPr>
        <p:spPr>
          <a:xfrm>
            <a:off x="542925" y="2668762"/>
            <a:ext cx="3709035" cy="429768"/>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Case report · case series · ecological · cross-sectional</a:t>
            </a:r>
            <a:endParaRPr lang="en-US" sz="1100" dirty="0"/>
          </a:p>
        </p:txBody>
      </p:sp>
      <p:sp>
        <p:nvSpPr>
          <p:cNvPr id="15" name="Text 13"/>
          <p:cNvSpPr/>
          <p:nvPr/>
        </p:nvSpPr>
        <p:spPr>
          <a:xfrm>
            <a:off x="542925" y="3155680"/>
            <a:ext cx="3709035" cy="224028"/>
          </a:xfrm>
          <a:prstGeom prst="rect">
            <a:avLst/>
          </a:prstGeom>
          <a:noFill/>
          <a:ln/>
        </p:spPr>
        <p:txBody>
          <a:bodyPr wrap="square" rtlCol="0" anchor="t"/>
          <a:lstStyle/>
          <a:p>
            <a:pPr marL="0" indent="0">
              <a:buNone/>
            </a:pPr>
            <a:r>
              <a:rPr lang="en-US" sz="1100" b="1" dirty="0">
                <a:solidFill>
                  <a:srgbClr val="27313B"/>
                </a:solidFill>
                <a:latin typeface="Calibri" pitchFamily="34" charset="0"/>
                <a:ea typeface="Calibri" pitchFamily="34" charset="-122"/>
                <a:cs typeface="Calibri" pitchFamily="34" charset="-120"/>
              </a:rPr>
              <a:t>Analytical</a:t>
            </a:r>
            <a:endParaRPr lang="en-US" sz="1100" dirty="0"/>
          </a:p>
        </p:txBody>
      </p:sp>
      <p:sp>
        <p:nvSpPr>
          <p:cNvPr id="16" name="Text 14"/>
          <p:cNvSpPr/>
          <p:nvPr/>
        </p:nvSpPr>
        <p:spPr>
          <a:xfrm>
            <a:off x="542925" y="3436858"/>
            <a:ext cx="3709035" cy="224028"/>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Cohort · case-control</a:t>
            </a:r>
            <a:endParaRPr lang="en-US" sz="1100" dirty="0"/>
          </a:p>
        </p:txBody>
      </p:sp>
      <p:sp>
        <p:nvSpPr>
          <p:cNvPr id="17" name="Text 15"/>
          <p:cNvSpPr/>
          <p:nvPr/>
        </p:nvSpPr>
        <p:spPr>
          <a:xfrm>
            <a:off x="542925" y="3718036"/>
            <a:ext cx="3709035" cy="429768"/>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No random allocation → confounding is the central threat to validity.</a:t>
            </a:r>
            <a:endParaRPr lang="en-US" sz="1100" dirty="0"/>
          </a:p>
        </p:txBody>
      </p:sp>
      <p:sp>
        <p:nvSpPr>
          <p:cNvPr id="18" name="Shape 16"/>
          <p:cNvSpPr/>
          <p:nvPr/>
        </p:nvSpPr>
        <p:spPr>
          <a:xfrm>
            <a:off x="4537710" y="1515618"/>
            <a:ext cx="3937635" cy="3199257"/>
          </a:xfrm>
          <a:prstGeom prst="roundRect">
            <a:avLst>
              <a:gd name="adj" fmla="val 2398"/>
            </a:avLst>
          </a:prstGeom>
          <a:solidFill>
            <a:srgbClr val="25374F"/>
          </a:solidFill>
          <a:ln/>
          <a:effectLst>
            <a:outerShdw blurRad="76200" dist="25400" dir="2700000" algn="bl" rotWithShape="0">
              <a:srgbClr val="1B2A3D">
                <a:alpha val="10000"/>
              </a:srgbClr>
            </a:outerShdw>
          </a:effectLst>
        </p:spPr>
        <p:txBody>
          <a:bodyPr/>
          <a:lstStyle/>
          <a:p>
            <a:endParaRPr lang="en-ZW" sz="1100"/>
          </a:p>
        </p:txBody>
      </p:sp>
      <p:sp>
        <p:nvSpPr>
          <p:cNvPr id="19" name="Shape 17"/>
          <p:cNvSpPr/>
          <p:nvPr/>
        </p:nvSpPr>
        <p:spPr>
          <a:xfrm>
            <a:off x="4652010" y="1615631"/>
            <a:ext cx="157163" cy="157163"/>
          </a:xfrm>
          <a:prstGeom prst="ellipse">
            <a:avLst/>
          </a:prstGeom>
          <a:solidFill>
            <a:srgbClr val="E63425"/>
          </a:solidFill>
          <a:ln/>
        </p:spPr>
        <p:txBody>
          <a:bodyPr/>
          <a:lstStyle/>
          <a:p>
            <a:endParaRPr lang="en-ZW" sz="1100"/>
          </a:p>
        </p:txBody>
      </p:sp>
      <p:sp>
        <p:nvSpPr>
          <p:cNvPr id="20" name="Text 18"/>
          <p:cNvSpPr/>
          <p:nvPr/>
        </p:nvSpPr>
        <p:spPr>
          <a:xfrm>
            <a:off x="4609148" y="1615631"/>
            <a:ext cx="242888" cy="157163"/>
          </a:xfrm>
          <a:prstGeom prst="rect">
            <a:avLst/>
          </a:prstGeom>
          <a:noFill/>
          <a:ln/>
        </p:spPr>
        <p:txBody>
          <a:bodyPr wrap="square" rtlCol="0" anchor="ctr"/>
          <a:lstStyle/>
          <a:p>
            <a:pPr marL="0" indent="0" algn="ctr">
              <a:buNone/>
            </a:pPr>
            <a:endParaRPr lang="en-US" sz="1100" dirty="0"/>
          </a:p>
        </p:txBody>
      </p:sp>
      <p:sp>
        <p:nvSpPr>
          <p:cNvPr id="21" name="Text 19"/>
          <p:cNvSpPr/>
          <p:nvPr/>
        </p:nvSpPr>
        <p:spPr>
          <a:xfrm>
            <a:off x="4866323" y="1615631"/>
            <a:ext cx="3494723" cy="171450"/>
          </a:xfrm>
          <a:prstGeom prst="rect">
            <a:avLst/>
          </a:prstGeom>
          <a:noFill/>
          <a:ln/>
        </p:spPr>
        <p:txBody>
          <a:bodyPr wrap="square" rtlCol="0" anchor="ctr"/>
          <a:lstStyle/>
          <a:p>
            <a:pPr marL="0" indent="0">
              <a:buNone/>
            </a:pPr>
            <a:r>
              <a:rPr lang="en-US" sz="1100" b="1" dirty="0">
                <a:solidFill>
                  <a:srgbClr val="FFFFFF"/>
                </a:solidFill>
                <a:latin typeface="Poppins" pitchFamily="34" charset="0"/>
                <a:ea typeface="Poppins" pitchFamily="34" charset="-122"/>
                <a:cs typeface="Poppins" pitchFamily="34" charset="-120"/>
              </a:rPr>
              <a:t>Experimental — we assign</a:t>
            </a:r>
            <a:endParaRPr lang="en-US" sz="1100" dirty="0"/>
          </a:p>
        </p:txBody>
      </p:sp>
      <p:sp>
        <p:nvSpPr>
          <p:cNvPr id="22" name="Text 20"/>
          <p:cNvSpPr/>
          <p:nvPr/>
        </p:nvSpPr>
        <p:spPr>
          <a:xfrm>
            <a:off x="4652010" y="1829943"/>
            <a:ext cx="3709035" cy="500491"/>
          </a:xfrm>
          <a:prstGeom prst="rect">
            <a:avLst/>
          </a:prstGeom>
          <a:noFill/>
          <a:ln/>
        </p:spPr>
        <p:txBody>
          <a:bodyPr wrap="square" rtlCol="0" anchor="t"/>
          <a:lstStyle/>
          <a:p>
            <a:pPr marL="0" indent="0">
              <a:buNone/>
            </a:pPr>
            <a:r>
              <a:rPr lang="en-US" sz="1100" dirty="0">
                <a:solidFill>
                  <a:srgbClr val="DCE3EA"/>
                </a:solidFill>
                <a:latin typeface="Calibri" pitchFamily="34" charset="0"/>
                <a:ea typeface="Calibri" pitchFamily="34" charset="-122"/>
                <a:cs typeface="Calibri" pitchFamily="34" charset="-120"/>
              </a:rPr>
              <a:t>The researcher actively assigns the exposure or intervention — ideally at random — to balance known and unknown confounders.</a:t>
            </a:r>
            <a:endParaRPr lang="en-US" sz="1100" dirty="0"/>
          </a:p>
        </p:txBody>
      </p:sp>
      <p:sp>
        <p:nvSpPr>
          <p:cNvPr id="23" name="Text 21"/>
          <p:cNvSpPr/>
          <p:nvPr/>
        </p:nvSpPr>
        <p:spPr>
          <a:xfrm>
            <a:off x="4652010" y="2387584"/>
            <a:ext cx="3709035" cy="224028"/>
          </a:xfrm>
          <a:prstGeom prst="rect">
            <a:avLst/>
          </a:prstGeom>
          <a:noFill/>
          <a:ln/>
        </p:spPr>
        <p:txBody>
          <a:bodyPr wrap="square" rtlCol="0" anchor="t"/>
          <a:lstStyle/>
          <a:p>
            <a:pPr marL="0" indent="0">
              <a:buNone/>
            </a:pPr>
            <a:r>
              <a:rPr lang="en-US" sz="1100" b="1" dirty="0">
                <a:solidFill>
                  <a:srgbClr val="DCE3EA"/>
                </a:solidFill>
                <a:latin typeface="Calibri" pitchFamily="34" charset="0"/>
                <a:ea typeface="Calibri" pitchFamily="34" charset="-122"/>
                <a:cs typeface="Calibri" pitchFamily="34" charset="-120"/>
              </a:rPr>
              <a:t>Individual RCT</a:t>
            </a:r>
            <a:endParaRPr lang="en-US" sz="1100" dirty="0"/>
          </a:p>
        </p:txBody>
      </p:sp>
      <p:sp>
        <p:nvSpPr>
          <p:cNvPr id="24" name="Text 22"/>
          <p:cNvSpPr/>
          <p:nvPr/>
        </p:nvSpPr>
        <p:spPr>
          <a:xfrm>
            <a:off x="4652010" y="2668762"/>
            <a:ext cx="3709035" cy="224028"/>
          </a:xfrm>
          <a:prstGeom prst="rect">
            <a:avLst/>
          </a:prstGeom>
          <a:noFill/>
          <a:ln/>
        </p:spPr>
        <p:txBody>
          <a:bodyPr wrap="square" rtlCol="0" anchor="t"/>
          <a:lstStyle/>
          <a:p>
            <a:pPr marL="0" indent="0">
              <a:buNone/>
            </a:pPr>
            <a:r>
              <a:rPr lang="en-US" sz="1100" dirty="0">
                <a:solidFill>
                  <a:srgbClr val="DCE3EA"/>
                </a:solidFill>
                <a:latin typeface="Calibri" pitchFamily="34" charset="0"/>
                <a:ea typeface="Calibri" pitchFamily="34" charset="-122"/>
                <a:cs typeface="Calibri" pitchFamily="34" charset="-120"/>
              </a:rPr>
              <a:t>Participants randomised one by one</a:t>
            </a:r>
            <a:endParaRPr lang="en-US" sz="1100" dirty="0"/>
          </a:p>
        </p:txBody>
      </p:sp>
      <p:sp>
        <p:nvSpPr>
          <p:cNvPr id="25" name="Text 23"/>
          <p:cNvSpPr/>
          <p:nvPr/>
        </p:nvSpPr>
        <p:spPr>
          <a:xfrm>
            <a:off x="4652010" y="2949940"/>
            <a:ext cx="3709035" cy="224028"/>
          </a:xfrm>
          <a:prstGeom prst="rect">
            <a:avLst/>
          </a:prstGeom>
          <a:noFill/>
          <a:ln/>
        </p:spPr>
        <p:txBody>
          <a:bodyPr wrap="square" rtlCol="0" anchor="t"/>
          <a:lstStyle/>
          <a:p>
            <a:pPr marL="0" indent="0">
              <a:buNone/>
            </a:pPr>
            <a:r>
              <a:rPr lang="en-US" sz="1100" b="1" dirty="0">
                <a:solidFill>
                  <a:srgbClr val="DCE3EA"/>
                </a:solidFill>
                <a:latin typeface="Calibri" pitchFamily="34" charset="0"/>
                <a:ea typeface="Calibri" pitchFamily="34" charset="-122"/>
                <a:cs typeface="Calibri" pitchFamily="34" charset="-120"/>
              </a:rPr>
              <a:t>Cluster RCT</a:t>
            </a:r>
            <a:endParaRPr lang="en-US" sz="1100" dirty="0"/>
          </a:p>
        </p:txBody>
      </p:sp>
      <p:sp>
        <p:nvSpPr>
          <p:cNvPr id="26" name="Text 24"/>
          <p:cNvSpPr/>
          <p:nvPr/>
        </p:nvSpPr>
        <p:spPr>
          <a:xfrm>
            <a:off x="4652010" y="3231118"/>
            <a:ext cx="3709035" cy="224028"/>
          </a:xfrm>
          <a:prstGeom prst="rect">
            <a:avLst/>
          </a:prstGeom>
          <a:noFill/>
          <a:ln/>
        </p:spPr>
        <p:txBody>
          <a:bodyPr wrap="square" rtlCol="0" anchor="t"/>
          <a:lstStyle/>
          <a:p>
            <a:pPr marL="0" indent="0">
              <a:buNone/>
            </a:pPr>
            <a:r>
              <a:rPr lang="en-US" sz="1100" dirty="0">
                <a:solidFill>
                  <a:srgbClr val="DCE3EA"/>
                </a:solidFill>
                <a:latin typeface="Calibri" pitchFamily="34" charset="0"/>
                <a:ea typeface="Calibri" pitchFamily="34" charset="-122"/>
                <a:cs typeface="Calibri" pitchFamily="34" charset="-120"/>
              </a:rPr>
              <a:t>Whole communities or clinics randomised</a:t>
            </a:r>
            <a:endParaRPr lang="en-US" sz="1100" dirty="0"/>
          </a:p>
        </p:txBody>
      </p:sp>
      <p:sp>
        <p:nvSpPr>
          <p:cNvPr id="27" name="Text 25"/>
          <p:cNvSpPr/>
          <p:nvPr/>
        </p:nvSpPr>
        <p:spPr>
          <a:xfrm>
            <a:off x="4652010" y="3512296"/>
            <a:ext cx="3709035" cy="224028"/>
          </a:xfrm>
          <a:prstGeom prst="rect">
            <a:avLst/>
          </a:prstGeom>
          <a:noFill/>
          <a:ln/>
        </p:spPr>
        <p:txBody>
          <a:bodyPr wrap="square" rtlCol="0" anchor="t"/>
          <a:lstStyle/>
          <a:p>
            <a:pPr marL="0" indent="0">
              <a:buNone/>
            </a:pPr>
            <a:r>
              <a:rPr lang="en-US" sz="1100" b="1" dirty="0">
                <a:solidFill>
                  <a:srgbClr val="DCE3EA"/>
                </a:solidFill>
                <a:latin typeface="Calibri" pitchFamily="34" charset="0"/>
                <a:ea typeface="Calibri" pitchFamily="34" charset="-122"/>
                <a:cs typeface="Calibri" pitchFamily="34" charset="-120"/>
              </a:rPr>
              <a:t>Quasi-experimental</a:t>
            </a:r>
            <a:endParaRPr lang="en-US" sz="1100" dirty="0"/>
          </a:p>
        </p:txBody>
      </p:sp>
      <p:sp>
        <p:nvSpPr>
          <p:cNvPr id="28" name="Text 26"/>
          <p:cNvSpPr/>
          <p:nvPr/>
        </p:nvSpPr>
        <p:spPr>
          <a:xfrm>
            <a:off x="4652010" y="3793474"/>
            <a:ext cx="3709035" cy="224028"/>
          </a:xfrm>
          <a:prstGeom prst="rect">
            <a:avLst/>
          </a:prstGeom>
          <a:noFill/>
          <a:ln/>
        </p:spPr>
        <p:txBody>
          <a:bodyPr wrap="square" rtlCol="0" anchor="t"/>
          <a:lstStyle/>
          <a:p>
            <a:pPr marL="0" indent="0">
              <a:buNone/>
            </a:pPr>
            <a:r>
              <a:rPr lang="en-US" sz="1100" dirty="0">
                <a:solidFill>
                  <a:srgbClr val="DCE3EA"/>
                </a:solidFill>
                <a:latin typeface="Calibri" pitchFamily="34" charset="0"/>
                <a:ea typeface="Calibri" pitchFamily="34" charset="-122"/>
                <a:cs typeface="Calibri" pitchFamily="34" charset="-120"/>
              </a:rPr>
              <a:t>Stepped-wedge, before–after designs</a:t>
            </a:r>
            <a:endParaRPr lang="en-US" sz="1100" dirty="0"/>
          </a:p>
        </p:txBody>
      </p:sp>
      <p:sp>
        <p:nvSpPr>
          <p:cNvPr id="29" name="Text 27"/>
          <p:cNvSpPr/>
          <p:nvPr/>
        </p:nvSpPr>
        <p:spPr>
          <a:xfrm>
            <a:off x="4652010" y="4074652"/>
            <a:ext cx="3709035" cy="429768"/>
          </a:xfrm>
          <a:prstGeom prst="rect">
            <a:avLst/>
          </a:prstGeom>
          <a:noFill/>
          <a:ln/>
        </p:spPr>
        <p:txBody>
          <a:bodyPr wrap="square" rtlCol="0" anchor="t"/>
          <a:lstStyle/>
          <a:p>
            <a:pPr marL="0" indent="0">
              <a:buNone/>
            </a:pPr>
            <a:r>
              <a:rPr lang="en-US" sz="1100" dirty="0">
                <a:solidFill>
                  <a:srgbClr val="DCE3EA"/>
                </a:solidFill>
                <a:latin typeface="Calibri" pitchFamily="34" charset="0"/>
                <a:ea typeface="Calibri" pitchFamily="34" charset="-122"/>
                <a:cs typeface="Calibri" pitchFamily="34" charset="-120"/>
              </a:rPr>
              <a:t>Randomisation → the strongest available evidence for cause and effect.</a:t>
            </a:r>
            <a:endParaRPr lang="en-US" sz="1100" dirty="0"/>
          </a:p>
        </p:txBody>
      </p:sp>
      <p:pic>
        <p:nvPicPr>
          <p:cNvPr id="30" name="Picture 29">
            <a:extLst>
              <a:ext uri="{FF2B5EF4-FFF2-40B4-BE49-F238E27FC236}">
                <a16:creationId xmlns:a16="http://schemas.microsoft.com/office/drawing/2014/main" id="{2D14804A-733B-49D8-8032-4B40C5A4ECB5}"/>
              </a:ext>
            </a:extLst>
          </p:cNvPr>
          <p:cNvPicPr>
            <a:picLocks noChangeAspect="1"/>
          </p:cNvPicPr>
          <p:nvPr/>
        </p:nvPicPr>
        <p:blipFill>
          <a:blip r:embed="rId3"/>
          <a:stretch>
            <a:fillRect/>
          </a:stretch>
        </p:blipFill>
        <p:spPr>
          <a:xfrm>
            <a:off x="7965371" y="133434"/>
            <a:ext cx="1085760" cy="59038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428625" y="4759452"/>
            <a:ext cx="4572000" cy="201168"/>
          </a:xfrm>
          <a:prstGeom prst="rect">
            <a:avLst/>
          </a:prstGeom>
          <a:noFill/>
          <a:ln/>
        </p:spPr>
        <p:txBody>
          <a:bodyPr wrap="square" rtlCol="0" anchor="ctr"/>
          <a:lstStyle/>
          <a:p>
            <a:pPr marL="0" indent="0">
              <a:buNone/>
            </a:pPr>
            <a:r>
              <a:rPr lang="en-US" sz="950" b="1" dirty="0">
                <a:solidFill>
                  <a:srgbClr val="E63425"/>
                </a:solidFill>
                <a:latin typeface="Calibri" pitchFamily="34" charset="0"/>
                <a:ea typeface="Calibri" pitchFamily="34" charset="-122"/>
                <a:cs typeface="Calibri" pitchFamily="34" charset="-120"/>
              </a:rPr>
              <a:t>Research Masterclass for Clinicians</a:t>
            </a:r>
            <a:endParaRPr lang="en-US" sz="950" dirty="0"/>
          </a:p>
        </p:txBody>
      </p:sp>
      <p:sp>
        <p:nvSpPr>
          <p:cNvPr id="5" name="Text 3"/>
          <p:cNvSpPr/>
          <p:nvPr/>
        </p:nvSpPr>
        <p:spPr>
          <a:xfrm>
            <a:off x="428625" y="4924044"/>
            <a:ext cx="4572000" cy="182880"/>
          </a:xfrm>
          <a:prstGeom prst="rect">
            <a:avLst/>
          </a:prstGeom>
          <a:noFill/>
          <a:ln/>
        </p:spPr>
        <p:txBody>
          <a:bodyPr wrap="square" rtlCol="0" anchor="ctr"/>
          <a:lstStyle/>
          <a:p>
            <a:pPr marL="0" indent="0">
              <a:buNone/>
            </a:pPr>
            <a:r>
              <a:rPr lang="en-US" sz="800" dirty="0">
                <a:solidFill>
                  <a:srgbClr val="5B6B7C"/>
                </a:solidFill>
                <a:latin typeface="Calibri" pitchFamily="34" charset="0"/>
                <a:ea typeface="Calibri" pitchFamily="34" charset="-122"/>
                <a:cs typeface="Calibri" pitchFamily="34" charset="-120"/>
              </a:rPr>
              <a:t>www.newlandsclinic.org.zw</a:t>
            </a:r>
            <a:endParaRPr lang="en-US" sz="800" dirty="0"/>
          </a:p>
        </p:txBody>
      </p:sp>
      <p:sp>
        <p:nvSpPr>
          <p:cNvPr id="6" name="Text 4"/>
          <p:cNvSpPr/>
          <p:nvPr/>
        </p:nvSpPr>
        <p:spPr>
          <a:xfrm>
            <a:off x="428625" y="428625"/>
            <a:ext cx="7680960" cy="201168"/>
          </a:xfrm>
          <a:prstGeom prst="rect">
            <a:avLst/>
          </a:prstGeom>
          <a:noFill/>
          <a:ln/>
        </p:spPr>
        <p:txBody>
          <a:bodyPr wrap="square" rtlCol="0" anchor="ctr"/>
          <a:lstStyle/>
          <a:p>
            <a:pPr marL="0" indent="0">
              <a:buNone/>
            </a:pPr>
            <a:r>
              <a:rPr lang="en-US" sz="1050" b="1" kern="0" spc="100" dirty="0">
                <a:solidFill>
                  <a:srgbClr val="E63425"/>
                </a:solidFill>
                <a:latin typeface="Calibri" pitchFamily="34" charset="0"/>
                <a:ea typeface="Calibri" pitchFamily="34" charset="-122"/>
                <a:cs typeface="Calibri" pitchFamily="34" charset="-120"/>
              </a:rPr>
              <a:t>SECTION 2 · DESCRIPTIVE DESIGNS</a:t>
            </a:r>
            <a:endParaRPr lang="en-US" sz="1050" dirty="0"/>
          </a:p>
        </p:txBody>
      </p:sp>
      <p:sp>
        <p:nvSpPr>
          <p:cNvPr id="7" name="Text 5"/>
          <p:cNvSpPr/>
          <p:nvPr/>
        </p:nvSpPr>
        <p:spPr>
          <a:xfrm>
            <a:off x="428625" y="628650"/>
            <a:ext cx="7680960" cy="395478"/>
          </a:xfrm>
          <a:prstGeom prst="rect">
            <a:avLst/>
          </a:prstGeom>
          <a:noFill/>
          <a:ln/>
        </p:spPr>
        <p:txBody>
          <a:bodyPr wrap="square" rtlCol="0" anchor="t"/>
          <a:lstStyle/>
          <a:p>
            <a:pPr marL="0" indent="0">
              <a:buNone/>
            </a:pPr>
            <a:r>
              <a:rPr lang="en-US" sz="2200" b="1" dirty="0">
                <a:solidFill>
                  <a:srgbClr val="25374F"/>
                </a:solidFill>
                <a:latin typeface="Poppins" pitchFamily="34" charset="0"/>
                <a:ea typeface="Poppins" pitchFamily="34" charset="-122"/>
                <a:cs typeface="Poppins" pitchFamily="34" charset="-120"/>
              </a:rPr>
              <a:t>Descriptive Studies: Telling the First Story</a:t>
            </a:r>
            <a:endParaRPr lang="en-US" sz="2200" dirty="0"/>
          </a:p>
        </p:txBody>
      </p:sp>
      <p:sp>
        <p:nvSpPr>
          <p:cNvPr id="8" name="Text 6"/>
          <p:cNvSpPr/>
          <p:nvPr/>
        </p:nvSpPr>
        <p:spPr>
          <a:xfrm>
            <a:off x="428625" y="1138428"/>
            <a:ext cx="8046720" cy="429768"/>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Describe disease by person, place and time. No comparison group — they generate hypotheses rather than test them.</a:t>
            </a:r>
            <a:endParaRPr lang="en-US" sz="1100" dirty="0"/>
          </a:p>
        </p:txBody>
      </p:sp>
      <p:sp>
        <p:nvSpPr>
          <p:cNvPr id="9" name="Shape 7"/>
          <p:cNvSpPr/>
          <p:nvPr/>
        </p:nvSpPr>
        <p:spPr>
          <a:xfrm>
            <a:off x="428625" y="1625346"/>
            <a:ext cx="8046720" cy="656654"/>
          </a:xfrm>
          <a:prstGeom prst="roundRect">
            <a:avLst>
              <a:gd name="adj" fmla="val 8355"/>
            </a:avLst>
          </a:prstGeom>
          <a:solidFill>
            <a:srgbClr val="F4F5F7"/>
          </a:solidFill>
          <a:ln/>
        </p:spPr>
        <p:txBody>
          <a:bodyPr/>
          <a:lstStyle/>
          <a:p>
            <a:endParaRPr lang="en-ZW" sz="1100"/>
          </a:p>
        </p:txBody>
      </p:sp>
      <p:sp>
        <p:nvSpPr>
          <p:cNvPr id="10" name="Shape 8"/>
          <p:cNvSpPr/>
          <p:nvPr/>
        </p:nvSpPr>
        <p:spPr>
          <a:xfrm>
            <a:off x="528638" y="1725359"/>
            <a:ext cx="78581" cy="78581"/>
          </a:xfrm>
          <a:prstGeom prst="ellipse">
            <a:avLst/>
          </a:prstGeom>
          <a:solidFill>
            <a:srgbClr val="2E8B9B"/>
          </a:solidFill>
          <a:ln/>
        </p:spPr>
        <p:txBody>
          <a:bodyPr/>
          <a:lstStyle/>
          <a:p>
            <a:endParaRPr lang="en-ZW" sz="1100"/>
          </a:p>
        </p:txBody>
      </p:sp>
      <p:sp>
        <p:nvSpPr>
          <p:cNvPr id="11" name="Text 9"/>
          <p:cNvSpPr/>
          <p:nvPr/>
        </p:nvSpPr>
        <p:spPr>
          <a:xfrm>
            <a:off x="657225" y="1696784"/>
            <a:ext cx="7718108" cy="244030"/>
          </a:xfrm>
          <a:prstGeom prst="rect">
            <a:avLst/>
          </a:prstGeom>
          <a:noFill/>
          <a:ln/>
        </p:spPr>
        <p:txBody>
          <a:bodyPr wrap="square" rtlCol="0" anchor="t"/>
          <a:lstStyle/>
          <a:p>
            <a:pPr marL="0" indent="0">
              <a:buNone/>
            </a:pPr>
            <a:r>
              <a:rPr lang="en-US" sz="1100" b="1" kern="0" spc="50" dirty="0">
                <a:solidFill>
                  <a:srgbClr val="25374F"/>
                </a:solidFill>
                <a:latin typeface="Calibri" pitchFamily="34" charset="0"/>
                <a:ea typeface="Calibri" pitchFamily="34" charset="-122"/>
                <a:cs typeface="Calibri" pitchFamily="34" charset="-120"/>
              </a:rPr>
              <a:t>CASE REPORT</a:t>
            </a:r>
            <a:endParaRPr lang="en-US" sz="1100" dirty="0"/>
          </a:p>
        </p:txBody>
      </p:sp>
      <p:sp>
        <p:nvSpPr>
          <p:cNvPr id="12" name="Text 10"/>
          <p:cNvSpPr/>
          <p:nvPr/>
        </p:nvSpPr>
        <p:spPr>
          <a:xfrm>
            <a:off x="528638" y="1997964"/>
            <a:ext cx="7846695" cy="198311"/>
          </a:xfrm>
          <a:prstGeom prst="rect">
            <a:avLst/>
          </a:prstGeom>
          <a:noFill/>
          <a:ln/>
        </p:spPr>
        <p:txBody>
          <a:bodyPr wrap="square" rtlCol="0" anchor="t"/>
          <a:lstStyle/>
          <a:p>
            <a:pPr marL="0" indent="0">
              <a:buNone/>
            </a:pPr>
            <a:r>
              <a:rPr lang="en-US" sz="1100" dirty="0">
                <a:solidFill>
                  <a:srgbClr val="5B6B7C"/>
                </a:solidFill>
                <a:latin typeface="Calibri" pitchFamily="34" charset="0"/>
                <a:ea typeface="Calibri" pitchFamily="34" charset="-122"/>
                <a:cs typeface="Calibri" pitchFamily="34" charset="-120"/>
              </a:rPr>
              <a:t>A single unusual or instructive patient, described in clinical detail.</a:t>
            </a:r>
            <a:endParaRPr lang="en-US" sz="1100" dirty="0"/>
          </a:p>
        </p:txBody>
      </p:sp>
      <p:sp>
        <p:nvSpPr>
          <p:cNvPr id="13" name="Shape 11"/>
          <p:cNvSpPr/>
          <p:nvPr/>
        </p:nvSpPr>
        <p:spPr>
          <a:xfrm>
            <a:off x="428625" y="2367725"/>
            <a:ext cx="8046720" cy="656654"/>
          </a:xfrm>
          <a:prstGeom prst="roundRect">
            <a:avLst>
              <a:gd name="adj" fmla="val 8355"/>
            </a:avLst>
          </a:prstGeom>
          <a:solidFill>
            <a:srgbClr val="F4F5F7"/>
          </a:solidFill>
          <a:ln/>
        </p:spPr>
        <p:txBody>
          <a:bodyPr/>
          <a:lstStyle/>
          <a:p>
            <a:endParaRPr lang="en-ZW" sz="1100"/>
          </a:p>
        </p:txBody>
      </p:sp>
      <p:sp>
        <p:nvSpPr>
          <p:cNvPr id="14" name="Shape 12"/>
          <p:cNvSpPr/>
          <p:nvPr/>
        </p:nvSpPr>
        <p:spPr>
          <a:xfrm>
            <a:off x="528638" y="2467737"/>
            <a:ext cx="78581" cy="78581"/>
          </a:xfrm>
          <a:prstGeom prst="ellipse">
            <a:avLst/>
          </a:prstGeom>
          <a:solidFill>
            <a:srgbClr val="F2A93B"/>
          </a:solidFill>
          <a:ln/>
        </p:spPr>
        <p:txBody>
          <a:bodyPr/>
          <a:lstStyle/>
          <a:p>
            <a:endParaRPr lang="en-ZW" sz="1100"/>
          </a:p>
        </p:txBody>
      </p:sp>
      <p:sp>
        <p:nvSpPr>
          <p:cNvPr id="15" name="Text 13"/>
          <p:cNvSpPr/>
          <p:nvPr/>
        </p:nvSpPr>
        <p:spPr>
          <a:xfrm>
            <a:off x="657225" y="2439162"/>
            <a:ext cx="7718108" cy="244030"/>
          </a:xfrm>
          <a:prstGeom prst="rect">
            <a:avLst/>
          </a:prstGeom>
          <a:noFill/>
          <a:ln/>
        </p:spPr>
        <p:txBody>
          <a:bodyPr wrap="square" rtlCol="0" anchor="t"/>
          <a:lstStyle/>
          <a:p>
            <a:pPr marL="0" indent="0">
              <a:buNone/>
            </a:pPr>
            <a:r>
              <a:rPr lang="en-US" sz="1100" b="1" kern="0" spc="50" dirty="0">
                <a:solidFill>
                  <a:srgbClr val="25374F"/>
                </a:solidFill>
                <a:latin typeface="Calibri" pitchFamily="34" charset="0"/>
                <a:ea typeface="Calibri" pitchFamily="34" charset="-122"/>
                <a:cs typeface="Calibri" pitchFamily="34" charset="-120"/>
              </a:rPr>
              <a:t>CASE SERIES / OUTBREAK REPORT</a:t>
            </a:r>
            <a:endParaRPr lang="en-US" sz="1100" dirty="0"/>
          </a:p>
        </p:txBody>
      </p:sp>
      <p:sp>
        <p:nvSpPr>
          <p:cNvPr id="16" name="Text 14"/>
          <p:cNvSpPr/>
          <p:nvPr/>
        </p:nvSpPr>
        <p:spPr>
          <a:xfrm>
            <a:off x="528638" y="2740343"/>
            <a:ext cx="7846695" cy="198311"/>
          </a:xfrm>
          <a:prstGeom prst="rect">
            <a:avLst/>
          </a:prstGeom>
          <a:noFill/>
          <a:ln/>
        </p:spPr>
        <p:txBody>
          <a:bodyPr wrap="square" rtlCol="0" anchor="t"/>
          <a:lstStyle/>
          <a:p>
            <a:pPr marL="0" indent="0">
              <a:buNone/>
            </a:pPr>
            <a:r>
              <a:rPr lang="en-US" sz="1100" dirty="0">
                <a:solidFill>
                  <a:srgbClr val="5B6B7C"/>
                </a:solidFill>
                <a:latin typeface="Calibri" pitchFamily="34" charset="0"/>
                <a:ea typeface="Calibri" pitchFamily="34" charset="-122"/>
                <a:cs typeface="Calibri" pitchFamily="34" charset="-120"/>
              </a:rPr>
              <a:t>Describes a cluster of cases by person, place and time — often the first response to an outbreak.</a:t>
            </a:r>
            <a:endParaRPr lang="en-US" sz="1100" dirty="0"/>
          </a:p>
        </p:txBody>
      </p:sp>
      <p:sp>
        <p:nvSpPr>
          <p:cNvPr id="17" name="Shape 15"/>
          <p:cNvSpPr/>
          <p:nvPr/>
        </p:nvSpPr>
        <p:spPr>
          <a:xfrm>
            <a:off x="428625" y="3110103"/>
            <a:ext cx="8046720" cy="656654"/>
          </a:xfrm>
          <a:prstGeom prst="roundRect">
            <a:avLst>
              <a:gd name="adj" fmla="val 8355"/>
            </a:avLst>
          </a:prstGeom>
          <a:solidFill>
            <a:srgbClr val="F4F5F7"/>
          </a:solidFill>
          <a:ln/>
        </p:spPr>
        <p:txBody>
          <a:bodyPr/>
          <a:lstStyle/>
          <a:p>
            <a:endParaRPr lang="en-ZW" sz="1100"/>
          </a:p>
        </p:txBody>
      </p:sp>
      <p:sp>
        <p:nvSpPr>
          <p:cNvPr id="18" name="Shape 16"/>
          <p:cNvSpPr/>
          <p:nvPr/>
        </p:nvSpPr>
        <p:spPr>
          <a:xfrm>
            <a:off x="528638" y="3210116"/>
            <a:ext cx="78581" cy="78581"/>
          </a:xfrm>
          <a:prstGeom prst="ellipse">
            <a:avLst/>
          </a:prstGeom>
          <a:solidFill>
            <a:srgbClr val="5B9A56"/>
          </a:solidFill>
          <a:ln/>
        </p:spPr>
        <p:txBody>
          <a:bodyPr/>
          <a:lstStyle/>
          <a:p>
            <a:endParaRPr lang="en-ZW" sz="1100"/>
          </a:p>
        </p:txBody>
      </p:sp>
      <p:sp>
        <p:nvSpPr>
          <p:cNvPr id="19" name="Text 17"/>
          <p:cNvSpPr/>
          <p:nvPr/>
        </p:nvSpPr>
        <p:spPr>
          <a:xfrm>
            <a:off x="657225" y="3181541"/>
            <a:ext cx="7718108" cy="244030"/>
          </a:xfrm>
          <a:prstGeom prst="rect">
            <a:avLst/>
          </a:prstGeom>
          <a:noFill/>
          <a:ln/>
        </p:spPr>
        <p:txBody>
          <a:bodyPr wrap="square" rtlCol="0" anchor="t"/>
          <a:lstStyle/>
          <a:p>
            <a:pPr marL="0" indent="0">
              <a:buNone/>
            </a:pPr>
            <a:r>
              <a:rPr lang="en-US" sz="1100" b="1" kern="0" spc="50" dirty="0">
                <a:solidFill>
                  <a:srgbClr val="25374F"/>
                </a:solidFill>
                <a:latin typeface="Calibri" pitchFamily="34" charset="0"/>
                <a:ea typeface="Calibri" pitchFamily="34" charset="-122"/>
                <a:cs typeface="Calibri" pitchFamily="34" charset="-120"/>
              </a:rPr>
              <a:t>ECOLOGICAL STUDY</a:t>
            </a:r>
            <a:endParaRPr lang="en-US" sz="1100" dirty="0"/>
          </a:p>
        </p:txBody>
      </p:sp>
      <p:sp>
        <p:nvSpPr>
          <p:cNvPr id="20" name="Text 18"/>
          <p:cNvSpPr/>
          <p:nvPr/>
        </p:nvSpPr>
        <p:spPr>
          <a:xfrm>
            <a:off x="528638" y="3482721"/>
            <a:ext cx="7846695" cy="198311"/>
          </a:xfrm>
          <a:prstGeom prst="rect">
            <a:avLst/>
          </a:prstGeom>
          <a:noFill/>
          <a:ln/>
        </p:spPr>
        <p:txBody>
          <a:bodyPr wrap="square" rtlCol="0" anchor="t"/>
          <a:lstStyle/>
          <a:p>
            <a:pPr marL="0" indent="0">
              <a:buNone/>
            </a:pPr>
            <a:r>
              <a:rPr lang="en-US" sz="1100" dirty="0">
                <a:solidFill>
                  <a:srgbClr val="5B6B7C"/>
                </a:solidFill>
                <a:latin typeface="Calibri" pitchFamily="34" charset="0"/>
                <a:ea typeface="Calibri" pitchFamily="34" charset="-122"/>
                <a:cs typeface="Calibri" pitchFamily="34" charset="-120"/>
              </a:rPr>
              <a:t>Exposure and outcome measured at the group/area level — efficient, but at risk of the ‘ecological fallacy’.</a:t>
            </a:r>
            <a:endParaRPr lang="en-US" sz="1100" dirty="0"/>
          </a:p>
        </p:txBody>
      </p:sp>
      <p:sp>
        <p:nvSpPr>
          <p:cNvPr id="21" name="Text 19"/>
          <p:cNvSpPr/>
          <p:nvPr/>
        </p:nvSpPr>
        <p:spPr>
          <a:xfrm>
            <a:off x="428625" y="3852482"/>
            <a:ext cx="8046720" cy="326898"/>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Strength: fast, cheap, hypothesis-generating, vital for outbreak response. Limitation: no comparison group — cannot test a causal hypothesis.</a:t>
            </a:r>
            <a:endParaRPr lang="en-US" sz="1100" dirty="0"/>
          </a:p>
        </p:txBody>
      </p:sp>
      <p:pic>
        <p:nvPicPr>
          <p:cNvPr id="22" name="Picture 21">
            <a:extLst>
              <a:ext uri="{FF2B5EF4-FFF2-40B4-BE49-F238E27FC236}">
                <a16:creationId xmlns:a16="http://schemas.microsoft.com/office/drawing/2014/main" id="{54FECC47-4714-236F-9470-1D83AAA03C3F}"/>
              </a:ext>
            </a:extLst>
          </p:cNvPr>
          <p:cNvPicPr>
            <a:picLocks noChangeAspect="1"/>
          </p:cNvPicPr>
          <p:nvPr/>
        </p:nvPicPr>
        <p:blipFill>
          <a:blip r:embed="rId3"/>
          <a:stretch>
            <a:fillRect/>
          </a:stretch>
        </p:blipFill>
        <p:spPr>
          <a:xfrm>
            <a:off x="7965371" y="133434"/>
            <a:ext cx="1085760" cy="59038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428625" y="4759452"/>
            <a:ext cx="4572000" cy="201168"/>
          </a:xfrm>
          <a:prstGeom prst="rect">
            <a:avLst/>
          </a:prstGeom>
          <a:noFill/>
          <a:ln/>
        </p:spPr>
        <p:txBody>
          <a:bodyPr wrap="square" rtlCol="0" anchor="ctr"/>
          <a:lstStyle/>
          <a:p>
            <a:pPr marL="0" indent="0">
              <a:buNone/>
            </a:pPr>
            <a:r>
              <a:rPr lang="en-US" sz="950" b="1" dirty="0">
                <a:solidFill>
                  <a:srgbClr val="E63425"/>
                </a:solidFill>
                <a:latin typeface="Calibri" pitchFamily="34" charset="0"/>
                <a:ea typeface="Calibri" pitchFamily="34" charset="-122"/>
                <a:cs typeface="Calibri" pitchFamily="34" charset="-120"/>
              </a:rPr>
              <a:t>Research Masterclass for Clinicians</a:t>
            </a:r>
            <a:endParaRPr lang="en-US" sz="950" dirty="0"/>
          </a:p>
        </p:txBody>
      </p:sp>
      <p:sp>
        <p:nvSpPr>
          <p:cNvPr id="5" name="Text 3"/>
          <p:cNvSpPr/>
          <p:nvPr/>
        </p:nvSpPr>
        <p:spPr>
          <a:xfrm>
            <a:off x="428625" y="4924044"/>
            <a:ext cx="4572000" cy="182880"/>
          </a:xfrm>
          <a:prstGeom prst="rect">
            <a:avLst/>
          </a:prstGeom>
          <a:noFill/>
          <a:ln/>
        </p:spPr>
        <p:txBody>
          <a:bodyPr wrap="square" rtlCol="0" anchor="ctr"/>
          <a:lstStyle/>
          <a:p>
            <a:pPr marL="0" indent="0">
              <a:buNone/>
            </a:pPr>
            <a:r>
              <a:rPr lang="en-US" sz="800" dirty="0">
                <a:solidFill>
                  <a:srgbClr val="5B6B7C"/>
                </a:solidFill>
                <a:latin typeface="Calibri" pitchFamily="34" charset="0"/>
                <a:ea typeface="Calibri" pitchFamily="34" charset="-122"/>
                <a:cs typeface="Calibri" pitchFamily="34" charset="-120"/>
              </a:rPr>
              <a:t>www.newlandsclinic.org.zw</a:t>
            </a:r>
            <a:endParaRPr lang="en-US" sz="800" dirty="0"/>
          </a:p>
        </p:txBody>
      </p:sp>
      <p:sp>
        <p:nvSpPr>
          <p:cNvPr id="6" name="Text 4"/>
          <p:cNvSpPr/>
          <p:nvPr/>
        </p:nvSpPr>
        <p:spPr>
          <a:xfrm>
            <a:off x="428625" y="428625"/>
            <a:ext cx="7680960" cy="201168"/>
          </a:xfrm>
          <a:prstGeom prst="rect">
            <a:avLst/>
          </a:prstGeom>
          <a:noFill/>
          <a:ln/>
        </p:spPr>
        <p:txBody>
          <a:bodyPr wrap="square" rtlCol="0" anchor="ctr"/>
          <a:lstStyle/>
          <a:p>
            <a:pPr marL="0" indent="0">
              <a:buNone/>
            </a:pPr>
            <a:r>
              <a:rPr lang="en-US" sz="1050" b="1" kern="0" spc="100" dirty="0">
                <a:solidFill>
                  <a:srgbClr val="E63425"/>
                </a:solidFill>
                <a:latin typeface="Calibri" pitchFamily="34" charset="0"/>
                <a:ea typeface="Calibri" pitchFamily="34" charset="-122"/>
                <a:cs typeface="Calibri" pitchFamily="34" charset="-120"/>
              </a:rPr>
              <a:t>SECTION 2 · DESCRIPTIVE DESIGNS</a:t>
            </a:r>
            <a:endParaRPr lang="en-US" sz="1050" dirty="0"/>
          </a:p>
        </p:txBody>
      </p:sp>
      <p:sp>
        <p:nvSpPr>
          <p:cNvPr id="7" name="Text 5"/>
          <p:cNvSpPr/>
          <p:nvPr/>
        </p:nvSpPr>
        <p:spPr>
          <a:xfrm>
            <a:off x="428625" y="628650"/>
            <a:ext cx="7680960" cy="395478"/>
          </a:xfrm>
          <a:prstGeom prst="rect">
            <a:avLst/>
          </a:prstGeom>
          <a:noFill/>
          <a:ln/>
        </p:spPr>
        <p:txBody>
          <a:bodyPr wrap="square" rtlCol="0" anchor="t"/>
          <a:lstStyle/>
          <a:p>
            <a:pPr marL="0" indent="0">
              <a:buNone/>
            </a:pPr>
            <a:r>
              <a:rPr lang="en-US" sz="2200" b="1" dirty="0">
                <a:solidFill>
                  <a:srgbClr val="25374F"/>
                </a:solidFill>
                <a:latin typeface="Poppins" pitchFamily="34" charset="0"/>
                <a:ea typeface="Poppins" pitchFamily="34" charset="-122"/>
                <a:cs typeface="Poppins" pitchFamily="34" charset="-120"/>
              </a:rPr>
              <a:t>Cross-Sectional Studies: A Snapshot in Time</a:t>
            </a:r>
            <a:endParaRPr lang="en-US" sz="2200" dirty="0"/>
          </a:p>
        </p:txBody>
      </p:sp>
      <p:sp>
        <p:nvSpPr>
          <p:cNvPr id="8" name="Text 6"/>
          <p:cNvSpPr/>
          <p:nvPr/>
        </p:nvSpPr>
        <p:spPr>
          <a:xfrm>
            <a:off x="428625" y="1138428"/>
            <a:ext cx="3937635" cy="539067"/>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Exposure and outcome are measured simultaneously, in a defined population, at one point in time — the design of choice for estimating prevalence.</a:t>
            </a:r>
            <a:endParaRPr lang="en-US" sz="1100" dirty="0"/>
          </a:p>
        </p:txBody>
      </p:sp>
      <p:sp>
        <p:nvSpPr>
          <p:cNvPr id="9" name="Shape 7"/>
          <p:cNvSpPr/>
          <p:nvPr/>
        </p:nvSpPr>
        <p:spPr>
          <a:xfrm>
            <a:off x="428625" y="1734645"/>
            <a:ext cx="3937635" cy="1446752"/>
          </a:xfrm>
          <a:prstGeom prst="roundRect">
            <a:avLst>
              <a:gd name="adj" fmla="val 3160"/>
            </a:avLst>
          </a:prstGeom>
          <a:solidFill>
            <a:srgbClr val="F4F5F7"/>
          </a:solidFill>
          <a:ln/>
          <a:effectLst>
            <a:outerShdw blurRad="76200" dist="25400" dir="2700000" algn="bl" rotWithShape="0">
              <a:srgbClr val="1B2A3D">
                <a:alpha val="8000"/>
              </a:srgbClr>
            </a:outerShdw>
          </a:effectLst>
        </p:spPr>
        <p:txBody>
          <a:bodyPr/>
          <a:lstStyle/>
          <a:p>
            <a:endParaRPr lang="en-ZW" sz="1100"/>
          </a:p>
        </p:txBody>
      </p:sp>
      <p:sp>
        <p:nvSpPr>
          <p:cNvPr id="10" name="Text 8"/>
          <p:cNvSpPr/>
          <p:nvPr/>
        </p:nvSpPr>
        <p:spPr>
          <a:xfrm>
            <a:off x="557213" y="1848945"/>
            <a:ext cx="3680460" cy="159734"/>
          </a:xfrm>
          <a:prstGeom prst="rect">
            <a:avLst/>
          </a:prstGeom>
          <a:noFill/>
          <a:ln/>
        </p:spPr>
        <p:txBody>
          <a:bodyPr wrap="square" rtlCol="0" anchor="t"/>
          <a:lstStyle/>
          <a:p>
            <a:pPr marL="0" indent="0">
              <a:buNone/>
            </a:pPr>
            <a:r>
              <a:rPr lang="en-US" sz="1100" b="1" dirty="0">
                <a:solidFill>
                  <a:srgbClr val="E63425"/>
                </a:solidFill>
                <a:latin typeface="Calibri" pitchFamily="34" charset="0"/>
                <a:ea typeface="Calibri" pitchFamily="34" charset="-122"/>
                <a:cs typeface="Calibri" pitchFamily="34" charset="-120"/>
              </a:rPr>
              <a:t>REGIONAL EXAMPLE</a:t>
            </a:r>
            <a:endParaRPr lang="en-US" sz="1100" dirty="0"/>
          </a:p>
        </p:txBody>
      </p:sp>
      <p:sp>
        <p:nvSpPr>
          <p:cNvPr id="11" name="Text 9"/>
          <p:cNvSpPr/>
          <p:nvPr/>
        </p:nvSpPr>
        <p:spPr>
          <a:xfrm>
            <a:off x="557213" y="2065830"/>
            <a:ext cx="3680460" cy="944118"/>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ZIMPHIA — the Zimbabwe Population-based HIV Impact Assessment (Gonese et al., AIDS Res Hum Retroviruses, 2020) is a nationally representative household survey. In 2015–16, 20,577 adults completed interviews and HIV testing in a single round — enabling prevalence, viral-load suppression and 90-90-90 progress to be estimated all at once.</a:t>
            </a:r>
            <a:endParaRPr lang="en-US" sz="1100" dirty="0"/>
          </a:p>
        </p:txBody>
      </p:sp>
      <p:sp>
        <p:nvSpPr>
          <p:cNvPr id="12" name="Text 10"/>
          <p:cNvSpPr/>
          <p:nvPr/>
        </p:nvSpPr>
        <p:spPr>
          <a:xfrm>
            <a:off x="428625" y="3281410"/>
            <a:ext cx="3937635" cy="314039"/>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Strength: efficient for prevalence &amp; trend tracking. Limitation: cannot establish temporal sequence.</a:t>
            </a:r>
            <a:endParaRPr lang="en-US" sz="1100" dirty="0"/>
          </a:p>
        </p:txBody>
      </p:sp>
      <p:sp>
        <p:nvSpPr>
          <p:cNvPr id="13" name="Shape 11"/>
          <p:cNvSpPr/>
          <p:nvPr/>
        </p:nvSpPr>
        <p:spPr>
          <a:xfrm>
            <a:off x="4537710" y="1138428"/>
            <a:ext cx="3937635" cy="1643063"/>
          </a:xfrm>
          <a:prstGeom prst="roundRect">
            <a:avLst>
              <a:gd name="adj" fmla="val 4099"/>
            </a:avLst>
          </a:prstGeom>
          <a:solidFill>
            <a:srgbClr val="F4F5F7"/>
          </a:solidFill>
          <a:ln/>
          <a:effectLst>
            <a:outerShdw blurRad="76200" dist="25400" dir="2700000" algn="bl" rotWithShape="0">
              <a:srgbClr val="1B2A3D">
                <a:alpha val="8000"/>
              </a:srgbClr>
            </a:outerShdw>
          </a:effectLst>
        </p:spPr>
        <p:txBody>
          <a:bodyPr/>
          <a:lstStyle/>
          <a:p>
            <a:endParaRPr lang="en-ZW" sz="1100"/>
          </a:p>
        </p:txBody>
      </p:sp>
      <p:sp>
        <p:nvSpPr>
          <p:cNvPr id="14" name="Text 12"/>
          <p:cNvSpPr/>
          <p:nvPr/>
        </p:nvSpPr>
        <p:spPr>
          <a:xfrm>
            <a:off x="4666298" y="1252728"/>
            <a:ext cx="3680460" cy="185452"/>
          </a:xfrm>
          <a:prstGeom prst="rect">
            <a:avLst/>
          </a:prstGeom>
          <a:noFill/>
          <a:ln/>
        </p:spPr>
        <p:txBody>
          <a:bodyPr wrap="square" rtlCol="0" anchor="t"/>
          <a:lstStyle/>
          <a:p>
            <a:pPr marL="0" indent="0">
              <a:buNone/>
            </a:pPr>
            <a:r>
              <a:rPr lang="en-US" sz="1100" b="1" dirty="0">
                <a:solidFill>
                  <a:srgbClr val="25374F"/>
                </a:solidFill>
                <a:latin typeface="Calibri" pitchFamily="34" charset="0"/>
                <a:ea typeface="Calibri" pitchFamily="34" charset="-122"/>
                <a:cs typeface="Calibri" pitchFamily="34" charset="-120"/>
              </a:rPr>
              <a:t>Two snapshots, tracking one trend</a:t>
            </a:r>
            <a:endParaRPr lang="en-US" sz="1100" dirty="0"/>
          </a:p>
        </p:txBody>
      </p:sp>
      <p:sp>
        <p:nvSpPr>
          <p:cNvPr id="15" name="Text 13"/>
          <p:cNvSpPr/>
          <p:nvPr/>
        </p:nvSpPr>
        <p:spPr>
          <a:xfrm>
            <a:off x="4666298" y="1495330"/>
            <a:ext cx="3680460" cy="159734"/>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2015–1613.4%</a:t>
            </a:r>
            <a:endParaRPr lang="en-US" sz="1100" dirty="0"/>
          </a:p>
        </p:txBody>
      </p:sp>
      <p:sp>
        <p:nvSpPr>
          <p:cNvPr id="16" name="Text 14"/>
          <p:cNvSpPr/>
          <p:nvPr/>
        </p:nvSpPr>
        <p:spPr>
          <a:xfrm>
            <a:off x="4666298" y="1712214"/>
            <a:ext cx="3680460" cy="159734"/>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202012.9%</a:t>
            </a:r>
            <a:endParaRPr lang="en-US" sz="1100" dirty="0"/>
          </a:p>
        </p:txBody>
      </p:sp>
      <p:sp>
        <p:nvSpPr>
          <p:cNvPr id="17" name="Text 15"/>
          <p:cNvSpPr/>
          <p:nvPr/>
        </p:nvSpPr>
        <p:spPr>
          <a:xfrm>
            <a:off x="4666298" y="1929098"/>
            <a:ext cx="3680460" cy="153305"/>
          </a:xfrm>
          <a:prstGeom prst="rect">
            <a:avLst/>
          </a:prstGeom>
          <a:noFill/>
          <a:ln/>
        </p:spPr>
        <p:txBody>
          <a:bodyPr wrap="square" rtlCol="0" anchor="t"/>
          <a:lstStyle/>
          <a:p>
            <a:pPr marL="0" indent="0">
              <a:buNone/>
            </a:pPr>
            <a:r>
              <a:rPr lang="en-US" sz="1100" i="1" dirty="0">
                <a:solidFill>
                  <a:srgbClr val="5B6B7C"/>
                </a:solidFill>
                <a:latin typeface="Calibri" pitchFamily="34" charset="0"/>
                <a:ea typeface="Calibri" pitchFamily="34" charset="-122"/>
                <a:cs typeface="Calibri" pitchFamily="34" charset="-120"/>
              </a:rPr>
              <a:t>Two independent rounds — not the same people followed over time.</a:t>
            </a:r>
            <a:endParaRPr lang="en-US" sz="1100" dirty="0"/>
          </a:p>
        </p:txBody>
      </p:sp>
      <p:pic>
        <p:nvPicPr>
          <p:cNvPr id="18" name="Picture 17">
            <a:extLst>
              <a:ext uri="{FF2B5EF4-FFF2-40B4-BE49-F238E27FC236}">
                <a16:creationId xmlns:a16="http://schemas.microsoft.com/office/drawing/2014/main" id="{716598F4-0859-C37D-9537-5797691FFB58}"/>
              </a:ext>
            </a:extLst>
          </p:cNvPr>
          <p:cNvPicPr>
            <a:picLocks noChangeAspect="1"/>
          </p:cNvPicPr>
          <p:nvPr/>
        </p:nvPicPr>
        <p:blipFill>
          <a:blip r:embed="rId3"/>
          <a:stretch>
            <a:fillRect/>
          </a:stretch>
        </p:blipFill>
        <p:spPr>
          <a:xfrm>
            <a:off x="7965371" y="133434"/>
            <a:ext cx="1085760" cy="59038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428625" y="4759452"/>
            <a:ext cx="4572000" cy="201168"/>
          </a:xfrm>
          <a:prstGeom prst="rect">
            <a:avLst/>
          </a:prstGeom>
          <a:noFill/>
          <a:ln/>
        </p:spPr>
        <p:txBody>
          <a:bodyPr wrap="square" rtlCol="0" anchor="ctr"/>
          <a:lstStyle/>
          <a:p>
            <a:pPr marL="0" indent="0">
              <a:buNone/>
            </a:pPr>
            <a:r>
              <a:rPr lang="en-US" sz="950" b="1" dirty="0">
                <a:solidFill>
                  <a:srgbClr val="E63425"/>
                </a:solidFill>
                <a:latin typeface="Calibri" pitchFamily="34" charset="0"/>
                <a:ea typeface="Calibri" pitchFamily="34" charset="-122"/>
                <a:cs typeface="Calibri" pitchFamily="34" charset="-120"/>
              </a:rPr>
              <a:t>Research Masterclass for Clinicians</a:t>
            </a:r>
            <a:endParaRPr lang="en-US" sz="950" dirty="0"/>
          </a:p>
        </p:txBody>
      </p:sp>
      <p:sp>
        <p:nvSpPr>
          <p:cNvPr id="5" name="Text 3"/>
          <p:cNvSpPr/>
          <p:nvPr/>
        </p:nvSpPr>
        <p:spPr>
          <a:xfrm>
            <a:off x="428625" y="4924044"/>
            <a:ext cx="4572000" cy="182880"/>
          </a:xfrm>
          <a:prstGeom prst="rect">
            <a:avLst/>
          </a:prstGeom>
          <a:noFill/>
          <a:ln/>
        </p:spPr>
        <p:txBody>
          <a:bodyPr wrap="square" rtlCol="0" anchor="ctr"/>
          <a:lstStyle/>
          <a:p>
            <a:pPr marL="0" indent="0">
              <a:buNone/>
            </a:pPr>
            <a:r>
              <a:rPr lang="en-US" sz="800" dirty="0">
                <a:solidFill>
                  <a:srgbClr val="5B6B7C"/>
                </a:solidFill>
                <a:latin typeface="Calibri" pitchFamily="34" charset="0"/>
                <a:ea typeface="Calibri" pitchFamily="34" charset="-122"/>
                <a:cs typeface="Calibri" pitchFamily="34" charset="-120"/>
              </a:rPr>
              <a:t>www.newlandsclinic.org.zw</a:t>
            </a:r>
            <a:endParaRPr lang="en-US" sz="800" dirty="0"/>
          </a:p>
        </p:txBody>
      </p:sp>
      <p:sp>
        <p:nvSpPr>
          <p:cNvPr id="6" name="Text 4"/>
          <p:cNvSpPr/>
          <p:nvPr/>
        </p:nvSpPr>
        <p:spPr>
          <a:xfrm>
            <a:off x="428625" y="428625"/>
            <a:ext cx="7680960" cy="201168"/>
          </a:xfrm>
          <a:prstGeom prst="rect">
            <a:avLst/>
          </a:prstGeom>
          <a:noFill/>
          <a:ln/>
        </p:spPr>
        <p:txBody>
          <a:bodyPr wrap="square" rtlCol="0" anchor="ctr"/>
          <a:lstStyle/>
          <a:p>
            <a:pPr marL="0" indent="0">
              <a:buNone/>
            </a:pPr>
            <a:r>
              <a:rPr lang="en-US" sz="1050" b="1" kern="0" spc="100" dirty="0">
                <a:solidFill>
                  <a:srgbClr val="E63425"/>
                </a:solidFill>
                <a:latin typeface="Calibri" pitchFamily="34" charset="0"/>
                <a:ea typeface="Calibri" pitchFamily="34" charset="-122"/>
                <a:cs typeface="Calibri" pitchFamily="34" charset="-120"/>
              </a:rPr>
              <a:t>SECTION 3 · ANALYTICAL OBSERVATIONAL DESIGNS</a:t>
            </a:r>
            <a:endParaRPr lang="en-US" sz="1050" dirty="0"/>
          </a:p>
        </p:txBody>
      </p:sp>
      <p:sp>
        <p:nvSpPr>
          <p:cNvPr id="7" name="Text 5"/>
          <p:cNvSpPr/>
          <p:nvPr/>
        </p:nvSpPr>
        <p:spPr>
          <a:xfrm>
            <a:off x="428625" y="628650"/>
            <a:ext cx="7680960" cy="772668"/>
          </a:xfrm>
          <a:prstGeom prst="rect">
            <a:avLst/>
          </a:prstGeom>
          <a:noFill/>
          <a:ln/>
        </p:spPr>
        <p:txBody>
          <a:bodyPr wrap="square" rtlCol="0" anchor="t"/>
          <a:lstStyle/>
          <a:p>
            <a:pPr marL="0" indent="0">
              <a:buNone/>
            </a:pPr>
            <a:r>
              <a:rPr lang="en-US" sz="2200" b="1" dirty="0">
                <a:solidFill>
                  <a:srgbClr val="25374F"/>
                </a:solidFill>
                <a:latin typeface="Poppins" pitchFamily="34" charset="0"/>
                <a:ea typeface="Poppins" pitchFamily="34" charset="-122"/>
                <a:cs typeface="Poppins" pitchFamily="34" charset="-120"/>
              </a:rPr>
              <a:t>Case-Control Studies: Working Backwards from the Outcome</a:t>
            </a:r>
            <a:endParaRPr lang="en-US" sz="2200" dirty="0"/>
          </a:p>
        </p:txBody>
      </p:sp>
      <p:sp>
        <p:nvSpPr>
          <p:cNvPr id="8" name="Shape 6"/>
          <p:cNvSpPr/>
          <p:nvPr/>
        </p:nvSpPr>
        <p:spPr>
          <a:xfrm>
            <a:off x="2440305" y="1679924"/>
            <a:ext cx="4023360" cy="0"/>
          </a:xfrm>
          <a:prstGeom prst="line">
            <a:avLst/>
          </a:prstGeom>
          <a:noFill/>
          <a:ln w="19050">
            <a:solidFill>
              <a:srgbClr val="E3E7EB"/>
            </a:solidFill>
            <a:prstDash val="solid"/>
          </a:ln>
        </p:spPr>
        <p:txBody>
          <a:bodyPr/>
          <a:lstStyle/>
          <a:p>
            <a:endParaRPr lang="en-ZW" sz="1100"/>
          </a:p>
        </p:txBody>
      </p:sp>
      <p:sp>
        <p:nvSpPr>
          <p:cNvPr id="9" name="Shape 7"/>
          <p:cNvSpPr/>
          <p:nvPr/>
        </p:nvSpPr>
        <p:spPr>
          <a:xfrm>
            <a:off x="2275999" y="1515618"/>
            <a:ext cx="328613" cy="328613"/>
          </a:xfrm>
          <a:prstGeom prst="ellipse">
            <a:avLst/>
          </a:prstGeom>
          <a:solidFill>
            <a:srgbClr val="5B6B7C"/>
          </a:solidFill>
          <a:ln w="25400">
            <a:solidFill>
              <a:srgbClr val="FFFFFF"/>
            </a:solidFill>
            <a:prstDash val="solid"/>
          </a:ln>
        </p:spPr>
        <p:txBody>
          <a:bodyPr/>
          <a:lstStyle/>
          <a:p>
            <a:endParaRPr lang="en-ZW" sz="1100"/>
          </a:p>
        </p:txBody>
      </p:sp>
      <p:sp>
        <p:nvSpPr>
          <p:cNvPr id="10" name="Text 8"/>
          <p:cNvSpPr/>
          <p:nvPr/>
        </p:nvSpPr>
        <p:spPr>
          <a:xfrm>
            <a:off x="2275999" y="1515618"/>
            <a:ext cx="328613" cy="328613"/>
          </a:xfrm>
          <a:prstGeom prst="rect">
            <a:avLst/>
          </a:prstGeom>
          <a:noFill/>
          <a:ln/>
        </p:spPr>
        <p:txBody>
          <a:bodyPr wrap="square" rtlCol="0" anchor="ctr"/>
          <a:lstStyle/>
          <a:p>
            <a:pPr marL="0" indent="0" algn="ctr">
              <a:buNone/>
            </a:pPr>
            <a:endParaRPr lang="en-US" sz="1100" dirty="0"/>
          </a:p>
        </p:txBody>
      </p:sp>
      <p:sp>
        <p:nvSpPr>
          <p:cNvPr id="11" name="Text 9"/>
          <p:cNvSpPr/>
          <p:nvPr/>
        </p:nvSpPr>
        <p:spPr>
          <a:xfrm>
            <a:off x="428625" y="1901381"/>
            <a:ext cx="4023360" cy="206883"/>
          </a:xfrm>
          <a:prstGeom prst="rect">
            <a:avLst/>
          </a:prstGeom>
          <a:noFill/>
          <a:ln/>
        </p:spPr>
        <p:txBody>
          <a:bodyPr wrap="square" rtlCol="0" anchor="t"/>
          <a:lstStyle/>
          <a:p>
            <a:pPr marL="0" indent="0" algn="ctr">
              <a:buNone/>
            </a:pPr>
            <a:r>
              <a:rPr lang="en-US" sz="1100" b="1" dirty="0">
                <a:solidFill>
                  <a:srgbClr val="25374F"/>
                </a:solidFill>
                <a:latin typeface="Calibri" pitchFamily="34" charset="0"/>
                <a:ea typeface="Calibri" pitchFamily="34" charset="-122"/>
                <a:cs typeface="Calibri" pitchFamily="34" charset="-120"/>
              </a:rPr>
              <a:t>Exposure history (past)</a:t>
            </a:r>
            <a:endParaRPr lang="en-US" sz="1100" dirty="0"/>
          </a:p>
        </p:txBody>
      </p:sp>
      <p:sp>
        <p:nvSpPr>
          <p:cNvPr id="12" name="Shape 10"/>
          <p:cNvSpPr/>
          <p:nvPr/>
        </p:nvSpPr>
        <p:spPr>
          <a:xfrm>
            <a:off x="6299359" y="1515618"/>
            <a:ext cx="328613" cy="328613"/>
          </a:xfrm>
          <a:prstGeom prst="ellipse">
            <a:avLst/>
          </a:prstGeom>
          <a:solidFill>
            <a:srgbClr val="E63425"/>
          </a:solidFill>
          <a:ln w="25400">
            <a:solidFill>
              <a:srgbClr val="FFFFFF"/>
            </a:solidFill>
            <a:prstDash val="solid"/>
          </a:ln>
        </p:spPr>
        <p:txBody>
          <a:bodyPr/>
          <a:lstStyle/>
          <a:p>
            <a:endParaRPr lang="en-ZW" sz="1100"/>
          </a:p>
        </p:txBody>
      </p:sp>
      <p:sp>
        <p:nvSpPr>
          <p:cNvPr id="13" name="Text 11"/>
          <p:cNvSpPr/>
          <p:nvPr/>
        </p:nvSpPr>
        <p:spPr>
          <a:xfrm>
            <a:off x="6299359" y="1515618"/>
            <a:ext cx="328613" cy="328613"/>
          </a:xfrm>
          <a:prstGeom prst="rect">
            <a:avLst/>
          </a:prstGeom>
          <a:noFill/>
          <a:ln/>
        </p:spPr>
        <p:txBody>
          <a:bodyPr wrap="square" rtlCol="0" anchor="ctr"/>
          <a:lstStyle/>
          <a:p>
            <a:pPr marL="0" indent="0" algn="ctr">
              <a:buNone/>
            </a:pPr>
            <a:endParaRPr lang="en-US" sz="1100" dirty="0"/>
          </a:p>
        </p:txBody>
      </p:sp>
      <p:sp>
        <p:nvSpPr>
          <p:cNvPr id="14" name="Text 12"/>
          <p:cNvSpPr/>
          <p:nvPr/>
        </p:nvSpPr>
        <p:spPr>
          <a:xfrm>
            <a:off x="4451985" y="1901381"/>
            <a:ext cx="4023360" cy="206883"/>
          </a:xfrm>
          <a:prstGeom prst="rect">
            <a:avLst/>
          </a:prstGeom>
          <a:noFill/>
          <a:ln/>
        </p:spPr>
        <p:txBody>
          <a:bodyPr wrap="square" rtlCol="0" anchor="t"/>
          <a:lstStyle/>
          <a:p>
            <a:pPr marL="0" indent="0" algn="ctr">
              <a:buNone/>
            </a:pPr>
            <a:r>
              <a:rPr lang="en-US" sz="1100" b="1" dirty="0">
                <a:solidFill>
                  <a:srgbClr val="25374F"/>
                </a:solidFill>
                <a:latin typeface="Calibri" pitchFamily="34" charset="0"/>
                <a:ea typeface="Calibri" pitchFamily="34" charset="-122"/>
                <a:cs typeface="Calibri" pitchFamily="34" charset="-120"/>
              </a:rPr>
              <a:t>Cases (outcome+) &amp; controls (outcome−)</a:t>
            </a:r>
            <a:endParaRPr lang="en-US" sz="1100" dirty="0"/>
          </a:p>
        </p:txBody>
      </p:sp>
      <p:sp>
        <p:nvSpPr>
          <p:cNvPr id="15" name="Shape 13"/>
          <p:cNvSpPr/>
          <p:nvPr/>
        </p:nvSpPr>
        <p:spPr>
          <a:xfrm>
            <a:off x="428625" y="2208276"/>
            <a:ext cx="3937635" cy="1737712"/>
          </a:xfrm>
          <a:prstGeom prst="roundRect">
            <a:avLst>
              <a:gd name="adj" fmla="val 3175"/>
            </a:avLst>
          </a:prstGeom>
          <a:solidFill>
            <a:srgbClr val="F4F5F7"/>
          </a:solidFill>
          <a:ln/>
          <a:effectLst>
            <a:outerShdw blurRad="76200" dist="25400" dir="2700000" algn="bl" rotWithShape="0">
              <a:srgbClr val="1B2A3D">
                <a:alpha val="8000"/>
              </a:srgbClr>
            </a:outerShdw>
          </a:effectLst>
        </p:spPr>
        <p:txBody>
          <a:bodyPr/>
          <a:lstStyle/>
          <a:p>
            <a:endParaRPr lang="en-ZW" sz="1100"/>
          </a:p>
        </p:txBody>
      </p:sp>
      <p:sp>
        <p:nvSpPr>
          <p:cNvPr id="16" name="Text 14"/>
          <p:cNvSpPr/>
          <p:nvPr/>
        </p:nvSpPr>
        <p:spPr>
          <a:xfrm>
            <a:off x="557213" y="2322576"/>
            <a:ext cx="3680460" cy="172593"/>
          </a:xfrm>
          <a:prstGeom prst="rect">
            <a:avLst/>
          </a:prstGeom>
          <a:noFill/>
          <a:ln/>
        </p:spPr>
        <p:txBody>
          <a:bodyPr wrap="square" rtlCol="0" anchor="t"/>
          <a:lstStyle/>
          <a:p>
            <a:pPr marL="0" indent="0">
              <a:buNone/>
            </a:pPr>
            <a:r>
              <a:rPr lang="en-US" sz="1100" b="1" dirty="0">
                <a:solidFill>
                  <a:srgbClr val="E63425"/>
                </a:solidFill>
                <a:latin typeface="Calibri" pitchFamily="34" charset="0"/>
                <a:ea typeface="Calibri" pitchFamily="34" charset="-122"/>
                <a:cs typeface="Calibri" pitchFamily="34" charset="-120"/>
              </a:rPr>
              <a:t>CLASSIC CASE-CONTROL</a:t>
            </a:r>
            <a:endParaRPr lang="en-US" sz="1100" dirty="0"/>
          </a:p>
        </p:txBody>
      </p:sp>
      <p:sp>
        <p:nvSpPr>
          <p:cNvPr id="17" name="Text 15"/>
          <p:cNvSpPr/>
          <p:nvPr/>
        </p:nvSpPr>
        <p:spPr>
          <a:xfrm>
            <a:off x="557213" y="2552319"/>
            <a:ext cx="3680460" cy="584073"/>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Ngwende, Gombe, Midzi, Tshimanga, Shambira &amp; Chadambuka (2013, BMC Public Health): a 1:1 unmatched case-control study at Chitungwiza Hospital, Zimbabwe. Cases were HIV-positive infants and controls HIV-negative infants, both born to mothers on the PMTCT programme.</a:t>
            </a:r>
            <a:endParaRPr lang="en-US" sz="1100" dirty="0"/>
          </a:p>
        </p:txBody>
      </p:sp>
      <p:sp>
        <p:nvSpPr>
          <p:cNvPr id="18" name="Text 16"/>
          <p:cNvSpPr/>
          <p:nvPr/>
        </p:nvSpPr>
        <p:spPr>
          <a:xfrm>
            <a:off x="557212" y="3447388"/>
            <a:ext cx="3680460" cy="283178"/>
          </a:xfrm>
          <a:prstGeom prst="rect">
            <a:avLst/>
          </a:prstGeom>
          <a:noFill/>
          <a:ln/>
        </p:spPr>
        <p:txBody>
          <a:bodyPr wrap="square" rtlCol="0" anchor="t"/>
          <a:lstStyle/>
          <a:p>
            <a:pPr marL="0" indent="0">
              <a:buNone/>
            </a:pPr>
            <a:r>
              <a:rPr lang="en-US" sz="1100" i="1" dirty="0">
                <a:solidFill>
                  <a:srgbClr val="5B6B7C"/>
                </a:solidFill>
                <a:latin typeface="Calibri" pitchFamily="34" charset="0"/>
                <a:ea typeface="Calibri" pitchFamily="34" charset="-122"/>
                <a:cs typeface="Calibri" pitchFamily="34" charset="-120"/>
              </a:rPr>
              <a:t>Finding: maternal CD4 &lt;200 and mixed feeding raised infant HIV risk; exclusive breastfeeding &lt;6 months was protective.</a:t>
            </a:r>
            <a:endParaRPr lang="en-US" sz="1100" dirty="0"/>
          </a:p>
        </p:txBody>
      </p:sp>
      <p:sp>
        <p:nvSpPr>
          <p:cNvPr id="19" name="Shape 17"/>
          <p:cNvSpPr/>
          <p:nvPr/>
        </p:nvSpPr>
        <p:spPr>
          <a:xfrm>
            <a:off x="4537710" y="2208276"/>
            <a:ext cx="3937635" cy="1737712"/>
          </a:xfrm>
          <a:prstGeom prst="roundRect">
            <a:avLst>
              <a:gd name="adj" fmla="val 3175"/>
            </a:avLst>
          </a:prstGeom>
          <a:solidFill>
            <a:srgbClr val="F4F5F7"/>
          </a:solidFill>
          <a:ln/>
          <a:effectLst>
            <a:outerShdw blurRad="76200" dist="25400" dir="2700000" algn="bl" rotWithShape="0">
              <a:srgbClr val="1B2A3D">
                <a:alpha val="8000"/>
              </a:srgbClr>
            </a:outerShdw>
          </a:effectLst>
        </p:spPr>
        <p:txBody>
          <a:bodyPr/>
          <a:lstStyle/>
          <a:p>
            <a:endParaRPr lang="en-ZW" sz="1100"/>
          </a:p>
        </p:txBody>
      </p:sp>
      <p:sp>
        <p:nvSpPr>
          <p:cNvPr id="20" name="Text 18"/>
          <p:cNvSpPr/>
          <p:nvPr/>
        </p:nvSpPr>
        <p:spPr>
          <a:xfrm>
            <a:off x="4666298" y="2322576"/>
            <a:ext cx="3680460" cy="172593"/>
          </a:xfrm>
          <a:prstGeom prst="rect">
            <a:avLst/>
          </a:prstGeom>
          <a:noFill/>
          <a:ln/>
        </p:spPr>
        <p:txBody>
          <a:bodyPr wrap="square" rtlCol="0" anchor="t"/>
          <a:lstStyle/>
          <a:p>
            <a:pPr marL="0" indent="0">
              <a:buNone/>
            </a:pPr>
            <a:r>
              <a:rPr lang="en-US" sz="1100" b="1" dirty="0">
                <a:solidFill>
                  <a:srgbClr val="E63425"/>
                </a:solidFill>
                <a:latin typeface="Calibri" pitchFamily="34" charset="0"/>
                <a:ea typeface="Calibri" pitchFamily="34" charset="-122"/>
                <a:cs typeface="Calibri" pitchFamily="34" charset="-120"/>
              </a:rPr>
              <a:t>TEST-NEGATIVE DESIGN — A CASE-CONTROL VARIANT</a:t>
            </a:r>
            <a:endParaRPr lang="en-US" sz="1100" dirty="0"/>
          </a:p>
        </p:txBody>
      </p:sp>
      <p:sp>
        <p:nvSpPr>
          <p:cNvPr id="21" name="Text 19"/>
          <p:cNvSpPr/>
          <p:nvPr/>
        </p:nvSpPr>
        <p:spPr>
          <a:xfrm>
            <a:off x="4666298" y="2552319"/>
            <a:ext cx="3680460" cy="584073"/>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Meakin et al. (2024, Lancet Infect Dis): retrospective test-negative study of the rVSV-ZEBOV Ebola vaccine in the DRC’s 2018–20 outbreak. “Cases” were EVD-positive and “controls” EVD-negative patients from the same treatment centres.</a:t>
            </a:r>
            <a:endParaRPr lang="en-US" sz="1100" dirty="0"/>
          </a:p>
        </p:txBody>
      </p:sp>
      <p:sp>
        <p:nvSpPr>
          <p:cNvPr id="22" name="Text 20"/>
          <p:cNvSpPr/>
          <p:nvPr/>
        </p:nvSpPr>
        <p:spPr>
          <a:xfrm>
            <a:off x="4666298" y="3399601"/>
            <a:ext cx="3680460" cy="283178"/>
          </a:xfrm>
          <a:prstGeom prst="rect">
            <a:avLst/>
          </a:prstGeom>
          <a:noFill/>
          <a:ln/>
        </p:spPr>
        <p:txBody>
          <a:bodyPr wrap="square" rtlCol="0" anchor="t"/>
          <a:lstStyle/>
          <a:p>
            <a:pPr marL="0" indent="0">
              <a:buNone/>
            </a:pPr>
            <a:r>
              <a:rPr lang="en-US" sz="1100" i="1" dirty="0">
                <a:solidFill>
                  <a:srgbClr val="5B6B7C"/>
                </a:solidFill>
                <a:latin typeface="Calibri" pitchFamily="34" charset="0"/>
                <a:ea typeface="Calibri" pitchFamily="34" charset="-122"/>
                <a:cs typeface="Calibri" pitchFamily="34" charset="-120"/>
              </a:rPr>
              <a:t>Finding: vaccine effectiveness was 84% (95% CrI 70–92) from 10 days post-vaccination.</a:t>
            </a:r>
            <a:endParaRPr lang="en-US" sz="1100" dirty="0"/>
          </a:p>
        </p:txBody>
      </p:sp>
      <p:sp>
        <p:nvSpPr>
          <p:cNvPr id="23" name="Text 21"/>
          <p:cNvSpPr/>
          <p:nvPr/>
        </p:nvSpPr>
        <p:spPr>
          <a:xfrm>
            <a:off x="428625" y="4017316"/>
            <a:ext cx="8046720" cy="314039"/>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Central design challenge: choosing controls who represent the same source population as the cases — without the outcome — to avoid selection and recall bias.</a:t>
            </a:r>
            <a:endParaRPr lang="en-US" sz="1100" dirty="0"/>
          </a:p>
        </p:txBody>
      </p:sp>
      <p:pic>
        <p:nvPicPr>
          <p:cNvPr id="24" name="Picture 23">
            <a:extLst>
              <a:ext uri="{FF2B5EF4-FFF2-40B4-BE49-F238E27FC236}">
                <a16:creationId xmlns:a16="http://schemas.microsoft.com/office/drawing/2014/main" id="{74225CAD-9F71-E1D7-E0A6-E24CC583C9A4}"/>
              </a:ext>
            </a:extLst>
          </p:cNvPr>
          <p:cNvPicPr>
            <a:picLocks noChangeAspect="1"/>
          </p:cNvPicPr>
          <p:nvPr/>
        </p:nvPicPr>
        <p:blipFill>
          <a:blip r:embed="rId3"/>
          <a:stretch>
            <a:fillRect/>
          </a:stretch>
        </p:blipFill>
        <p:spPr>
          <a:xfrm>
            <a:off x="7965371" y="133434"/>
            <a:ext cx="1085760" cy="59038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428625" y="4759452"/>
            <a:ext cx="4572000" cy="201168"/>
          </a:xfrm>
          <a:prstGeom prst="rect">
            <a:avLst/>
          </a:prstGeom>
          <a:noFill/>
          <a:ln/>
        </p:spPr>
        <p:txBody>
          <a:bodyPr wrap="square" rtlCol="0" anchor="ctr"/>
          <a:lstStyle/>
          <a:p>
            <a:pPr marL="0" indent="0">
              <a:buNone/>
            </a:pPr>
            <a:r>
              <a:rPr lang="en-US" sz="950" b="1" dirty="0">
                <a:solidFill>
                  <a:srgbClr val="E63425"/>
                </a:solidFill>
                <a:latin typeface="Calibri" pitchFamily="34" charset="0"/>
                <a:ea typeface="Calibri" pitchFamily="34" charset="-122"/>
                <a:cs typeface="Calibri" pitchFamily="34" charset="-120"/>
              </a:rPr>
              <a:t>Research Masterclass for Clinicians</a:t>
            </a:r>
            <a:endParaRPr lang="en-US" sz="950" dirty="0"/>
          </a:p>
        </p:txBody>
      </p:sp>
      <p:sp>
        <p:nvSpPr>
          <p:cNvPr id="5" name="Text 3"/>
          <p:cNvSpPr/>
          <p:nvPr/>
        </p:nvSpPr>
        <p:spPr>
          <a:xfrm>
            <a:off x="428625" y="4924044"/>
            <a:ext cx="4572000" cy="182880"/>
          </a:xfrm>
          <a:prstGeom prst="rect">
            <a:avLst/>
          </a:prstGeom>
          <a:noFill/>
          <a:ln/>
        </p:spPr>
        <p:txBody>
          <a:bodyPr wrap="square" rtlCol="0" anchor="ctr"/>
          <a:lstStyle/>
          <a:p>
            <a:pPr marL="0" indent="0">
              <a:buNone/>
            </a:pPr>
            <a:r>
              <a:rPr lang="en-US" sz="800" dirty="0">
                <a:solidFill>
                  <a:srgbClr val="5B6B7C"/>
                </a:solidFill>
                <a:latin typeface="Calibri" pitchFamily="34" charset="0"/>
                <a:ea typeface="Calibri" pitchFamily="34" charset="-122"/>
                <a:cs typeface="Calibri" pitchFamily="34" charset="-120"/>
              </a:rPr>
              <a:t>www.newlandsclinic.org.zw</a:t>
            </a:r>
            <a:endParaRPr lang="en-US" sz="800" dirty="0"/>
          </a:p>
        </p:txBody>
      </p:sp>
      <p:sp>
        <p:nvSpPr>
          <p:cNvPr id="6" name="Text 4"/>
          <p:cNvSpPr/>
          <p:nvPr/>
        </p:nvSpPr>
        <p:spPr>
          <a:xfrm>
            <a:off x="428625" y="428625"/>
            <a:ext cx="7680960" cy="201168"/>
          </a:xfrm>
          <a:prstGeom prst="rect">
            <a:avLst/>
          </a:prstGeom>
          <a:noFill/>
          <a:ln/>
        </p:spPr>
        <p:txBody>
          <a:bodyPr wrap="square" rtlCol="0" anchor="ctr"/>
          <a:lstStyle/>
          <a:p>
            <a:pPr marL="0" indent="0">
              <a:buNone/>
            </a:pPr>
            <a:r>
              <a:rPr lang="en-US" sz="1050" b="1" kern="0" spc="100" dirty="0">
                <a:solidFill>
                  <a:srgbClr val="E63425"/>
                </a:solidFill>
                <a:latin typeface="Calibri" pitchFamily="34" charset="0"/>
                <a:ea typeface="Calibri" pitchFamily="34" charset="-122"/>
                <a:cs typeface="Calibri" pitchFamily="34" charset="-120"/>
              </a:rPr>
              <a:t>SECTION 3 · ANALYTICAL OBSERVATIONAL DESIGNS</a:t>
            </a:r>
            <a:endParaRPr lang="en-US" sz="1050" dirty="0"/>
          </a:p>
        </p:txBody>
      </p:sp>
      <p:sp>
        <p:nvSpPr>
          <p:cNvPr id="7" name="Text 5"/>
          <p:cNvSpPr/>
          <p:nvPr/>
        </p:nvSpPr>
        <p:spPr>
          <a:xfrm>
            <a:off x="428625" y="628650"/>
            <a:ext cx="7680960" cy="772668"/>
          </a:xfrm>
          <a:prstGeom prst="rect">
            <a:avLst/>
          </a:prstGeom>
          <a:noFill/>
          <a:ln/>
        </p:spPr>
        <p:txBody>
          <a:bodyPr wrap="square" rtlCol="0" anchor="t"/>
          <a:lstStyle/>
          <a:p>
            <a:pPr marL="0" indent="0">
              <a:buNone/>
            </a:pPr>
            <a:r>
              <a:rPr lang="en-US" sz="2200" b="1" dirty="0">
                <a:solidFill>
                  <a:srgbClr val="25374F"/>
                </a:solidFill>
                <a:latin typeface="Poppins" pitchFamily="34" charset="0"/>
                <a:ea typeface="Poppins" pitchFamily="34" charset="-122"/>
                <a:cs typeface="Poppins" pitchFamily="34" charset="-120"/>
              </a:rPr>
              <a:t>Cohort Studies: Following Forward Through Time</a:t>
            </a:r>
            <a:endParaRPr lang="en-US" sz="2200" dirty="0"/>
          </a:p>
        </p:txBody>
      </p:sp>
      <p:sp>
        <p:nvSpPr>
          <p:cNvPr id="8" name="Shape 6"/>
          <p:cNvSpPr/>
          <p:nvPr/>
        </p:nvSpPr>
        <p:spPr>
          <a:xfrm>
            <a:off x="1769745" y="1679924"/>
            <a:ext cx="2682240" cy="0"/>
          </a:xfrm>
          <a:prstGeom prst="line">
            <a:avLst/>
          </a:prstGeom>
          <a:noFill/>
          <a:ln w="19050">
            <a:solidFill>
              <a:srgbClr val="E3E7EB"/>
            </a:solidFill>
            <a:prstDash val="solid"/>
          </a:ln>
        </p:spPr>
        <p:txBody>
          <a:bodyPr/>
          <a:lstStyle/>
          <a:p>
            <a:endParaRPr lang="en-ZW" sz="1100"/>
          </a:p>
        </p:txBody>
      </p:sp>
      <p:sp>
        <p:nvSpPr>
          <p:cNvPr id="9" name="Shape 7"/>
          <p:cNvSpPr/>
          <p:nvPr/>
        </p:nvSpPr>
        <p:spPr>
          <a:xfrm>
            <a:off x="1605439" y="1515618"/>
            <a:ext cx="328613" cy="328613"/>
          </a:xfrm>
          <a:prstGeom prst="ellipse">
            <a:avLst/>
          </a:prstGeom>
          <a:solidFill>
            <a:srgbClr val="2E8B9B"/>
          </a:solidFill>
          <a:ln w="25400">
            <a:solidFill>
              <a:srgbClr val="FFFFFF"/>
            </a:solidFill>
            <a:prstDash val="solid"/>
          </a:ln>
        </p:spPr>
        <p:txBody>
          <a:bodyPr/>
          <a:lstStyle/>
          <a:p>
            <a:endParaRPr lang="en-ZW"/>
          </a:p>
        </p:txBody>
      </p:sp>
      <p:sp>
        <p:nvSpPr>
          <p:cNvPr id="10" name="Text 8"/>
          <p:cNvSpPr/>
          <p:nvPr/>
        </p:nvSpPr>
        <p:spPr>
          <a:xfrm>
            <a:off x="1605439" y="1515618"/>
            <a:ext cx="328613" cy="328613"/>
          </a:xfrm>
          <a:prstGeom prst="rect">
            <a:avLst/>
          </a:prstGeom>
          <a:noFill/>
          <a:ln/>
        </p:spPr>
        <p:txBody>
          <a:bodyPr wrap="square" rtlCol="0" anchor="ctr"/>
          <a:lstStyle/>
          <a:p>
            <a:pPr marL="0" indent="0" algn="ctr">
              <a:buNone/>
            </a:pPr>
            <a:endParaRPr lang="en-US" sz="1100" dirty="0"/>
          </a:p>
        </p:txBody>
      </p:sp>
      <p:sp>
        <p:nvSpPr>
          <p:cNvPr id="11" name="Text 9"/>
          <p:cNvSpPr/>
          <p:nvPr/>
        </p:nvSpPr>
        <p:spPr>
          <a:xfrm>
            <a:off x="428625" y="1901381"/>
            <a:ext cx="2682240" cy="395478"/>
          </a:xfrm>
          <a:prstGeom prst="rect">
            <a:avLst/>
          </a:prstGeom>
          <a:noFill/>
          <a:ln/>
        </p:spPr>
        <p:txBody>
          <a:bodyPr wrap="square" rtlCol="0" anchor="t"/>
          <a:lstStyle/>
          <a:p>
            <a:pPr marL="0" indent="0" algn="ctr">
              <a:buNone/>
            </a:pPr>
            <a:r>
              <a:rPr lang="en-US" sz="1100" b="1" dirty="0">
                <a:solidFill>
                  <a:srgbClr val="25374F"/>
                </a:solidFill>
                <a:latin typeface="Calibri" pitchFamily="34" charset="0"/>
                <a:ea typeface="Calibri" pitchFamily="34" charset="-122"/>
                <a:cs typeface="Calibri" pitchFamily="34" charset="-120"/>
              </a:rPr>
              <a:t>Exposed / unexposed, outcome-free</a:t>
            </a:r>
            <a:endParaRPr lang="en-US" sz="1100" dirty="0"/>
          </a:p>
        </p:txBody>
      </p:sp>
      <p:sp>
        <p:nvSpPr>
          <p:cNvPr id="12" name="Shape 10"/>
          <p:cNvSpPr/>
          <p:nvPr/>
        </p:nvSpPr>
        <p:spPr>
          <a:xfrm>
            <a:off x="4451985" y="1679924"/>
            <a:ext cx="2682240" cy="0"/>
          </a:xfrm>
          <a:prstGeom prst="line">
            <a:avLst/>
          </a:prstGeom>
          <a:noFill/>
          <a:ln w="19050">
            <a:solidFill>
              <a:srgbClr val="E3E7EB"/>
            </a:solidFill>
            <a:prstDash val="solid"/>
          </a:ln>
        </p:spPr>
        <p:txBody>
          <a:bodyPr/>
          <a:lstStyle/>
          <a:p>
            <a:endParaRPr lang="en-ZW" sz="1100"/>
          </a:p>
        </p:txBody>
      </p:sp>
      <p:sp>
        <p:nvSpPr>
          <p:cNvPr id="13" name="Shape 11"/>
          <p:cNvSpPr/>
          <p:nvPr/>
        </p:nvSpPr>
        <p:spPr>
          <a:xfrm>
            <a:off x="4287679" y="1515618"/>
            <a:ext cx="328613" cy="328613"/>
          </a:xfrm>
          <a:prstGeom prst="ellipse">
            <a:avLst/>
          </a:prstGeom>
          <a:solidFill>
            <a:srgbClr val="F2A93B"/>
          </a:solidFill>
          <a:ln w="25400">
            <a:solidFill>
              <a:srgbClr val="FFFFFF"/>
            </a:solidFill>
            <a:prstDash val="solid"/>
          </a:ln>
        </p:spPr>
        <p:txBody>
          <a:bodyPr/>
          <a:lstStyle/>
          <a:p>
            <a:endParaRPr lang="en-ZW"/>
          </a:p>
        </p:txBody>
      </p:sp>
      <p:sp>
        <p:nvSpPr>
          <p:cNvPr id="14" name="Text 12"/>
          <p:cNvSpPr/>
          <p:nvPr/>
        </p:nvSpPr>
        <p:spPr>
          <a:xfrm>
            <a:off x="4287679" y="1515618"/>
            <a:ext cx="328613" cy="328613"/>
          </a:xfrm>
          <a:prstGeom prst="rect">
            <a:avLst/>
          </a:prstGeom>
          <a:noFill/>
          <a:ln/>
        </p:spPr>
        <p:txBody>
          <a:bodyPr wrap="square" rtlCol="0" anchor="ctr"/>
          <a:lstStyle/>
          <a:p>
            <a:pPr marL="0" indent="0" algn="ctr">
              <a:buNone/>
            </a:pPr>
            <a:endParaRPr lang="en-US" sz="1100" dirty="0"/>
          </a:p>
        </p:txBody>
      </p:sp>
      <p:sp>
        <p:nvSpPr>
          <p:cNvPr id="15" name="Text 13"/>
          <p:cNvSpPr/>
          <p:nvPr/>
        </p:nvSpPr>
        <p:spPr>
          <a:xfrm>
            <a:off x="3110865" y="1901381"/>
            <a:ext cx="2682240" cy="206883"/>
          </a:xfrm>
          <a:prstGeom prst="rect">
            <a:avLst/>
          </a:prstGeom>
          <a:noFill/>
          <a:ln/>
        </p:spPr>
        <p:txBody>
          <a:bodyPr wrap="square" rtlCol="0" anchor="t"/>
          <a:lstStyle/>
          <a:p>
            <a:pPr marL="0" indent="0" algn="ctr">
              <a:buNone/>
            </a:pPr>
            <a:r>
              <a:rPr lang="en-US" sz="1100" b="1" dirty="0">
                <a:solidFill>
                  <a:srgbClr val="25374F"/>
                </a:solidFill>
                <a:latin typeface="Calibri" pitchFamily="34" charset="0"/>
                <a:ea typeface="Calibri" pitchFamily="34" charset="-122"/>
                <a:cs typeface="Calibri" pitchFamily="34" charset="-120"/>
              </a:rPr>
              <a:t>Follow-up over time</a:t>
            </a:r>
            <a:endParaRPr lang="en-US" sz="1100" dirty="0"/>
          </a:p>
        </p:txBody>
      </p:sp>
      <p:sp>
        <p:nvSpPr>
          <p:cNvPr id="16" name="Shape 14"/>
          <p:cNvSpPr/>
          <p:nvPr/>
        </p:nvSpPr>
        <p:spPr>
          <a:xfrm>
            <a:off x="6969919" y="1515618"/>
            <a:ext cx="328613" cy="328613"/>
          </a:xfrm>
          <a:prstGeom prst="ellipse">
            <a:avLst/>
          </a:prstGeom>
          <a:solidFill>
            <a:srgbClr val="E63425"/>
          </a:solidFill>
          <a:ln w="25400">
            <a:solidFill>
              <a:srgbClr val="FFFFFF"/>
            </a:solidFill>
            <a:prstDash val="solid"/>
          </a:ln>
        </p:spPr>
        <p:txBody>
          <a:bodyPr/>
          <a:lstStyle/>
          <a:p>
            <a:endParaRPr lang="en-ZW"/>
          </a:p>
        </p:txBody>
      </p:sp>
      <p:sp>
        <p:nvSpPr>
          <p:cNvPr id="17" name="Text 15"/>
          <p:cNvSpPr/>
          <p:nvPr/>
        </p:nvSpPr>
        <p:spPr>
          <a:xfrm>
            <a:off x="6969919" y="1515618"/>
            <a:ext cx="328613" cy="328613"/>
          </a:xfrm>
          <a:prstGeom prst="rect">
            <a:avLst/>
          </a:prstGeom>
          <a:noFill/>
          <a:ln/>
        </p:spPr>
        <p:txBody>
          <a:bodyPr wrap="square" rtlCol="0" anchor="ctr"/>
          <a:lstStyle/>
          <a:p>
            <a:pPr marL="0" indent="0" algn="ctr">
              <a:buNone/>
            </a:pPr>
            <a:endParaRPr lang="en-US" sz="1100" dirty="0"/>
          </a:p>
        </p:txBody>
      </p:sp>
      <p:sp>
        <p:nvSpPr>
          <p:cNvPr id="18" name="Text 16"/>
          <p:cNvSpPr/>
          <p:nvPr/>
        </p:nvSpPr>
        <p:spPr>
          <a:xfrm>
            <a:off x="5793105" y="1901381"/>
            <a:ext cx="2682240" cy="206883"/>
          </a:xfrm>
          <a:prstGeom prst="rect">
            <a:avLst/>
          </a:prstGeom>
          <a:noFill/>
          <a:ln/>
        </p:spPr>
        <p:txBody>
          <a:bodyPr wrap="square" rtlCol="0" anchor="t"/>
          <a:lstStyle/>
          <a:p>
            <a:pPr marL="0" indent="0" algn="ctr">
              <a:buNone/>
            </a:pPr>
            <a:r>
              <a:rPr lang="en-US" sz="1100" b="1" dirty="0">
                <a:solidFill>
                  <a:srgbClr val="25374F"/>
                </a:solidFill>
                <a:latin typeface="Calibri" pitchFamily="34" charset="0"/>
                <a:ea typeface="Calibri" pitchFamily="34" charset="-122"/>
                <a:cs typeface="Calibri" pitchFamily="34" charset="-120"/>
              </a:rPr>
              <a:t>Compare incidence of outcome</a:t>
            </a:r>
            <a:endParaRPr lang="en-US" sz="1100" dirty="0"/>
          </a:p>
        </p:txBody>
      </p:sp>
      <p:sp>
        <p:nvSpPr>
          <p:cNvPr id="19" name="Shape 17"/>
          <p:cNvSpPr/>
          <p:nvPr/>
        </p:nvSpPr>
        <p:spPr>
          <a:xfrm>
            <a:off x="428625" y="2396871"/>
            <a:ext cx="8046720" cy="1125284"/>
          </a:xfrm>
          <a:prstGeom prst="roundRect">
            <a:avLst>
              <a:gd name="adj" fmla="val 4063"/>
            </a:avLst>
          </a:prstGeom>
          <a:solidFill>
            <a:srgbClr val="F4F5F7"/>
          </a:solidFill>
          <a:ln/>
          <a:effectLst>
            <a:outerShdw blurRad="76200" dist="25400" dir="2700000" algn="bl" rotWithShape="0">
              <a:srgbClr val="1B2A3D">
                <a:alpha val="8000"/>
              </a:srgbClr>
            </a:outerShdw>
          </a:effectLst>
        </p:spPr>
        <p:txBody>
          <a:bodyPr/>
          <a:lstStyle/>
          <a:p>
            <a:endParaRPr lang="en-ZW" sz="1100"/>
          </a:p>
        </p:txBody>
      </p:sp>
      <p:sp>
        <p:nvSpPr>
          <p:cNvPr id="20" name="Text 18"/>
          <p:cNvSpPr/>
          <p:nvPr/>
        </p:nvSpPr>
        <p:spPr>
          <a:xfrm>
            <a:off x="557213" y="2511171"/>
            <a:ext cx="7789545" cy="172593"/>
          </a:xfrm>
          <a:prstGeom prst="rect">
            <a:avLst/>
          </a:prstGeom>
          <a:noFill/>
          <a:ln/>
        </p:spPr>
        <p:txBody>
          <a:bodyPr wrap="square" rtlCol="0" anchor="t"/>
          <a:lstStyle/>
          <a:p>
            <a:pPr marL="0" indent="0">
              <a:buNone/>
            </a:pPr>
            <a:r>
              <a:rPr lang="en-US" sz="1100" b="1" dirty="0">
                <a:solidFill>
                  <a:srgbClr val="E63425"/>
                </a:solidFill>
                <a:latin typeface="Calibri" pitchFamily="34" charset="0"/>
                <a:ea typeface="Calibri" pitchFamily="34" charset="-122"/>
                <a:cs typeface="Calibri" pitchFamily="34" charset="-120"/>
              </a:rPr>
              <a:t>REGIONAL EXAMPLE — THE TENART COHORT</a:t>
            </a:r>
            <a:endParaRPr lang="en-US" sz="1100" dirty="0"/>
          </a:p>
        </p:txBody>
      </p:sp>
      <p:sp>
        <p:nvSpPr>
          <p:cNvPr id="21" name="Text 19"/>
          <p:cNvSpPr/>
          <p:nvPr/>
        </p:nvSpPr>
        <p:spPr>
          <a:xfrm>
            <a:off x="557213" y="2740914"/>
            <a:ext cx="7789545" cy="609791"/>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Shamu, Chimbetete, Shawarira-Bote, Mudzviti &amp; Luthy (2017, PLoS ONE) followed a prospective HIV cohort at Newlands Clinic, Harare, forward through a decade of comprehensive antiretroviral care — tracking mortality, retention and virologic outcomes among Zimbabwean adults on ART. The cohort has continued generating forward-following evidence since, from third-line ART outcomes to cancer incidence among people living with HIV.</a:t>
            </a:r>
            <a:endParaRPr lang="en-US" sz="1100" dirty="0"/>
          </a:p>
        </p:txBody>
      </p:sp>
      <p:sp>
        <p:nvSpPr>
          <p:cNvPr id="22" name="Text 20"/>
          <p:cNvSpPr/>
          <p:nvPr/>
        </p:nvSpPr>
        <p:spPr>
          <a:xfrm>
            <a:off x="428625" y="3622167"/>
            <a:ext cx="3937635" cy="166164"/>
          </a:xfrm>
          <a:prstGeom prst="rect">
            <a:avLst/>
          </a:prstGeom>
          <a:noFill/>
          <a:ln/>
        </p:spPr>
        <p:txBody>
          <a:bodyPr wrap="square" rtlCol="0" anchor="t"/>
          <a:lstStyle/>
          <a:p>
            <a:pPr marL="0" indent="0">
              <a:buNone/>
            </a:pPr>
            <a:r>
              <a:rPr lang="en-US" sz="1100" b="1" dirty="0">
                <a:solidFill>
                  <a:srgbClr val="25374F"/>
                </a:solidFill>
                <a:latin typeface="Calibri" pitchFamily="34" charset="0"/>
                <a:ea typeface="Calibri" pitchFamily="34" charset="-122"/>
                <a:cs typeface="Calibri" pitchFamily="34" charset="-120"/>
              </a:rPr>
              <a:t>PROSPECTIVE vs RETROSPECTIVE</a:t>
            </a:r>
            <a:endParaRPr lang="en-US" sz="1100" dirty="0"/>
          </a:p>
        </p:txBody>
      </p:sp>
      <p:sp>
        <p:nvSpPr>
          <p:cNvPr id="23" name="Text 21"/>
          <p:cNvSpPr/>
          <p:nvPr/>
        </p:nvSpPr>
        <p:spPr>
          <a:xfrm>
            <a:off x="428625" y="3845481"/>
            <a:ext cx="3937635" cy="434912"/>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Prospective: outcomes have not happened yet when enrolment begins. Retrospective: exposure and follow-up are reconstructed from existing records — still forward in logic.</a:t>
            </a:r>
            <a:endParaRPr lang="en-US" sz="1100" dirty="0"/>
          </a:p>
        </p:txBody>
      </p:sp>
      <p:sp>
        <p:nvSpPr>
          <p:cNvPr id="24" name="Text 22"/>
          <p:cNvSpPr/>
          <p:nvPr/>
        </p:nvSpPr>
        <p:spPr>
          <a:xfrm>
            <a:off x="4537710" y="3622167"/>
            <a:ext cx="3937635" cy="434912"/>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Strength: establishes temporality; one exposure, many possible outcomes.Limitation: costly, slow, prone to loss-to-follow-up bias — a major issue for long-running African ART cohorts.</a:t>
            </a:r>
            <a:endParaRPr lang="en-US" sz="1100" dirty="0"/>
          </a:p>
        </p:txBody>
      </p:sp>
      <p:pic>
        <p:nvPicPr>
          <p:cNvPr id="25" name="Picture 24">
            <a:extLst>
              <a:ext uri="{FF2B5EF4-FFF2-40B4-BE49-F238E27FC236}">
                <a16:creationId xmlns:a16="http://schemas.microsoft.com/office/drawing/2014/main" id="{B2A2BBE6-D71D-D63B-D050-41B08990E70F}"/>
              </a:ext>
            </a:extLst>
          </p:cNvPr>
          <p:cNvPicPr>
            <a:picLocks noChangeAspect="1"/>
          </p:cNvPicPr>
          <p:nvPr/>
        </p:nvPicPr>
        <p:blipFill>
          <a:blip r:embed="rId3"/>
          <a:stretch>
            <a:fillRect/>
          </a:stretch>
        </p:blipFill>
        <p:spPr>
          <a:xfrm>
            <a:off x="7965371" y="133434"/>
            <a:ext cx="1085760" cy="59038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428625" y="4759452"/>
            <a:ext cx="4572000" cy="201168"/>
          </a:xfrm>
          <a:prstGeom prst="rect">
            <a:avLst/>
          </a:prstGeom>
          <a:noFill/>
          <a:ln/>
        </p:spPr>
        <p:txBody>
          <a:bodyPr wrap="square" rtlCol="0" anchor="ctr"/>
          <a:lstStyle/>
          <a:p>
            <a:pPr marL="0" indent="0">
              <a:buNone/>
            </a:pPr>
            <a:r>
              <a:rPr lang="en-US" sz="950" b="1" dirty="0">
                <a:solidFill>
                  <a:srgbClr val="E63425"/>
                </a:solidFill>
                <a:latin typeface="Calibri" pitchFamily="34" charset="0"/>
                <a:ea typeface="Calibri" pitchFamily="34" charset="-122"/>
                <a:cs typeface="Calibri" pitchFamily="34" charset="-120"/>
              </a:rPr>
              <a:t>Research Masterclass for Clinicians</a:t>
            </a:r>
            <a:endParaRPr lang="en-US" sz="950" dirty="0"/>
          </a:p>
        </p:txBody>
      </p:sp>
      <p:sp>
        <p:nvSpPr>
          <p:cNvPr id="5" name="Text 3"/>
          <p:cNvSpPr/>
          <p:nvPr/>
        </p:nvSpPr>
        <p:spPr>
          <a:xfrm>
            <a:off x="428625" y="4924044"/>
            <a:ext cx="4572000" cy="182880"/>
          </a:xfrm>
          <a:prstGeom prst="rect">
            <a:avLst/>
          </a:prstGeom>
          <a:noFill/>
          <a:ln/>
        </p:spPr>
        <p:txBody>
          <a:bodyPr wrap="square" rtlCol="0" anchor="ctr"/>
          <a:lstStyle/>
          <a:p>
            <a:pPr marL="0" indent="0">
              <a:buNone/>
            </a:pPr>
            <a:r>
              <a:rPr lang="en-US" sz="800" dirty="0">
                <a:solidFill>
                  <a:srgbClr val="5B6B7C"/>
                </a:solidFill>
                <a:latin typeface="Calibri" pitchFamily="34" charset="0"/>
                <a:ea typeface="Calibri" pitchFamily="34" charset="-122"/>
                <a:cs typeface="Calibri" pitchFamily="34" charset="-120"/>
              </a:rPr>
              <a:t>www.newlandsclinic.org.zw</a:t>
            </a:r>
            <a:endParaRPr lang="en-US" sz="800" dirty="0"/>
          </a:p>
        </p:txBody>
      </p:sp>
      <p:sp>
        <p:nvSpPr>
          <p:cNvPr id="6" name="Text 4"/>
          <p:cNvSpPr/>
          <p:nvPr/>
        </p:nvSpPr>
        <p:spPr>
          <a:xfrm>
            <a:off x="428625" y="428625"/>
            <a:ext cx="7680960" cy="201168"/>
          </a:xfrm>
          <a:prstGeom prst="rect">
            <a:avLst/>
          </a:prstGeom>
          <a:noFill/>
          <a:ln/>
        </p:spPr>
        <p:txBody>
          <a:bodyPr wrap="square" rtlCol="0" anchor="ctr"/>
          <a:lstStyle/>
          <a:p>
            <a:pPr marL="0" indent="0">
              <a:buNone/>
            </a:pPr>
            <a:r>
              <a:rPr lang="en-US" sz="1050" b="1" kern="0" spc="100" dirty="0">
                <a:solidFill>
                  <a:srgbClr val="E63425"/>
                </a:solidFill>
                <a:latin typeface="Calibri" pitchFamily="34" charset="0"/>
                <a:ea typeface="Calibri" pitchFamily="34" charset="-122"/>
                <a:cs typeface="Calibri" pitchFamily="34" charset="-120"/>
              </a:rPr>
              <a:t>SECTION 3 · ANALYTICAL OBSERVATIONAL DESIGNS</a:t>
            </a:r>
            <a:endParaRPr lang="en-US" sz="1050" dirty="0"/>
          </a:p>
        </p:txBody>
      </p:sp>
      <p:sp>
        <p:nvSpPr>
          <p:cNvPr id="7" name="Text 5"/>
          <p:cNvSpPr/>
          <p:nvPr/>
        </p:nvSpPr>
        <p:spPr>
          <a:xfrm>
            <a:off x="428625" y="628650"/>
            <a:ext cx="7680960" cy="395478"/>
          </a:xfrm>
          <a:prstGeom prst="rect">
            <a:avLst/>
          </a:prstGeom>
          <a:noFill/>
          <a:ln/>
        </p:spPr>
        <p:txBody>
          <a:bodyPr wrap="square" rtlCol="0" anchor="t"/>
          <a:lstStyle/>
          <a:p>
            <a:pPr marL="0" indent="0">
              <a:buNone/>
            </a:pPr>
            <a:r>
              <a:rPr lang="en-US" sz="2200" b="1" dirty="0">
                <a:solidFill>
                  <a:srgbClr val="25374F"/>
                </a:solidFill>
                <a:latin typeface="Poppins" pitchFamily="34" charset="0"/>
                <a:ea typeface="Poppins" pitchFamily="34" charset="-122"/>
                <a:cs typeface="Poppins" pitchFamily="34" charset="-120"/>
              </a:rPr>
              <a:t>Cohort vs Case-Control: A Head-to-Head</a:t>
            </a:r>
            <a:endParaRPr lang="en-US" sz="2200" dirty="0"/>
          </a:p>
        </p:txBody>
      </p:sp>
      <p:graphicFrame>
        <p:nvGraphicFramePr>
          <p:cNvPr id="10" name="Table 0"/>
          <p:cNvGraphicFramePr>
            <a:graphicFrameLocks noGrp="1"/>
          </p:cNvGraphicFramePr>
          <p:nvPr>
            <p:extLst>
              <p:ext uri="{D42A27DB-BD31-4B8C-83A1-F6EECF244321}">
                <p14:modId xmlns:p14="http://schemas.microsoft.com/office/powerpoint/2010/main" val="1562277974"/>
              </p:ext>
            </p:extLst>
          </p:nvPr>
        </p:nvGraphicFramePr>
        <p:xfrm>
          <a:off x="428625" y="1672971"/>
          <a:ext cx="8046720" cy="1813560"/>
        </p:xfrm>
        <a:graphic>
          <a:graphicData uri="http://schemas.openxmlformats.org/drawingml/2006/table">
            <a:tbl>
              <a:tblPr/>
              <a:tblGrid>
                <a:gridCol w="2682240">
                  <a:extLst>
                    <a:ext uri="{9D8B030D-6E8A-4147-A177-3AD203B41FA5}">
                      <a16:colId xmlns:a16="http://schemas.microsoft.com/office/drawing/2014/main" val="20000"/>
                    </a:ext>
                  </a:extLst>
                </a:gridCol>
                <a:gridCol w="2682240">
                  <a:extLst>
                    <a:ext uri="{9D8B030D-6E8A-4147-A177-3AD203B41FA5}">
                      <a16:colId xmlns:a16="http://schemas.microsoft.com/office/drawing/2014/main" val="20001"/>
                    </a:ext>
                  </a:extLst>
                </a:gridCol>
                <a:gridCol w="2682240">
                  <a:extLst>
                    <a:ext uri="{9D8B030D-6E8A-4147-A177-3AD203B41FA5}">
                      <a16:colId xmlns:a16="http://schemas.microsoft.com/office/drawing/2014/main" val="20002"/>
                    </a:ext>
                  </a:extLst>
                </a:gridCol>
              </a:tblGrid>
              <a:tr h="256032">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Feature</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5374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Cohort</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5374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Case-control</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5374F"/>
                    </a:solidFill>
                  </a:tcPr>
                </a:tc>
                <a:extLst>
                  <a:ext uri="{0D108BD9-81ED-4DB2-BD59-A6C34878D82A}">
                    <a16:rowId xmlns:a16="http://schemas.microsoft.com/office/drawing/2014/main" val="10000"/>
                  </a:ext>
                </a:extLst>
              </a:tr>
              <a:tr h="256032">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Starting point</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Exposure status</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Outcome status</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Direction of inquiry</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Forward (exposure → outcome)</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Backward (outcome → exposure)</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Best suited to</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Rare exposures; multiple outcomes</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Rare outcomes; multiple exposures</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extLst>
                  <a:ext uri="{0D108BD9-81ED-4DB2-BD59-A6C34878D82A}">
                    <a16:rowId xmlns:a16="http://schemas.microsoft.com/office/drawing/2014/main" val="10003"/>
                  </a:ext>
                </a:extLst>
              </a:tr>
              <a:tr h="256032">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Speed &amp; cost</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Slower, more costly</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Faster, cheaper</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extLst>
                  <a:ext uri="{0D108BD9-81ED-4DB2-BD59-A6C34878D82A}">
                    <a16:rowId xmlns:a16="http://schemas.microsoft.com/office/drawing/2014/main" val="10004"/>
                  </a:ext>
                </a:extLst>
              </a:tr>
              <a:tr h="256032">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Key bias to watch</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Loss to follow-up</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Recall &amp; selection bias</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extLst>
                  <a:ext uri="{0D108BD9-81ED-4DB2-BD59-A6C34878D82A}">
                    <a16:rowId xmlns:a16="http://schemas.microsoft.com/office/drawing/2014/main" val="10005"/>
                  </a:ext>
                </a:extLst>
              </a:tr>
              <a:tr h="256032">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Regional example</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TENART cohort, Newlands Clinic</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PMTCT case-control, Chitungwiza</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pic>
        <p:nvPicPr>
          <p:cNvPr id="8" name="Picture 7">
            <a:extLst>
              <a:ext uri="{FF2B5EF4-FFF2-40B4-BE49-F238E27FC236}">
                <a16:creationId xmlns:a16="http://schemas.microsoft.com/office/drawing/2014/main" id="{CF331EEB-6687-9E9A-EA08-C3E0FDB66CB5}"/>
              </a:ext>
            </a:extLst>
          </p:cNvPr>
          <p:cNvPicPr>
            <a:picLocks noChangeAspect="1"/>
          </p:cNvPicPr>
          <p:nvPr/>
        </p:nvPicPr>
        <p:blipFill>
          <a:blip r:embed="rId3"/>
          <a:stretch>
            <a:fillRect/>
          </a:stretch>
        </p:blipFill>
        <p:spPr>
          <a:xfrm>
            <a:off x="7965371" y="133434"/>
            <a:ext cx="1085760" cy="59038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428625" y="4759452"/>
            <a:ext cx="4572000" cy="201168"/>
          </a:xfrm>
          <a:prstGeom prst="rect">
            <a:avLst/>
          </a:prstGeom>
          <a:noFill/>
          <a:ln/>
        </p:spPr>
        <p:txBody>
          <a:bodyPr wrap="square" rtlCol="0" anchor="ctr"/>
          <a:lstStyle/>
          <a:p>
            <a:pPr marL="0" indent="0">
              <a:buNone/>
            </a:pPr>
            <a:r>
              <a:rPr lang="en-US" sz="950" b="1" dirty="0">
                <a:solidFill>
                  <a:srgbClr val="E63425"/>
                </a:solidFill>
                <a:latin typeface="Calibri" pitchFamily="34" charset="0"/>
                <a:ea typeface="Calibri" pitchFamily="34" charset="-122"/>
                <a:cs typeface="Calibri" pitchFamily="34" charset="-120"/>
              </a:rPr>
              <a:t>Research Masterclass for Clinicians</a:t>
            </a:r>
            <a:endParaRPr lang="en-US" sz="950" dirty="0"/>
          </a:p>
        </p:txBody>
      </p:sp>
      <p:sp>
        <p:nvSpPr>
          <p:cNvPr id="5" name="Text 3"/>
          <p:cNvSpPr/>
          <p:nvPr/>
        </p:nvSpPr>
        <p:spPr>
          <a:xfrm>
            <a:off x="428625" y="4924044"/>
            <a:ext cx="4572000" cy="182880"/>
          </a:xfrm>
          <a:prstGeom prst="rect">
            <a:avLst/>
          </a:prstGeom>
          <a:noFill/>
          <a:ln/>
        </p:spPr>
        <p:txBody>
          <a:bodyPr wrap="square" rtlCol="0" anchor="ctr"/>
          <a:lstStyle/>
          <a:p>
            <a:pPr marL="0" indent="0">
              <a:buNone/>
            </a:pPr>
            <a:r>
              <a:rPr lang="en-US" sz="800" dirty="0">
                <a:solidFill>
                  <a:srgbClr val="5B6B7C"/>
                </a:solidFill>
                <a:latin typeface="Calibri" pitchFamily="34" charset="0"/>
                <a:ea typeface="Calibri" pitchFamily="34" charset="-122"/>
                <a:cs typeface="Calibri" pitchFamily="34" charset="-120"/>
              </a:rPr>
              <a:t>www.newlandsclinic.org.zw</a:t>
            </a:r>
            <a:endParaRPr lang="en-US" sz="800" dirty="0"/>
          </a:p>
        </p:txBody>
      </p:sp>
      <p:sp>
        <p:nvSpPr>
          <p:cNvPr id="6" name="Text 4"/>
          <p:cNvSpPr/>
          <p:nvPr/>
        </p:nvSpPr>
        <p:spPr>
          <a:xfrm>
            <a:off x="428625" y="428625"/>
            <a:ext cx="7680960" cy="201168"/>
          </a:xfrm>
          <a:prstGeom prst="rect">
            <a:avLst/>
          </a:prstGeom>
          <a:noFill/>
          <a:ln/>
        </p:spPr>
        <p:txBody>
          <a:bodyPr wrap="square" rtlCol="0" anchor="ctr"/>
          <a:lstStyle/>
          <a:p>
            <a:pPr marL="0" indent="0">
              <a:buNone/>
            </a:pPr>
            <a:r>
              <a:rPr lang="en-US" sz="1050" b="1" kern="0" spc="100" dirty="0">
                <a:solidFill>
                  <a:srgbClr val="E63425"/>
                </a:solidFill>
                <a:latin typeface="Calibri" pitchFamily="34" charset="0"/>
                <a:ea typeface="Calibri" pitchFamily="34" charset="-122"/>
                <a:cs typeface="Calibri" pitchFamily="34" charset="-120"/>
              </a:rPr>
              <a:t>SECTION 4 · EXPERIMENTAL DESIGNS</a:t>
            </a:r>
            <a:endParaRPr lang="en-US" sz="1050" dirty="0"/>
          </a:p>
        </p:txBody>
      </p:sp>
      <p:sp>
        <p:nvSpPr>
          <p:cNvPr id="7" name="Text 5"/>
          <p:cNvSpPr/>
          <p:nvPr/>
        </p:nvSpPr>
        <p:spPr>
          <a:xfrm>
            <a:off x="428625" y="628650"/>
            <a:ext cx="7680960" cy="395478"/>
          </a:xfrm>
          <a:prstGeom prst="rect">
            <a:avLst/>
          </a:prstGeom>
          <a:noFill/>
          <a:ln/>
        </p:spPr>
        <p:txBody>
          <a:bodyPr wrap="square" rtlCol="0" anchor="t"/>
          <a:lstStyle/>
          <a:p>
            <a:pPr marL="0" indent="0">
              <a:buNone/>
            </a:pPr>
            <a:r>
              <a:rPr lang="en-US" sz="2200" b="1" dirty="0">
                <a:solidFill>
                  <a:srgbClr val="25374F"/>
                </a:solidFill>
                <a:latin typeface="Poppins" pitchFamily="34" charset="0"/>
                <a:ea typeface="Poppins" pitchFamily="34" charset="-122"/>
                <a:cs typeface="Poppins" pitchFamily="34" charset="-120"/>
              </a:rPr>
              <a:t>Individually-Randomised Trials</a:t>
            </a:r>
            <a:endParaRPr lang="en-US" sz="2200" dirty="0"/>
          </a:p>
        </p:txBody>
      </p:sp>
      <p:sp>
        <p:nvSpPr>
          <p:cNvPr id="8" name="Text 6"/>
          <p:cNvSpPr/>
          <p:nvPr/>
        </p:nvSpPr>
        <p:spPr>
          <a:xfrm>
            <a:off x="428625" y="1138428"/>
            <a:ext cx="8046720" cy="429768"/>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Each participant is randomly allocated to an arm by chance — balancing known and unknown confounders without anyone choosing who gets what.</a:t>
            </a:r>
            <a:endParaRPr lang="en-US" sz="1100" dirty="0"/>
          </a:p>
        </p:txBody>
      </p:sp>
      <p:sp>
        <p:nvSpPr>
          <p:cNvPr id="9" name="Text 7"/>
          <p:cNvSpPr/>
          <p:nvPr/>
        </p:nvSpPr>
        <p:spPr>
          <a:xfrm>
            <a:off x="428625" y="1625346"/>
            <a:ext cx="8046720" cy="224028"/>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681 patients with confirmed EVD</a:t>
            </a:r>
            <a:endParaRPr lang="en-US" sz="1100" dirty="0"/>
          </a:p>
        </p:txBody>
      </p:sp>
      <p:sp>
        <p:nvSpPr>
          <p:cNvPr id="10" name="Text 8"/>
          <p:cNvSpPr/>
          <p:nvPr/>
        </p:nvSpPr>
        <p:spPr>
          <a:xfrm>
            <a:off x="428625" y="1906524"/>
            <a:ext cx="8046720" cy="224028"/>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a:t>
            </a:r>
            <a:endParaRPr lang="en-US" sz="1100" dirty="0"/>
          </a:p>
        </p:txBody>
      </p:sp>
      <p:sp>
        <p:nvSpPr>
          <p:cNvPr id="11" name="Text 9"/>
          <p:cNvSpPr/>
          <p:nvPr/>
        </p:nvSpPr>
        <p:spPr>
          <a:xfrm>
            <a:off x="428625" y="2187702"/>
            <a:ext cx="8046720" cy="224028"/>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RANDOM ALLOCATION (1:1:1:1)</a:t>
            </a:r>
            <a:endParaRPr lang="en-US" sz="1100" dirty="0"/>
          </a:p>
        </p:txBody>
      </p:sp>
      <p:sp>
        <p:nvSpPr>
          <p:cNvPr id="12" name="Text 10"/>
          <p:cNvSpPr/>
          <p:nvPr/>
        </p:nvSpPr>
        <p:spPr>
          <a:xfrm>
            <a:off x="428625" y="2468880"/>
            <a:ext cx="8046720" cy="224028"/>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a:t>
            </a:r>
            <a:endParaRPr lang="en-US" sz="1100" dirty="0"/>
          </a:p>
        </p:txBody>
      </p:sp>
      <p:sp>
        <p:nvSpPr>
          <p:cNvPr id="13" name="Text 11"/>
          <p:cNvSpPr/>
          <p:nvPr/>
        </p:nvSpPr>
        <p:spPr>
          <a:xfrm>
            <a:off x="428625" y="2750058"/>
            <a:ext cx="8046720" cy="134017"/>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(control)</a:t>
            </a:r>
            <a:endParaRPr lang="en-US" sz="1100" dirty="0"/>
          </a:p>
        </p:txBody>
      </p:sp>
      <p:sp>
        <p:nvSpPr>
          <p:cNvPr id="14" name="Text 12"/>
          <p:cNvSpPr/>
          <p:nvPr/>
        </p:nvSpPr>
        <p:spPr>
          <a:xfrm>
            <a:off x="428625" y="2941225"/>
            <a:ext cx="8046720" cy="224028"/>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Remdesivir</a:t>
            </a:r>
            <a:endParaRPr lang="en-US" sz="1100" dirty="0"/>
          </a:p>
        </p:txBody>
      </p:sp>
      <p:sp>
        <p:nvSpPr>
          <p:cNvPr id="15" name="Text 13"/>
          <p:cNvSpPr/>
          <p:nvPr/>
        </p:nvSpPr>
        <p:spPr>
          <a:xfrm>
            <a:off x="428625" y="3222403"/>
            <a:ext cx="8046720" cy="224028"/>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mAb114</a:t>
            </a:r>
            <a:endParaRPr lang="en-US" sz="1100" dirty="0"/>
          </a:p>
        </p:txBody>
      </p:sp>
      <p:sp>
        <p:nvSpPr>
          <p:cNvPr id="16" name="Text 14"/>
          <p:cNvSpPr/>
          <p:nvPr/>
        </p:nvSpPr>
        <p:spPr>
          <a:xfrm>
            <a:off x="428625" y="3503581"/>
            <a:ext cx="8046720" cy="224028"/>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REGN-EB3</a:t>
            </a:r>
            <a:endParaRPr lang="en-US" sz="1100" dirty="0"/>
          </a:p>
        </p:txBody>
      </p:sp>
      <p:sp>
        <p:nvSpPr>
          <p:cNvPr id="17" name="Text 15"/>
          <p:cNvSpPr/>
          <p:nvPr/>
        </p:nvSpPr>
        <p:spPr>
          <a:xfrm>
            <a:off x="428625" y="3784759"/>
            <a:ext cx="8046720" cy="153305"/>
          </a:xfrm>
          <a:prstGeom prst="rect">
            <a:avLst/>
          </a:prstGeom>
          <a:noFill/>
          <a:ln/>
        </p:spPr>
        <p:txBody>
          <a:bodyPr wrap="square" rtlCol="0" anchor="t"/>
          <a:lstStyle/>
          <a:p>
            <a:pPr marL="0" indent="0">
              <a:buNone/>
            </a:pPr>
            <a:r>
              <a:rPr lang="en-US" sz="1100" i="1" dirty="0">
                <a:solidFill>
                  <a:srgbClr val="5B6B7C"/>
                </a:solidFill>
                <a:latin typeface="Calibri" pitchFamily="34" charset="0"/>
                <a:ea typeface="Calibri" pitchFamily="34" charset="-122"/>
                <a:cs typeface="Calibri" pitchFamily="34" charset="-120"/>
              </a:rPr>
              <a:t>Mortality outcome compared across the four arms</a:t>
            </a:r>
            <a:endParaRPr lang="en-US" sz="1100" dirty="0"/>
          </a:p>
        </p:txBody>
      </p:sp>
      <p:sp>
        <p:nvSpPr>
          <p:cNvPr id="18" name="Shape 16"/>
          <p:cNvSpPr/>
          <p:nvPr/>
        </p:nvSpPr>
        <p:spPr>
          <a:xfrm>
            <a:off x="428625" y="3995214"/>
            <a:ext cx="8046720" cy="969693"/>
          </a:xfrm>
          <a:prstGeom prst="roundRect">
            <a:avLst>
              <a:gd name="adj" fmla="val 4715"/>
            </a:avLst>
          </a:prstGeom>
          <a:solidFill>
            <a:srgbClr val="F4F5F7"/>
          </a:solidFill>
          <a:ln/>
          <a:effectLst>
            <a:outerShdw blurRad="76200" dist="25400" dir="2700000" algn="bl" rotWithShape="0">
              <a:srgbClr val="1B2A3D">
                <a:alpha val="8000"/>
              </a:srgbClr>
            </a:outerShdw>
          </a:effectLst>
        </p:spPr>
        <p:txBody>
          <a:bodyPr/>
          <a:lstStyle/>
          <a:p>
            <a:endParaRPr lang="en-ZW"/>
          </a:p>
        </p:txBody>
      </p:sp>
      <p:sp>
        <p:nvSpPr>
          <p:cNvPr id="19" name="Text 17"/>
          <p:cNvSpPr/>
          <p:nvPr/>
        </p:nvSpPr>
        <p:spPr>
          <a:xfrm>
            <a:off x="557213" y="4109514"/>
            <a:ext cx="7789545" cy="172593"/>
          </a:xfrm>
          <a:prstGeom prst="rect">
            <a:avLst/>
          </a:prstGeom>
          <a:noFill/>
          <a:ln/>
        </p:spPr>
        <p:txBody>
          <a:bodyPr wrap="square" rtlCol="0" anchor="t"/>
          <a:lstStyle/>
          <a:p>
            <a:pPr marL="0" indent="0">
              <a:buNone/>
            </a:pPr>
            <a:r>
              <a:rPr lang="en-US" sz="1100" b="1" dirty="0">
                <a:solidFill>
                  <a:srgbClr val="E63425"/>
                </a:solidFill>
                <a:latin typeface="Calibri" pitchFamily="34" charset="0"/>
                <a:ea typeface="Calibri" pitchFamily="34" charset="-122"/>
                <a:cs typeface="Calibri" pitchFamily="34" charset="-120"/>
              </a:rPr>
              <a:t>REGIONAL EXAMPLE — THE PALM TRIAL</a:t>
            </a:r>
            <a:endParaRPr lang="en-US" sz="1100" dirty="0"/>
          </a:p>
        </p:txBody>
      </p:sp>
      <p:sp>
        <p:nvSpPr>
          <p:cNvPr id="20" name="Text 18"/>
          <p:cNvSpPr/>
          <p:nvPr/>
        </p:nvSpPr>
        <p:spPr>
          <a:xfrm>
            <a:off x="557213" y="4339257"/>
            <a:ext cx="7789545" cy="454200"/>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Mulangu, Dodd, Davey et al. for the PALM Consortium (2019, NEJM): during the DRC’s 2018–20 North Kivu/Ituri Ebola outbreak, 681 patients with confirmed disease were randomised 1:1:1:1 to ZMapp, remdesivir, mAb114 or REGN-EB3. mAb114 and REGN-EB3 significantly reduced mortality versus ZMapp — the first RCT of Ebola therapeutics run during an active outbreak, under an independent safety monitoring board.</a:t>
            </a:r>
            <a:endParaRPr lang="en-US" sz="1100" dirty="0"/>
          </a:p>
        </p:txBody>
      </p:sp>
      <p:pic>
        <p:nvPicPr>
          <p:cNvPr id="21" name="Picture 20">
            <a:extLst>
              <a:ext uri="{FF2B5EF4-FFF2-40B4-BE49-F238E27FC236}">
                <a16:creationId xmlns:a16="http://schemas.microsoft.com/office/drawing/2014/main" id="{CE38E8B5-E60B-132E-59A4-D291D5EF417C}"/>
              </a:ext>
            </a:extLst>
          </p:cNvPr>
          <p:cNvPicPr>
            <a:picLocks noChangeAspect="1"/>
          </p:cNvPicPr>
          <p:nvPr/>
        </p:nvPicPr>
        <p:blipFill>
          <a:blip r:embed="rId3"/>
          <a:stretch>
            <a:fillRect/>
          </a:stretch>
        </p:blipFill>
        <p:spPr>
          <a:xfrm>
            <a:off x="7965371" y="133434"/>
            <a:ext cx="1085760" cy="59038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428625" y="4759452"/>
            <a:ext cx="4572000" cy="201168"/>
          </a:xfrm>
          <a:prstGeom prst="rect">
            <a:avLst/>
          </a:prstGeom>
          <a:noFill/>
          <a:ln/>
        </p:spPr>
        <p:txBody>
          <a:bodyPr wrap="square" rtlCol="0" anchor="ctr"/>
          <a:lstStyle/>
          <a:p>
            <a:pPr marL="0" indent="0">
              <a:buNone/>
            </a:pPr>
            <a:r>
              <a:rPr lang="en-US" sz="950" b="1" dirty="0">
                <a:solidFill>
                  <a:srgbClr val="E63425"/>
                </a:solidFill>
                <a:latin typeface="Calibri" pitchFamily="34" charset="0"/>
                <a:ea typeface="Calibri" pitchFamily="34" charset="-122"/>
                <a:cs typeface="Calibri" pitchFamily="34" charset="-120"/>
              </a:rPr>
              <a:t>Research Masterclass for Clinicians</a:t>
            </a:r>
            <a:endParaRPr lang="en-US" sz="950" dirty="0"/>
          </a:p>
        </p:txBody>
      </p:sp>
      <p:sp>
        <p:nvSpPr>
          <p:cNvPr id="5" name="Text 3"/>
          <p:cNvSpPr/>
          <p:nvPr/>
        </p:nvSpPr>
        <p:spPr>
          <a:xfrm>
            <a:off x="428625" y="4924044"/>
            <a:ext cx="4572000" cy="182880"/>
          </a:xfrm>
          <a:prstGeom prst="rect">
            <a:avLst/>
          </a:prstGeom>
          <a:noFill/>
          <a:ln/>
        </p:spPr>
        <p:txBody>
          <a:bodyPr wrap="square" rtlCol="0" anchor="ctr"/>
          <a:lstStyle/>
          <a:p>
            <a:pPr marL="0" indent="0">
              <a:buNone/>
            </a:pPr>
            <a:r>
              <a:rPr lang="en-US" sz="800" dirty="0">
                <a:solidFill>
                  <a:srgbClr val="5B6B7C"/>
                </a:solidFill>
                <a:latin typeface="Calibri" pitchFamily="34" charset="0"/>
                <a:ea typeface="Calibri" pitchFamily="34" charset="-122"/>
                <a:cs typeface="Calibri" pitchFamily="34" charset="-120"/>
              </a:rPr>
              <a:t>www.newlandsclinic.org.zw</a:t>
            </a:r>
            <a:endParaRPr lang="en-US" sz="800" dirty="0"/>
          </a:p>
        </p:txBody>
      </p:sp>
      <p:sp>
        <p:nvSpPr>
          <p:cNvPr id="6" name="Text 4"/>
          <p:cNvSpPr/>
          <p:nvPr/>
        </p:nvSpPr>
        <p:spPr>
          <a:xfrm>
            <a:off x="428625" y="428625"/>
            <a:ext cx="7680960" cy="201168"/>
          </a:xfrm>
          <a:prstGeom prst="rect">
            <a:avLst/>
          </a:prstGeom>
          <a:noFill/>
          <a:ln/>
        </p:spPr>
        <p:txBody>
          <a:bodyPr wrap="square" rtlCol="0" anchor="ctr"/>
          <a:lstStyle/>
          <a:p>
            <a:pPr marL="0" indent="0">
              <a:buNone/>
            </a:pPr>
            <a:r>
              <a:rPr lang="en-US" sz="1050" b="1" kern="0" spc="100" dirty="0">
                <a:solidFill>
                  <a:srgbClr val="E63425"/>
                </a:solidFill>
                <a:latin typeface="Calibri" pitchFamily="34" charset="0"/>
                <a:ea typeface="Calibri" pitchFamily="34" charset="-122"/>
                <a:cs typeface="Calibri" pitchFamily="34" charset="-120"/>
              </a:rPr>
              <a:t>SECTION 4 · EXPERIMENTAL DESIGNS</a:t>
            </a:r>
            <a:endParaRPr lang="en-US" sz="1050" dirty="0"/>
          </a:p>
        </p:txBody>
      </p:sp>
      <p:sp>
        <p:nvSpPr>
          <p:cNvPr id="7" name="Text 5"/>
          <p:cNvSpPr/>
          <p:nvPr/>
        </p:nvSpPr>
        <p:spPr>
          <a:xfrm>
            <a:off x="428625" y="628650"/>
            <a:ext cx="7680960" cy="395478"/>
          </a:xfrm>
          <a:prstGeom prst="rect">
            <a:avLst/>
          </a:prstGeom>
          <a:noFill/>
          <a:ln/>
        </p:spPr>
        <p:txBody>
          <a:bodyPr wrap="square" rtlCol="0" anchor="t"/>
          <a:lstStyle/>
          <a:p>
            <a:pPr marL="0" indent="0">
              <a:buNone/>
            </a:pPr>
            <a:r>
              <a:rPr lang="en-US" sz="2200" b="1" dirty="0">
                <a:solidFill>
                  <a:srgbClr val="25374F"/>
                </a:solidFill>
                <a:latin typeface="Poppins" pitchFamily="34" charset="0"/>
                <a:ea typeface="Poppins" pitchFamily="34" charset="-122"/>
                <a:cs typeface="Poppins" pitchFamily="34" charset="-120"/>
              </a:rPr>
              <a:t>Cluster-Randomised Trials</a:t>
            </a:r>
            <a:endParaRPr lang="en-US" sz="2200" dirty="0"/>
          </a:p>
        </p:txBody>
      </p:sp>
      <p:sp>
        <p:nvSpPr>
          <p:cNvPr id="8" name="Text 6"/>
          <p:cNvSpPr/>
          <p:nvPr/>
        </p:nvSpPr>
        <p:spPr>
          <a:xfrm>
            <a:off x="428625" y="1138428"/>
            <a:ext cx="8046720" cy="635508"/>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Whole communities, clinics or villages — not individuals — are randomised. Needed when the intervention naturally applies at group level, or individual randomisation would let arms “contaminate” each other.</a:t>
            </a:r>
            <a:endParaRPr lang="en-US" sz="1100" dirty="0"/>
          </a:p>
        </p:txBody>
      </p:sp>
      <p:sp>
        <p:nvSpPr>
          <p:cNvPr id="9" name="Text 7"/>
          <p:cNvSpPr/>
          <p:nvPr/>
        </p:nvSpPr>
        <p:spPr>
          <a:xfrm>
            <a:off x="428625" y="1831086"/>
            <a:ext cx="3937635" cy="224028"/>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Intervention communities</a:t>
            </a:r>
            <a:endParaRPr lang="en-US" sz="1100" dirty="0"/>
          </a:p>
        </p:txBody>
      </p:sp>
      <p:sp>
        <p:nvSpPr>
          <p:cNvPr id="10" name="Text 8"/>
          <p:cNvSpPr/>
          <p:nvPr/>
        </p:nvSpPr>
        <p:spPr>
          <a:xfrm>
            <a:off x="428625" y="2112264"/>
            <a:ext cx="3937635" cy="140446"/>
          </a:xfrm>
          <a:prstGeom prst="rect">
            <a:avLst/>
          </a:prstGeom>
          <a:noFill/>
          <a:ln/>
        </p:spPr>
        <p:txBody>
          <a:bodyPr wrap="square" rtlCol="0" anchor="t"/>
          <a:lstStyle/>
          <a:p>
            <a:pPr marL="0" indent="0">
              <a:buNone/>
            </a:pPr>
            <a:r>
              <a:rPr lang="en-US" sz="1100" b="1" dirty="0">
                <a:solidFill>
                  <a:srgbClr val="5B6B7C"/>
                </a:solidFill>
                <a:latin typeface="Calibri" pitchFamily="34" charset="0"/>
                <a:ea typeface="Calibri" pitchFamily="34" charset="-122"/>
                <a:cs typeface="Calibri" pitchFamily="34" charset="-120"/>
              </a:rPr>
              <a:t>Randomised as whole clusters →</a:t>
            </a:r>
            <a:endParaRPr lang="en-US" sz="1100" dirty="0"/>
          </a:p>
        </p:txBody>
      </p:sp>
      <p:sp>
        <p:nvSpPr>
          <p:cNvPr id="11" name="Text 9"/>
          <p:cNvSpPr/>
          <p:nvPr/>
        </p:nvSpPr>
        <p:spPr>
          <a:xfrm>
            <a:off x="428625" y="2309860"/>
            <a:ext cx="3937635" cy="224028"/>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Controlcommunities</a:t>
            </a:r>
            <a:endParaRPr lang="en-US" sz="1100" dirty="0"/>
          </a:p>
        </p:txBody>
      </p:sp>
      <p:sp>
        <p:nvSpPr>
          <p:cNvPr id="12" name="Shape 10"/>
          <p:cNvSpPr/>
          <p:nvPr/>
        </p:nvSpPr>
        <p:spPr>
          <a:xfrm>
            <a:off x="4537710" y="1831086"/>
            <a:ext cx="3937635" cy="924687"/>
          </a:xfrm>
          <a:prstGeom prst="roundRect">
            <a:avLst>
              <a:gd name="adj" fmla="val 4944"/>
            </a:avLst>
          </a:prstGeom>
          <a:solidFill>
            <a:srgbClr val="F4F5F7"/>
          </a:solidFill>
          <a:ln/>
          <a:effectLst>
            <a:outerShdw blurRad="76200" dist="25400" dir="2700000" algn="bl" rotWithShape="0">
              <a:srgbClr val="1B2A3D">
                <a:alpha val="8000"/>
              </a:srgbClr>
            </a:outerShdw>
          </a:effectLst>
        </p:spPr>
        <p:txBody>
          <a:bodyPr/>
          <a:lstStyle/>
          <a:p>
            <a:endParaRPr lang="en-ZW" sz="1100"/>
          </a:p>
        </p:txBody>
      </p:sp>
      <p:sp>
        <p:nvSpPr>
          <p:cNvPr id="13" name="Text 11"/>
          <p:cNvSpPr/>
          <p:nvPr/>
        </p:nvSpPr>
        <p:spPr>
          <a:xfrm>
            <a:off x="4666298" y="1945386"/>
            <a:ext cx="3680460" cy="166164"/>
          </a:xfrm>
          <a:prstGeom prst="rect">
            <a:avLst/>
          </a:prstGeom>
          <a:noFill/>
          <a:ln/>
        </p:spPr>
        <p:txBody>
          <a:bodyPr wrap="square" rtlCol="0" anchor="t"/>
          <a:lstStyle/>
          <a:p>
            <a:pPr marL="0" indent="0">
              <a:buNone/>
            </a:pPr>
            <a:r>
              <a:rPr lang="en-US" sz="1100" b="1" dirty="0">
                <a:solidFill>
                  <a:srgbClr val="E63425"/>
                </a:solidFill>
                <a:latin typeface="Calibri" pitchFamily="34" charset="0"/>
                <a:ea typeface="Calibri" pitchFamily="34" charset="-122"/>
                <a:cs typeface="Calibri" pitchFamily="34" charset="-120"/>
              </a:rPr>
              <a:t>HPTN 071 (POPART)</a:t>
            </a:r>
            <a:endParaRPr lang="en-US" sz="1100" dirty="0"/>
          </a:p>
        </p:txBody>
      </p:sp>
      <p:sp>
        <p:nvSpPr>
          <p:cNvPr id="14" name="Text 12"/>
          <p:cNvSpPr/>
          <p:nvPr/>
        </p:nvSpPr>
        <p:spPr>
          <a:xfrm>
            <a:off x="4666298" y="2168700"/>
            <a:ext cx="3680460" cy="415623"/>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Hayes et al. (2019, NEJM): 21 communities (~1 million people) in Zambia &amp; South Africa randomised to combination HIV prevention with universal test-and-treat, or standard of care.</a:t>
            </a:r>
            <a:endParaRPr lang="en-US" sz="1100" dirty="0"/>
          </a:p>
        </p:txBody>
      </p:sp>
      <p:sp>
        <p:nvSpPr>
          <p:cNvPr id="15" name="Shape 13"/>
          <p:cNvSpPr/>
          <p:nvPr/>
        </p:nvSpPr>
        <p:spPr>
          <a:xfrm>
            <a:off x="4537710" y="2855786"/>
            <a:ext cx="3937635" cy="1057132"/>
          </a:xfrm>
          <a:prstGeom prst="roundRect">
            <a:avLst>
              <a:gd name="adj" fmla="val 4325"/>
            </a:avLst>
          </a:prstGeom>
          <a:solidFill>
            <a:srgbClr val="F4F5F7"/>
          </a:solidFill>
          <a:ln/>
          <a:effectLst>
            <a:outerShdw blurRad="76200" dist="25400" dir="2700000" algn="bl" rotWithShape="0">
              <a:srgbClr val="1B2A3D">
                <a:alpha val="8000"/>
              </a:srgbClr>
            </a:outerShdw>
          </a:effectLst>
        </p:spPr>
        <p:txBody>
          <a:bodyPr/>
          <a:lstStyle/>
          <a:p>
            <a:endParaRPr lang="en-ZW" sz="1100"/>
          </a:p>
        </p:txBody>
      </p:sp>
      <p:sp>
        <p:nvSpPr>
          <p:cNvPr id="16" name="Text 14"/>
          <p:cNvSpPr/>
          <p:nvPr/>
        </p:nvSpPr>
        <p:spPr>
          <a:xfrm>
            <a:off x="4666298" y="2970086"/>
            <a:ext cx="3680460" cy="166164"/>
          </a:xfrm>
          <a:prstGeom prst="rect">
            <a:avLst/>
          </a:prstGeom>
          <a:noFill/>
          <a:ln/>
        </p:spPr>
        <p:txBody>
          <a:bodyPr wrap="square" rtlCol="0" anchor="t"/>
          <a:lstStyle/>
          <a:p>
            <a:pPr marL="0" indent="0">
              <a:buNone/>
            </a:pPr>
            <a:r>
              <a:rPr lang="en-US" sz="1100" b="1" dirty="0">
                <a:solidFill>
                  <a:srgbClr val="E63425"/>
                </a:solidFill>
                <a:latin typeface="Calibri" pitchFamily="34" charset="0"/>
                <a:ea typeface="Calibri" pitchFamily="34" charset="-122"/>
                <a:cs typeface="Calibri" pitchFamily="34" charset="-120"/>
              </a:rPr>
              <a:t>DETECTB, HARARE</a:t>
            </a:r>
            <a:endParaRPr lang="en-US" sz="1100" dirty="0"/>
          </a:p>
        </p:txBody>
      </p:sp>
      <p:sp>
        <p:nvSpPr>
          <p:cNvPr id="17" name="Text 15"/>
          <p:cNvSpPr/>
          <p:nvPr/>
        </p:nvSpPr>
        <p:spPr>
          <a:xfrm>
            <a:off x="4666298" y="3193399"/>
            <a:ext cx="3680460" cy="548069"/>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Corbett et al. (2010, Lancet): 46 neighbourhood clusters in Harare (HIV prevalence ~21%) randomised to two active TB case-finding strategies; the mobile-van strategy found 1.48× more infectious TB cases than door-to-door visits.</a:t>
            </a:r>
            <a:endParaRPr lang="en-US" sz="1100" dirty="0"/>
          </a:p>
        </p:txBody>
      </p:sp>
      <p:sp>
        <p:nvSpPr>
          <p:cNvPr id="18" name="Text 16"/>
          <p:cNvSpPr/>
          <p:nvPr/>
        </p:nvSpPr>
        <p:spPr>
          <a:xfrm>
            <a:off x="428625" y="4084368"/>
            <a:ext cx="8046720" cy="159734"/>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Analysis note: outcomes within a cluster are correlated — naïve individual-level analysis overstates precision.</a:t>
            </a:r>
            <a:endParaRPr lang="en-US" sz="1100" dirty="0"/>
          </a:p>
        </p:txBody>
      </p:sp>
      <p:pic>
        <p:nvPicPr>
          <p:cNvPr id="19" name="Picture 18">
            <a:extLst>
              <a:ext uri="{FF2B5EF4-FFF2-40B4-BE49-F238E27FC236}">
                <a16:creationId xmlns:a16="http://schemas.microsoft.com/office/drawing/2014/main" id="{8BF5E2A8-BF15-E711-470D-B187E55E29FC}"/>
              </a:ext>
            </a:extLst>
          </p:cNvPr>
          <p:cNvPicPr>
            <a:picLocks noChangeAspect="1"/>
          </p:cNvPicPr>
          <p:nvPr/>
        </p:nvPicPr>
        <p:blipFill>
          <a:blip r:embed="rId3"/>
          <a:stretch>
            <a:fillRect/>
          </a:stretch>
        </p:blipFill>
        <p:spPr>
          <a:xfrm>
            <a:off x="7965371" y="133434"/>
            <a:ext cx="1085760" cy="59038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428625" y="4759452"/>
            <a:ext cx="4572000" cy="201168"/>
          </a:xfrm>
          <a:prstGeom prst="rect">
            <a:avLst/>
          </a:prstGeom>
          <a:noFill/>
          <a:ln/>
        </p:spPr>
        <p:txBody>
          <a:bodyPr wrap="square" rtlCol="0" anchor="ctr"/>
          <a:lstStyle/>
          <a:p>
            <a:pPr marL="0" indent="0">
              <a:buNone/>
            </a:pPr>
            <a:r>
              <a:rPr lang="en-US" sz="950" b="1" dirty="0">
                <a:solidFill>
                  <a:srgbClr val="E63425"/>
                </a:solidFill>
                <a:latin typeface="Calibri" pitchFamily="34" charset="0"/>
                <a:ea typeface="Calibri" pitchFamily="34" charset="-122"/>
                <a:cs typeface="Calibri" pitchFamily="34" charset="-120"/>
              </a:rPr>
              <a:t>Research Masterclass for Clinicians</a:t>
            </a:r>
            <a:endParaRPr lang="en-US" sz="950" dirty="0"/>
          </a:p>
        </p:txBody>
      </p:sp>
      <p:sp>
        <p:nvSpPr>
          <p:cNvPr id="5" name="Text 3"/>
          <p:cNvSpPr/>
          <p:nvPr/>
        </p:nvSpPr>
        <p:spPr>
          <a:xfrm>
            <a:off x="428625" y="4924044"/>
            <a:ext cx="4572000" cy="182880"/>
          </a:xfrm>
          <a:prstGeom prst="rect">
            <a:avLst/>
          </a:prstGeom>
          <a:noFill/>
          <a:ln/>
        </p:spPr>
        <p:txBody>
          <a:bodyPr wrap="square" rtlCol="0" anchor="ctr"/>
          <a:lstStyle/>
          <a:p>
            <a:pPr marL="0" indent="0">
              <a:buNone/>
            </a:pPr>
            <a:r>
              <a:rPr lang="en-US" sz="800" dirty="0">
                <a:solidFill>
                  <a:srgbClr val="5B6B7C"/>
                </a:solidFill>
                <a:latin typeface="Calibri" pitchFamily="34" charset="0"/>
                <a:ea typeface="Calibri" pitchFamily="34" charset="-122"/>
                <a:cs typeface="Calibri" pitchFamily="34" charset="-120"/>
              </a:rPr>
              <a:t>www.newlandsclinic.org.zw</a:t>
            </a:r>
            <a:endParaRPr lang="en-US" sz="800" dirty="0"/>
          </a:p>
        </p:txBody>
      </p:sp>
      <p:sp>
        <p:nvSpPr>
          <p:cNvPr id="6" name="Text 4"/>
          <p:cNvSpPr/>
          <p:nvPr/>
        </p:nvSpPr>
        <p:spPr>
          <a:xfrm>
            <a:off x="428625" y="428625"/>
            <a:ext cx="7680960" cy="201168"/>
          </a:xfrm>
          <a:prstGeom prst="rect">
            <a:avLst/>
          </a:prstGeom>
          <a:noFill/>
          <a:ln/>
        </p:spPr>
        <p:txBody>
          <a:bodyPr wrap="square" rtlCol="0" anchor="ctr"/>
          <a:lstStyle/>
          <a:p>
            <a:pPr marL="0" indent="0">
              <a:buNone/>
            </a:pPr>
            <a:r>
              <a:rPr lang="en-US" sz="1050" b="1" kern="0" spc="100" dirty="0">
                <a:solidFill>
                  <a:srgbClr val="E63425"/>
                </a:solidFill>
                <a:latin typeface="Calibri" pitchFamily="34" charset="0"/>
                <a:ea typeface="Calibri" pitchFamily="34" charset="-122"/>
                <a:cs typeface="Calibri" pitchFamily="34" charset="-120"/>
              </a:rPr>
              <a:t>SECTION 5 · PUTTING IT TOGETHER</a:t>
            </a:r>
            <a:endParaRPr lang="en-US" sz="1050" dirty="0"/>
          </a:p>
        </p:txBody>
      </p:sp>
      <p:sp>
        <p:nvSpPr>
          <p:cNvPr id="7" name="Text 5"/>
          <p:cNvSpPr/>
          <p:nvPr/>
        </p:nvSpPr>
        <p:spPr>
          <a:xfrm>
            <a:off x="428625" y="628650"/>
            <a:ext cx="7680960" cy="395478"/>
          </a:xfrm>
          <a:prstGeom prst="rect">
            <a:avLst/>
          </a:prstGeom>
          <a:noFill/>
          <a:ln/>
        </p:spPr>
        <p:txBody>
          <a:bodyPr wrap="square" rtlCol="0" anchor="t"/>
          <a:lstStyle/>
          <a:p>
            <a:pPr marL="0" indent="0">
              <a:buNone/>
            </a:pPr>
            <a:r>
              <a:rPr lang="en-US" sz="2200" b="1" dirty="0">
                <a:solidFill>
                  <a:srgbClr val="25374F"/>
                </a:solidFill>
                <a:latin typeface="Poppins" pitchFamily="34" charset="0"/>
                <a:ea typeface="Poppins" pitchFamily="34" charset="-122"/>
                <a:cs typeface="Poppins" pitchFamily="34" charset="-120"/>
              </a:rPr>
              <a:t>Choosing the Right Design</a:t>
            </a:r>
            <a:endParaRPr lang="en-US" sz="2200" dirty="0"/>
          </a:p>
        </p:txBody>
      </p:sp>
      <p:sp>
        <p:nvSpPr>
          <p:cNvPr id="8" name="Shape 6"/>
          <p:cNvSpPr/>
          <p:nvPr/>
        </p:nvSpPr>
        <p:spPr>
          <a:xfrm>
            <a:off x="428625" y="1628204"/>
            <a:ext cx="142875" cy="142875"/>
          </a:xfrm>
          <a:prstGeom prst="ellipse">
            <a:avLst/>
          </a:prstGeom>
          <a:solidFill>
            <a:srgbClr val="2E8B9B"/>
          </a:solidFill>
          <a:ln/>
        </p:spPr>
        <p:txBody>
          <a:bodyPr/>
          <a:lstStyle/>
          <a:p>
            <a:endParaRPr lang="en-ZW" sz="1100"/>
          </a:p>
        </p:txBody>
      </p:sp>
      <p:sp>
        <p:nvSpPr>
          <p:cNvPr id="9" name="Text 7"/>
          <p:cNvSpPr/>
          <p:nvPr/>
        </p:nvSpPr>
        <p:spPr>
          <a:xfrm>
            <a:off x="642938" y="1613916"/>
            <a:ext cx="7832408" cy="275463"/>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Is this the first description of a new disease or outbreak?→Case report / case series</a:t>
            </a:r>
            <a:endParaRPr lang="en-US" sz="1100" dirty="0"/>
          </a:p>
        </p:txBody>
      </p:sp>
      <p:sp>
        <p:nvSpPr>
          <p:cNvPr id="10" name="Shape 8"/>
          <p:cNvSpPr/>
          <p:nvPr/>
        </p:nvSpPr>
        <p:spPr>
          <a:xfrm>
            <a:off x="428625" y="1946529"/>
            <a:ext cx="142875" cy="142875"/>
          </a:xfrm>
          <a:prstGeom prst="ellipse">
            <a:avLst/>
          </a:prstGeom>
          <a:solidFill>
            <a:srgbClr val="2E8B9B"/>
          </a:solidFill>
          <a:ln/>
        </p:spPr>
        <p:txBody>
          <a:bodyPr/>
          <a:lstStyle/>
          <a:p>
            <a:endParaRPr lang="en-ZW" sz="1100"/>
          </a:p>
        </p:txBody>
      </p:sp>
      <p:sp>
        <p:nvSpPr>
          <p:cNvPr id="11" name="Text 9"/>
          <p:cNvSpPr/>
          <p:nvPr/>
        </p:nvSpPr>
        <p:spPr>
          <a:xfrm>
            <a:off x="642938" y="1932242"/>
            <a:ext cx="7832408" cy="275463"/>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Do you only have group-level (not individual-level) data?→Ecological study</a:t>
            </a:r>
            <a:endParaRPr lang="en-US" sz="1100" dirty="0"/>
          </a:p>
        </p:txBody>
      </p:sp>
      <p:sp>
        <p:nvSpPr>
          <p:cNvPr id="12" name="Shape 10"/>
          <p:cNvSpPr/>
          <p:nvPr/>
        </p:nvSpPr>
        <p:spPr>
          <a:xfrm>
            <a:off x="428625" y="2264855"/>
            <a:ext cx="142875" cy="142875"/>
          </a:xfrm>
          <a:prstGeom prst="ellipse">
            <a:avLst/>
          </a:prstGeom>
          <a:solidFill>
            <a:srgbClr val="2E8B9B"/>
          </a:solidFill>
          <a:ln/>
        </p:spPr>
        <p:txBody>
          <a:bodyPr/>
          <a:lstStyle/>
          <a:p>
            <a:endParaRPr lang="en-ZW" sz="1100"/>
          </a:p>
        </p:txBody>
      </p:sp>
      <p:sp>
        <p:nvSpPr>
          <p:cNvPr id="13" name="Text 11"/>
          <p:cNvSpPr/>
          <p:nvPr/>
        </p:nvSpPr>
        <p:spPr>
          <a:xfrm>
            <a:off x="642938" y="2250567"/>
            <a:ext cx="7832408" cy="275463"/>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Do you need a one-off snapshot of prevalence?→Cross-sectional study</a:t>
            </a:r>
            <a:endParaRPr lang="en-US" sz="1100" dirty="0"/>
          </a:p>
        </p:txBody>
      </p:sp>
      <p:sp>
        <p:nvSpPr>
          <p:cNvPr id="14" name="Shape 12"/>
          <p:cNvSpPr/>
          <p:nvPr/>
        </p:nvSpPr>
        <p:spPr>
          <a:xfrm>
            <a:off x="428625" y="2583180"/>
            <a:ext cx="142875" cy="142875"/>
          </a:xfrm>
          <a:prstGeom prst="ellipse">
            <a:avLst/>
          </a:prstGeom>
          <a:solidFill>
            <a:srgbClr val="2E8B9B"/>
          </a:solidFill>
          <a:ln/>
        </p:spPr>
        <p:txBody>
          <a:bodyPr/>
          <a:lstStyle/>
          <a:p>
            <a:endParaRPr lang="en-ZW" sz="1100"/>
          </a:p>
        </p:txBody>
      </p:sp>
      <p:sp>
        <p:nvSpPr>
          <p:cNvPr id="15" name="Text 13"/>
          <p:cNvSpPr/>
          <p:nvPr/>
        </p:nvSpPr>
        <p:spPr>
          <a:xfrm>
            <a:off x="642938" y="2568893"/>
            <a:ext cx="7832408" cy="275463"/>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Is the outcome rare (but exposure common)?→Case-control study</a:t>
            </a:r>
            <a:endParaRPr lang="en-US" sz="1100" dirty="0"/>
          </a:p>
        </p:txBody>
      </p:sp>
      <p:sp>
        <p:nvSpPr>
          <p:cNvPr id="16" name="Shape 14"/>
          <p:cNvSpPr/>
          <p:nvPr/>
        </p:nvSpPr>
        <p:spPr>
          <a:xfrm>
            <a:off x="428625" y="2901506"/>
            <a:ext cx="142875" cy="142875"/>
          </a:xfrm>
          <a:prstGeom prst="ellipse">
            <a:avLst/>
          </a:prstGeom>
          <a:solidFill>
            <a:srgbClr val="2E8B9B"/>
          </a:solidFill>
          <a:ln/>
        </p:spPr>
        <p:txBody>
          <a:bodyPr/>
          <a:lstStyle/>
          <a:p>
            <a:endParaRPr lang="en-ZW" sz="1100"/>
          </a:p>
        </p:txBody>
      </p:sp>
      <p:sp>
        <p:nvSpPr>
          <p:cNvPr id="17" name="Text 15"/>
          <p:cNvSpPr/>
          <p:nvPr/>
        </p:nvSpPr>
        <p:spPr>
          <a:xfrm>
            <a:off x="642938" y="2887218"/>
            <a:ext cx="7832408" cy="275463"/>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Is the exposure rare, or do you need multiple outcomes?→Cohort study</a:t>
            </a:r>
            <a:endParaRPr lang="en-US" sz="1100" dirty="0"/>
          </a:p>
        </p:txBody>
      </p:sp>
      <p:sp>
        <p:nvSpPr>
          <p:cNvPr id="18" name="Shape 16"/>
          <p:cNvSpPr/>
          <p:nvPr/>
        </p:nvSpPr>
        <p:spPr>
          <a:xfrm>
            <a:off x="428625" y="3219831"/>
            <a:ext cx="142875" cy="142875"/>
          </a:xfrm>
          <a:prstGeom prst="ellipse">
            <a:avLst/>
          </a:prstGeom>
          <a:solidFill>
            <a:srgbClr val="2E8B9B"/>
          </a:solidFill>
          <a:ln/>
        </p:spPr>
        <p:txBody>
          <a:bodyPr/>
          <a:lstStyle/>
          <a:p>
            <a:endParaRPr lang="en-ZW" sz="1100"/>
          </a:p>
        </p:txBody>
      </p:sp>
      <p:sp>
        <p:nvSpPr>
          <p:cNvPr id="19" name="Text 17"/>
          <p:cNvSpPr/>
          <p:nvPr/>
        </p:nvSpPr>
        <p:spPr>
          <a:xfrm>
            <a:off x="642938" y="3205544"/>
            <a:ext cx="7832408" cy="489776"/>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Can you ethically and practically assign the exposure?→Randomised trial (individual or cluster)</a:t>
            </a:r>
            <a:endParaRPr lang="en-US" sz="1100" dirty="0"/>
          </a:p>
        </p:txBody>
      </p:sp>
      <p:pic>
        <p:nvPicPr>
          <p:cNvPr id="20" name="Picture 19">
            <a:extLst>
              <a:ext uri="{FF2B5EF4-FFF2-40B4-BE49-F238E27FC236}">
                <a16:creationId xmlns:a16="http://schemas.microsoft.com/office/drawing/2014/main" id="{C074EE5D-A4A5-DFB8-0181-4BD43AE9F8EC}"/>
              </a:ext>
            </a:extLst>
          </p:cNvPr>
          <p:cNvPicPr>
            <a:picLocks noChangeAspect="1"/>
          </p:cNvPicPr>
          <p:nvPr/>
        </p:nvPicPr>
        <p:blipFill>
          <a:blip r:embed="rId3"/>
          <a:stretch>
            <a:fillRect/>
          </a:stretch>
        </p:blipFill>
        <p:spPr>
          <a:xfrm>
            <a:off x="7965371" y="133434"/>
            <a:ext cx="1085760" cy="59038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428625" y="4759452"/>
            <a:ext cx="4572000" cy="201168"/>
          </a:xfrm>
          <a:prstGeom prst="rect">
            <a:avLst/>
          </a:prstGeom>
          <a:noFill/>
          <a:ln/>
        </p:spPr>
        <p:txBody>
          <a:bodyPr wrap="square" rtlCol="0" anchor="ctr"/>
          <a:lstStyle/>
          <a:p>
            <a:pPr marL="0" indent="0">
              <a:buNone/>
            </a:pPr>
            <a:r>
              <a:rPr lang="en-US" sz="950" b="1" dirty="0">
                <a:solidFill>
                  <a:srgbClr val="E63425"/>
                </a:solidFill>
                <a:latin typeface="Calibri" pitchFamily="34" charset="0"/>
                <a:ea typeface="Calibri" pitchFamily="34" charset="-122"/>
                <a:cs typeface="Calibri" pitchFamily="34" charset="-120"/>
              </a:rPr>
              <a:t>Research Masterclass for Clinicians</a:t>
            </a:r>
            <a:endParaRPr lang="en-US" sz="950" dirty="0"/>
          </a:p>
        </p:txBody>
      </p:sp>
      <p:sp>
        <p:nvSpPr>
          <p:cNvPr id="5" name="Text 3"/>
          <p:cNvSpPr/>
          <p:nvPr/>
        </p:nvSpPr>
        <p:spPr>
          <a:xfrm>
            <a:off x="428625" y="4924044"/>
            <a:ext cx="4572000" cy="182880"/>
          </a:xfrm>
          <a:prstGeom prst="rect">
            <a:avLst/>
          </a:prstGeom>
          <a:noFill/>
          <a:ln/>
        </p:spPr>
        <p:txBody>
          <a:bodyPr wrap="square" rtlCol="0" anchor="ctr"/>
          <a:lstStyle/>
          <a:p>
            <a:pPr marL="0" indent="0">
              <a:buNone/>
            </a:pPr>
            <a:r>
              <a:rPr lang="en-US" sz="800" dirty="0">
                <a:solidFill>
                  <a:srgbClr val="5B6B7C"/>
                </a:solidFill>
                <a:latin typeface="Calibri" pitchFamily="34" charset="0"/>
                <a:ea typeface="Calibri" pitchFamily="34" charset="-122"/>
                <a:cs typeface="Calibri" pitchFamily="34" charset="-120"/>
              </a:rPr>
              <a:t>www.newlandsclinic.org.zw</a:t>
            </a:r>
            <a:endParaRPr lang="en-US" sz="800" dirty="0"/>
          </a:p>
        </p:txBody>
      </p:sp>
      <p:sp>
        <p:nvSpPr>
          <p:cNvPr id="6" name="Text 4"/>
          <p:cNvSpPr/>
          <p:nvPr/>
        </p:nvSpPr>
        <p:spPr>
          <a:xfrm>
            <a:off x="428625" y="428625"/>
            <a:ext cx="7680960" cy="201168"/>
          </a:xfrm>
          <a:prstGeom prst="rect">
            <a:avLst/>
          </a:prstGeom>
          <a:noFill/>
          <a:ln/>
        </p:spPr>
        <p:txBody>
          <a:bodyPr wrap="square" rtlCol="0" anchor="ctr"/>
          <a:lstStyle/>
          <a:p>
            <a:pPr marL="0" indent="0">
              <a:buNone/>
            </a:pPr>
            <a:r>
              <a:rPr lang="en-US" sz="1050" b="1" kern="0" spc="100" dirty="0">
                <a:solidFill>
                  <a:srgbClr val="E63425"/>
                </a:solidFill>
                <a:latin typeface="Calibri" pitchFamily="34" charset="0"/>
                <a:ea typeface="Calibri" pitchFamily="34" charset="-122"/>
                <a:cs typeface="Calibri" pitchFamily="34" charset="-120"/>
              </a:rPr>
              <a:t>SECTION 5 · PUTTING IT TOGETHER</a:t>
            </a:r>
            <a:endParaRPr lang="en-US" sz="1050" dirty="0"/>
          </a:p>
        </p:txBody>
      </p:sp>
      <p:sp>
        <p:nvSpPr>
          <p:cNvPr id="7" name="Text 5"/>
          <p:cNvSpPr/>
          <p:nvPr/>
        </p:nvSpPr>
        <p:spPr>
          <a:xfrm>
            <a:off x="428625" y="628650"/>
            <a:ext cx="7680960" cy="395478"/>
          </a:xfrm>
          <a:prstGeom prst="rect">
            <a:avLst/>
          </a:prstGeom>
          <a:noFill/>
          <a:ln/>
        </p:spPr>
        <p:txBody>
          <a:bodyPr wrap="square" rtlCol="0" anchor="t"/>
          <a:lstStyle/>
          <a:p>
            <a:pPr marL="0" indent="0">
              <a:buNone/>
            </a:pPr>
            <a:r>
              <a:rPr lang="en-US" sz="2200" b="1" dirty="0">
                <a:solidFill>
                  <a:srgbClr val="25374F"/>
                </a:solidFill>
                <a:latin typeface="Poppins" pitchFamily="34" charset="0"/>
                <a:ea typeface="Poppins" pitchFamily="34" charset="-122"/>
                <a:cs typeface="Poppins" pitchFamily="34" charset="-120"/>
              </a:rPr>
              <a:t>All Seven Designs, Side by Side</a:t>
            </a:r>
            <a:endParaRPr lang="en-US" sz="2200" dirty="0"/>
          </a:p>
        </p:txBody>
      </p:sp>
      <p:graphicFrame>
        <p:nvGraphicFramePr>
          <p:cNvPr id="14" name="Table 0"/>
          <p:cNvGraphicFramePr>
            <a:graphicFrameLocks noGrp="1"/>
          </p:cNvGraphicFramePr>
          <p:nvPr>
            <p:extLst>
              <p:ext uri="{D42A27DB-BD31-4B8C-83A1-F6EECF244321}">
                <p14:modId xmlns:p14="http://schemas.microsoft.com/office/powerpoint/2010/main" val="3584491095"/>
              </p:ext>
            </p:extLst>
          </p:nvPr>
        </p:nvGraphicFramePr>
        <p:xfrm>
          <a:off x="428625" y="1138428"/>
          <a:ext cx="8046720" cy="3246120"/>
        </p:xfrm>
        <a:graphic>
          <a:graphicData uri="http://schemas.openxmlformats.org/drawingml/2006/table">
            <a:tbl>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256032">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Design</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5374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Direction of inquiry</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5374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Typical use</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5374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Regional example used today</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5374F"/>
                    </a:solidFill>
                  </a:tcPr>
                </a:tc>
                <a:extLst>
                  <a:ext uri="{0D108BD9-81ED-4DB2-BD59-A6C34878D82A}">
                    <a16:rowId xmlns:a16="http://schemas.microsoft.com/office/drawing/2014/main" val="10000"/>
                  </a:ext>
                </a:extLst>
              </a:tr>
              <a:tr h="256032">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Case report / series</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Describes what happened</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New or unusual disease presentation</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Untreatable HIV case report, Newlands Clinic (2019)</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Ecological</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Group-level exposure &amp; outcome</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Hypothesis generation from area-level data</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Spatial cholera analysis, Harare (2011)</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Cross-sectional</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Exposure &amp; outcome, same moment</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Prevalence &amp; health-system benchmarking</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ZIMPHIA national HIV survey (2020)</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extLst>
                  <a:ext uri="{0D108BD9-81ED-4DB2-BD59-A6C34878D82A}">
                    <a16:rowId xmlns:a16="http://schemas.microsoft.com/office/drawing/2014/main" val="10003"/>
                  </a:ext>
                </a:extLst>
              </a:tr>
              <a:tr h="256032">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Case-control</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Outcome → backward to exposure</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Rare outcomes; fast &amp; cheap</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PMTCT case-control, Chitungwiza (2013)</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extLst>
                  <a:ext uri="{0D108BD9-81ED-4DB2-BD59-A6C34878D82A}">
                    <a16:rowId xmlns:a16="http://schemas.microsoft.com/office/drawing/2014/main" val="10004"/>
                  </a:ext>
                </a:extLst>
              </a:tr>
              <a:tr h="256032">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Cohort</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Exposure → forward to outcome</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Rare exposures; multiple outcomes</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TENART cohort, Newlands Clinic (2017)</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extLst>
                  <a:ext uri="{0D108BD9-81ED-4DB2-BD59-A6C34878D82A}">
                    <a16:rowId xmlns:a16="http://schemas.microsoft.com/office/drawing/2014/main" val="10005"/>
                  </a:ext>
                </a:extLst>
              </a:tr>
              <a:tr h="256032">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RCT – individual</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Randomised exposure → outcome</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Strongest causal evidence, person-level</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PALM Ebola therapeutics trial, DRC (2019)</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extLst>
                  <a:ext uri="{0D108BD9-81ED-4DB2-BD59-A6C34878D82A}">
                    <a16:rowId xmlns:a16="http://schemas.microsoft.com/office/drawing/2014/main" val="10006"/>
                  </a:ext>
                </a:extLst>
              </a:tr>
              <a:tr h="256032">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RCT – cluster</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Randomised by group, not person</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Group-level interventions; avoids contamination</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rgbClr val="27313B"/>
                          </a:solidFill>
                          <a:latin typeface="Calibri" pitchFamily="34" charset="0"/>
                          <a:ea typeface="Calibri" pitchFamily="34" charset="-122"/>
                          <a:cs typeface="Calibri" pitchFamily="34" charset="-120"/>
                        </a:rPr>
                        <a:t>HPTN 071 (PopART), Zambia &amp; South Africa (2019)</a:t>
                      </a:r>
                      <a:endParaRPr lang="en-US" sz="110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pic>
        <p:nvPicPr>
          <p:cNvPr id="8" name="Picture 7">
            <a:extLst>
              <a:ext uri="{FF2B5EF4-FFF2-40B4-BE49-F238E27FC236}">
                <a16:creationId xmlns:a16="http://schemas.microsoft.com/office/drawing/2014/main" id="{EA0685E5-6277-6836-D6B4-74E5710B4BD0}"/>
              </a:ext>
            </a:extLst>
          </p:cNvPr>
          <p:cNvPicPr>
            <a:picLocks noChangeAspect="1"/>
          </p:cNvPicPr>
          <p:nvPr/>
        </p:nvPicPr>
        <p:blipFill>
          <a:blip r:embed="rId3"/>
          <a:stretch>
            <a:fillRect/>
          </a:stretch>
        </p:blipFill>
        <p:spPr>
          <a:xfrm>
            <a:off x="7965371" y="133434"/>
            <a:ext cx="1085760" cy="59038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428625" y="4759452"/>
            <a:ext cx="4572000" cy="201168"/>
          </a:xfrm>
          <a:prstGeom prst="rect">
            <a:avLst/>
          </a:prstGeom>
          <a:noFill/>
          <a:ln/>
        </p:spPr>
        <p:txBody>
          <a:bodyPr wrap="square" rtlCol="0" anchor="ctr"/>
          <a:lstStyle/>
          <a:p>
            <a:pPr marL="0" indent="0">
              <a:buNone/>
            </a:pPr>
            <a:r>
              <a:rPr lang="en-US" sz="950" b="1" dirty="0">
                <a:solidFill>
                  <a:srgbClr val="E63425"/>
                </a:solidFill>
                <a:latin typeface="Calibri" pitchFamily="34" charset="0"/>
                <a:ea typeface="Calibri" pitchFamily="34" charset="-122"/>
                <a:cs typeface="Calibri" pitchFamily="34" charset="-120"/>
              </a:rPr>
              <a:t>Research Masterclass for Clinicians</a:t>
            </a:r>
            <a:endParaRPr lang="en-US" sz="950" dirty="0"/>
          </a:p>
        </p:txBody>
      </p:sp>
      <p:sp>
        <p:nvSpPr>
          <p:cNvPr id="5" name="Text 3"/>
          <p:cNvSpPr/>
          <p:nvPr/>
        </p:nvSpPr>
        <p:spPr>
          <a:xfrm>
            <a:off x="428625" y="4924044"/>
            <a:ext cx="4572000" cy="182880"/>
          </a:xfrm>
          <a:prstGeom prst="rect">
            <a:avLst/>
          </a:prstGeom>
          <a:noFill/>
          <a:ln/>
        </p:spPr>
        <p:txBody>
          <a:bodyPr wrap="square" rtlCol="0" anchor="ctr"/>
          <a:lstStyle/>
          <a:p>
            <a:pPr marL="0" indent="0">
              <a:buNone/>
            </a:pPr>
            <a:r>
              <a:rPr lang="en-US" sz="800" dirty="0">
                <a:solidFill>
                  <a:srgbClr val="5B6B7C"/>
                </a:solidFill>
                <a:latin typeface="Calibri" pitchFamily="34" charset="0"/>
                <a:ea typeface="Calibri" pitchFamily="34" charset="-122"/>
                <a:cs typeface="Calibri" pitchFamily="34" charset="-120"/>
              </a:rPr>
              <a:t>www.newlandsclinic.org.zw</a:t>
            </a:r>
            <a:endParaRPr lang="en-US" sz="800" dirty="0"/>
          </a:p>
        </p:txBody>
      </p:sp>
      <p:sp>
        <p:nvSpPr>
          <p:cNvPr id="6" name="Text 4"/>
          <p:cNvSpPr/>
          <p:nvPr/>
        </p:nvSpPr>
        <p:spPr>
          <a:xfrm>
            <a:off x="428625" y="428625"/>
            <a:ext cx="7680960" cy="201168"/>
          </a:xfrm>
          <a:prstGeom prst="rect">
            <a:avLst/>
          </a:prstGeom>
          <a:noFill/>
          <a:ln/>
        </p:spPr>
        <p:txBody>
          <a:bodyPr wrap="square" rtlCol="0" anchor="ctr"/>
          <a:lstStyle/>
          <a:p>
            <a:pPr marL="0" indent="0">
              <a:buNone/>
            </a:pPr>
            <a:r>
              <a:rPr lang="en-US" sz="1050" b="1" kern="0" spc="100" dirty="0">
                <a:solidFill>
                  <a:srgbClr val="E63425"/>
                </a:solidFill>
                <a:latin typeface="Calibri" pitchFamily="34" charset="0"/>
                <a:ea typeface="Calibri" pitchFamily="34" charset="-122"/>
                <a:cs typeface="Calibri" pitchFamily="34" charset="-120"/>
              </a:rPr>
              <a:t>SECTION 6 · READING CRITICALLY</a:t>
            </a:r>
            <a:endParaRPr lang="en-US" sz="1050" dirty="0"/>
          </a:p>
        </p:txBody>
      </p:sp>
      <p:sp>
        <p:nvSpPr>
          <p:cNvPr id="7" name="Text 5"/>
          <p:cNvSpPr/>
          <p:nvPr/>
        </p:nvSpPr>
        <p:spPr>
          <a:xfrm>
            <a:off x="428625" y="628650"/>
            <a:ext cx="7680960" cy="772668"/>
          </a:xfrm>
          <a:prstGeom prst="rect">
            <a:avLst/>
          </a:prstGeom>
          <a:noFill/>
          <a:ln/>
        </p:spPr>
        <p:txBody>
          <a:bodyPr wrap="square" rtlCol="0" anchor="t"/>
          <a:lstStyle/>
          <a:p>
            <a:pPr marL="0" indent="0">
              <a:buNone/>
            </a:pPr>
            <a:r>
              <a:rPr lang="en-US" sz="2200" b="1" dirty="0">
                <a:solidFill>
                  <a:srgbClr val="25374F"/>
                </a:solidFill>
                <a:latin typeface="Poppins" pitchFamily="34" charset="0"/>
                <a:ea typeface="Poppins" pitchFamily="34" charset="-122"/>
                <a:cs typeface="Poppins" pitchFamily="34" charset="-120"/>
              </a:rPr>
              <a:t>Cross-Cutting Pitfalls: Bias, Confounding &amp; Generalisability</a:t>
            </a:r>
            <a:endParaRPr lang="en-US" sz="2200" dirty="0"/>
          </a:p>
        </p:txBody>
      </p:sp>
      <p:sp>
        <p:nvSpPr>
          <p:cNvPr id="8" name="Shape 6"/>
          <p:cNvSpPr/>
          <p:nvPr/>
        </p:nvSpPr>
        <p:spPr>
          <a:xfrm>
            <a:off x="428625" y="1515618"/>
            <a:ext cx="8046720" cy="609791"/>
          </a:xfrm>
          <a:prstGeom prst="roundRect">
            <a:avLst>
              <a:gd name="adj" fmla="val 8997"/>
            </a:avLst>
          </a:prstGeom>
          <a:solidFill>
            <a:srgbClr val="F4F5F7"/>
          </a:solidFill>
          <a:ln/>
        </p:spPr>
        <p:txBody>
          <a:bodyPr/>
          <a:lstStyle/>
          <a:p>
            <a:endParaRPr lang="en-ZW"/>
          </a:p>
        </p:txBody>
      </p:sp>
      <p:sp>
        <p:nvSpPr>
          <p:cNvPr id="9" name="Shape 7"/>
          <p:cNvSpPr/>
          <p:nvPr/>
        </p:nvSpPr>
        <p:spPr>
          <a:xfrm>
            <a:off x="500063" y="1587056"/>
            <a:ext cx="100013" cy="100013"/>
          </a:xfrm>
          <a:prstGeom prst="ellipse">
            <a:avLst/>
          </a:prstGeom>
          <a:solidFill>
            <a:srgbClr val="E63425"/>
          </a:solidFill>
          <a:ln/>
        </p:spPr>
        <p:txBody>
          <a:bodyPr/>
          <a:lstStyle/>
          <a:p>
            <a:endParaRPr lang="en-ZW" sz="1100"/>
          </a:p>
        </p:txBody>
      </p:sp>
      <p:sp>
        <p:nvSpPr>
          <p:cNvPr id="10" name="Text 8"/>
          <p:cNvSpPr/>
          <p:nvPr/>
        </p:nvSpPr>
        <p:spPr>
          <a:xfrm>
            <a:off x="485775" y="1540936"/>
            <a:ext cx="7932420" cy="366903"/>
          </a:xfrm>
          <a:prstGeom prst="rect">
            <a:avLst/>
          </a:prstGeom>
          <a:noFill/>
          <a:ln/>
        </p:spPr>
        <p:txBody>
          <a:bodyPr wrap="square" rtlCol="0" anchor="t"/>
          <a:lstStyle/>
          <a:p>
            <a:pPr marL="0" indent="0" algn="ctr">
              <a:buNone/>
            </a:pPr>
            <a:r>
              <a:rPr lang="en-US" sz="1100" b="1" dirty="0">
                <a:solidFill>
                  <a:srgbClr val="27313B"/>
                </a:solidFill>
                <a:latin typeface="Calibri" pitchFamily="34" charset="0"/>
                <a:ea typeface="Calibri" pitchFamily="34" charset="-122"/>
                <a:cs typeface="Calibri" pitchFamily="34" charset="-120"/>
              </a:rPr>
              <a:t>SELECTION BIAS</a:t>
            </a:r>
          </a:p>
          <a:p>
            <a:pPr marL="0" indent="0" algn="ctr">
              <a:buNone/>
            </a:pPr>
            <a:r>
              <a:rPr lang="en-US" sz="1100" dirty="0">
                <a:solidFill>
                  <a:srgbClr val="27313B"/>
                </a:solidFill>
                <a:latin typeface="Calibri" pitchFamily="34" charset="0"/>
                <a:ea typeface="Calibri" pitchFamily="34" charset="-122"/>
                <a:cs typeface="Calibri" pitchFamily="34" charset="-120"/>
              </a:rPr>
              <a:t>Who ends up in the study — or stays in it — differs systematically from who should. Loss-to-follow-up in long-running ART cohorts is a classic example.</a:t>
            </a:r>
            <a:endParaRPr lang="en-US" sz="1100" dirty="0"/>
          </a:p>
        </p:txBody>
      </p:sp>
      <p:sp>
        <p:nvSpPr>
          <p:cNvPr id="11" name="Shape 9"/>
          <p:cNvSpPr/>
          <p:nvPr/>
        </p:nvSpPr>
        <p:spPr>
          <a:xfrm>
            <a:off x="428625" y="2196846"/>
            <a:ext cx="8046720" cy="609791"/>
          </a:xfrm>
          <a:prstGeom prst="roundRect">
            <a:avLst>
              <a:gd name="adj" fmla="val 8997"/>
            </a:avLst>
          </a:prstGeom>
          <a:solidFill>
            <a:srgbClr val="F4F5F7"/>
          </a:solidFill>
          <a:ln/>
        </p:spPr>
        <p:txBody>
          <a:bodyPr/>
          <a:lstStyle/>
          <a:p>
            <a:endParaRPr lang="en-ZW" sz="1100"/>
          </a:p>
        </p:txBody>
      </p:sp>
      <p:sp>
        <p:nvSpPr>
          <p:cNvPr id="12" name="Shape 10"/>
          <p:cNvSpPr/>
          <p:nvPr/>
        </p:nvSpPr>
        <p:spPr>
          <a:xfrm>
            <a:off x="500063" y="2268284"/>
            <a:ext cx="100013" cy="100013"/>
          </a:xfrm>
          <a:prstGeom prst="ellipse">
            <a:avLst/>
          </a:prstGeom>
          <a:solidFill>
            <a:srgbClr val="F2A93B"/>
          </a:solidFill>
          <a:ln/>
        </p:spPr>
        <p:txBody>
          <a:bodyPr/>
          <a:lstStyle/>
          <a:p>
            <a:endParaRPr lang="en-ZW" sz="1100"/>
          </a:p>
        </p:txBody>
      </p:sp>
      <p:sp>
        <p:nvSpPr>
          <p:cNvPr id="13" name="Text 11"/>
          <p:cNvSpPr/>
          <p:nvPr/>
        </p:nvSpPr>
        <p:spPr>
          <a:xfrm>
            <a:off x="500063" y="2207041"/>
            <a:ext cx="7932420" cy="366903"/>
          </a:xfrm>
          <a:prstGeom prst="rect">
            <a:avLst/>
          </a:prstGeom>
          <a:noFill/>
          <a:ln/>
        </p:spPr>
        <p:txBody>
          <a:bodyPr wrap="square" rtlCol="0" anchor="t"/>
          <a:lstStyle/>
          <a:p>
            <a:pPr marL="0" indent="0" algn="ctr">
              <a:buNone/>
            </a:pPr>
            <a:r>
              <a:rPr lang="en-US" sz="1100" b="1" dirty="0">
                <a:solidFill>
                  <a:srgbClr val="27313B"/>
                </a:solidFill>
                <a:latin typeface="Calibri" pitchFamily="34" charset="0"/>
                <a:ea typeface="Calibri" pitchFamily="34" charset="-122"/>
                <a:cs typeface="Calibri" pitchFamily="34" charset="-120"/>
              </a:rPr>
              <a:t>INFORMATION / RECALL BIAS</a:t>
            </a:r>
          </a:p>
          <a:p>
            <a:pPr marL="0" indent="0" algn="ctr">
              <a:buNone/>
            </a:pPr>
            <a:r>
              <a:rPr lang="en-US" sz="1100" dirty="0">
                <a:solidFill>
                  <a:srgbClr val="27313B"/>
                </a:solidFill>
                <a:latin typeface="Calibri" pitchFamily="34" charset="0"/>
                <a:ea typeface="Calibri" pitchFamily="34" charset="-122"/>
                <a:cs typeface="Calibri" pitchFamily="34" charset="-120"/>
              </a:rPr>
              <a:t>Exposure or outcome is measured or remembered differently between groups — a key risk for case-control studies asking mothers to recall feeding practices.</a:t>
            </a:r>
            <a:endParaRPr lang="en-US" sz="1100" dirty="0"/>
          </a:p>
        </p:txBody>
      </p:sp>
      <p:sp>
        <p:nvSpPr>
          <p:cNvPr id="14" name="Shape 12"/>
          <p:cNvSpPr/>
          <p:nvPr/>
        </p:nvSpPr>
        <p:spPr>
          <a:xfrm>
            <a:off x="428625" y="2878074"/>
            <a:ext cx="8046720" cy="609791"/>
          </a:xfrm>
          <a:prstGeom prst="roundRect">
            <a:avLst>
              <a:gd name="adj" fmla="val 8997"/>
            </a:avLst>
          </a:prstGeom>
          <a:solidFill>
            <a:srgbClr val="F4F5F7"/>
          </a:solidFill>
          <a:ln/>
        </p:spPr>
        <p:txBody>
          <a:bodyPr/>
          <a:lstStyle/>
          <a:p>
            <a:endParaRPr lang="en-ZW" sz="1100"/>
          </a:p>
        </p:txBody>
      </p:sp>
      <p:sp>
        <p:nvSpPr>
          <p:cNvPr id="15" name="Shape 13"/>
          <p:cNvSpPr/>
          <p:nvPr/>
        </p:nvSpPr>
        <p:spPr>
          <a:xfrm>
            <a:off x="500063" y="2949512"/>
            <a:ext cx="100013" cy="100013"/>
          </a:xfrm>
          <a:prstGeom prst="ellipse">
            <a:avLst/>
          </a:prstGeom>
          <a:solidFill>
            <a:srgbClr val="2E8B9B"/>
          </a:solidFill>
          <a:ln/>
        </p:spPr>
        <p:txBody>
          <a:bodyPr/>
          <a:lstStyle/>
          <a:p>
            <a:endParaRPr lang="en-ZW" sz="1100"/>
          </a:p>
        </p:txBody>
      </p:sp>
      <p:sp>
        <p:nvSpPr>
          <p:cNvPr id="16" name="Text 14"/>
          <p:cNvSpPr/>
          <p:nvPr/>
        </p:nvSpPr>
        <p:spPr>
          <a:xfrm>
            <a:off x="485775" y="2929938"/>
            <a:ext cx="7932420" cy="366903"/>
          </a:xfrm>
          <a:prstGeom prst="rect">
            <a:avLst/>
          </a:prstGeom>
          <a:noFill/>
          <a:ln/>
        </p:spPr>
        <p:txBody>
          <a:bodyPr wrap="square" rtlCol="0" anchor="t"/>
          <a:lstStyle/>
          <a:p>
            <a:pPr marL="0" indent="0" algn="ctr">
              <a:buNone/>
            </a:pPr>
            <a:r>
              <a:rPr lang="en-US" sz="1100" b="1" dirty="0">
                <a:solidFill>
                  <a:srgbClr val="27313B"/>
                </a:solidFill>
                <a:latin typeface="Calibri" pitchFamily="34" charset="0"/>
                <a:ea typeface="Calibri" pitchFamily="34" charset="-122"/>
                <a:cs typeface="Calibri" pitchFamily="34" charset="-120"/>
              </a:rPr>
              <a:t>CONFOUNDING</a:t>
            </a:r>
          </a:p>
          <a:p>
            <a:pPr marL="0" indent="0" algn="ctr">
              <a:buNone/>
            </a:pPr>
            <a:r>
              <a:rPr lang="en-US" sz="1100" dirty="0">
                <a:solidFill>
                  <a:srgbClr val="27313B"/>
                </a:solidFill>
                <a:latin typeface="Calibri" pitchFamily="34" charset="0"/>
                <a:ea typeface="Calibri" pitchFamily="34" charset="-122"/>
                <a:cs typeface="Calibri" pitchFamily="34" charset="-120"/>
              </a:rPr>
              <a:t>A third factor (e.g. HIV status) distorts the exposure–outcome link — central to interpreting TB risk in HIV-prevalent Harare settings.</a:t>
            </a:r>
            <a:endParaRPr lang="en-US" sz="1100" dirty="0"/>
          </a:p>
        </p:txBody>
      </p:sp>
      <p:sp>
        <p:nvSpPr>
          <p:cNvPr id="17" name="Shape 15"/>
          <p:cNvSpPr/>
          <p:nvPr/>
        </p:nvSpPr>
        <p:spPr>
          <a:xfrm>
            <a:off x="428625" y="3559302"/>
            <a:ext cx="8046720" cy="609791"/>
          </a:xfrm>
          <a:prstGeom prst="roundRect">
            <a:avLst>
              <a:gd name="adj" fmla="val 8997"/>
            </a:avLst>
          </a:prstGeom>
          <a:solidFill>
            <a:srgbClr val="F4F5F7"/>
          </a:solidFill>
          <a:ln/>
        </p:spPr>
        <p:txBody>
          <a:bodyPr/>
          <a:lstStyle/>
          <a:p>
            <a:endParaRPr lang="en-ZW" sz="1100"/>
          </a:p>
        </p:txBody>
      </p:sp>
      <p:sp>
        <p:nvSpPr>
          <p:cNvPr id="18" name="Shape 16"/>
          <p:cNvSpPr/>
          <p:nvPr/>
        </p:nvSpPr>
        <p:spPr>
          <a:xfrm>
            <a:off x="500063" y="3630740"/>
            <a:ext cx="100013" cy="100013"/>
          </a:xfrm>
          <a:prstGeom prst="ellipse">
            <a:avLst/>
          </a:prstGeom>
          <a:solidFill>
            <a:srgbClr val="5B9A56"/>
          </a:solidFill>
          <a:ln/>
        </p:spPr>
        <p:txBody>
          <a:bodyPr/>
          <a:lstStyle/>
          <a:p>
            <a:endParaRPr lang="en-ZW" sz="1100"/>
          </a:p>
        </p:txBody>
      </p:sp>
      <p:sp>
        <p:nvSpPr>
          <p:cNvPr id="19" name="Text 17"/>
          <p:cNvSpPr/>
          <p:nvPr/>
        </p:nvSpPr>
        <p:spPr>
          <a:xfrm>
            <a:off x="500063" y="3575875"/>
            <a:ext cx="7932420" cy="366903"/>
          </a:xfrm>
          <a:prstGeom prst="rect">
            <a:avLst/>
          </a:prstGeom>
          <a:noFill/>
          <a:ln/>
        </p:spPr>
        <p:txBody>
          <a:bodyPr wrap="square" rtlCol="0" anchor="t"/>
          <a:lstStyle/>
          <a:p>
            <a:pPr marL="0" indent="0" algn="ctr">
              <a:buNone/>
            </a:pPr>
            <a:r>
              <a:rPr lang="en-US" sz="1100" b="1" dirty="0">
                <a:solidFill>
                  <a:srgbClr val="27313B"/>
                </a:solidFill>
                <a:latin typeface="Calibri" pitchFamily="34" charset="0"/>
                <a:ea typeface="Calibri" pitchFamily="34" charset="-122"/>
                <a:cs typeface="Calibri" pitchFamily="34" charset="-120"/>
              </a:rPr>
              <a:t>GENERALISABILITY</a:t>
            </a:r>
          </a:p>
          <a:p>
            <a:pPr marL="0" indent="0" algn="ctr">
              <a:buNone/>
            </a:pPr>
            <a:r>
              <a:rPr lang="en-US" sz="1100" dirty="0">
                <a:solidFill>
                  <a:srgbClr val="27313B"/>
                </a:solidFill>
                <a:latin typeface="Calibri" pitchFamily="34" charset="0"/>
                <a:ea typeface="Calibri" pitchFamily="34" charset="-122"/>
                <a:cs typeface="Calibri" pitchFamily="34" charset="-120"/>
              </a:rPr>
              <a:t>Will results from one outbreak setting (e.g. North Kivu, DRC) transfer to a different population, health system or epidemic?</a:t>
            </a:r>
            <a:endParaRPr lang="en-US" sz="1100" dirty="0"/>
          </a:p>
        </p:txBody>
      </p:sp>
      <p:sp>
        <p:nvSpPr>
          <p:cNvPr id="20" name="Text 18"/>
          <p:cNvSpPr/>
          <p:nvPr/>
        </p:nvSpPr>
        <p:spPr>
          <a:xfrm>
            <a:off x="428625" y="4240530"/>
            <a:ext cx="8046720" cy="166164"/>
          </a:xfrm>
          <a:prstGeom prst="rect">
            <a:avLst/>
          </a:prstGeom>
          <a:noFill/>
          <a:ln/>
        </p:spPr>
        <p:txBody>
          <a:bodyPr wrap="square" rtlCol="0" anchor="t"/>
          <a:lstStyle/>
          <a:p>
            <a:pPr marL="0" indent="0">
              <a:buNone/>
            </a:pPr>
            <a:r>
              <a:rPr lang="en-US" sz="1100" i="1" dirty="0">
                <a:solidFill>
                  <a:srgbClr val="5B6B7C"/>
                </a:solidFill>
                <a:latin typeface="Calibri" pitchFamily="34" charset="0"/>
                <a:ea typeface="Calibri" pitchFamily="34" charset="-122"/>
                <a:cs typeface="Calibri" pitchFamily="34" charset="-120"/>
              </a:rPr>
              <a:t>Your weekly quiz and Final Presentation Project will ask you to name the design and spot the most likely bias in a published abstract.</a:t>
            </a:r>
            <a:endParaRPr lang="en-US" sz="1100" dirty="0"/>
          </a:p>
        </p:txBody>
      </p:sp>
      <p:pic>
        <p:nvPicPr>
          <p:cNvPr id="21" name="Picture 20">
            <a:extLst>
              <a:ext uri="{FF2B5EF4-FFF2-40B4-BE49-F238E27FC236}">
                <a16:creationId xmlns:a16="http://schemas.microsoft.com/office/drawing/2014/main" id="{0B85C141-1820-C30F-FDDD-69E80F6592A2}"/>
              </a:ext>
            </a:extLst>
          </p:cNvPr>
          <p:cNvPicPr>
            <a:picLocks noChangeAspect="1"/>
          </p:cNvPicPr>
          <p:nvPr/>
        </p:nvPicPr>
        <p:blipFill>
          <a:blip r:embed="rId3"/>
          <a:stretch>
            <a:fillRect/>
          </a:stretch>
        </p:blipFill>
        <p:spPr>
          <a:xfrm>
            <a:off x="7965371" y="133434"/>
            <a:ext cx="1085760" cy="59038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5374F"/>
        </a:solidFill>
        <a:effectLst/>
      </p:bgPr>
    </p:bg>
    <p:spTree>
      <p:nvGrpSpPr>
        <p:cNvPr id="1" name=""/>
        <p:cNvGrpSpPr/>
        <p:nvPr/>
      </p:nvGrpSpPr>
      <p:grpSpPr>
        <a:xfrm>
          <a:off x="0" y="0"/>
          <a:ext cx="0" cy="0"/>
          <a:chOff x="0" y="0"/>
          <a:chExt cx="0" cy="0"/>
        </a:xfrm>
      </p:grpSpPr>
      <p:sp>
        <p:nvSpPr>
          <p:cNvPr id="3" name="Text 1"/>
          <p:cNvSpPr/>
          <p:nvPr/>
        </p:nvSpPr>
        <p:spPr>
          <a:xfrm>
            <a:off x="428625" y="428625"/>
            <a:ext cx="7315200" cy="219456"/>
          </a:xfrm>
          <a:prstGeom prst="rect">
            <a:avLst/>
          </a:prstGeom>
          <a:noFill/>
          <a:ln/>
        </p:spPr>
        <p:txBody>
          <a:bodyPr wrap="square" rtlCol="0" anchor="ctr"/>
          <a:lstStyle/>
          <a:p>
            <a:pPr marL="0" indent="0">
              <a:buNone/>
            </a:pPr>
            <a:r>
              <a:rPr lang="en-US" sz="1050" b="1" kern="0" spc="100" dirty="0">
                <a:solidFill>
                  <a:srgbClr val="E63425"/>
                </a:solidFill>
                <a:latin typeface="Calibri" pitchFamily="34" charset="0"/>
                <a:ea typeface="Calibri" pitchFamily="34" charset="-122"/>
                <a:cs typeface="Calibri" pitchFamily="34" charset="-120"/>
              </a:rPr>
              <a:t>SECTION 7 · RECAP</a:t>
            </a:r>
            <a:endParaRPr lang="en-US" sz="1050" dirty="0"/>
          </a:p>
        </p:txBody>
      </p:sp>
      <p:sp>
        <p:nvSpPr>
          <p:cNvPr id="4" name="Text 2"/>
          <p:cNvSpPr/>
          <p:nvPr/>
        </p:nvSpPr>
        <p:spPr>
          <a:xfrm>
            <a:off x="428625" y="642938"/>
            <a:ext cx="8229600" cy="365760"/>
          </a:xfrm>
          <a:prstGeom prst="rect">
            <a:avLst/>
          </a:prstGeom>
          <a:noFill/>
          <a:ln/>
        </p:spPr>
        <p:txBody>
          <a:bodyPr wrap="square" rtlCol="0" anchor="ctr"/>
          <a:lstStyle/>
          <a:p>
            <a:pPr marL="0" indent="0">
              <a:buNone/>
            </a:pPr>
            <a:r>
              <a:rPr lang="en-US" sz="2200" b="1" dirty="0">
                <a:solidFill>
                  <a:srgbClr val="FFFFFF"/>
                </a:solidFill>
                <a:latin typeface="Poppins" pitchFamily="34" charset="0"/>
                <a:ea typeface="Poppins" pitchFamily="34" charset="-122"/>
                <a:cs typeface="Poppins" pitchFamily="34" charset="-120"/>
              </a:rPr>
              <a:t>Key Takeaways</a:t>
            </a:r>
            <a:endParaRPr lang="en-US" sz="2200" dirty="0"/>
          </a:p>
        </p:txBody>
      </p:sp>
      <p:sp>
        <p:nvSpPr>
          <p:cNvPr id="5" name="Shape 3"/>
          <p:cNvSpPr/>
          <p:nvPr/>
        </p:nvSpPr>
        <p:spPr>
          <a:xfrm>
            <a:off x="463355" y="1261872"/>
            <a:ext cx="142875" cy="142875"/>
          </a:xfrm>
          <a:prstGeom prst="ellipse">
            <a:avLst/>
          </a:prstGeom>
          <a:solidFill>
            <a:srgbClr val="E63425"/>
          </a:solidFill>
          <a:ln/>
        </p:spPr>
        <p:txBody>
          <a:bodyPr/>
          <a:lstStyle/>
          <a:p>
            <a:endParaRPr lang="en-ZW" sz="1100"/>
          </a:p>
        </p:txBody>
      </p:sp>
      <p:sp>
        <p:nvSpPr>
          <p:cNvPr id="6" name="Text 4"/>
          <p:cNvSpPr/>
          <p:nvPr/>
        </p:nvSpPr>
        <p:spPr>
          <a:xfrm>
            <a:off x="463355" y="1254728"/>
            <a:ext cx="142875" cy="142875"/>
          </a:xfrm>
          <a:prstGeom prst="rect">
            <a:avLst/>
          </a:prstGeom>
          <a:noFill/>
          <a:ln/>
        </p:spPr>
        <p:txBody>
          <a:bodyPr wrap="square" rtlCol="0" anchor="ctr"/>
          <a:lstStyle/>
          <a:p>
            <a:pPr marL="0" indent="0" algn="ctr">
              <a:buNone/>
            </a:pPr>
            <a:r>
              <a:rPr lang="en-US" sz="1100" b="1" dirty="0">
                <a:solidFill>
                  <a:srgbClr val="FFFFFF"/>
                </a:solidFill>
              </a:rPr>
              <a:t>✓</a:t>
            </a:r>
            <a:endParaRPr lang="en-US" sz="1100" dirty="0"/>
          </a:p>
        </p:txBody>
      </p:sp>
      <p:sp>
        <p:nvSpPr>
          <p:cNvPr id="7" name="Text 5"/>
          <p:cNvSpPr/>
          <p:nvPr/>
        </p:nvSpPr>
        <p:spPr>
          <a:xfrm>
            <a:off x="677668" y="1247584"/>
            <a:ext cx="7466648" cy="489776"/>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Descriptive studies (case report, case series, ecological) describe and generate hypotheses — they don’t test them.</a:t>
            </a:r>
            <a:endParaRPr lang="en-US" sz="1100" dirty="0"/>
          </a:p>
        </p:txBody>
      </p:sp>
      <p:sp>
        <p:nvSpPr>
          <p:cNvPr id="8" name="Shape 6"/>
          <p:cNvSpPr/>
          <p:nvPr/>
        </p:nvSpPr>
        <p:spPr>
          <a:xfrm>
            <a:off x="463355" y="1823085"/>
            <a:ext cx="142875" cy="142875"/>
          </a:xfrm>
          <a:prstGeom prst="ellipse">
            <a:avLst/>
          </a:prstGeom>
          <a:solidFill>
            <a:srgbClr val="E63425"/>
          </a:solidFill>
          <a:ln/>
        </p:spPr>
        <p:txBody>
          <a:bodyPr/>
          <a:lstStyle/>
          <a:p>
            <a:endParaRPr lang="en-ZW" sz="1100"/>
          </a:p>
        </p:txBody>
      </p:sp>
      <p:sp>
        <p:nvSpPr>
          <p:cNvPr id="9" name="Text 7"/>
          <p:cNvSpPr/>
          <p:nvPr/>
        </p:nvSpPr>
        <p:spPr>
          <a:xfrm>
            <a:off x="463355" y="1815941"/>
            <a:ext cx="142875" cy="142875"/>
          </a:xfrm>
          <a:prstGeom prst="rect">
            <a:avLst/>
          </a:prstGeom>
          <a:noFill/>
          <a:ln/>
        </p:spPr>
        <p:txBody>
          <a:bodyPr wrap="square" rtlCol="0" anchor="ctr"/>
          <a:lstStyle/>
          <a:p>
            <a:pPr marL="0" indent="0" algn="ctr">
              <a:buNone/>
            </a:pPr>
            <a:r>
              <a:rPr lang="en-US" sz="1100" b="1" dirty="0">
                <a:solidFill>
                  <a:srgbClr val="FFFFFF"/>
                </a:solidFill>
              </a:rPr>
              <a:t>✓</a:t>
            </a:r>
            <a:endParaRPr lang="en-US" sz="1100" dirty="0"/>
          </a:p>
        </p:txBody>
      </p:sp>
      <p:sp>
        <p:nvSpPr>
          <p:cNvPr id="10" name="Text 8"/>
          <p:cNvSpPr/>
          <p:nvPr/>
        </p:nvSpPr>
        <p:spPr>
          <a:xfrm>
            <a:off x="677668" y="1808797"/>
            <a:ext cx="7466648" cy="489776"/>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Cross-sectional studies give one prevalence snapshot; repeated rounds (like ZIMPHIA) reveal trends.</a:t>
            </a:r>
            <a:endParaRPr lang="en-US" sz="1100" dirty="0"/>
          </a:p>
        </p:txBody>
      </p:sp>
      <p:sp>
        <p:nvSpPr>
          <p:cNvPr id="11" name="Shape 9"/>
          <p:cNvSpPr/>
          <p:nvPr/>
        </p:nvSpPr>
        <p:spPr>
          <a:xfrm>
            <a:off x="463355" y="2384298"/>
            <a:ext cx="142875" cy="142875"/>
          </a:xfrm>
          <a:prstGeom prst="ellipse">
            <a:avLst/>
          </a:prstGeom>
          <a:solidFill>
            <a:srgbClr val="E63425"/>
          </a:solidFill>
          <a:ln/>
        </p:spPr>
        <p:txBody>
          <a:bodyPr/>
          <a:lstStyle/>
          <a:p>
            <a:endParaRPr lang="en-ZW" sz="1100"/>
          </a:p>
        </p:txBody>
      </p:sp>
      <p:sp>
        <p:nvSpPr>
          <p:cNvPr id="12" name="Text 10"/>
          <p:cNvSpPr/>
          <p:nvPr/>
        </p:nvSpPr>
        <p:spPr>
          <a:xfrm>
            <a:off x="463355" y="2377154"/>
            <a:ext cx="142875" cy="142875"/>
          </a:xfrm>
          <a:prstGeom prst="rect">
            <a:avLst/>
          </a:prstGeom>
          <a:noFill/>
          <a:ln/>
        </p:spPr>
        <p:txBody>
          <a:bodyPr wrap="square" rtlCol="0" anchor="ctr"/>
          <a:lstStyle/>
          <a:p>
            <a:pPr marL="0" indent="0" algn="ctr">
              <a:buNone/>
            </a:pPr>
            <a:r>
              <a:rPr lang="en-US" sz="1100" b="1" dirty="0">
                <a:solidFill>
                  <a:srgbClr val="FFFFFF"/>
                </a:solidFill>
              </a:rPr>
              <a:t>✓</a:t>
            </a:r>
            <a:endParaRPr lang="en-US" sz="1100" dirty="0"/>
          </a:p>
        </p:txBody>
      </p:sp>
      <p:sp>
        <p:nvSpPr>
          <p:cNvPr id="13" name="Text 11"/>
          <p:cNvSpPr/>
          <p:nvPr/>
        </p:nvSpPr>
        <p:spPr>
          <a:xfrm>
            <a:off x="677668" y="2370010"/>
            <a:ext cx="7466648" cy="489776"/>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Case-control studies move backward from outcome to exposure — efficient for rare outcomes, vulnerable to recall bias.</a:t>
            </a:r>
            <a:endParaRPr lang="en-US" sz="1100" dirty="0"/>
          </a:p>
        </p:txBody>
      </p:sp>
      <p:sp>
        <p:nvSpPr>
          <p:cNvPr id="14" name="Shape 12"/>
          <p:cNvSpPr/>
          <p:nvPr/>
        </p:nvSpPr>
        <p:spPr>
          <a:xfrm>
            <a:off x="463355" y="2945511"/>
            <a:ext cx="142875" cy="142875"/>
          </a:xfrm>
          <a:prstGeom prst="ellipse">
            <a:avLst/>
          </a:prstGeom>
          <a:solidFill>
            <a:srgbClr val="E63425"/>
          </a:solidFill>
          <a:ln/>
        </p:spPr>
        <p:txBody>
          <a:bodyPr/>
          <a:lstStyle/>
          <a:p>
            <a:endParaRPr lang="en-ZW" sz="1100"/>
          </a:p>
        </p:txBody>
      </p:sp>
      <p:sp>
        <p:nvSpPr>
          <p:cNvPr id="15" name="Text 13"/>
          <p:cNvSpPr/>
          <p:nvPr/>
        </p:nvSpPr>
        <p:spPr>
          <a:xfrm>
            <a:off x="463355" y="2938367"/>
            <a:ext cx="142875" cy="142875"/>
          </a:xfrm>
          <a:prstGeom prst="rect">
            <a:avLst/>
          </a:prstGeom>
          <a:noFill/>
          <a:ln/>
        </p:spPr>
        <p:txBody>
          <a:bodyPr wrap="square" rtlCol="0" anchor="ctr"/>
          <a:lstStyle/>
          <a:p>
            <a:pPr marL="0" indent="0" algn="ctr">
              <a:buNone/>
            </a:pPr>
            <a:r>
              <a:rPr lang="en-US" sz="1100" b="1" dirty="0">
                <a:solidFill>
                  <a:srgbClr val="FFFFFF"/>
                </a:solidFill>
              </a:rPr>
              <a:t>✓</a:t>
            </a:r>
            <a:endParaRPr lang="en-US" sz="1100" dirty="0"/>
          </a:p>
        </p:txBody>
      </p:sp>
      <p:sp>
        <p:nvSpPr>
          <p:cNvPr id="16" name="Text 14"/>
          <p:cNvSpPr/>
          <p:nvPr/>
        </p:nvSpPr>
        <p:spPr>
          <a:xfrm>
            <a:off x="677668" y="2931223"/>
            <a:ext cx="7466648" cy="489776"/>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Cohort studies move forward from exposure to outcome — establish temporality, vulnerable to loss-to-follow-up.</a:t>
            </a:r>
            <a:endParaRPr lang="en-US" sz="1100" dirty="0"/>
          </a:p>
        </p:txBody>
      </p:sp>
      <p:sp>
        <p:nvSpPr>
          <p:cNvPr id="17" name="Shape 15"/>
          <p:cNvSpPr/>
          <p:nvPr/>
        </p:nvSpPr>
        <p:spPr>
          <a:xfrm>
            <a:off x="463355" y="3506724"/>
            <a:ext cx="142875" cy="142875"/>
          </a:xfrm>
          <a:prstGeom prst="ellipse">
            <a:avLst/>
          </a:prstGeom>
          <a:solidFill>
            <a:srgbClr val="E63425"/>
          </a:solidFill>
          <a:ln/>
        </p:spPr>
        <p:txBody>
          <a:bodyPr/>
          <a:lstStyle/>
          <a:p>
            <a:endParaRPr lang="en-ZW" sz="1100"/>
          </a:p>
        </p:txBody>
      </p:sp>
      <p:sp>
        <p:nvSpPr>
          <p:cNvPr id="18" name="Text 16"/>
          <p:cNvSpPr/>
          <p:nvPr/>
        </p:nvSpPr>
        <p:spPr>
          <a:xfrm>
            <a:off x="463355" y="3499580"/>
            <a:ext cx="142875" cy="142875"/>
          </a:xfrm>
          <a:prstGeom prst="rect">
            <a:avLst/>
          </a:prstGeom>
          <a:noFill/>
          <a:ln/>
        </p:spPr>
        <p:txBody>
          <a:bodyPr wrap="square" rtlCol="0" anchor="ctr"/>
          <a:lstStyle/>
          <a:p>
            <a:pPr marL="0" indent="0" algn="ctr">
              <a:buNone/>
            </a:pPr>
            <a:r>
              <a:rPr lang="en-US" sz="1100" b="1" dirty="0">
                <a:solidFill>
                  <a:srgbClr val="FFFFFF"/>
                </a:solidFill>
              </a:rPr>
              <a:t>✓</a:t>
            </a:r>
            <a:endParaRPr lang="en-US" sz="1100" dirty="0"/>
          </a:p>
        </p:txBody>
      </p:sp>
      <p:sp>
        <p:nvSpPr>
          <p:cNvPr id="19" name="Text 17"/>
          <p:cNvSpPr/>
          <p:nvPr/>
        </p:nvSpPr>
        <p:spPr>
          <a:xfrm>
            <a:off x="677668" y="3492436"/>
            <a:ext cx="7466648" cy="489776"/>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Randomised trials — individual or cluster — give the strongest evidence for cause and effect, when ethically possible.</a:t>
            </a:r>
            <a:endParaRPr lang="en-US" sz="1100" dirty="0"/>
          </a:p>
        </p:txBody>
      </p:sp>
      <p:sp>
        <p:nvSpPr>
          <p:cNvPr id="20" name="Shape 18"/>
          <p:cNvSpPr/>
          <p:nvPr/>
        </p:nvSpPr>
        <p:spPr>
          <a:xfrm>
            <a:off x="463355" y="4067936"/>
            <a:ext cx="142875" cy="142875"/>
          </a:xfrm>
          <a:prstGeom prst="ellipse">
            <a:avLst/>
          </a:prstGeom>
          <a:solidFill>
            <a:srgbClr val="E63425"/>
          </a:solidFill>
          <a:ln/>
        </p:spPr>
        <p:txBody>
          <a:bodyPr/>
          <a:lstStyle/>
          <a:p>
            <a:endParaRPr lang="en-ZW" sz="1100"/>
          </a:p>
        </p:txBody>
      </p:sp>
      <p:sp>
        <p:nvSpPr>
          <p:cNvPr id="21" name="Text 19"/>
          <p:cNvSpPr/>
          <p:nvPr/>
        </p:nvSpPr>
        <p:spPr>
          <a:xfrm>
            <a:off x="463355" y="4060793"/>
            <a:ext cx="142875" cy="142875"/>
          </a:xfrm>
          <a:prstGeom prst="rect">
            <a:avLst/>
          </a:prstGeom>
          <a:noFill/>
          <a:ln/>
        </p:spPr>
        <p:txBody>
          <a:bodyPr wrap="square" rtlCol="0" anchor="ctr"/>
          <a:lstStyle/>
          <a:p>
            <a:pPr marL="0" indent="0" algn="ctr">
              <a:buNone/>
            </a:pPr>
            <a:r>
              <a:rPr lang="en-US" sz="1100" b="1" dirty="0">
                <a:solidFill>
                  <a:srgbClr val="FFFFFF"/>
                </a:solidFill>
              </a:rPr>
              <a:t>✓</a:t>
            </a:r>
            <a:endParaRPr lang="en-US" sz="1100" dirty="0"/>
          </a:p>
        </p:txBody>
      </p:sp>
      <p:sp>
        <p:nvSpPr>
          <p:cNvPr id="22" name="Text 20"/>
          <p:cNvSpPr/>
          <p:nvPr/>
        </p:nvSpPr>
        <p:spPr>
          <a:xfrm>
            <a:off x="677668" y="4053649"/>
            <a:ext cx="7466648" cy="489776"/>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The right design is chosen before data collection begins — and it shaped how Southern Africa and the DRC answered some of their hardest clinical questions.</a:t>
            </a:r>
            <a:endParaRPr lang="en-US" sz="1100" dirty="0"/>
          </a:p>
        </p:txBody>
      </p:sp>
      <p:sp>
        <p:nvSpPr>
          <p:cNvPr id="23" name="Text 21"/>
          <p:cNvSpPr/>
          <p:nvPr/>
        </p:nvSpPr>
        <p:spPr>
          <a:xfrm>
            <a:off x="428625" y="4869180"/>
            <a:ext cx="3657600" cy="182880"/>
          </a:xfrm>
          <a:prstGeom prst="rect">
            <a:avLst/>
          </a:prstGeom>
          <a:noFill/>
          <a:ln/>
        </p:spPr>
        <p:txBody>
          <a:bodyPr wrap="square" rtlCol="0" anchor="ctr"/>
          <a:lstStyle/>
          <a:p>
            <a:pPr marL="0" indent="0">
              <a:buNone/>
            </a:pPr>
            <a:r>
              <a:rPr lang="en-US" sz="800" dirty="0">
                <a:solidFill>
                  <a:srgbClr val="9FB0C2"/>
                </a:solidFill>
                <a:latin typeface="Calibri" pitchFamily="34" charset="0"/>
                <a:ea typeface="Calibri" pitchFamily="34" charset="-122"/>
                <a:cs typeface="Calibri" pitchFamily="34" charset="-120"/>
              </a:rPr>
              <a:t>www.newlandsclinic.org.zw</a:t>
            </a:r>
            <a:endParaRPr lang="en-US" sz="800" dirty="0"/>
          </a:p>
        </p:txBody>
      </p:sp>
      <p:pic>
        <p:nvPicPr>
          <p:cNvPr id="24" name="Picture 23">
            <a:extLst>
              <a:ext uri="{FF2B5EF4-FFF2-40B4-BE49-F238E27FC236}">
                <a16:creationId xmlns:a16="http://schemas.microsoft.com/office/drawing/2014/main" id="{00999024-91F6-706C-2BDE-2634FA7A164A}"/>
              </a:ext>
            </a:extLst>
          </p:cNvPr>
          <p:cNvPicPr>
            <a:picLocks noChangeAspect="1"/>
          </p:cNvPicPr>
          <p:nvPr/>
        </p:nvPicPr>
        <p:blipFill>
          <a:blip r:embed="rId3"/>
          <a:stretch>
            <a:fillRect/>
          </a:stretch>
        </p:blipFill>
        <p:spPr>
          <a:xfrm>
            <a:off x="7965371" y="133434"/>
            <a:ext cx="1085760" cy="59038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428625" y="4759452"/>
            <a:ext cx="4572000" cy="201168"/>
          </a:xfrm>
          <a:prstGeom prst="rect">
            <a:avLst/>
          </a:prstGeom>
          <a:noFill/>
          <a:ln/>
        </p:spPr>
        <p:txBody>
          <a:bodyPr wrap="square" rtlCol="0" anchor="ctr"/>
          <a:lstStyle/>
          <a:p>
            <a:pPr marL="0" indent="0">
              <a:buNone/>
            </a:pPr>
            <a:r>
              <a:rPr lang="en-US" sz="950" b="1" dirty="0">
                <a:solidFill>
                  <a:srgbClr val="E63425"/>
                </a:solidFill>
                <a:latin typeface="Calibri" pitchFamily="34" charset="0"/>
                <a:ea typeface="Calibri" pitchFamily="34" charset="-122"/>
                <a:cs typeface="Calibri" pitchFamily="34" charset="-120"/>
              </a:rPr>
              <a:t>Research Masterclass for Clinicians</a:t>
            </a:r>
            <a:endParaRPr lang="en-US" sz="950" dirty="0"/>
          </a:p>
        </p:txBody>
      </p:sp>
      <p:sp>
        <p:nvSpPr>
          <p:cNvPr id="5" name="Text 3"/>
          <p:cNvSpPr/>
          <p:nvPr/>
        </p:nvSpPr>
        <p:spPr>
          <a:xfrm>
            <a:off x="428625" y="4924044"/>
            <a:ext cx="4572000" cy="182880"/>
          </a:xfrm>
          <a:prstGeom prst="rect">
            <a:avLst/>
          </a:prstGeom>
          <a:noFill/>
          <a:ln/>
        </p:spPr>
        <p:txBody>
          <a:bodyPr wrap="square" rtlCol="0" anchor="ctr"/>
          <a:lstStyle/>
          <a:p>
            <a:pPr marL="0" indent="0">
              <a:buNone/>
            </a:pPr>
            <a:r>
              <a:rPr lang="en-US" sz="800" dirty="0">
                <a:solidFill>
                  <a:srgbClr val="5B6B7C"/>
                </a:solidFill>
                <a:latin typeface="Calibri" pitchFamily="34" charset="0"/>
                <a:ea typeface="Calibri" pitchFamily="34" charset="-122"/>
                <a:cs typeface="Calibri" pitchFamily="34" charset="-120"/>
              </a:rPr>
              <a:t>www.newlandsclinic.org.zw</a:t>
            </a:r>
            <a:endParaRPr lang="en-US" sz="800" dirty="0"/>
          </a:p>
        </p:txBody>
      </p:sp>
      <p:sp>
        <p:nvSpPr>
          <p:cNvPr id="6" name="Text 4"/>
          <p:cNvSpPr/>
          <p:nvPr/>
        </p:nvSpPr>
        <p:spPr>
          <a:xfrm>
            <a:off x="428625" y="428625"/>
            <a:ext cx="7680960" cy="201168"/>
          </a:xfrm>
          <a:prstGeom prst="rect">
            <a:avLst/>
          </a:prstGeom>
          <a:noFill/>
          <a:ln/>
        </p:spPr>
        <p:txBody>
          <a:bodyPr wrap="square" rtlCol="0" anchor="ctr"/>
          <a:lstStyle/>
          <a:p>
            <a:pPr marL="0" indent="0">
              <a:buNone/>
            </a:pPr>
            <a:r>
              <a:rPr lang="en-US" sz="1050" b="1" kern="0" spc="100" dirty="0">
                <a:solidFill>
                  <a:srgbClr val="E63425"/>
                </a:solidFill>
                <a:latin typeface="Calibri" pitchFamily="34" charset="0"/>
                <a:ea typeface="Calibri" pitchFamily="34" charset="-122"/>
                <a:cs typeface="Calibri" pitchFamily="34" charset="-120"/>
              </a:rPr>
              <a:t>REFERENCES</a:t>
            </a:r>
            <a:endParaRPr lang="en-US" sz="1050" dirty="0"/>
          </a:p>
        </p:txBody>
      </p:sp>
      <p:sp>
        <p:nvSpPr>
          <p:cNvPr id="7" name="Text 5"/>
          <p:cNvSpPr/>
          <p:nvPr/>
        </p:nvSpPr>
        <p:spPr>
          <a:xfrm>
            <a:off x="428625" y="628650"/>
            <a:ext cx="7680960" cy="395478"/>
          </a:xfrm>
          <a:prstGeom prst="rect">
            <a:avLst/>
          </a:prstGeom>
          <a:noFill/>
          <a:ln/>
        </p:spPr>
        <p:txBody>
          <a:bodyPr wrap="square" rtlCol="0" anchor="t"/>
          <a:lstStyle/>
          <a:p>
            <a:pPr marL="0" indent="0">
              <a:buNone/>
            </a:pPr>
            <a:r>
              <a:rPr lang="en-US" sz="2200" b="1" dirty="0">
                <a:solidFill>
                  <a:srgbClr val="25374F"/>
                </a:solidFill>
                <a:latin typeface="Poppins" pitchFamily="34" charset="0"/>
                <a:ea typeface="Poppins" pitchFamily="34" charset="-122"/>
                <a:cs typeface="Poppins" pitchFamily="34" charset="-120"/>
              </a:rPr>
              <a:t>Peer-Reviewed Sources Used in This Session</a:t>
            </a:r>
            <a:endParaRPr lang="en-US" sz="2200" dirty="0"/>
          </a:p>
        </p:txBody>
      </p:sp>
      <p:sp>
        <p:nvSpPr>
          <p:cNvPr id="8" name="Text 6"/>
          <p:cNvSpPr/>
          <p:nvPr/>
        </p:nvSpPr>
        <p:spPr>
          <a:xfrm>
            <a:off x="428625" y="1138428"/>
            <a:ext cx="3937635" cy="558356"/>
          </a:xfrm>
          <a:prstGeom prst="rect">
            <a:avLst/>
          </a:prstGeom>
          <a:noFill/>
          <a:ln/>
        </p:spPr>
        <p:txBody>
          <a:bodyPr wrap="square" rtlCol="0" anchor="t"/>
          <a:lstStyle/>
          <a:p>
            <a:pPr marL="0" indent="0" algn="l">
              <a:buNone/>
            </a:pPr>
            <a:r>
              <a:rPr lang="en-US" sz="1050" dirty="0">
                <a:solidFill>
                  <a:srgbClr val="5B6B7C"/>
                </a:solidFill>
                <a:latin typeface="Calibri" pitchFamily="34" charset="0"/>
                <a:ea typeface="Calibri" pitchFamily="34" charset="-122"/>
                <a:cs typeface="Calibri" pitchFamily="34" charset="-120"/>
              </a:rPr>
              <a:t>Chimbetete C, Chirimuta L, Pascoe M, Keiser O. A case report of untreatable HIV infection in Harare, Zimbabwe. South Afr J HIV Med. 2019;20(1):885.</a:t>
            </a:r>
            <a:endParaRPr lang="en-US" sz="1050" dirty="0"/>
          </a:p>
        </p:txBody>
      </p:sp>
      <p:sp>
        <p:nvSpPr>
          <p:cNvPr id="9" name="Text 7"/>
          <p:cNvSpPr/>
          <p:nvPr/>
        </p:nvSpPr>
        <p:spPr>
          <a:xfrm>
            <a:off x="428625" y="1753934"/>
            <a:ext cx="3937635" cy="558356"/>
          </a:xfrm>
          <a:prstGeom prst="rect">
            <a:avLst/>
          </a:prstGeom>
          <a:noFill/>
          <a:ln/>
        </p:spPr>
        <p:txBody>
          <a:bodyPr wrap="square" rtlCol="0" anchor="t"/>
          <a:lstStyle/>
          <a:p>
            <a:pPr marL="0" indent="0" algn="l">
              <a:buNone/>
            </a:pPr>
            <a:r>
              <a:rPr lang="en-US" sz="1050" dirty="0">
                <a:solidFill>
                  <a:srgbClr val="5B6B7C"/>
                </a:solidFill>
                <a:latin typeface="Calibri" pitchFamily="34" charset="0"/>
                <a:ea typeface="Calibri" pitchFamily="34" charset="-122"/>
                <a:cs typeface="Calibri" pitchFamily="34" charset="-120"/>
              </a:rPr>
              <a:t>Mashe T, Chaibva BV, Nair P, et al. Descriptive epidemiology of the cholera outbreak in Zimbabwe 2018–2019. BMJ Open. 2023;13(1):e059134.</a:t>
            </a:r>
            <a:endParaRPr lang="en-US" sz="1050" dirty="0"/>
          </a:p>
        </p:txBody>
      </p:sp>
      <p:sp>
        <p:nvSpPr>
          <p:cNvPr id="10" name="Text 8"/>
          <p:cNvSpPr/>
          <p:nvPr/>
        </p:nvSpPr>
        <p:spPr>
          <a:xfrm>
            <a:off x="428625" y="2369439"/>
            <a:ext cx="3937635" cy="738378"/>
          </a:xfrm>
          <a:prstGeom prst="rect">
            <a:avLst/>
          </a:prstGeom>
          <a:noFill/>
          <a:ln/>
        </p:spPr>
        <p:txBody>
          <a:bodyPr wrap="square" rtlCol="0" anchor="t"/>
          <a:lstStyle/>
          <a:p>
            <a:pPr marL="0" indent="0" algn="l">
              <a:buNone/>
            </a:pPr>
            <a:r>
              <a:rPr lang="en-US" sz="1050" dirty="0">
                <a:solidFill>
                  <a:srgbClr val="5B6B7C"/>
                </a:solidFill>
                <a:latin typeface="Calibri" pitchFamily="34" charset="0"/>
                <a:ea typeface="Calibri" pitchFamily="34" charset="-122"/>
                <a:cs typeface="Calibri" pitchFamily="34" charset="-120"/>
              </a:rPr>
              <a:t>Luque-Fernández MA, Mason PR, Gray H, et al. Descriptive spatial analysis of the cholera epidemic 2008–2009 in Harare, Zimbabwe. Trans R Soc Trop Med Hyg. 2011;105(1):38–45.</a:t>
            </a:r>
            <a:endParaRPr lang="en-US" sz="1050" dirty="0"/>
          </a:p>
        </p:txBody>
      </p:sp>
      <p:sp>
        <p:nvSpPr>
          <p:cNvPr id="11" name="Text 9"/>
          <p:cNvSpPr/>
          <p:nvPr/>
        </p:nvSpPr>
        <p:spPr>
          <a:xfrm>
            <a:off x="428625" y="3164967"/>
            <a:ext cx="3937635" cy="558356"/>
          </a:xfrm>
          <a:prstGeom prst="rect">
            <a:avLst/>
          </a:prstGeom>
          <a:noFill/>
          <a:ln/>
        </p:spPr>
        <p:txBody>
          <a:bodyPr wrap="square" rtlCol="0" anchor="t"/>
          <a:lstStyle/>
          <a:p>
            <a:pPr marL="0" indent="0" algn="l">
              <a:buNone/>
            </a:pPr>
            <a:r>
              <a:rPr lang="en-US" sz="1050" dirty="0">
                <a:solidFill>
                  <a:srgbClr val="5B6B7C"/>
                </a:solidFill>
                <a:latin typeface="Calibri" pitchFamily="34" charset="0"/>
                <a:ea typeface="Calibri" pitchFamily="34" charset="-122"/>
                <a:cs typeface="Calibri" pitchFamily="34" charset="-120"/>
              </a:rPr>
              <a:t>Gonese E, Musuka G, Ruangtragool L, et al. Comparison of HIV incidence in ZIMPHIA (2015–2016) with modelled estimates. AIDS Res Hum Retroviruses. 2020.</a:t>
            </a:r>
            <a:endParaRPr lang="en-US" sz="1050" dirty="0"/>
          </a:p>
        </p:txBody>
      </p:sp>
      <p:sp>
        <p:nvSpPr>
          <p:cNvPr id="12" name="Text 10"/>
          <p:cNvSpPr/>
          <p:nvPr/>
        </p:nvSpPr>
        <p:spPr>
          <a:xfrm>
            <a:off x="428625" y="3780473"/>
            <a:ext cx="3937635" cy="918401"/>
          </a:xfrm>
          <a:prstGeom prst="rect">
            <a:avLst/>
          </a:prstGeom>
          <a:noFill/>
          <a:ln/>
        </p:spPr>
        <p:txBody>
          <a:bodyPr wrap="square" rtlCol="0" anchor="t"/>
          <a:lstStyle/>
          <a:p>
            <a:pPr marL="0" indent="0" algn="l">
              <a:buNone/>
            </a:pPr>
            <a:r>
              <a:rPr lang="en-US" sz="1050" dirty="0">
                <a:solidFill>
                  <a:srgbClr val="5B6B7C"/>
                </a:solidFill>
                <a:latin typeface="Calibri" pitchFamily="34" charset="0"/>
                <a:ea typeface="Calibri" pitchFamily="34" charset="-122"/>
                <a:cs typeface="Calibri" pitchFamily="34" charset="-120"/>
              </a:rPr>
              <a:t>Ngwende S, Gombe NT, Midzi S, Tshimanga M, Shambira G, Chadambuka A. Factors associated with HIV infection among children born to mothers on the PMTCT programme, Chitungwiza Hospital, Zimbabwe, 2008. BMC Public Health. 2013;13:1181.</a:t>
            </a:r>
            <a:endParaRPr lang="en-US" sz="1050" dirty="0"/>
          </a:p>
        </p:txBody>
      </p:sp>
      <p:sp>
        <p:nvSpPr>
          <p:cNvPr id="13" name="Text 11"/>
          <p:cNvSpPr/>
          <p:nvPr/>
        </p:nvSpPr>
        <p:spPr>
          <a:xfrm>
            <a:off x="4537710" y="1138428"/>
            <a:ext cx="3937635" cy="738378"/>
          </a:xfrm>
          <a:prstGeom prst="rect">
            <a:avLst/>
          </a:prstGeom>
          <a:noFill/>
          <a:ln/>
        </p:spPr>
        <p:txBody>
          <a:bodyPr wrap="square" rtlCol="0" anchor="t"/>
          <a:lstStyle/>
          <a:p>
            <a:pPr marL="0" indent="0" algn="l">
              <a:buNone/>
            </a:pPr>
            <a:r>
              <a:rPr lang="en-US" sz="1050" dirty="0">
                <a:solidFill>
                  <a:srgbClr val="5B6B7C"/>
                </a:solidFill>
                <a:latin typeface="Calibri" pitchFamily="34" charset="0"/>
                <a:ea typeface="Calibri" pitchFamily="34" charset="-122"/>
                <a:cs typeface="Calibri" pitchFamily="34" charset="-120"/>
              </a:rPr>
              <a:t>Meakin S, et al. Effectiveness of rVSV-ZEBOV vaccination during the 2018–20 Ebola virus disease epidemic in the DRC: a retrospective test-negative study. Lancet Infect Dis. 2024.</a:t>
            </a:r>
            <a:endParaRPr lang="en-US" sz="1050" dirty="0"/>
          </a:p>
        </p:txBody>
      </p:sp>
      <p:sp>
        <p:nvSpPr>
          <p:cNvPr id="14" name="Text 12"/>
          <p:cNvSpPr/>
          <p:nvPr/>
        </p:nvSpPr>
        <p:spPr>
          <a:xfrm>
            <a:off x="4537710" y="1933956"/>
            <a:ext cx="3937635" cy="738378"/>
          </a:xfrm>
          <a:prstGeom prst="rect">
            <a:avLst/>
          </a:prstGeom>
          <a:noFill/>
          <a:ln/>
        </p:spPr>
        <p:txBody>
          <a:bodyPr wrap="square" rtlCol="0" anchor="t"/>
          <a:lstStyle/>
          <a:p>
            <a:pPr marL="0" indent="0" algn="l">
              <a:buNone/>
            </a:pPr>
            <a:r>
              <a:rPr lang="en-US" sz="1050" dirty="0">
                <a:solidFill>
                  <a:srgbClr val="5B6B7C"/>
                </a:solidFill>
                <a:latin typeface="Calibri" pitchFamily="34" charset="0"/>
                <a:ea typeface="Calibri" pitchFamily="34" charset="-122"/>
                <a:cs typeface="Calibri" pitchFamily="34" charset="-120"/>
              </a:rPr>
              <a:t>Shamu T, Chimbetete C, Shawarira-Bote S, Mudzviti T, Luthy R. Outcomes of an HIV cohort after a decade of comprehensive care at Newlands Clinic, Harare, Zimbabwe: TENART cohort. PLoS One. 2017;12(10):e0186726.</a:t>
            </a:r>
            <a:endParaRPr lang="en-US" sz="1050" dirty="0"/>
          </a:p>
        </p:txBody>
      </p:sp>
      <p:sp>
        <p:nvSpPr>
          <p:cNvPr id="15" name="Text 13"/>
          <p:cNvSpPr/>
          <p:nvPr/>
        </p:nvSpPr>
        <p:spPr>
          <a:xfrm>
            <a:off x="4537710" y="2729484"/>
            <a:ext cx="3937635" cy="738378"/>
          </a:xfrm>
          <a:prstGeom prst="rect">
            <a:avLst/>
          </a:prstGeom>
          <a:noFill/>
          <a:ln/>
        </p:spPr>
        <p:txBody>
          <a:bodyPr wrap="square" rtlCol="0" anchor="t"/>
          <a:lstStyle/>
          <a:p>
            <a:pPr marL="0" indent="0" algn="l">
              <a:buNone/>
            </a:pPr>
            <a:r>
              <a:rPr lang="en-US" sz="1050" dirty="0">
                <a:solidFill>
                  <a:srgbClr val="5B6B7C"/>
                </a:solidFill>
                <a:latin typeface="Calibri" pitchFamily="34" charset="0"/>
                <a:ea typeface="Calibri" pitchFamily="34" charset="-122"/>
                <a:cs typeface="Calibri" pitchFamily="34" charset="-120"/>
              </a:rPr>
              <a:t>Mulangu S, Dodd LE, Davey RT Jr, et al. for the PALM Consortium Study Team. A randomized, controlled trial of Ebola virus disease therapeutics. N Engl J Med. 2019;381(24):2293–2303.</a:t>
            </a:r>
            <a:endParaRPr lang="en-US" sz="1050" dirty="0"/>
          </a:p>
        </p:txBody>
      </p:sp>
      <p:sp>
        <p:nvSpPr>
          <p:cNvPr id="16" name="Text 14"/>
          <p:cNvSpPr/>
          <p:nvPr/>
        </p:nvSpPr>
        <p:spPr>
          <a:xfrm>
            <a:off x="4537710" y="3525012"/>
            <a:ext cx="3937635" cy="558356"/>
          </a:xfrm>
          <a:prstGeom prst="rect">
            <a:avLst/>
          </a:prstGeom>
          <a:noFill/>
          <a:ln/>
        </p:spPr>
        <p:txBody>
          <a:bodyPr wrap="square" rtlCol="0" anchor="t"/>
          <a:lstStyle/>
          <a:p>
            <a:pPr marL="0" indent="0" algn="l">
              <a:buNone/>
            </a:pPr>
            <a:r>
              <a:rPr lang="en-US" sz="1050" dirty="0">
                <a:solidFill>
                  <a:srgbClr val="5B6B7C"/>
                </a:solidFill>
                <a:latin typeface="Calibri" pitchFamily="34" charset="0"/>
                <a:ea typeface="Calibri" pitchFamily="34" charset="-122"/>
                <a:cs typeface="Calibri" pitchFamily="34" charset="-120"/>
              </a:rPr>
              <a:t>Hayes RJ, Donnell D, Floyd S, et al. Effect of universal testing and treatment on HIV incidence — HPTN 071 (PopART). N Engl J Med. 2019;381:207–218.</a:t>
            </a:r>
            <a:endParaRPr lang="en-US" sz="1050" dirty="0"/>
          </a:p>
        </p:txBody>
      </p:sp>
      <p:sp>
        <p:nvSpPr>
          <p:cNvPr id="17" name="Text 15"/>
          <p:cNvSpPr/>
          <p:nvPr/>
        </p:nvSpPr>
        <p:spPr>
          <a:xfrm>
            <a:off x="4537710" y="4140518"/>
            <a:ext cx="3937635" cy="918401"/>
          </a:xfrm>
          <a:prstGeom prst="rect">
            <a:avLst/>
          </a:prstGeom>
          <a:noFill/>
          <a:ln/>
        </p:spPr>
        <p:txBody>
          <a:bodyPr wrap="square" rtlCol="0" anchor="t"/>
          <a:lstStyle/>
          <a:p>
            <a:pPr marL="0" indent="0" algn="l">
              <a:buNone/>
            </a:pPr>
            <a:r>
              <a:rPr lang="en-US" sz="1050" dirty="0">
                <a:solidFill>
                  <a:srgbClr val="5B6B7C"/>
                </a:solidFill>
                <a:latin typeface="Calibri" pitchFamily="34" charset="0"/>
                <a:ea typeface="Calibri" pitchFamily="34" charset="-122"/>
                <a:cs typeface="Calibri" pitchFamily="34" charset="-120"/>
              </a:rPr>
              <a:t>Corbett EL, Bandason T, Duong T, et al. Comparison of two active case-finding strategies for community-based diagnosis of symptomatic smear-positive tuberculosis in Harare, Zimbabwe (DETECTB): a cluster-randomised trial. Lancet. 2010;376(9748):1244–1253.</a:t>
            </a:r>
            <a:endParaRPr lang="en-US" sz="1050" dirty="0"/>
          </a:p>
        </p:txBody>
      </p:sp>
      <p:pic>
        <p:nvPicPr>
          <p:cNvPr id="18" name="Picture 17">
            <a:extLst>
              <a:ext uri="{FF2B5EF4-FFF2-40B4-BE49-F238E27FC236}">
                <a16:creationId xmlns:a16="http://schemas.microsoft.com/office/drawing/2014/main" id="{7AF92378-0FDF-D68B-9833-E5E29AC30554}"/>
              </a:ext>
            </a:extLst>
          </p:cNvPr>
          <p:cNvPicPr>
            <a:picLocks noChangeAspect="1"/>
          </p:cNvPicPr>
          <p:nvPr/>
        </p:nvPicPr>
        <p:blipFill>
          <a:blip r:embed="rId3"/>
          <a:stretch>
            <a:fillRect/>
          </a:stretch>
        </p:blipFill>
        <p:spPr>
          <a:xfrm>
            <a:off x="7965371" y="133434"/>
            <a:ext cx="1085760" cy="59038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2546</Words>
  <Application>Microsoft Office PowerPoint</Application>
  <PresentationFormat>On-screen Show (16:9)</PresentationFormat>
  <Paragraphs>267</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Courier New</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Overview of Study Designs — Research Masterclass for Clinicians</dc:title>
  <dc:subject>PptxGenJS Presentation</dc:subject>
  <dc:creator>Newlands Clinic</dc:creator>
  <cp:lastModifiedBy>Sydney Malunga</cp:lastModifiedBy>
  <cp:revision>2</cp:revision>
  <dcterms:created xsi:type="dcterms:W3CDTF">2026-07-03T10:26:31Z</dcterms:created>
  <dcterms:modified xsi:type="dcterms:W3CDTF">2026-07-03T13:16:49Z</dcterms:modified>
</cp:coreProperties>
</file>