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0CBC4E-544A-432E-B487-E1A621CA5A0F}" v="4" dt="2026-08-05T07:30:16.8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nei Shamu" userId="c7ae0ef3-e853-4c1c-b687-0477acaea96d" providerId="ADAL" clId="{A5E2BB11-133E-48CE-B77D-B7079A585A51}"/>
    <pc:docChg chg="undo custSel modSld">
      <pc:chgData name="Tinei Shamu" userId="c7ae0ef3-e853-4c1c-b687-0477acaea96d" providerId="ADAL" clId="{A5E2BB11-133E-48CE-B77D-B7079A585A51}" dt="2026-08-05T12:06:57.749" v="221" actId="1076"/>
      <pc:docMkLst>
        <pc:docMk/>
      </pc:docMkLst>
      <pc:sldChg chg="addSp modSp mod">
        <pc:chgData name="Tinei Shamu" userId="c7ae0ef3-e853-4c1c-b687-0477acaea96d" providerId="ADAL" clId="{A5E2BB11-133E-48CE-B77D-B7079A585A51}" dt="2026-08-05T12:06:57.749" v="221" actId="1076"/>
        <pc:sldMkLst>
          <pc:docMk/>
          <pc:sldMk cId="0" sldId="258"/>
        </pc:sldMkLst>
        <pc:spChg chg="mod">
          <ac:chgData name="Tinei Shamu" userId="c7ae0ef3-e853-4c1c-b687-0477acaea96d" providerId="ADAL" clId="{A5E2BB11-133E-48CE-B77D-B7079A585A51}" dt="2026-08-05T12:06:57.749" v="221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Tinei Shamu" userId="c7ae0ef3-e853-4c1c-b687-0477acaea96d" providerId="ADAL" clId="{A5E2BB11-133E-48CE-B77D-B7079A585A51}" dt="2026-08-03T05:43:18.954" v="64" actId="10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Tinei Shamu" userId="c7ae0ef3-e853-4c1c-b687-0477acaea96d" providerId="ADAL" clId="{A5E2BB11-133E-48CE-B77D-B7079A585A51}" dt="2026-08-03T05:43:18.954" v="64" actId="103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Tinei Shamu" userId="c7ae0ef3-e853-4c1c-b687-0477acaea96d" providerId="ADAL" clId="{A5E2BB11-133E-48CE-B77D-B7079A585A51}" dt="2026-08-03T05:42:01.112" v="52" actId="11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Tinei Shamu" userId="c7ae0ef3-e853-4c1c-b687-0477acaea96d" providerId="ADAL" clId="{A5E2BB11-133E-48CE-B77D-B7079A585A51}" dt="2026-08-03T05:46:59.699" v="83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Tinei Shamu" userId="c7ae0ef3-e853-4c1c-b687-0477acaea96d" providerId="ADAL" clId="{A5E2BB11-133E-48CE-B77D-B7079A585A51}" dt="2026-08-03T05:54:14.205" v="88" actId="6549"/>
          <ac:spMkLst>
            <pc:docMk/>
            <pc:sldMk cId="0" sldId="258"/>
            <ac:spMk id="16" creationId="{00000000-0000-0000-0000-000000000000}"/>
          </ac:spMkLst>
        </pc:spChg>
        <pc:cxnChg chg="add mod">
          <ac:chgData name="Tinei Shamu" userId="c7ae0ef3-e853-4c1c-b687-0477acaea96d" providerId="ADAL" clId="{A5E2BB11-133E-48CE-B77D-B7079A585A51}" dt="2026-08-03T05:41:05.070" v="47" actId="12789"/>
          <ac:cxnSpMkLst>
            <pc:docMk/>
            <pc:sldMk cId="0" sldId="258"/>
            <ac:cxnSpMk id="3" creationId="{B44344BD-4DD3-2B59-43FC-1480EE0168F3}"/>
          </ac:cxnSpMkLst>
        </pc:cxnChg>
      </pc:sldChg>
      <pc:sldChg chg="modSp mod">
        <pc:chgData name="Tinei Shamu" userId="c7ae0ef3-e853-4c1c-b687-0477acaea96d" providerId="ADAL" clId="{A5E2BB11-133E-48CE-B77D-B7079A585A51}" dt="2026-08-05T09:23:15.082" v="185" actId="113"/>
        <pc:sldMkLst>
          <pc:docMk/>
          <pc:sldMk cId="0" sldId="259"/>
        </pc:sldMkLst>
        <pc:spChg chg="mod">
          <ac:chgData name="Tinei Shamu" userId="c7ae0ef3-e853-4c1c-b687-0477acaea96d" providerId="ADAL" clId="{A5E2BB11-133E-48CE-B77D-B7079A585A51}" dt="2026-08-05T09:23:15.082" v="185" actId="113"/>
          <ac:spMkLst>
            <pc:docMk/>
            <pc:sldMk cId="0" sldId="259"/>
            <ac:spMk id="12" creationId="{00000000-0000-0000-0000-000000000000}"/>
          </ac:spMkLst>
        </pc:spChg>
        <pc:spChg chg="mod">
          <ac:chgData name="Tinei Shamu" userId="c7ae0ef3-e853-4c1c-b687-0477acaea96d" providerId="ADAL" clId="{A5E2BB11-133E-48CE-B77D-B7079A585A51}" dt="2026-08-03T05:54:30.927" v="90"/>
          <ac:spMkLst>
            <pc:docMk/>
            <pc:sldMk cId="0" sldId="259"/>
            <ac:spMk id="14" creationId="{00000000-0000-0000-0000-000000000000}"/>
          </ac:spMkLst>
        </pc:spChg>
        <pc:spChg chg="mod">
          <ac:chgData name="Tinei Shamu" userId="c7ae0ef3-e853-4c1c-b687-0477acaea96d" providerId="ADAL" clId="{A5E2BB11-133E-48CE-B77D-B7079A585A51}" dt="2026-08-03T06:16:21.552" v="93" actId="113"/>
          <ac:spMkLst>
            <pc:docMk/>
            <pc:sldMk cId="0" sldId="259"/>
            <ac:spMk id="24" creationId="{00000000-0000-0000-0000-000000000000}"/>
          </ac:spMkLst>
        </pc:spChg>
        <pc:spChg chg="mod">
          <ac:chgData name="Tinei Shamu" userId="c7ae0ef3-e853-4c1c-b687-0477acaea96d" providerId="ADAL" clId="{A5E2BB11-133E-48CE-B77D-B7079A585A51}" dt="2026-08-03T06:17:21.197" v="103" actId="103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Tinei Shamu" userId="c7ae0ef3-e853-4c1c-b687-0477acaea96d" providerId="ADAL" clId="{A5E2BB11-133E-48CE-B77D-B7079A585A51}" dt="2026-08-03T06:17:13.854" v="97" actId="1036"/>
          <ac:spMkLst>
            <pc:docMk/>
            <pc:sldMk cId="0" sldId="259"/>
            <ac:spMk id="26" creationId="{00000000-0000-0000-0000-000000000000}"/>
          </ac:spMkLst>
        </pc:spChg>
      </pc:sldChg>
      <pc:sldChg chg="addSp delSp modSp mod">
        <pc:chgData name="Tinei Shamu" userId="c7ae0ef3-e853-4c1c-b687-0477acaea96d" providerId="ADAL" clId="{A5E2BB11-133E-48CE-B77D-B7079A585A51}" dt="2026-08-03T06:38:30.261" v="131" actId="1036"/>
        <pc:sldMkLst>
          <pc:docMk/>
          <pc:sldMk cId="0" sldId="261"/>
        </pc:sldMkLst>
        <pc:spChg chg="mod">
          <ac:chgData name="Tinei Shamu" userId="c7ae0ef3-e853-4c1c-b687-0477acaea96d" providerId="ADAL" clId="{A5E2BB11-133E-48CE-B77D-B7079A585A51}" dt="2026-08-03T06:38:30.261" v="131" actId="10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Tinei Shamu" userId="c7ae0ef3-e853-4c1c-b687-0477acaea96d" providerId="ADAL" clId="{A5E2BB11-133E-48CE-B77D-B7079A585A51}" dt="2026-08-03T06:36:43.188" v="119" actId="58"/>
          <ac:spMkLst>
            <pc:docMk/>
            <pc:sldMk cId="0" sldId="261"/>
            <ac:spMk id="10" creationId="{00000000-0000-0000-0000-000000000000}"/>
          </ac:spMkLst>
        </pc:spChg>
        <pc:spChg chg="add del mod">
          <ac:chgData name="Tinei Shamu" userId="c7ae0ef3-e853-4c1c-b687-0477acaea96d" providerId="ADAL" clId="{A5E2BB11-133E-48CE-B77D-B7079A585A51}" dt="2026-08-03T06:38:30.261" v="131" actId="1036"/>
          <ac:spMkLst>
            <pc:docMk/>
            <pc:sldMk cId="0" sldId="261"/>
            <ac:spMk id="12" creationId="{00000000-0000-0000-0000-000000000000}"/>
          </ac:spMkLst>
        </pc:spChg>
      </pc:sldChg>
      <pc:sldChg chg="addSp delSp modSp mod">
        <pc:chgData name="Tinei Shamu" userId="c7ae0ef3-e853-4c1c-b687-0477acaea96d" providerId="ADAL" clId="{A5E2BB11-133E-48CE-B77D-B7079A585A51}" dt="2026-08-05T06:24:53.118" v="177" actId="122"/>
        <pc:sldMkLst>
          <pc:docMk/>
          <pc:sldMk cId="0" sldId="262"/>
        </pc:sldMkLst>
        <pc:spChg chg="add mod">
          <ac:chgData name="Tinei Shamu" userId="c7ae0ef3-e853-4c1c-b687-0477acaea96d" providerId="ADAL" clId="{A5E2BB11-133E-48CE-B77D-B7079A585A51}" dt="2026-08-05T06:24:21.976" v="164" actId="122"/>
          <ac:spMkLst>
            <pc:docMk/>
            <pc:sldMk cId="0" sldId="262"/>
            <ac:spMk id="3" creationId="{33FC0B12-F72D-37C8-41EC-28C831BB3415}"/>
          </ac:spMkLst>
        </pc:spChg>
        <pc:spChg chg="del">
          <ac:chgData name="Tinei Shamu" userId="c7ae0ef3-e853-4c1c-b687-0477acaea96d" providerId="ADAL" clId="{A5E2BB11-133E-48CE-B77D-B7079A585A51}" dt="2026-08-05T06:20:50.121" v="141" actId="478"/>
          <ac:spMkLst>
            <pc:docMk/>
            <pc:sldMk cId="0" sldId="262"/>
            <ac:spMk id="12" creationId="{00000000-0000-0000-0000-000000000000}"/>
          </ac:spMkLst>
        </pc:spChg>
        <pc:spChg chg="mod">
          <ac:chgData name="Tinei Shamu" userId="c7ae0ef3-e853-4c1c-b687-0477acaea96d" providerId="ADAL" clId="{A5E2BB11-133E-48CE-B77D-B7079A585A51}" dt="2026-08-05T06:20:43.414" v="140" actId="122"/>
          <ac:spMkLst>
            <pc:docMk/>
            <pc:sldMk cId="0" sldId="262"/>
            <ac:spMk id="13" creationId="{00000000-0000-0000-0000-000000000000}"/>
          </ac:spMkLst>
        </pc:spChg>
        <pc:spChg chg="mod">
          <ac:chgData name="Tinei Shamu" userId="c7ae0ef3-e853-4c1c-b687-0477acaea96d" providerId="ADAL" clId="{A5E2BB11-133E-48CE-B77D-B7079A585A51}" dt="2026-08-05T06:24:53.118" v="177" actId="122"/>
          <ac:spMkLst>
            <pc:docMk/>
            <pc:sldMk cId="0" sldId="262"/>
            <ac:spMk id="14" creationId="{00000000-0000-0000-0000-000000000000}"/>
          </ac:spMkLst>
        </pc:spChg>
        <pc:spChg chg="mod">
          <ac:chgData name="Tinei Shamu" userId="c7ae0ef3-e853-4c1c-b687-0477acaea96d" providerId="ADAL" clId="{A5E2BB11-133E-48CE-B77D-B7079A585A51}" dt="2026-08-05T06:21:41.286" v="148" actId="20577"/>
          <ac:spMkLst>
            <pc:docMk/>
            <pc:sldMk cId="0" sldId="262"/>
            <ac:spMk id="15" creationId="{00000000-0000-0000-0000-000000000000}"/>
          </ac:spMkLst>
        </pc:spChg>
      </pc:sldChg>
      <pc:sldChg chg="modSp mod">
        <pc:chgData name="Tinei Shamu" userId="c7ae0ef3-e853-4c1c-b687-0477acaea96d" providerId="ADAL" clId="{A5E2BB11-133E-48CE-B77D-B7079A585A51}" dt="2026-08-05T07:30:25.564" v="184" actId="6549"/>
        <pc:sldMkLst>
          <pc:docMk/>
          <pc:sldMk cId="0" sldId="265"/>
        </pc:sldMkLst>
        <pc:spChg chg="mod">
          <ac:chgData name="Tinei Shamu" userId="c7ae0ef3-e853-4c1c-b687-0477acaea96d" providerId="ADAL" clId="{A5E2BB11-133E-48CE-B77D-B7079A585A51}" dt="2026-08-05T07:29:32.911" v="178" actId="21"/>
          <ac:spMkLst>
            <pc:docMk/>
            <pc:sldMk cId="0" sldId="265"/>
            <ac:spMk id="9" creationId="{00000000-0000-0000-0000-000000000000}"/>
          </ac:spMkLst>
        </pc:spChg>
        <pc:spChg chg="mod">
          <ac:chgData name="Tinei Shamu" userId="c7ae0ef3-e853-4c1c-b687-0477acaea96d" providerId="ADAL" clId="{A5E2BB11-133E-48CE-B77D-B7079A585A51}" dt="2026-08-05T07:29:39.765" v="180" actId="113"/>
          <ac:spMkLst>
            <pc:docMk/>
            <pc:sldMk cId="0" sldId="265"/>
            <ac:spMk id="10" creationId="{00000000-0000-0000-0000-000000000000}"/>
          </ac:spMkLst>
        </pc:spChg>
        <pc:spChg chg="mod">
          <ac:chgData name="Tinei Shamu" userId="c7ae0ef3-e853-4c1c-b687-0477acaea96d" providerId="ADAL" clId="{A5E2BB11-133E-48CE-B77D-B7079A585A51}" dt="2026-08-05T07:30:20.717" v="183" actId="113"/>
          <ac:spMkLst>
            <pc:docMk/>
            <pc:sldMk cId="0" sldId="265"/>
            <ac:spMk id="12" creationId="{00000000-0000-0000-0000-000000000000}"/>
          </ac:spMkLst>
        </pc:spChg>
        <pc:spChg chg="mod">
          <ac:chgData name="Tinei Shamu" userId="c7ae0ef3-e853-4c1c-b687-0477acaea96d" providerId="ADAL" clId="{A5E2BB11-133E-48CE-B77D-B7079A585A51}" dt="2026-08-05T07:30:25.564" v="184" actId="6549"/>
          <ac:spMkLst>
            <pc:docMk/>
            <pc:sldMk cId="0" sldId="265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6621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995160" y="3634740"/>
            <a:ext cx="1783080" cy="1783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4" name="Shape 2"/>
          <p:cNvSpPr/>
          <p:nvPr/>
        </p:nvSpPr>
        <p:spPr>
          <a:xfrm>
            <a:off x="7178040" y="4000500"/>
            <a:ext cx="246888" cy="502920"/>
          </a:xfrm>
          <a:prstGeom prst="roundRect">
            <a:avLst>
              <a:gd name="adj" fmla="val 7407"/>
            </a:avLst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" name="Shape 3"/>
          <p:cNvSpPr/>
          <p:nvPr/>
        </p:nvSpPr>
        <p:spPr>
          <a:xfrm>
            <a:off x="7479792" y="3680460"/>
            <a:ext cx="246888" cy="822960"/>
          </a:xfrm>
          <a:prstGeom prst="roundRect">
            <a:avLst>
              <a:gd name="adj" fmla="val 7407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" name="Shape 4"/>
          <p:cNvSpPr/>
          <p:nvPr/>
        </p:nvSpPr>
        <p:spPr>
          <a:xfrm>
            <a:off x="7781544" y="3406140"/>
            <a:ext cx="246888" cy="1097280"/>
          </a:xfrm>
          <a:prstGeom prst="roundRect">
            <a:avLst>
              <a:gd name="adj" fmla="val 7407"/>
            </a:avLst>
          </a:prstGeom>
          <a:solidFill>
            <a:srgbClr val="5B9A56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" name="Shape 5"/>
          <p:cNvSpPr/>
          <p:nvPr/>
        </p:nvSpPr>
        <p:spPr>
          <a:xfrm>
            <a:off x="8083296" y="3131820"/>
            <a:ext cx="246888" cy="1371600"/>
          </a:xfrm>
          <a:prstGeom prst="roundRect">
            <a:avLst>
              <a:gd name="adj" fmla="val 7407"/>
            </a:avLst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MODULE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801368"/>
            <a:ext cx="6217920" cy="1092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Measures of Effect and Impact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312267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4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Comparing Groups, Quantifying Impact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579876"/>
            <a:ext cx="4206240" cy="5840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peer-reviewed evidence from Zimbabwe, Southern Africa and the Democratic Republic of the Congo — HIV, Ebola, tuberculosis and mpox research.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8234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D18BF5-55EE-56E1-1076-F01FB8861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7427"/>
            <a:ext cx="1085760" cy="5903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8625" y="450670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8625" y="467129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8625" y="428625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TOPIC 5 · FOUNDATIONS IN EPIDEMIOLOGY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8625" y="628650"/>
            <a:ext cx="7680960" cy="3954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Measures of Effect and Impact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8625" y="1138428"/>
            <a:ext cx="4000500" cy="9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rate or a risk calculated in one group only tells half the story. From a Harare TB clinic to a DRC Ebola treatment centre, this session is about comparing two groups — and turning that comparison into a measure of real-world impact.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8625" y="1861233"/>
            <a:ext cx="3937635" cy="391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you will be able to: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5165" y="2261712"/>
            <a:ext cx="171450" cy="17145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ZW" sz="1100"/>
          </a:p>
        </p:txBody>
      </p:sp>
      <p:sp>
        <p:nvSpPr>
          <p:cNvPr id="11" name="Text 9"/>
          <p:cNvSpPr/>
          <p:nvPr/>
        </p:nvSpPr>
        <p:spPr>
          <a:xfrm>
            <a:off x="445165" y="2261712"/>
            <a:ext cx="17145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1501" y="2168028"/>
            <a:ext cx="3694748" cy="48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calculate risk, rate, odds, and distinguish prevalence from incidence.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2470" y="2730269"/>
            <a:ext cx="171450" cy="17145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ZW" sz="1100"/>
          </a:p>
        </p:txBody>
      </p:sp>
      <p:sp>
        <p:nvSpPr>
          <p:cNvPr id="14" name="Text 12"/>
          <p:cNvSpPr/>
          <p:nvPr/>
        </p:nvSpPr>
        <p:spPr>
          <a:xfrm>
            <a:off x="422470" y="2730269"/>
            <a:ext cx="17145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1501" y="2635257"/>
            <a:ext cx="3694748" cy="48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and interpret the risk ratio, rate ratio, and odds ratio.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0658" y="3220832"/>
            <a:ext cx="171450" cy="17145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ZW" sz="1100"/>
          </a:p>
        </p:txBody>
      </p:sp>
      <p:sp>
        <p:nvSpPr>
          <p:cNvPr id="17" name="Text 15"/>
          <p:cNvSpPr/>
          <p:nvPr/>
        </p:nvSpPr>
        <p:spPr>
          <a:xfrm>
            <a:off x="430658" y="3220832"/>
            <a:ext cx="17145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1501" y="3155821"/>
            <a:ext cx="369474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and interpret the risk difference, rate difference, and number needed to treat.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8625" y="3743494"/>
            <a:ext cx="171450" cy="17145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ZW" sz="1100"/>
          </a:p>
        </p:txBody>
      </p:sp>
      <p:sp>
        <p:nvSpPr>
          <p:cNvPr id="20" name="Text 18"/>
          <p:cNvSpPr/>
          <p:nvPr/>
        </p:nvSpPr>
        <p:spPr>
          <a:xfrm>
            <a:off x="428625" y="3743494"/>
            <a:ext cx="17145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0068" y="3670056"/>
            <a:ext cx="3694748" cy="48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attributable risk and the population attributable fraction (PAF).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7469" y="4206783"/>
            <a:ext cx="171450" cy="17145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ZW" sz="1100"/>
          </a:p>
        </p:txBody>
      </p:sp>
      <p:sp>
        <p:nvSpPr>
          <p:cNvPr id="23" name="Text 21"/>
          <p:cNvSpPr/>
          <p:nvPr/>
        </p:nvSpPr>
        <p:spPr>
          <a:xfrm>
            <a:off x="417469" y="4206783"/>
            <a:ext cx="17145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0068" y="4108013"/>
            <a:ext cx="3694748" cy="48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measure of effect appropriate to a given clinical or public-health question.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37710" y="1861233"/>
            <a:ext cx="3937635" cy="1588199"/>
          </a:xfrm>
          <a:prstGeom prst="roundRect">
            <a:avLst>
              <a:gd name="adj" fmla="val 3454"/>
            </a:avLst>
          </a:prstGeom>
          <a:solidFill>
            <a:srgbClr val="25374F"/>
          </a:solidFill>
          <a:ln/>
        </p:spPr>
        <p:txBody>
          <a:bodyPr/>
          <a:lstStyle/>
          <a:p>
            <a:endParaRPr lang="en-ZW" sz="1100"/>
          </a:p>
        </p:txBody>
      </p:sp>
      <p:sp>
        <p:nvSpPr>
          <p:cNvPr id="26" name="Text 24"/>
          <p:cNvSpPr/>
          <p:nvPr/>
        </p:nvSpPr>
        <p:spPr>
          <a:xfrm>
            <a:off x="4652010" y="1961245"/>
            <a:ext cx="3709035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52010" y="2118408"/>
            <a:ext cx="3709035" cy="558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a rate with a risk, or an odds ratio with a risk ratio, is one of the most common — and most consequential — misreadings of the clinical literature.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52010" y="2748201"/>
            <a:ext cx="3709035" cy="558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topic feeds directly into your Final Presentation Project (40% of your grade) and the weekly quiz (30%).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071DEA1-FF76-30C7-BFE2-6605B4796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371" y="133434"/>
            <a:ext cx="1085760" cy="5903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8625" y="47594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28625" y="49240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28625" y="428625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FOUNDATIONS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8625" y="628650"/>
            <a:ext cx="7680960" cy="3954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a Single Number Is Never Enough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10051" y="1516195"/>
            <a:ext cx="3417663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</a:t>
            </a: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attributable risk, population attributable fraction (PAF)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0051" y="1944800"/>
            <a:ext cx="3417663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risk/rate/odds ratio, risk/rate difference, NNT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0051" y="2236862"/>
            <a:ext cx="3417663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</a:t>
            </a: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prevalence, risk, rate, odds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 rot="16200000">
            <a:off x="-579263" y="1865163"/>
            <a:ext cx="1660394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relevance for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policy decisions</a:t>
            </a:r>
            <a:endParaRPr lang="en-US" sz="1100" b="1" dirty="0"/>
          </a:p>
        </p:txBody>
      </p:sp>
      <p:sp>
        <p:nvSpPr>
          <p:cNvPr id="12" name="Text 10"/>
          <p:cNvSpPr/>
          <p:nvPr/>
        </p:nvSpPr>
        <p:spPr>
          <a:xfrm>
            <a:off x="4570616" y="1297107"/>
            <a:ext cx="3937635" cy="874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answers a different question.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</a:t>
            </a: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describes </a:t>
            </a: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group</a:t>
            </a: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compares </a:t>
            </a: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translates that comparison into </a:t>
            </a: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cases a population could actually avoid.</a:t>
            </a:r>
            <a:endParaRPr lang="en-US" sz="1100" b="1" dirty="0"/>
          </a:p>
        </p:txBody>
      </p:sp>
      <p:sp>
        <p:nvSpPr>
          <p:cNvPr id="13" name="Text 11"/>
          <p:cNvSpPr/>
          <p:nvPr/>
        </p:nvSpPr>
        <p:spPr>
          <a:xfrm>
            <a:off x="4537710" y="2198594"/>
            <a:ext cx="3937635" cy="224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18.8×</a:t>
            </a:r>
            <a:endParaRPr lang="en-US" sz="2800" b="1" dirty="0"/>
          </a:p>
        </p:txBody>
      </p:sp>
      <p:sp>
        <p:nvSpPr>
          <p:cNvPr id="14" name="Text 12"/>
          <p:cNvSpPr/>
          <p:nvPr/>
        </p:nvSpPr>
        <p:spPr>
          <a:xfrm>
            <a:off x="4537707" y="2627779"/>
            <a:ext cx="3937635" cy="635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tuberculosis rate ratio among HIV-positive vs HIV-negative adults in a Harare clinic cohort (Corbett et al., PLoS Med, 2007).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37708" y="3215588"/>
            <a:ext cx="3937635" cy="224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800" b="1" dirty="0"/>
          </a:p>
        </p:txBody>
      </p:sp>
      <p:sp>
        <p:nvSpPr>
          <p:cNvPr id="16" name="Text 14"/>
          <p:cNvSpPr/>
          <p:nvPr/>
        </p:nvSpPr>
        <p:spPr>
          <a:xfrm>
            <a:off x="4537709" y="3673602"/>
            <a:ext cx="3937635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attributable fraction of incident TB linked to HIV in that same Zimbabwean cohort — the share of cases that would not have occurred without HIV o-infection.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65ABA57-F401-4698-13C5-3DCB9ADD5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371" y="133434"/>
            <a:ext cx="1085760" cy="590382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44344BD-4DD3-2B59-43FC-1480EE0168F3}"/>
              </a:ext>
            </a:extLst>
          </p:cNvPr>
          <p:cNvCxnSpPr>
            <a:cxnSpLocks/>
          </p:cNvCxnSpPr>
          <p:nvPr/>
        </p:nvCxnSpPr>
        <p:spPr>
          <a:xfrm flipV="1">
            <a:off x="551543" y="1426904"/>
            <a:ext cx="0" cy="13062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8625" y="47594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28625" y="49240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28625" y="428625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FOUNDATIONS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8625" y="628650"/>
            <a:ext cx="7680960" cy="77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Big Picture: Relative vs Absolute Measures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8625" y="1515618"/>
            <a:ext cx="3937635" cy="2943840"/>
          </a:xfrm>
          <a:prstGeom prst="roundRect">
            <a:avLst>
              <a:gd name="adj" fmla="val 2579"/>
            </a:avLst>
          </a:prstGeom>
          <a:solidFill>
            <a:srgbClr val="F4F5F7"/>
          </a:solidFill>
          <a:ln/>
          <a:effectLst>
            <a:outerShdw blurRad="76200" dist="25400" dir="2700000" algn="bl" rotWithShape="0">
              <a:srgbClr val="1B2A3D">
                <a:alpha val="10000"/>
              </a:srgbClr>
            </a:outerShdw>
          </a:effectLst>
        </p:spPr>
        <p:txBody>
          <a:bodyPr/>
          <a:lstStyle/>
          <a:p>
            <a:endParaRPr lang="en-ZW" sz="1100"/>
          </a:p>
        </p:txBody>
      </p:sp>
      <p:sp>
        <p:nvSpPr>
          <p:cNvPr id="9" name="Shape 7"/>
          <p:cNvSpPr/>
          <p:nvPr/>
        </p:nvSpPr>
        <p:spPr>
          <a:xfrm>
            <a:off x="542925" y="1615631"/>
            <a:ext cx="157163" cy="157163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 sz="1100"/>
          </a:p>
        </p:txBody>
      </p:sp>
      <p:sp>
        <p:nvSpPr>
          <p:cNvPr id="10" name="Text 8"/>
          <p:cNvSpPr/>
          <p:nvPr/>
        </p:nvSpPr>
        <p:spPr>
          <a:xfrm>
            <a:off x="500063" y="1615631"/>
            <a:ext cx="242888" cy="157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7238" y="1615631"/>
            <a:ext cx="349472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Relative — we divide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2925" y="1829943"/>
            <a:ext cx="3709035" cy="3397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two groups by ratio: how many times </a:t>
            </a: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more, or less, likely </a:t>
            </a: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outcome in one group than the other?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2925" y="2226850"/>
            <a:ext cx="3709035" cy="224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2925" y="2508028"/>
            <a:ext cx="3709035" cy="224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incidence, exposed ÷ unexposed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2925" y="2789206"/>
            <a:ext cx="3709035" cy="224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ratio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2925" y="3070384"/>
            <a:ext cx="3709035" cy="224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Incidence rate, exposed ÷ unexposed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2925" y="3351562"/>
            <a:ext cx="3709035" cy="224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2925" y="3632740"/>
            <a:ext cx="3709035" cy="224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of outcome, exposed ÷ unexposed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2925" y="3913918"/>
            <a:ext cx="3709035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Dominates etiological research — independent of how common the outcome is.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37710" y="1515618"/>
            <a:ext cx="3937635" cy="2943840"/>
          </a:xfrm>
          <a:prstGeom prst="roundRect">
            <a:avLst>
              <a:gd name="adj" fmla="val 2579"/>
            </a:avLst>
          </a:prstGeom>
          <a:solidFill>
            <a:srgbClr val="25374F"/>
          </a:solidFill>
          <a:ln/>
          <a:effectLst>
            <a:outerShdw blurRad="76200" dist="25400" dir="2700000" algn="bl" rotWithShape="0">
              <a:srgbClr val="1B2A3D">
                <a:alpha val="10000"/>
              </a:srgbClr>
            </a:outerShdw>
          </a:effectLst>
        </p:spPr>
        <p:txBody>
          <a:bodyPr/>
          <a:lstStyle/>
          <a:p>
            <a:endParaRPr lang="en-ZW" sz="1100"/>
          </a:p>
        </p:txBody>
      </p:sp>
      <p:sp>
        <p:nvSpPr>
          <p:cNvPr id="21" name="Shape 19"/>
          <p:cNvSpPr/>
          <p:nvPr/>
        </p:nvSpPr>
        <p:spPr>
          <a:xfrm>
            <a:off x="4652010" y="1615631"/>
            <a:ext cx="157163" cy="157163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 sz="1100"/>
          </a:p>
        </p:txBody>
      </p:sp>
      <p:sp>
        <p:nvSpPr>
          <p:cNvPr id="22" name="Text 20"/>
          <p:cNvSpPr/>
          <p:nvPr/>
        </p:nvSpPr>
        <p:spPr>
          <a:xfrm>
            <a:off x="4609148" y="1615631"/>
            <a:ext cx="242888" cy="157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6323" y="1615631"/>
            <a:ext cx="349472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Absolute — we subtract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52010" y="1829943"/>
            <a:ext cx="3709035" cy="3397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two groups by subtraction: how many </a:t>
            </a:r>
            <a:r>
              <a:rPr lang="en-US" sz="1100" b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</a:t>
            </a:r>
            <a:r>
              <a:rPr lang="en-US" sz="11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how many </a:t>
            </a:r>
            <a:r>
              <a:rPr lang="en-US" sz="1100" b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</a:t>
            </a:r>
            <a:r>
              <a:rPr lang="en-US" sz="11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cases would we actually expect?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52009" y="2368162"/>
            <a:ext cx="3709035" cy="224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rate difference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52010" y="2537056"/>
            <a:ext cx="3709035" cy="224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Measure, exposed − unexposed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52010" y="2789206"/>
            <a:ext cx="3709035" cy="224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needed to treat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52010" y="3070384"/>
            <a:ext cx="3709035" cy="224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÷ |risk difference|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52010" y="3351562"/>
            <a:ext cx="3709035" cy="224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Attributable fraction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52010" y="3632740"/>
            <a:ext cx="3709035" cy="224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cases linked to the exposure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52010" y="3913918"/>
            <a:ext cx="3709035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Dominates public-health planning and clinical-trial reporting.</a:t>
            </a:r>
            <a:endParaRPr lang="en-US" sz="11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8B494FE-4F04-0DEE-7150-D645AAFD5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371" y="133434"/>
            <a:ext cx="1085760" cy="5903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8625" y="47594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28625" y="49240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28625" y="428625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MEASURES OF OCCURRENCE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8625" y="628650"/>
            <a:ext cx="7680960" cy="3954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Prevalence and Risk: A Snapshot vs a Window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8613" y="1302165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describe how often an outcome occurs in one group — but prevalence is a snapshot, while risk is a window of 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8625" y="1839374"/>
            <a:ext cx="8046720" cy="836676"/>
          </a:xfrm>
          <a:prstGeom prst="roundRect">
            <a:avLst>
              <a:gd name="adj" fmla="val 6557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 sz="1100"/>
          </a:p>
        </p:txBody>
      </p:sp>
      <p:sp>
        <p:nvSpPr>
          <p:cNvPr id="10" name="Shape 8"/>
          <p:cNvSpPr/>
          <p:nvPr/>
        </p:nvSpPr>
        <p:spPr>
          <a:xfrm>
            <a:off x="528638" y="1961103"/>
            <a:ext cx="78581" cy="78581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 sz="1100"/>
          </a:p>
        </p:txBody>
      </p:sp>
      <p:sp>
        <p:nvSpPr>
          <p:cNvPr id="11" name="Text 9"/>
          <p:cNvSpPr/>
          <p:nvPr/>
        </p:nvSpPr>
        <p:spPr>
          <a:xfrm>
            <a:off x="657225" y="1932528"/>
            <a:ext cx="7718108" cy="244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8638" y="2233708"/>
            <a:ext cx="7846695" cy="378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cases ÷ total population, at one point (or period) in time. Includes old and newly diagnosed cases alike.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8625" y="2783491"/>
            <a:ext cx="8046720" cy="836676"/>
          </a:xfrm>
          <a:prstGeom prst="roundRect">
            <a:avLst>
              <a:gd name="adj" fmla="val 6557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 sz="1100"/>
          </a:p>
        </p:txBody>
      </p:sp>
      <p:sp>
        <p:nvSpPr>
          <p:cNvPr id="14" name="Shape 12"/>
          <p:cNvSpPr/>
          <p:nvPr/>
        </p:nvSpPr>
        <p:spPr>
          <a:xfrm>
            <a:off x="528638" y="2883504"/>
            <a:ext cx="78581" cy="78581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W" sz="1100"/>
          </a:p>
        </p:txBody>
      </p:sp>
      <p:sp>
        <p:nvSpPr>
          <p:cNvPr id="15" name="Text 13"/>
          <p:cNvSpPr/>
          <p:nvPr/>
        </p:nvSpPr>
        <p:spPr>
          <a:xfrm>
            <a:off x="657225" y="2854929"/>
            <a:ext cx="7718108" cy="244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(CUMULATIVE INCIDENCE)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8638" y="3156109"/>
            <a:ext cx="7846695" cy="378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cases ÷ population at risk at baseline, over a defined follow-up period. Always tied to a stated length of time.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8625" y="3784759"/>
            <a:ext cx="8046720" cy="6676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trap: a treatment that helps people survive longer with a disease can raise prevalence even while incidence is falling — prevalence reflects incidence and duration.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0834CC0-9234-59AB-DC6C-F89F0525D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371" y="133434"/>
            <a:ext cx="1085760" cy="5903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8625" y="47594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28625" y="49240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28625" y="428625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MEASURES OF OCCURRENCE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8625" y="628650"/>
            <a:ext cx="7680960" cy="3954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Incidence Rate: Accounting for Person-Time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85371" y="1322935"/>
            <a:ext cx="3566614" cy="25467"/>
          </a:xfrm>
          <a:prstGeom prst="line">
            <a:avLst/>
          </a:prstGeom>
          <a:noFill/>
          <a:ln w="762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9" name="Shape 7"/>
          <p:cNvSpPr/>
          <p:nvPr/>
        </p:nvSpPr>
        <p:spPr>
          <a:xfrm>
            <a:off x="1303881" y="1138428"/>
            <a:ext cx="630171" cy="433687"/>
          </a:xfrm>
          <a:prstGeom prst="ellipse">
            <a:avLst/>
          </a:prstGeom>
          <a:solidFill>
            <a:srgbClr val="5B6B7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0" name="Text 8"/>
          <p:cNvSpPr/>
          <p:nvPr/>
        </p:nvSpPr>
        <p:spPr>
          <a:xfrm>
            <a:off x="1303881" y="1138428"/>
            <a:ext cx="630171" cy="433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100" b="1" baseline="-25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baseline="-25000" dirty="0"/>
          </a:p>
        </p:txBody>
      </p:sp>
      <p:sp>
        <p:nvSpPr>
          <p:cNvPr id="11" name="Text 9"/>
          <p:cNvSpPr/>
          <p:nvPr/>
        </p:nvSpPr>
        <p:spPr>
          <a:xfrm>
            <a:off x="293767" y="1560124"/>
            <a:ext cx="2844465" cy="2730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Enrolment, person-time begins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90578" y="1333543"/>
            <a:ext cx="5987022" cy="4251"/>
          </a:xfrm>
          <a:prstGeom prst="rightArrow">
            <a:avLst/>
          </a:prstGeom>
          <a:noFill/>
          <a:ln w="762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3" name="Shape 11"/>
          <p:cNvSpPr/>
          <p:nvPr/>
        </p:nvSpPr>
        <p:spPr>
          <a:xfrm>
            <a:off x="3986121" y="1138428"/>
            <a:ext cx="630171" cy="433687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4" name="Text 12"/>
          <p:cNvSpPr/>
          <p:nvPr/>
        </p:nvSpPr>
        <p:spPr>
          <a:xfrm>
            <a:off x="3986121" y="1138428"/>
            <a:ext cx="630171" cy="433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533" y="1549924"/>
            <a:ext cx="2980800" cy="5219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Person-time accrues during follow-up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68361" y="1138428"/>
            <a:ext cx="630171" cy="433687"/>
          </a:xfrm>
          <a:prstGeom prst="ellipse">
            <a:avLst/>
          </a:prstGeom>
          <a:solidFill>
            <a:srgbClr val="E6342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7" name="Text 15"/>
          <p:cNvSpPr/>
          <p:nvPr/>
        </p:nvSpPr>
        <p:spPr>
          <a:xfrm>
            <a:off x="6668361" y="1138428"/>
            <a:ext cx="630171" cy="433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09600" y="1545673"/>
            <a:ext cx="2844465" cy="5219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occurs, or person is censored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8625" y="2019681"/>
            <a:ext cx="8046720" cy="829532"/>
          </a:xfrm>
          <a:prstGeom prst="roundRect">
            <a:avLst>
              <a:gd name="adj" fmla="val 5512"/>
            </a:avLst>
          </a:prstGeom>
          <a:solidFill>
            <a:srgbClr val="F4F5F7"/>
          </a:solidFill>
          <a:ln/>
          <a:effectLst>
            <a:outerShdw blurRad="76200" dist="25400" dir="2700000" algn="bl" rotWithShape="0">
              <a:srgbClr val="1B2A3D">
                <a:alpha val="8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20" name="Text 18"/>
          <p:cNvSpPr/>
          <p:nvPr/>
        </p:nvSpPr>
        <p:spPr>
          <a:xfrm>
            <a:off x="557213" y="2133981"/>
            <a:ext cx="7789545" cy="172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EXAMPLE — HARARE, ZIMBABWE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213" y="2363724"/>
            <a:ext cx="7789545" cy="3140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HIV-positive adults with enhanced symptom-based TB screening, culture-positive tuberculosis incidence was 25.3 per 1,000 person-years, versus 1.3 per 1,000 person-years among HIV-negative adults at the same clinic (Corbett et al., PLoS Med, 2007).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8625" y="2949226"/>
            <a:ext cx="3937635" cy="166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vs RISK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8625" y="3172539"/>
            <a:ext cx="3937635" cy="43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rate is not a proportion — it carries units (cases per person-time) and has no upper limit of 1. It correctly handles people followed for different lengths of time.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37710" y="3186317"/>
            <a:ext cx="3937635" cy="2960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accounts for varying follow-up time, entries and exits.Limitation: less intuitive to communicate than a simple percentage risk.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3431554-8AB7-BBB6-2A7B-5332A7F4D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371" y="133434"/>
            <a:ext cx="1085760" cy="5903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8625" y="47594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28625" y="49240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28625" y="428625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MEASURES OF OCCURRENCE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8625" y="628650"/>
            <a:ext cx="7680960" cy="3954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Odds: Counting Cases Against Non-Cases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8625" y="1454951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= p ÷ (1−p) — the number of cases for every non-case, rather than the number of cases out of the whole population.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8625" y="1941869"/>
            <a:ext cx="8046720" cy="842391"/>
          </a:xfrm>
          <a:prstGeom prst="roundRect">
            <a:avLst>
              <a:gd name="adj" fmla="val 5427"/>
            </a:avLst>
          </a:prstGeom>
          <a:solidFill>
            <a:srgbClr val="F4F5F7"/>
          </a:solidFill>
          <a:ln/>
          <a:effectLst>
            <a:outerShdw blurRad="76200" dist="25400" dir="2700000" algn="bl" rotWithShape="0">
              <a:srgbClr val="1B2A3D">
                <a:alpha val="8000"/>
              </a:srgbClr>
            </a:outerShdw>
          </a:effectLst>
        </p:spPr>
        <p:txBody>
          <a:bodyPr/>
          <a:lstStyle/>
          <a:p>
            <a:endParaRPr lang="en-ZW" sz="1100"/>
          </a:p>
        </p:txBody>
      </p:sp>
      <p:sp>
        <p:nvSpPr>
          <p:cNvPr id="10" name="Text 8"/>
          <p:cNvSpPr/>
          <p:nvPr/>
        </p:nvSpPr>
        <p:spPr>
          <a:xfrm>
            <a:off x="557213" y="2056169"/>
            <a:ext cx="7789545" cy="172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BASED ON MANICALAND PREVALENCE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213" y="2285912"/>
            <a:ext cx="7789545" cy="3268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15.8% of a population lives with HIV, the odds of living with HIV are 0.158 ÷ 0.842 ≈ 0.19 — roughly one person living with HIV for every 5.3 who are HIV-negative — compared with a risk/prevalence of 0.158.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8625" y="3165451"/>
            <a:ext cx="3937635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this threshold, risk and odds are numerically close — the “rare disease” zone.</a:t>
            </a:r>
          </a:p>
          <a:p>
            <a:pPr marL="0" indent="0">
              <a:buNone/>
            </a:pPr>
            <a:endParaRPr lang="en-US" sz="1100" dirty="0">
              <a:solidFill>
                <a:srgbClr val="2731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</a:t>
            </a:r>
            <a:endParaRPr lang="en-US" sz="2800" b="1" dirty="0"/>
          </a:p>
        </p:txBody>
      </p:sp>
      <p:sp>
        <p:nvSpPr>
          <p:cNvPr id="14" name="Text 12"/>
          <p:cNvSpPr/>
          <p:nvPr/>
        </p:nvSpPr>
        <p:spPr>
          <a:xfrm>
            <a:off x="4537710" y="2884273"/>
            <a:ext cx="3937635" cy="224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&gt; Risk</a:t>
            </a:r>
            <a:endParaRPr lang="en-US" sz="1100" b="1" dirty="0"/>
          </a:p>
        </p:txBody>
      </p:sp>
      <p:sp>
        <p:nvSpPr>
          <p:cNvPr id="15" name="Text 13"/>
          <p:cNvSpPr/>
          <p:nvPr/>
        </p:nvSpPr>
        <p:spPr>
          <a:xfrm>
            <a:off x="4537710" y="3165451"/>
            <a:ext cx="3937635" cy="635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that threshold, odds always exceeds risk — and the gap widens as the outcome becomes more common. We return to this in Section 3.</a:t>
            </a:r>
          </a:p>
          <a:p>
            <a:pPr algn="ctr"/>
            <a:r>
              <a:rPr lang="en-US" sz="28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&gt;10%</a:t>
            </a:r>
            <a:endParaRPr lang="en-US" sz="2800" b="1" dirty="0"/>
          </a:p>
          <a:p>
            <a:pPr marL="0" indent="0">
              <a:buNone/>
            </a:pPr>
            <a:endParaRPr lang="en-US" sz="1100" dirty="0">
              <a:solidFill>
                <a:srgbClr val="2731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DFCC483-9734-F7C7-E6CC-72B57B0B8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371" y="133434"/>
            <a:ext cx="1085760" cy="590382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33FC0B12-F72D-37C8-41EC-28C831BB3415}"/>
              </a:ext>
            </a:extLst>
          </p:cNvPr>
          <p:cNvSpPr/>
          <p:nvPr/>
        </p:nvSpPr>
        <p:spPr>
          <a:xfrm>
            <a:off x="428624" y="2898560"/>
            <a:ext cx="3937635" cy="224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≈ Odds</a:t>
            </a:r>
            <a:endParaRPr lang="en-US" sz="11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8625" y="47594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28625" y="49240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28625" y="428625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MEASURES OF OCCURRENCE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8625" y="628650"/>
            <a:ext cx="7680960" cy="3954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Prevalence, Risk, Rate and Odds at a Glance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200899"/>
              </p:ext>
            </p:extLst>
          </p:nvPr>
        </p:nvGraphicFramePr>
        <p:xfrm>
          <a:off x="428625" y="1883114"/>
          <a:ext cx="8046720" cy="1203960"/>
        </p:xfrm>
        <a:graphic>
          <a:graphicData uri="http://schemas.openxmlformats.org/drawingml/2006/table">
            <a:tbl>
              <a:tblPr/>
              <a:tblGrid>
                <a:gridCol w="1609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Prevalence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cases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Denominator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population, time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at risk,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Person-time at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/ units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0–1, over a 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0–∞, per person-time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337185" y="3221590"/>
            <a:ext cx="8046720" cy="3140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treating a rate as if it were a risk — or an odds as if it were a risk — is one of the most frequent sources of misinterpretation in the medical literature.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805622-E5D6-CB99-F663-5AB814A05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371" y="133434"/>
            <a:ext cx="1085760" cy="5903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8625" y="47594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28625" y="49240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28625" y="428625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RELATIVE MEASURES OF EFFECT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8625" y="628650"/>
            <a:ext cx="7680960" cy="3954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Ratio and Rate Ratio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8625" y="1357532"/>
            <a:ext cx="3937635" cy="2430369"/>
          </a:xfrm>
          <a:prstGeom prst="roundRect">
            <a:avLst>
              <a:gd name="adj" fmla="val 3175"/>
            </a:avLst>
          </a:prstGeom>
          <a:solidFill>
            <a:srgbClr val="F4F5F7"/>
          </a:solidFill>
          <a:ln/>
          <a:effectLst>
            <a:outerShdw blurRad="76200" dist="25400" dir="2700000" algn="bl" rotWithShape="0">
              <a:srgbClr val="1B2A3D">
                <a:alpha val="8000"/>
              </a:srgbClr>
            </a:outerShdw>
          </a:effectLst>
        </p:spPr>
        <p:txBody>
          <a:bodyPr/>
          <a:lstStyle/>
          <a:p>
            <a:endParaRPr lang="en-ZW" sz="1100"/>
          </a:p>
        </p:txBody>
      </p:sp>
      <p:sp>
        <p:nvSpPr>
          <p:cNvPr id="9" name="Text 7"/>
          <p:cNvSpPr/>
          <p:nvPr/>
        </p:nvSpPr>
        <p:spPr>
          <a:xfrm>
            <a:off x="557213" y="1809655"/>
            <a:ext cx="3680460" cy="172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RATIO — EBOLA, EASTERN DRC, 2018–20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213" y="2039398"/>
            <a:ext cx="3680460" cy="5840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confirmed Ebola virus disease were classified by vaccination status before symptom onset. Case-fatality risk was 25% (106/423) among the vaccinated vs 56% (570/1,015) among the unvaccinated (Coulborn et al., Lancet Infect Dis, 2024).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212" y="3039237"/>
            <a:ext cx="3680460" cy="283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= 25% ÷ 56% ≈ 0.45 — vaccinated patients faced roughly 45% of the case-fatality risk, a 55% relative reduction (p&lt;0.0001).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37710" y="1357532"/>
            <a:ext cx="3937635" cy="2430369"/>
          </a:xfrm>
          <a:prstGeom prst="roundRect">
            <a:avLst>
              <a:gd name="adj" fmla="val 3521"/>
            </a:avLst>
          </a:prstGeom>
          <a:solidFill>
            <a:srgbClr val="F4F5F7"/>
          </a:solidFill>
          <a:ln/>
          <a:effectLst>
            <a:outerShdw blurRad="76200" dist="25400" dir="2700000" algn="bl" rotWithShape="0">
              <a:srgbClr val="1B2A3D">
                <a:alpha val="8000"/>
              </a:srgbClr>
            </a:outerShdw>
          </a:effectLst>
        </p:spPr>
        <p:txBody>
          <a:bodyPr/>
          <a:lstStyle/>
          <a:p>
            <a:endParaRPr lang="en-ZW" sz="1100"/>
          </a:p>
        </p:txBody>
      </p:sp>
      <p:sp>
        <p:nvSpPr>
          <p:cNvPr id="13" name="Text 11"/>
          <p:cNvSpPr/>
          <p:nvPr/>
        </p:nvSpPr>
        <p:spPr>
          <a:xfrm>
            <a:off x="4666298" y="1809655"/>
            <a:ext cx="3680460" cy="172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RATIO — TUBERCULOSIS &amp; HIV, HARARE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6298" y="2039398"/>
            <a:ext cx="3680460" cy="4426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incidence was 25.3 per 1,000 person-years in HIV-positive adults vs 1.3 per 1,000 person-years in HIV-negative adults at the same Harare clinic (Corbett et al., PLoS Med, 2007).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6298" y="3019664"/>
            <a:ext cx="3680460" cy="283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Ratio = 25.3 ÷ 1.3 ≈ 19.5 (adjusted IRR reported as 18.8, 95% CI 10.3–34.5) — among the strongest associations in clinical epidemiology.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8625" y="3934205"/>
            <a:ext cx="8046720" cy="166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= Risk(exposed) ÷ Risk(unexposed). Rate Ratio = Rate(exposed) ÷ Rate(unexposed).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393322E-A9AD-4640-E417-37BF8E12C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371" y="133434"/>
            <a:ext cx="1085760" cy="5903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8625" y="47594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28625" y="49240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28625" y="428625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RELATIVE MEASURES OF EFFECT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8625" y="628650"/>
            <a:ext cx="7680960" cy="3954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Odds Ratio — and When It Misleads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8625" y="1138428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2024 mpox clade Ib outbreak in Uvira, DRC, severe disease (≥100 lesions) was compared between children under 15 and older patients.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631033"/>
              </p:ext>
            </p:extLst>
          </p:nvPr>
        </p:nvGraphicFramePr>
        <p:xfrm>
          <a:off x="428625" y="1625346"/>
          <a:ext cx="8046720" cy="7772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disease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severe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15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15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28625" y="2493455"/>
            <a:ext cx="3937635" cy="224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ratio: 1.59</a:t>
            </a:r>
            <a:endParaRPr lang="en-US" sz="1100" b="1" dirty="0"/>
          </a:p>
        </p:txBody>
      </p:sp>
      <p:sp>
        <p:nvSpPr>
          <p:cNvPr id="9" name="Text 8"/>
          <p:cNvSpPr/>
          <p:nvPr/>
        </p:nvSpPr>
        <p:spPr>
          <a:xfrm>
            <a:off x="428625" y="2774633"/>
            <a:ext cx="3937635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25.6% ÷ 16.1% (Bugeme et al., Euro Surveill, 2025).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37710" y="2493455"/>
            <a:ext cx="3937635" cy="224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ratio: 1.79</a:t>
            </a:r>
            <a:endParaRPr lang="en-US" sz="1100" b="1" dirty="0"/>
          </a:p>
        </p:txBody>
      </p:sp>
      <p:sp>
        <p:nvSpPr>
          <p:cNvPr id="13" name="Text 10"/>
          <p:cNvSpPr/>
          <p:nvPr/>
        </p:nvSpPr>
        <p:spPr>
          <a:xfrm>
            <a:off x="4537710" y="2774633"/>
            <a:ext cx="3937635" cy="224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(142×255) ÷ (412×49)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8625" y="3332988"/>
            <a:ext cx="8046720" cy="823103"/>
          </a:xfrm>
          <a:prstGeom prst="roundRect">
            <a:avLst>
              <a:gd name="adj" fmla="val 5555"/>
            </a:avLst>
          </a:prstGeom>
          <a:solidFill>
            <a:srgbClr val="F4F5F7"/>
          </a:solidFill>
          <a:ln/>
          <a:effectLst>
            <a:outerShdw blurRad="76200" dist="25400" dir="2700000" algn="bl" rotWithShape="0">
              <a:srgbClr val="1B2A3D">
                <a:alpha val="8000"/>
              </a:srgbClr>
            </a:outerShdw>
          </a:effectLst>
        </p:spPr>
        <p:txBody>
          <a:bodyPr/>
          <a:lstStyle/>
          <a:p>
            <a:endParaRPr lang="en-ZW" sz="1100"/>
          </a:p>
        </p:txBody>
      </p:sp>
      <p:sp>
        <p:nvSpPr>
          <p:cNvPr id="15" name="Text 12"/>
          <p:cNvSpPr/>
          <p:nvPr/>
        </p:nvSpPr>
        <p:spPr>
          <a:xfrm>
            <a:off x="557213" y="3447288"/>
            <a:ext cx="7789545" cy="166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WARNING — THE RARE DISEASE ASSUMPTION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7213" y="3670602"/>
            <a:ext cx="7789545" cy="3140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odds ratio overstates the risk ratio here because severe disease was common (16–26%), not rare. An OR only approximates an RR when the outcome occurs in well under ~10% of each group.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6A764F5-46DA-E626-FF1D-57C793F60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371" y="133434"/>
            <a:ext cx="1085760" cy="5903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8625" y="47594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28625" y="49240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28625" y="428625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ABSOLUTE MEASURES OF EFFECT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8625" y="628650"/>
            <a:ext cx="7680960" cy="77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Difference, Rate Difference and Number Needed to Treat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8625" y="1515618"/>
            <a:ext cx="3937635" cy="1572339"/>
          </a:xfrm>
          <a:prstGeom prst="roundRect">
            <a:avLst>
              <a:gd name="adj" fmla="val 2908"/>
            </a:avLst>
          </a:prstGeom>
          <a:solidFill>
            <a:srgbClr val="F4F5F7"/>
          </a:solidFill>
          <a:ln/>
          <a:effectLst>
            <a:outerShdw blurRad="76200" dist="25400" dir="2700000" algn="bl" rotWithShape="0">
              <a:srgbClr val="1B2A3D">
                <a:alpha val="8000"/>
              </a:srgbClr>
            </a:outerShdw>
          </a:effectLst>
        </p:spPr>
        <p:txBody>
          <a:bodyPr/>
          <a:lstStyle/>
          <a:p>
            <a:endParaRPr lang="en-ZW" sz="1100"/>
          </a:p>
        </p:txBody>
      </p:sp>
      <p:sp>
        <p:nvSpPr>
          <p:cNvPr id="9" name="Text 7"/>
          <p:cNvSpPr/>
          <p:nvPr/>
        </p:nvSpPr>
        <p:spPr>
          <a:xfrm>
            <a:off x="557213" y="1629918"/>
            <a:ext cx="3680460" cy="172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RATE DIFFERENCE — HPTN 084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213" y="1859661"/>
            <a:ext cx="3680460" cy="5840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PrEP: 1.85 infections per 100 woman-years. Long-acting injectable cabotegravir: 0.2 infections per 100 woman-years, across Zimbabwe and six other countries (Delany-Moretlwe et al., Lancet, 2022).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213" y="2500884"/>
            <a:ext cx="3680460" cy="4156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difference ≈ 1.6 fewer infections per 100 woman-years. Ebola, DRC: case-fatality risk difference = 56%−25% = 31 percentage points with vaccination (Coulborn et al., 2024).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37710" y="1515618"/>
            <a:ext cx="3937635" cy="1159574"/>
          </a:xfrm>
          <a:prstGeom prst="roundRect">
            <a:avLst>
              <a:gd name="adj" fmla="val 3943"/>
            </a:avLst>
          </a:prstGeom>
          <a:solidFill>
            <a:srgbClr val="F4F5F7"/>
          </a:solidFill>
          <a:ln/>
          <a:effectLst>
            <a:outerShdw blurRad="76200" dist="25400" dir="2700000" algn="bl" rotWithShape="0">
              <a:srgbClr val="1B2A3D">
                <a:alpha val="8000"/>
              </a:srgbClr>
            </a:outerShdw>
          </a:effectLst>
        </p:spPr>
        <p:txBody>
          <a:bodyPr/>
          <a:lstStyle/>
          <a:p>
            <a:endParaRPr lang="en-ZW" sz="1100"/>
          </a:p>
        </p:txBody>
      </p:sp>
      <p:sp>
        <p:nvSpPr>
          <p:cNvPr id="13" name="Text 11"/>
          <p:cNvSpPr/>
          <p:nvPr/>
        </p:nvSpPr>
        <p:spPr>
          <a:xfrm>
            <a:off x="4666298" y="1629918"/>
            <a:ext cx="3680460" cy="172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NEEDED TO TREAT — KISUMU, KENYA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6298" y="1859661"/>
            <a:ext cx="3680460" cy="4426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HIV risk: 4.2% (control) vs 2.1% (circumcision). Risk difference = 2.1 percentage points = 0.021. NNT = 1 ÷ 0.021 ≈ 48 (Bailey et al., Lancet, 2007).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6298" y="2359438"/>
            <a:ext cx="3680460" cy="144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 circumcisions to prevent one HIV infection over 2 years.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B634898-DE9B-6516-2B04-C639840D2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371" y="133434"/>
            <a:ext cx="1085760" cy="5903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8625" y="47594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28625" y="49240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28625" y="428625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PUTTING IT TOGETHER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8625" y="628650"/>
            <a:ext cx="7680960" cy="3954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Choosing the Right Measure of Effect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8625" y="1802776"/>
            <a:ext cx="142875" cy="142875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" name="Text 7"/>
          <p:cNvSpPr/>
          <p:nvPr/>
        </p:nvSpPr>
        <p:spPr>
          <a:xfrm>
            <a:off x="642938" y="1788488"/>
            <a:ext cx="7832408" cy="2754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exposure a cause of disease?→Risk / rate / odds ratio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8625" y="2121101"/>
            <a:ext cx="142875" cy="142875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1" name="Text 9"/>
          <p:cNvSpPr/>
          <p:nvPr/>
        </p:nvSpPr>
        <p:spPr>
          <a:xfrm>
            <a:off x="642938" y="2106814"/>
            <a:ext cx="7832408" cy="2754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cases will an intervention prevent here?→Risk / rate difference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8625" y="2439427"/>
            <a:ext cx="142875" cy="142875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3" name="Text 11"/>
          <p:cNvSpPr/>
          <p:nvPr/>
        </p:nvSpPr>
        <p:spPr>
          <a:xfrm>
            <a:off x="642938" y="2425139"/>
            <a:ext cx="7832408" cy="2754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patients must we treat for one to benefit?→Number needed to treat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8625" y="2757752"/>
            <a:ext cx="142875" cy="142875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5" name="Text 13"/>
          <p:cNvSpPr/>
          <p:nvPr/>
        </p:nvSpPr>
        <p:spPr>
          <a:xfrm>
            <a:off x="642938" y="2743465"/>
            <a:ext cx="7832408" cy="2754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our population burden could be eliminated?→Population attributable fraction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8625" y="3076078"/>
            <a:ext cx="142875" cy="142875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7" name="Text 15"/>
          <p:cNvSpPr/>
          <p:nvPr/>
        </p:nvSpPr>
        <p:spPr>
          <a:xfrm>
            <a:off x="642938" y="3061790"/>
            <a:ext cx="7832408" cy="2754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outcome common, but I only have an odds ratio?→Interpret cautiously — OR overstates RR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8625" y="3394403"/>
            <a:ext cx="142875" cy="142875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9" name="Text 17"/>
          <p:cNvSpPr/>
          <p:nvPr/>
        </p:nvSpPr>
        <p:spPr>
          <a:xfrm>
            <a:off x="642938" y="3380116"/>
            <a:ext cx="7832408" cy="2754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question about etiology rather than planning?→Favour relative measures (ratios)</a:t>
            </a:r>
            <a:endParaRPr lang="en-US" sz="12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1DFFB0B-1D8B-6326-6995-E06DC8631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371" y="133434"/>
            <a:ext cx="1085760" cy="5903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8625" y="47594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28625" y="49240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28625" y="428625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PUTTING IT TOGETHER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8625" y="628650"/>
            <a:ext cx="7680960" cy="3954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Measures of Effect, Side by Side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123114"/>
              </p:ext>
            </p:extLst>
          </p:nvPr>
        </p:nvGraphicFramePr>
        <p:xfrm>
          <a:off x="428625" y="1138428"/>
          <a:ext cx="8046720" cy="2819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Risk(exp) ÷ Risk(unexp)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Etiological comparison, common outcomes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Ebola vaccination, DRC (Coulborn, 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Rate(exp) ÷ Rate(unexp)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Etiological comparison with person-time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TB/HIV, Harare (Corbett, 2007)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(a×d) ÷ (b×c)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Case-control studies; rare outcomes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Mpox severity, Uvira (Bugeme, 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/ rate difference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Measure(exp) − Measure(unexp)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Public-health impact, absolute terms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HPTN 084 PrEP (Delany-Moretlwe, 2022)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needed to treat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÷ |risk difference|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decision-making, resourcing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Circumcision trial, Kenya (Bailey, 2007)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Pop. attributable fraction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Pₑ(RR−1) ÷ [1+Pₑ(RR−1)]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Population-level prevention potential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TB/HIV, Harare — PAF 78% (Corbett, 2007)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33F7609-4661-1DDA-88CB-5760A9662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371" y="133434"/>
            <a:ext cx="1085760" cy="5903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8625" y="47594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28625" y="49240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28625" y="428625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MEASURES OF IMPACT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8625" y="628650"/>
            <a:ext cx="7680960" cy="77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Attributable Risk and the Population Attributable Fraction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8625" y="1515618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rate ratio of 18.8 tells a clinician HIV is a powerful risk factor. A district health team needs a different question answered: how much of the TB burden is actually attributable to HIV?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8625" y="2002536"/>
            <a:ext cx="8046720" cy="681657"/>
          </a:xfrm>
          <a:prstGeom prst="roundRect">
            <a:avLst>
              <a:gd name="adj" fmla="val 6707"/>
            </a:avLst>
          </a:prstGeom>
          <a:solidFill>
            <a:srgbClr val="F4F5F7"/>
          </a:solidFill>
          <a:ln/>
          <a:effectLst>
            <a:outerShdw blurRad="76200" dist="25400" dir="2700000" algn="bl" rotWithShape="0">
              <a:srgbClr val="1B2A3D">
                <a:alpha val="8000"/>
              </a:srgbClr>
            </a:outerShdw>
          </a:effectLst>
        </p:spPr>
        <p:txBody>
          <a:bodyPr/>
          <a:lstStyle/>
          <a:p>
            <a:endParaRPr lang="en-ZW" sz="1100"/>
          </a:p>
        </p:txBody>
      </p:sp>
      <p:sp>
        <p:nvSpPr>
          <p:cNvPr id="10" name="Text 8"/>
          <p:cNvSpPr/>
          <p:nvPr/>
        </p:nvSpPr>
        <p:spPr>
          <a:xfrm>
            <a:off x="557213" y="2116836"/>
            <a:ext cx="7789545" cy="172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PAF = Pₑ(RR−1) ÷ [1 + Pₑ(RR−1)]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213" y="2346579"/>
            <a:ext cx="7789545" cy="166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Pₑ = proportion of the population exposed, and RR = the risk or rate ratio.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8625" y="2784205"/>
            <a:ext cx="8046720" cy="1052846"/>
          </a:xfrm>
          <a:prstGeom prst="roundRect">
            <a:avLst>
              <a:gd name="adj" fmla="val 4343"/>
            </a:avLst>
          </a:prstGeom>
          <a:solidFill>
            <a:srgbClr val="F4F5F7"/>
          </a:solidFill>
          <a:ln/>
          <a:effectLst>
            <a:outerShdw blurRad="76200" dist="25400" dir="2700000" algn="bl" rotWithShape="0">
              <a:srgbClr val="1B2A3D">
                <a:alpha val="8000"/>
              </a:srgbClr>
            </a:outerShdw>
          </a:effectLst>
        </p:spPr>
        <p:txBody>
          <a:bodyPr/>
          <a:lstStyle/>
          <a:p>
            <a:endParaRPr lang="en-ZW" sz="1100"/>
          </a:p>
        </p:txBody>
      </p:sp>
      <p:sp>
        <p:nvSpPr>
          <p:cNvPr id="13" name="Text 11"/>
          <p:cNvSpPr/>
          <p:nvPr/>
        </p:nvSpPr>
        <p:spPr>
          <a:xfrm>
            <a:off x="557213" y="2898505"/>
            <a:ext cx="7789545" cy="172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HARARE TB/HIV COHORT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213" y="3128248"/>
            <a:ext cx="7789545" cy="166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Pₑ(RR−1) = 0.19 × 17.8 = 3.38 → PAF = 3.38 ÷ 4.38 ≈ 77%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213" y="3351562"/>
            <a:ext cx="7789545" cy="3140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matches the adjusted PAF of 78% reported by Corbett et al. (2007) — roughly three-quarters of incident TB in this cohort was attributable to HIV. For prevalent (often subclinical) TB in the same cohort, the OR was only 1.7 and the PAF just 14%.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8625" y="47594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28625" y="49240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28625" y="428625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READING CRITICALLY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8625" y="628650"/>
            <a:ext cx="7680960" cy="3954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Cross-Cutting Pitfalls in Measures of Effect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8625" y="1138428"/>
            <a:ext cx="8046720" cy="609791"/>
          </a:xfrm>
          <a:prstGeom prst="roundRect">
            <a:avLst>
              <a:gd name="adj" fmla="val 8997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" name="Shape 7"/>
          <p:cNvSpPr/>
          <p:nvPr/>
        </p:nvSpPr>
        <p:spPr>
          <a:xfrm>
            <a:off x="500063" y="1209866"/>
            <a:ext cx="100013" cy="100013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" name="Text 8"/>
          <p:cNvSpPr/>
          <p:nvPr/>
        </p:nvSpPr>
        <p:spPr>
          <a:xfrm>
            <a:off x="485775" y="1155001"/>
            <a:ext cx="7932420" cy="3669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MISTAKEN FOR RISK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rate has no upper bound and carries units; reporting it as if it were a simple proportion misleads readers about its meaning.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8625" y="1819656"/>
            <a:ext cx="8046720" cy="609791"/>
          </a:xfrm>
          <a:prstGeom prst="roundRect">
            <a:avLst>
              <a:gd name="adj" fmla="val 8997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2" name="Shape 10"/>
          <p:cNvSpPr/>
          <p:nvPr/>
        </p:nvSpPr>
        <p:spPr>
          <a:xfrm>
            <a:off x="500063" y="1891094"/>
            <a:ext cx="100013" cy="100013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3" name="Text 11"/>
          <p:cNvSpPr/>
          <p:nvPr/>
        </p:nvSpPr>
        <p:spPr>
          <a:xfrm>
            <a:off x="485775" y="1836229"/>
            <a:ext cx="7932420" cy="3669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 ≠ RISK RATIO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outcome is common (not rare), an odds ratio systematically overstates the risk ratio — as in the Uvira mpox example.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8625" y="2500884"/>
            <a:ext cx="8046720" cy="609791"/>
          </a:xfrm>
          <a:prstGeom prst="roundRect">
            <a:avLst>
              <a:gd name="adj" fmla="val 8997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5" name="Shape 13"/>
          <p:cNvSpPr/>
          <p:nvPr/>
        </p:nvSpPr>
        <p:spPr>
          <a:xfrm>
            <a:off x="500063" y="2572322"/>
            <a:ext cx="100013" cy="100013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6" name="Text 14"/>
          <p:cNvSpPr/>
          <p:nvPr/>
        </p:nvSpPr>
        <p:spPr>
          <a:xfrm>
            <a:off x="500063" y="2494455"/>
            <a:ext cx="7932420" cy="3669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EFFECT WITHOUT BASELINE RISK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striking rate ratio of 18.8 means little for planning without knowing the underlying rate it is multiplying.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8625" y="3182112"/>
            <a:ext cx="8046720" cy="609791"/>
          </a:xfrm>
          <a:prstGeom prst="roundRect">
            <a:avLst>
              <a:gd name="adj" fmla="val 8997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8" name="Shape 16"/>
          <p:cNvSpPr/>
          <p:nvPr/>
        </p:nvSpPr>
        <p:spPr>
          <a:xfrm>
            <a:off x="500063" y="3253550"/>
            <a:ext cx="100013" cy="100013"/>
          </a:xfrm>
          <a:prstGeom prst="ellipse">
            <a:avLst/>
          </a:prstGeom>
          <a:solidFill>
            <a:srgbClr val="5B9A56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9" name="Text 17"/>
          <p:cNvSpPr/>
          <p:nvPr/>
        </p:nvSpPr>
        <p:spPr>
          <a:xfrm>
            <a:off x="485775" y="3198685"/>
            <a:ext cx="7932420" cy="3669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vs INDIVIDUAL ATTRIBUTABLE RISK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PAF describes a population, not a guarantee for any one patient — it depends heavily on how common the exposure is locally.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8625" y="4101063"/>
            <a:ext cx="8046720" cy="3140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weekly quiz and Final Presentation Project will ask you to calculate the correct measure and spot the most likely misinterpretation in a published abstract.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CF3C932-5F56-EA82-93F2-D19098663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371" y="133434"/>
            <a:ext cx="1085760" cy="59038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53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8625" y="428625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RECAP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28625" y="64293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8625" y="1042988"/>
            <a:ext cx="142875" cy="142875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 sz="1100"/>
          </a:p>
        </p:txBody>
      </p:sp>
      <p:sp>
        <p:nvSpPr>
          <p:cNvPr id="6" name="Text 4"/>
          <p:cNvSpPr/>
          <p:nvPr/>
        </p:nvSpPr>
        <p:spPr>
          <a:xfrm>
            <a:off x="428625" y="1035844"/>
            <a:ext cx="142875" cy="142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2938" y="1028700"/>
            <a:ext cx="7466648" cy="48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 vs effect: risk, rate, odds and prevalence describe one group; ratios and differences compare two.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8625" y="1604201"/>
            <a:ext cx="142875" cy="142875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 sz="1100"/>
          </a:p>
        </p:txBody>
      </p:sp>
      <p:sp>
        <p:nvSpPr>
          <p:cNvPr id="9" name="Text 7"/>
          <p:cNvSpPr/>
          <p:nvPr/>
        </p:nvSpPr>
        <p:spPr>
          <a:xfrm>
            <a:off x="428625" y="1597057"/>
            <a:ext cx="142875" cy="142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2938" y="1589913"/>
            <a:ext cx="7466648" cy="48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vs absolute: ratios (RR, rate ratio, OR) show the strength of an association; differences (RD, rate difference) and NNT show its practical, population-level size.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8625" y="2165414"/>
            <a:ext cx="142875" cy="142875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 sz="1100"/>
          </a:p>
        </p:txBody>
      </p:sp>
      <p:sp>
        <p:nvSpPr>
          <p:cNvPr id="12" name="Text 10"/>
          <p:cNvSpPr/>
          <p:nvPr/>
        </p:nvSpPr>
        <p:spPr>
          <a:xfrm>
            <a:off x="428625" y="2158270"/>
            <a:ext cx="142875" cy="142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938" y="2151126"/>
            <a:ext cx="7466648" cy="48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disease assumption: an odds ratio only approximates a risk ratio when the outcome is uncommon (&lt;~10%) in both groups.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8625" y="2726627"/>
            <a:ext cx="142875" cy="142875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 sz="1100"/>
          </a:p>
        </p:txBody>
      </p:sp>
      <p:sp>
        <p:nvSpPr>
          <p:cNvPr id="15" name="Text 13"/>
          <p:cNvSpPr/>
          <p:nvPr/>
        </p:nvSpPr>
        <p:spPr>
          <a:xfrm>
            <a:off x="428625" y="2719483"/>
            <a:ext cx="142875" cy="142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938" y="2712339"/>
            <a:ext cx="7466648" cy="48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measures: attributable risk and PAF combine the strength of an association with how common the exposure is locally.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8625" y="3287840"/>
            <a:ext cx="142875" cy="142875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 sz="1100"/>
          </a:p>
        </p:txBody>
      </p:sp>
      <p:sp>
        <p:nvSpPr>
          <p:cNvPr id="18" name="Text 16"/>
          <p:cNvSpPr/>
          <p:nvPr/>
        </p:nvSpPr>
        <p:spPr>
          <a:xfrm>
            <a:off x="428625" y="3280696"/>
            <a:ext cx="142875" cy="142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2938" y="3273552"/>
            <a:ext cx="7466648" cy="48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deliberately: etiological questions usually call for relative measures; resource-planning and trial reporting usually call for absolute measures.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8625" y="3849052"/>
            <a:ext cx="142875" cy="142875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 sz="1100"/>
          </a:p>
        </p:txBody>
      </p:sp>
      <p:sp>
        <p:nvSpPr>
          <p:cNvPr id="21" name="Text 19"/>
          <p:cNvSpPr/>
          <p:nvPr/>
        </p:nvSpPr>
        <p:spPr>
          <a:xfrm>
            <a:off x="428625" y="3841909"/>
            <a:ext cx="142875" cy="142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2938" y="3834765"/>
            <a:ext cx="7466648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is local: from Manicaland to Harare’s TB clinics to the rVSV-ZEBOV ring-vaccination programme in the DRC, every measure here already guides real decisions in our region.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8625" y="48691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B854805-5819-B018-8294-9E4426CA6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371" y="133434"/>
            <a:ext cx="1085760" cy="59038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8625" y="47594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28625" y="49240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28625" y="428625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8625" y="628650"/>
            <a:ext cx="7680960" cy="3954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5374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Peer-Reviewed Sources Used in This Session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8625" y="1138428"/>
            <a:ext cx="3937635" cy="7383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Tripepi G, Jager KJ, Dekker FW, Wanner C, Zoccali C. Measures of effect: relative risks, odds ratios, risk difference, and ‘number needed to treat’. Kidney Int. 2007;72(7):789–791.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8625" y="1933956"/>
            <a:ext cx="3937635" cy="558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Tripepi G, Jager KJ, Dekker FW, Wanner C, Zoccali C. Measures of disease frequency: prevalence and incidence. Nephron Clin Pract. 2010;115(1):c17–20.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8625" y="2549462"/>
            <a:ext cx="3937635" cy="558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Walter SD. The estimation and interpretation of attributable risk in health research. Biometrics. 1976;32(4):829–849.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8625" y="3164967"/>
            <a:ext cx="3937635" cy="7383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Gregson S, Mugurungi O, Eaton J, et al. Documenting and explaining the HIV decline in east Zimbabwe: the Manicaland General Population Cohort. BMJ Open. 2017;7(10):e015898.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8625" y="3960495"/>
            <a:ext cx="3937635" cy="558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Lopman B, Lewis J, Nyamukapa C, Mushati P, Chandiwana S, Gregson S. HIV incidence and poverty in Manicaland, Zimbabwe. AIDS. 2007;21(Suppl 7):S57–S66.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8625" y="4576001"/>
            <a:ext cx="3937635" cy="7383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Corbett EL, Bandason T, Cheung YB, et al. Epidemiology of tuberculosis in a high HIV prevalence population provided with enhanced diagnosis of symptomatic disease. PLoS Med. 2007;4(1):e22.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37710" y="1138428"/>
            <a:ext cx="3937635" cy="558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Delany-Moretlwe S, Hughes JP, Bock P, et al. Cabotegravir for the prevention of HIV-1 in women: results from HPTN 084. Lancet. 2022;399(10337):1779–1789.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37710" y="1753934"/>
            <a:ext cx="3937635" cy="558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Bailey RC, Moses S, Parker CB, et al. Male circumcision for HIV prevention in young men in Kisumu, Kenya: a randomised controlled trial. Lancet. 2007;369(9562):643–656.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37710" y="2369439"/>
            <a:ext cx="3937635" cy="7383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Coulborn RM, Bastard M, Peyraud N, et al. Case fatality risk among individuals vaccinated with rVSVΔG-ZEBOV-GP in the Democratic Republic of the Congo. Lancet Infect Dis. 2024;24(6):602–610.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37710" y="3164967"/>
            <a:ext cx="3937635" cy="7383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Bugeme PM, Bugale PK, Mukika TF, et al. Community transmission of mpox clade Ib not driven through sexual exposures, Uvira, DRC, 2024. Euro Surveill. 2025;30(50):2500280.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37710" y="3960495"/>
            <a:ext cx="3937635" cy="7383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Kibungu EM, Vakaniaki EH, Kinganda-Lusamaki E, et al. Clade I–associated mpox cases associated with sexual contact, the Democratic Republic of the Congo. Emerg Infect Dis. 2024;30(1):172–176.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37710" y="4756023"/>
            <a:ext cx="3937635" cy="558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Amisi Kengea L, Masamba Bikoki W, Ndumbi Temuangudi V, et al. Mpox–HIV co-infection in the mpox treatment centre, Kokolo, Kinshasa, DRC. Pan Afr Med J. 2025;50(1):13.</a:t>
            </a:r>
            <a:endParaRPr lang="en-US" sz="10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8AA4F28-54D4-674C-B4E8-4788AB35E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371" y="133434"/>
            <a:ext cx="1085760" cy="5903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2921</Words>
  <Application>Microsoft Office PowerPoint</Application>
  <PresentationFormat>On-screen Show (16:9)</PresentationFormat>
  <Paragraphs>283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Courier New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Measures of Effect and Impact — Research Masterclass for Clinicians</dc:title>
  <dc:subject>PptxGenJS Presentation</dc:subject>
  <dc:creator>Newlands Clinic</dc:creator>
  <cp:lastModifiedBy>Tinei Shamu</cp:lastModifiedBy>
  <cp:revision>2</cp:revision>
  <dcterms:created xsi:type="dcterms:W3CDTF">2026-07-03T10:26:31Z</dcterms:created>
  <dcterms:modified xsi:type="dcterms:W3CDTF">2026-08-05T12:06:58Z</dcterms:modified>
</cp:coreProperties>
</file>