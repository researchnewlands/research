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74" r:id="rId11"/>
    <p:sldId id="265" r:id="rId12"/>
    <p:sldId id="266" r:id="rId13"/>
    <p:sldId id="267" r:id="rId14"/>
    <p:sldId id="268" r:id="rId15"/>
    <p:sldId id="269"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444" autoAdjust="0"/>
  </p:normalViewPr>
  <p:slideViewPr>
    <p:cSldViewPr snapToGrid="0" snapToObjects="1">
      <p:cViewPr varScale="1">
        <p:scale>
          <a:sx n="66" d="100"/>
          <a:sy n="66" d="100"/>
        </p:scale>
        <p:origin x="122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ART regimen</c:v>
                </c:pt>
              </c:strCache>
            </c:strRef>
          </c:tx>
          <c:spPr>
            <a:solidFill>
              <a:srgbClr val="2E8B9B"/>
            </a:solidFill>
            <a:effectLst/>
          </c:spPr>
          <c:invertIfNegative val="0"/>
          <c:dPt>
            <c:idx val="0"/>
            <c:invertIfNegative val="0"/>
            <c:bubble3D val="0"/>
            <c:extLst>
              <c:ext xmlns:c16="http://schemas.microsoft.com/office/drawing/2014/chart" uri="{C3380CC4-5D6E-409C-BE32-E72D297353CC}">
                <c16:uniqueId val="{00000001-915D-4CA7-8EC6-48AB6F57EBFE}"/>
              </c:ext>
            </c:extLst>
          </c:dPt>
          <c:dPt>
            <c:idx val="1"/>
            <c:invertIfNegative val="0"/>
            <c:bubble3D val="0"/>
            <c:spPr>
              <a:solidFill>
                <a:srgbClr val="E63425"/>
              </a:solidFill>
              <a:effectLst/>
            </c:spPr>
            <c:extLst>
              <c:ext xmlns:c16="http://schemas.microsoft.com/office/drawing/2014/chart" uri="{C3380CC4-5D6E-409C-BE32-E72D297353CC}">
                <c16:uniqueId val="{00000003-915D-4CA7-8EC6-48AB6F57EBFE}"/>
              </c:ext>
            </c:extLst>
          </c:dPt>
          <c:dPt>
            <c:idx val="2"/>
            <c:invertIfNegative val="0"/>
            <c:bubble3D val="0"/>
            <c:spPr>
              <a:solidFill>
                <a:srgbClr val="F2A93B"/>
              </a:solidFill>
              <a:effectLst/>
            </c:spPr>
            <c:extLst>
              <c:ext xmlns:c16="http://schemas.microsoft.com/office/drawing/2014/chart" uri="{C3380CC4-5D6E-409C-BE32-E72D297353CC}">
                <c16:uniqueId val="{00000005-915D-4CA7-8EC6-48AB6F57EBFE}"/>
              </c:ext>
            </c:extLst>
          </c:dPt>
          <c:dLbls>
            <c:numFmt formatCode="#,##0" sourceLinked="0"/>
            <c:spPr>
              <a:noFill/>
              <a:ln>
                <a:noFill/>
              </a:ln>
              <a:effectLst/>
            </c:spPr>
            <c:txPr>
              <a:bodyPr/>
              <a:lstStyle/>
              <a:p>
                <a:pPr>
                  <a:defRPr sz="800" b="0" i="0" u="none" strike="noStrike">
                    <a:solidFill>
                      <a:srgbClr val="2731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DTG</c:v>
                </c:pt>
                <c:pt idx="1">
                  <c:v>EFV</c:v>
                </c:pt>
                <c:pt idx="2">
                  <c:v>LPVr</c:v>
                </c:pt>
              </c:strCache>
            </c:strRef>
          </c:cat>
          <c:val>
            <c:numRef>
              <c:f>Sheet1!$B$2:$B$4</c:f>
              <c:numCache>
                <c:formatCode>General</c:formatCode>
                <c:ptCount val="3"/>
                <c:pt idx="0">
                  <c:v>58</c:v>
                </c:pt>
                <c:pt idx="1">
                  <c:v>32</c:v>
                </c:pt>
                <c:pt idx="2">
                  <c:v>10</c:v>
                </c:pt>
              </c:numCache>
            </c:numRef>
          </c:val>
          <c:extLst>
            <c:ext xmlns:c16="http://schemas.microsoft.com/office/drawing/2014/chart" uri="{C3380CC4-5D6E-409C-BE32-E72D297353CC}">
              <c16:uniqueId val="{00000006-915D-4CA7-8EC6-48AB6F57EB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3E7EB"/>
            </a:solidFill>
            <a:prstDash val="solid"/>
            <a:round/>
          </a:ln>
        </c:spPr>
        <c:txPr>
          <a:bodyPr/>
          <a:lstStyle/>
          <a:p>
            <a:pPr>
              <a:defRPr sz="8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dLbls>
          <c:showLegendKey val="0"/>
          <c:showVal val="0"/>
          <c:showCatName val="0"/>
          <c:showSerName val="0"/>
          <c:showPercent val="0"/>
          <c:showBubbleSize val="0"/>
        </c:dLbls>
        <c:gapWidth val="1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3E7EB"/>
            </a:solidFill>
            <a:prstDash val="solid"/>
            <a:round/>
          </a:ln>
        </c:spPr>
        <c:txPr>
          <a:bodyPr/>
          <a:lstStyle/>
          <a:p>
            <a:pPr>
              <a:defRPr sz="7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Systolic BP (mmHg)</c:v>
                </c:pt>
              </c:strCache>
            </c:strRef>
          </c:tx>
          <c:spPr>
            <a:ln>
              <a:noFill/>
            </a:ln>
            <a:effectLst/>
          </c:spPr>
          <c:marker>
            <c:symbol val="circle"/>
            <c:size val="5"/>
            <c:spPr>
              <a:solidFill>
                <a:srgbClr val="25374F"/>
              </a:solidFill>
              <a:ln w="9525" cap="flat">
                <a:solidFill>
                  <a:srgbClr val="25374F"/>
                </a:solidFill>
                <a:prstDash val="solid"/>
                <a:round/>
              </a:ln>
              <a:effectLst/>
            </c:spPr>
          </c:marker>
          <c:xVal>
            <c:numRef>
              <c:f>Sheet1!$A$2:$A$11</c:f>
              <c:numCache>
                <c:formatCode>General</c:formatCode>
                <c:ptCount val="10"/>
                <c:pt idx="0">
                  <c:v>18</c:v>
                </c:pt>
                <c:pt idx="1">
                  <c:v>19</c:v>
                </c:pt>
                <c:pt idx="2">
                  <c:v>20</c:v>
                </c:pt>
                <c:pt idx="3">
                  <c:v>20</c:v>
                </c:pt>
                <c:pt idx="4">
                  <c:v>21</c:v>
                </c:pt>
                <c:pt idx="5">
                  <c:v>22</c:v>
                </c:pt>
                <c:pt idx="6">
                  <c:v>22</c:v>
                </c:pt>
                <c:pt idx="7">
                  <c:v>23</c:v>
                </c:pt>
                <c:pt idx="8">
                  <c:v>24</c:v>
                </c:pt>
                <c:pt idx="9">
                  <c:v>24</c:v>
                </c:pt>
              </c:numCache>
            </c:numRef>
          </c:xVal>
          <c:yVal>
            <c:numRef>
              <c:f>Sheet1!$B$2:$B$11</c:f>
              <c:numCache>
                <c:formatCode>General</c:formatCode>
                <c:ptCount val="10"/>
                <c:pt idx="0">
                  <c:v>106</c:v>
                </c:pt>
                <c:pt idx="1">
                  <c:v>110</c:v>
                </c:pt>
                <c:pt idx="2">
                  <c:v>109</c:v>
                </c:pt>
                <c:pt idx="3">
                  <c:v>113</c:v>
                </c:pt>
                <c:pt idx="4">
                  <c:v>114</c:v>
                </c:pt>
                <c:pt idx="5">
                  <c:v>118</c:v>
                </c:pt>
                <c:pt idx="6">
                  <c:v>116</c:v>
                </c:pt>
                <c:pt idx="7">
                  <c:v>121</c:v>
                </c:pt>
                <c:pt idx="8">
                  <c:v>124</c:v>
                </c:pt>
                <c:pt idx="9">
                  <c:v>127</c:v>
                </c:pt>
              </c:numCache>
            </c:numRef>
          </c:yVal>
          <c:smooth val="0"/>
          <c:extLst>
            <c:ext xmlns:c16="http://schemas.microsoft.com/office/drawing/2014/chart" uri="{C3380CC4-5D6E-409C-BE32-E72D297353CC}">
              <c16:uniqueId val="{00000000-18BA-4B77-97D3-C1451FD8B3E5}"/>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5B6B7C"/>
                </a:solidFill>
                <a:latin typeface="Arial"/>
              </a:defRPr>
            </a:pPr>
            <a:endParaRPr lang="en-US"/>
          </a:p>
        </c:txPr>
        <c:crossAx val="2094734552"/>
        <c:crosses val="autoZero"/>
        <c:crossBetween val="midCat"/>
      </c:valAx>
      <c:valAx>
        <c:axId val="2094734552"/>
        <c:scaling>
          <c:orientation val="minMax"/>
        </c:scaling>
        <c:delete val="0"/>
        <c:axPos val="l"/>
        <c:numFmt formatCode="General"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5B6B7C"/>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Enrolment</c:v>
                </c:pt>
              </c:strCache>
            </c:strRef>
          </c:tx>
          <c:spPr>
            <a:ln w="28575" cap="flat">
              <a:solidFill>
                <a:srgbClr val="5B9A56"/>
              </a:solidFill>
              <a:prstDash val="solid"/>
              <a:round/>
            </a:ln>
            <a:effectLst/>
          </c:spPr>
          <c:marker>
            <c:symbol val="circle"/>
            <c:size val="5"/>
            <c:spPr>
              <a:solidFill>
                <a:srgbClr val="5B9A56"/>
              </a:solidFill>
              <a:ln w="9525" cap="flat">
                <a:solidFill>
                  <a:srgbClr val="5B9A56"/>
                </a:solidFill>
                <a:prstDash val="solid"/>
                <a:round/>
              </a:ln>
              <a:effectLst/>
            </c:spPr>
          </c:marker>
          <c:cat>
            <c:strRef>
              <c:f>Sheet1!$A$2:$A$7</c:f>
              <c:strCache>
                <c:ptCount val="6"/>
                <c:pt idx="0">
                  <c:v>2019</c:v>
                </c:pt>
                <c:pt idx="1">
                  <c:v>2020</c:v>
                </c:pt>
                <c:pt idx="2">
                  <c:v>2021</c:v>
                </c:pt>
                <c:pt idx="3">
                  <c:v>2022</c:v>
                </c:pt>
                <c:pt idx="4">
                  <c:v>2023</c:v>
                </c:pt>
                <c:pt idx="5">
                  <c:v>2024</c:v>
                </c:pt>
              </c:strCache>
            </c:strRef>
          </c:cat>
          <c:val>
            <c:numRef>
              <c:f>Sheet1!$B$2:$B$7</c:f>
              <c:numCache>
                <c:formatCode>General</c:formatCode>
                <c:ptCount val="6"/>
                <c:pt idx="0">
                  <c:v>40</c:v>
                </c:pt>
                <c:pt idx="1">
                  <c:v>55</c:v>
                </c:pt>
                <c:pt idx="2">
                  <c:v>60</c:v>
                </c:pt>
                <c:pt idx="3">
                  <c:v>78</c:v>
                </c:pt>
                <c:pt idx="4">
                  <c:v>90</c:v>
                </c:pt>
                <c:pt idx="5">
                  <c:v>104</c:v>
                </c:pt>
              </c:numCache>
            </c:numRef>
          </c:val>
          <c:smooth val="0"/>
          <c:extLst>
            <c:ext xmlns:c16="http://schemas.microsoft.com/office/drawing/2014/chart" uri="{C3380CC4-5D6E-409C-BE32-E72D297353CC}">
              <c16:uniqueId val="{00000000-209F-4786-A792-C643270188F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E3E7EB"/>
            </a:solidFill>
            <a:prstDash val="solid"/>
            <a:round/>
          </a:ln>
        </c:spPr>
        <c:txPr>
          <a:bodyPr/>
          <a:lstStyle/>
          <a:p>
            <a:pPr>
              <a:defRPr sz="75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4496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Before you can choose a statistical test, you must classify your variables correctly. Data type dictates which summary statistic is valid and which chart tells the truth.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Broader categories are categorical and numerical. Under numeric you get discrete and </a:t>
            </a:r>
            <a:r>
              <a:rPr lang="en-US" dirty="0" err="1"/>
              <a:t>continous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Two extreme values (45 and 60 days) will drag the mean upward and inflate the SD, giving a misleading picture of the “typical” stay. The median and IQR are robust to these outliers and better reflect that most patients stayed 3–5 days.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Might be called measures of dispersion in some literature</a:t>
            </a:r>
          </a:p>
          <a:p>
            <a:r>
              <a:rPr lang="en-US" dirty="0"/>
              <a:t>Range, is not usually used but can be useful for setting context</a:t>
            </a:r>
            <a:br>
              <a:rPr lang="en-US" dirty="0"/>
            </a:br>
            <a:r>
              <a:rPr lang="en-US" dirty="0"/>
              <a:t>SD average distance an observation is from the mean</a:t>
            </a:r>
          </a:p>
          <a:p>
            <a:r>
              <a:rPr lang="en-US" dirty="0"/>
              <a:t>IQR usually reported as the q1 and q3 values and often not mixed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A bit of </a:t>
            </a:r>
            <a:r>
              <a:rPr lang="en-GB" dirty="0" err="1"/>
              <a:t>contentext</a:t>
            </a:r>
            <a:endParaRPr lang="en-GB" dirty="0"/>
          </a:p>
        </p:txBody>
      </p:sp>
    </p:spTree>
    <p:extLst>
      <p:ext uri="{BB962C8B-B14F-4D97-AF65-F5344CB8AC3E}">
        <p14:creationId xmlns:p14="http://schemas.microsoft.com/office/powerpoint/2010/main" val="3237247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ART regimen is nominal — the codes 1, 2 and 3 are arbitrary labels with no numeric meaning or order. Averaging them produces a number (“1.8”) that does not correspond to any real regimen. Report it as n (%) per category instead.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Truncated axis. </a:t>
            </a:r>
            <a:r>
              <a:rPr lang="en-ZW"/>
              <a:t>f you start the axis at </a:t>
            </a:r>
            <a:r>
              <a:rPr lang="en-ZW" b="1"/>
              <a:t>95</a:t>
            </a:r>
            <a:r>
              <a:rPr lang="en-ZW"/>
              <a:t>, the bar for 98 is 3 units tall, while the bar for 100 is 5 units tall. Suddenly, 100 looks almost </a:t>
            </a:r>
            <a:r>
              <a:rPr lang="en-ZW" b="1"/>
              <a:t>twice as big</a:t>
            </a:r>
            <a:r>
              <a:rPr lang="en-ZW"/>
              <a:t> as 98, turning a tiny difference into an optical illusion of a huge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reference to this as a site for inspiration over and above the usual charts described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74F"/>
        </a:solidFill>
        <a:effectLst/>
      </p:bgPr>
    </p:bg>
    <p:spTree>
      <p:nvGrpSpPr>
        <p:cNvPr id="1" name=""/>
        <p:cNvGrpSpPr/>
        <p:nvPr/>
      </p:nvGrpSpPr>
      <p:grpSpPr>
        <a:xfrm>
          <a:off x="0" y="0"/>
          <a:ext cx="0" cy="0"/>
          <a:chOff x="0" y="0"/>
          <a:chExt cx="0" cy="0"/>
        </a:xfrm>
      </p:grpSpPr>
      <p:sp>
        <p:nvSpPr>
          <p:cNvPr id="2" name="Shape 0"/>
          <p:cNvSpPr/>
          <p:nvPr/>
        </p:nvSpPr>
        <p:spPr>
          <a:xfrm>
            <a:off x="-2112264" y="-2112264"/>
            <a:ext cx="3840480" cy="3840480"/>
          </a:xfrm>
          <a:prstGeom prst="ellipse">
            <a:avLst/>
          </a:prstGeom>
          <a:solidFill>
            <a:srgbClr val="1B2A3D"/>
          </a:solidFill>
          <a:ln/>
        </p:spPr>
        <p:txBody>
          <a:bodyPr/>
          <a:lstStyle/>
          <a:p>
            <a:endParaRPr lang="en-GB"/>
          </a:p>
        </p:txBody>
      </p:sp>
      <p:sp>
        <p:nvSpPr>
          <p:cNvPr id="3" name="Shape 1"/>
          <p:cNvSpPr/>
          <p:nvPr/>
        </p:nvSpPr>
        <p:spPr>
          <a:xfrm>
            <a:off x="7985455" y="2834640"/>
            <a:ext cx="4206240" cy="4206240"/>
          </a:xfrm>
          <a:prstGeom prst="ellipse">
            <a:avLst/>
          </a:prstGeom>
          <a:solidFill>
            <a:srgbClr val="FFFFFF"/>
          </a:solidFill>
          <a:ln/>
        </p:spPr>
        <p:txBody>
          <a:bodyPr/>
          <a:lstStyle/>
          <a:p>
            <a:endParaRPr lang="en-GB"/>
          </a:p>
        </p:txBody>
      </p:sp>
      <p:sp>
        <p:nvSpPr>
          <p:cNvPr id="4" name="Shape 2"/>
          <p:cNvSpPr/>
          <p:nvPr/>
        </p:nvSpPr>
        <p:spPr>
          <a:xfrm>
            <a:off x="8945575" y="5394960"/>
            <a:ext cx="384048" cy="640080"/>
          </a:xfrm>
          <a:prstGeom prst="rect">
            <a:avLst/>
          </a:prstGeom>
          <a:solidFill>
            <a:srgbClr val="2E8B9B"/>
          </a:solidFill>
          <a:ln/>
        </p:spPr>
        <p:txBody>
          <a:bodyPr/>
          <a:lstStyle/>
          <a:p>
            <a:endParaRPr lang="en-GB"/>
          </a:p>
        </p:txBody>
      </p:sp>
      <p:sp>
        <p:nvSpPr>
          <p:cNvPr id="5" name="Shape 3"/>
          <p:cNvSpPr/>
          <p:nvPr/>
        </p:nvSpPr>
        <p:spPr>
          <a:xfrm>
            <a:off x="9448495" y="4617720"/>
            <a:ext cx="384048" cy="1417320"/>
          </a:xfrm>
          <a:prstGeom prst="rect">
            <a:avLst/>
          </a:prstGeom>
          <a:solidFill>
            <a:srgbClr val="E63425"/>
          </a:solidFill>
          <a:ln/>
        </p:spPr>
        <p:txBody>
          <a:bodyPr/>
          <a:lstStyle/>
          <a:p>
            <a:endParaRPr lang="en-GB"/>
          </a:p>
        </p:txBody>
      </p:sp>
      <p:sp>
        <p:nvSpPr>
          <p:cNvPr id="6" name="Shape 4"/>
          <p:cNvSpPr/>
          <p:nvPr/>
        </p:nvSpPr>
        <p:spPr>
          <a:xfrm>
            <a:off x="9951415" y="5074920"/>
            <a:ext cx="384048" cy="960120"/>
          </a:xfrm>
          <a:prstGeom prst="rect">
            <a:avLst/>
          </a:prstGeom>
          <a:solidFill>
            <a:srgbClr val="F2A93B"/>
          </a:solidFill>
          <a:ln/>
        </p:spPr>
        <p:txBody>
          <a:bodyPr/>
          <a:lstStyle/>
          <a:p>
            <a:endParaRPr lang="en-GB"/>
          </a:p>
        </p:txBody>
      </p:sp>
      <p:sp>
        <p:nvSpPr>
          <p:cNvPr id="7" name="Shape 5"/>
          <p:cNvSpPr/>
          <p:nvPr/>
        </p:nvSpPr>
        <p:spPr>
          <a:xfrm>
            <a:off x="10454335" y="4800600"/>
            <a:ext cx="384048" cy="1234440"/>
          </a:xfrm>
          <a:prstGeom prst="rect">
            <a:avLst/>
          </a:prstGeom>
          <a:solidFill>
            <a:srgbClr val="5B9A56"/>
          </a:solidFill>
          <a:ln/>
        </p:spPr>
        <p:txBody>
          <a:bodyPr/>
          <a:lstStyle/>
          <a:p>
            <a:endParaRPr lang="en-GB"/>
          </a:p>
        </p:txBody>
      </p:sp>
      <p:pic>
        <p:nvPicPr>
          <p:cNvPr id="8" name="Image 0" descr="/home/claude/pptx_build/logo.png"/>
          <p:cNvPicPr>
            <a:picLocks noChangeAspect="1"/>
          </p:cNvPicPr>
          <p:nvPr/>
        </p:nvPicPr>
        <p:blipFill>
          <a:blip r:embed="rId3"/>
          <a:stretch>
            <a:fillRect/>
          </a:stretch>
        </p:blipFill>
        <p:spPr>
          <a:xfrm>
            <a:off x="548640" y="502920"/>
            <a:ext cx="1554480" cy="1024128"/>
          </a:xfrm>
          <a:prstGeom prst="rect">
            <a:avLst/>
          </a:prstGeom>
        </p:spPr>
      </p:pic>
      <p:sp>
        <p:nvSpPr>
          <p:cNvPr id="9" name="Text 6"/>
          <p:cNvSpPr/>
          <p:nvPr/>
        </p:nvSpPr>
        <p:spPr>
          <a:xfrm>
            <a:off x="548640" y="1874520"/>
            <a:ext cx="8229600" cy="365760"/>
          </a:xfrm>
          <a:prstGeom prst="rect">
            <a:avLst/>
          </a:prstGeom>
          <a:noFill/>
          <a:ln/>
        </p:spPr>
        <p:txBody>
          <a:bodyPr wrap="square" rtlCol="0" anchor="ctr"/>
          <a:lstStyle/>
          <a:p>
            <a:pPr marL="0" indent="0">
              <a:buNone/>
            </a:pPr>
            <a:r>
              <a:rPr lang="en-US" sz="1400" b="1" kern="0" spc="120" dirty="0">
                <a:solidFill>
                  <a:srgbClr val="E63425"/>
                </a:solidFill>
                <a:latin typeface="Calibri" pitchFamily="34" charset="0"/>
                <a:ea typeface="Calibri" pitchFamily="34" charset="-122"/>
                <a:cs typeface="Calibri" pitchFamily="34" charset="-120"/>
              </a:rPr>
              <a:t>RESEARCH MASTERCLASS FOR CLINICIANS  ·  MODULE 2</a:t>
            </a:r>
            <a:endParaRPr lang="en-US" sz="1400" dirty="0"/>
          </a:p>
        </p:txBody>
      </p:sp>
      <p:sp>
        <p:nvSpPr>
          <p:cNvPr id="10" name="Text 7"/>
          <p:cNvSpPr/>
          <p:nvPr/>
        </p:nvSpPr>
        <p:spPr>
          <a:xfrm>
            <a:off x="548640" y="2148840"/>
            <a:ext cx="7040880" cy="155448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Data Types, Summary &amp; Presentation</a:t>
            </a:r>
            <a:endParaRPr lang="en-US" sz="4000" dirty="0"/>
          </a:p>
        </p:txBody>
      </p:sp>
      <p:sp>
        <p:nvSpPr>
          <p:cNvPr id="11" name="Text 8"/>
          <p:cNvSpPr/>
          <p:nvPr/>
        </p:nvSpPr>
        <p:spPr>
          <a:xfrm>
            <a:off x="548640" y="3794760"/>
            <a:ext cx="8046720" cy="502920"/>
          </a:xfrm>
          <a:prstGeom prst="rect">
            <a:avLst/>
          </a:prstGeom>
          <a:noFill/>
          <a:ln/>
        </p:spPr>
        <p:txBody>
          <a:bodyPr wrap="square" rtlCol="0" anchor="ctr"/>
          <a:lstStyle/>
          <a:p>
            <a:pPr marL="0" indent="0">
              <a:buNone/>
            </a:pPr>
            <a:r>
              <a:rPr lang="en-US" sz="2100" b="1" dirty="0">
                <a:solidFill>
                  <a:srgbClr val="E63425"/>
                </a:solidFill>
                <a:latin typeface="Calibri" pitchFamily="34" charset="0"/>
                <a:ea typeface="Calibri" pitchFamily="34" charset="-122"/>
                <a:cs typeface="Calibri" pitchFamily="34" charset="-120"/>
              </a:rPr>
              <a:t>From Raw Numbers to a Publication-Ready Table 1</a:t>
            </a:r>
            <a:endParaRPr lang="en-US" sz="2100" dirty="0"/>
          </a:p>
        </p:txBody>
      </p:sp>
      <p:sp>
        <p:nvSpPr>
          <p:cNvPr id="12" name="Text 9"/>
          <p:cNvSpPr/>
          <p:nvPr/>
        </p:nvSpPr>
        <p:spPr>
          <a:xfrm>
            <a:off x="548640" y="4343400"/>
            <a:ext cx="6675120" cy="731520"/>
          </a:xfrm>
          <a:prstGeom prst="rect">
            <a:avLst/>
          </a:prstGeom>
          <a:noFill/>
          <a:ln/>
        </p:spPr>
        <p:txBody>
          <a:bodyPr wrap="square" rtlCol="0" anchor="ctr"/>
          <a:lstStyle/>
          <a:p>
            <a:pPr marL="0" indent="0">
              <a:lnSpc>
                <a:spcPct val="120000"/>
              </a:lnSpc>
              <a:buNone/>
            </a:pPr>
            <a:r>
              <a:rPr lang="en-US" sz="1300" i="1" dirty="0">
                <a:solidFill>
                  <a:srgbClr val="C9D3DD"/>
                </a:solidFill>
                <a:latin typeface="Calibri" pitchFamily="34" charset="0"/>
                <a:ea typeface="Calibri" pitchFamily="34" charset="-122"/>
                <a:cs typeface="Calibri" pitchFamily="34" charset="-120"/>
              </a:rPr>
              <a:t>Built around peer-reviewed evidence from Zimbabwe, Zambia and Southern Africa — HIV, metabolic syndrome and adolescent hypertension datasets.</a:t>
            </a:r>
            <a:endParaRPr lang="en-US" sz="1300" dirty="0"/>
          </a:p>
        </p:txBody>
      </p:sp>
      <p:sp>
        <p:nvSpPr>
          <p:cNvPr id="13" name="Text 10"/>
          <p:cNvSpPr/>
          <p:nvPr/>
        </p:nvSpPr>
        <p:spPr>
          <a:xfrm>
            <a:off x="548640" y="6355080"/>
            <a:ext cx="3657600" cy="274320"/>
          </a:xfrm>
          <a:prstGeom prst="rect">
            <a:avLst/>
          </a:prstGeom>
          <a:noFill/>
          <a:ln/>
        </p:spPr>
        <p:txBody>
          <a:bodyPr wrap="square" rtlCol="0" anchor="ctr"/>
          <a:lstStyle/>
          <a:p>
            <a:pPr marL="0" indent="0">
              <a:buNone/>
            </a:pPr>
            <a:r>
              <a:rPr lang="en-US" sz="1100" dirty="0">
                <a:solidFill>
                  <a:srgbClr val="C9D3DD"/>
                </a:solidFill>
                <a:latin typeface="Calibri" pitchFamily="34" charset="0"/>
                <a:ea typeface="Calibri" pitchFamily="34" charset="-122"/>
                <a:cs typeface="Calibri" pitchFamily="34" charset="-120"/>
              </a:rPr>
              <a:t>www.newlandsclinic.org.zw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MODULE 2 · TOPIC 2 · STATISTICS FOR EPIDEMIOLOGY</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Data Types, Summary &amp; Presentation</a:t>
            </a:r>
            <a:endParaRPr lang="en-US" sz="3000" dirty="0"/>
          </a:p>
        </p:txBody>
      </p:sp>
      <p:sp>
        <p:nvSpPr>
          <p:cNvPr id="8" name="Text 5"/>
          <p:cNvSpPr/>
          <p:nvPr/>
        </p:nvSpPr>
        <p:spPr>
          <a:xfrm>
            <a:off x="548640" y="2148840"/>
            <a:ext cx="6400800" cy="320040"/>
          </a:xfrm>
          <a:prstGeom prst="rect">
            <a:avLst/>
          </a:prstGeom>
          <a:noFill/>
          <a:ln/>
        </p:spPr>
        <p:txBody>
          <a:bodyPr wrap="square" rtlCol="0" anchor="t"/>
          <a:lstStyle/>
          <a:p>
            <a:pPr marL="0" indent="0" algn="l">
              <a:lnSpc>
                <a:spcPct val="112000"/>
              </a:lnSpc>
              <a:buNone/>
            </a:pPr>
            <a:r>
              <a:rPr lang="en-US" sz="1250" b="1" dirty="0">
                <a:solidFill>
                  <a:srgbClr val="E63425"/>
                </a:solidFill>
                <a:latin typeface="Calibri" pitchFamily="34" charset="0"/>
                <a:ea typeface="Calibri" pitchFamily="34" charset="-122"/>
                <a:cs typeface="Calibri" pitchFamily="34" charset="-120"/>
              </a:rPr>
              <a:t>BY THE END OF THIS SESSION, YOU WILL BE ABLE TO:</a:t>
            </a:r>
            <a:endParaRPr lang="en-US" sz="1250" dirty="0"/>
          </a:p>
        </p:txBody>
      </p:sp>
      <p:sp>
        <p:nvSpPr>
          <p:cNvPr id="9" name="Shape 6"/>
          <p:cNvSpPr/>
          <p:nvPr/>
        </p:nvSpPr>
        <p:spPr>
          <a:xfrm>
            <a:off x="548640" y="2542032"/>
            <a:ext cx="329184" cy="329184"/>
          </a:xfrm>
          <a:prstGeom prst="ellipse">
            <a:avLst/>
          </a:prstGeom>
          <a:solidFill>
            <a:srgbClr val="25374F"/>
          </a:solidFill>
          <a:ln/>
        </p:spPr>
        <p:txBody>
          <a:bodyPr/>
          <a:lstStyle/>
          <a:p>
            <a:endParaRPr lang="en-GB"/>
          </a:p>
        </p:txBody>
      </p:sp>
      <p:sp>
        <p:nvSpPr>
          <p:cNvPr id="10" name="Text 7"/>
          <p:cNvSpPr/>
          <p:nvPr/>
        </p:nvSpPr>
        <p:spPr>
          <a:xfrm>
            <a:off x="548640" y="2542032"/>
            <a:ext cx="329184"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8"/>
          <p:cNvSpPr/>
          <p:nvPr/>
        </p:nvSpPr>
        <p:spPr>
          <a:xfrm>
            <a:off x="1051560" y="2523744"/>
            <a:ext cx="6309360" cy="502920"/>
          </a:xfrm>
          <a:prstGeom prst="rect">
            <a:avLst/>
          </a:prstGeom>
          <a:noFill/>
          <a:ln/>
        </p:spPr>
        <p:txBody>
          <a:bodyPr wrap="square" rtlCol="0" anchor="t"/>
          <a:lstStyle/>
          <a:p>
            <a:pPr marL="0" indent="0" algn="l">
              <a:lnSpc>
                <a:spcPct val="112000"/>
              </a:lnSpc>
              <a:buNone/>
            </a:pPr>
            <a:r>
              <a:rPr lang="en-US" sz="1350" dirty="0">
                <a:solidFill>
                  <a:srgbClr val="27313B"/>
                </a:solidFill>
                <a:latin typeface="Calibri" pitchFamily="34" charset="0"/>
                <a:ea typeface="Calibri" pitchFamily="34" charset="-122"/>
                <a:cs typeface="Calibri" pitchFamily="34" charset="-120"/>
              </a:rPr>
              <a:t>Classify a variable as nominal, ordinal, discrete or continuous.</a:t>
            </a:r>
            <a:endParaRPr lang="en-US" sz="1350" dirty="0"/>
          </a:p>
        </p:txBody>
      </p:sp>
      <p:sp>
        <p:nvSpPr>
          <p:cNvPr id="12" name="Shape 9"/>
          <p:cNvSpPr/>
          <p:nvPr/>
        </p:nvSpPr>
        <p:spPr>
          <a:xfrm>
            <a:off x="548640" y="3145536"/>
            <a:ext cx="329184" cy="329184"/>
          </a:xfrm>
          <a:prstGeom prst="ellipse">
            <a:avLst/>
          </a:prstGeom>
          <a:solidFill>
            <a:srgbClr val="25374F"/>
          </a:solidFill>
          <a:ln/>
        </p:spPr>
        <p:txBody>
          <a:bodyPr/>
          <a:lstStyle/>
          <a:p>
            <a:endParaRPr lang="en-GB"/>
          </a:p>
        </p:txBody>
      </p:sp>
      <p:sp>
        <p:nvSpPr>
          <p:cNvPr id="13" name="Text 10"/>
          <p:cNvSpPr/>
          <p:nvPr/>
        </p:nvSpPr>
        <p:spPr>
          <a:xfrm>
            <a:off x="548640" y="3145536"/>
            <a:ext cx="329184"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1"/>
          <p:cNvSpPr/>
          <p:nvPr/>
        </p:nvSpPr>
        <p:spPr>
          <a:xfrm>
            <a:off x="1051560" y="3127248"/>
            <a:ext cx="6309360" cy="502920"/>
          </a:xfrm>
          <a:prstGeom prst="rect">
            <a:avLst/>
          </a:prstGeom>
          <a:noFill/>
          <a:ln/>
        </p:spPr>
        <p:txBody>
          <a:bodyPr wrap="square" rtlCol="0" anchor="t"/>
          <a:lstStyle/>
          <a:p>
            <a:pPr marL="0" indent="0" algn="l">
              <a:lnSpc>
                <a:spcPct val="112000"/>
              </a:lnSpc>
              <a:buNone/>
            </a:pPr>
            <a:r>
              <a:rPr lang="en-US" sz="1350" dirty="0">
                <a:solidFill>
                  <a:srgbClr val="27313B"/>
                </a:solidFill>
                <a:latin typeface="Calibri" pitchFamily="34" charset="0"/>
                <a:ea typeface="Calibri" pitchFamily="34" charset="-122"/>
                <a:cs typeface="Calibri" pitchFamily="34" charset="-120"/>
              </a:rPr>
              <a:t>Choose the correct central tendency measure (mean, median, mode) for a given variable.</a:t>
            </a:r>
            <a:endParaRPr lang="en-US" sz="1350" dirty="0"/>
          </a:p>
        </p:txBody>
      </p:sp>
      <p:sp>
        <p:nvSpPr>
          <p:cNvPr id="15" name="Shape 12"/>
          <p:cNvSpPr/>
          <p:nvPr/>
        </p:nvSpPr>
        <p:spPr>
          <a:xfrm>
            <a:off x="548640" y="3749040"/>
            <a:ext cx="329184" cy="329184"/>
          </a:xfrm>
          <a:prstGeom prst="ellipse">
            <a:avLst/>
          </a:prstGeom>
          <a:solidFill>
            <a:srgbClr val="25374F"/>
          </a:solidFill>
          <a:ln/>
        </p:spPr>
        <p:txBody>
          <a:bodyPr/>
          <a:lstStyle/>
          <a:p>
            <a:endParaRPr lang="en-GB"/>
          </a:p>
        </p:txBody>
      </p:sp>
      <p:sp>
        <p:nvSpPr>
          <p:cNvPr id="16" name="Text 13"/>
          <p:cNvSpPr/>
          <p:nvPr/>
        </p:nvSpPr>
        <p:spPr>
          <a:xfrm>
            <a:off x="548640" y="3749040"/>
            <a:ext cx="329184"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4"/>
          <p:cNvSpPr/>
          <p:nvPr/>
        </p:nvSpPr>
        <p:spPr>
          <a:xfrm>
            <a:off x="1051560" y="3730752"/>
            <a:ext cx="6309360" cy="502920"/>
          </a:xfrm>
          <a:prstGeom prst="rect">
            <a:avLst/>
          </a:prstGeom>
          <a:noFill/>
          <a:ln/>
        </p:spPr>
        <p:txBody>
          <a:bodyPr wrap="square" rtlCol="0" anchor="t"/>
          <a:lstStyle/>
          <a:p>
            <a:pPr marL="0" indent="0" algn="l">
              <a:lnSpc>
                <a:spcPct val="112000"/>
              </a:lnSpc>
              <a:buNone/>
            </a:pPr>
            <a:r>
              <a:rPr lang="en-US" sz="1350" dirty="0">
                <a:solidFill>
                  <a:srgbClr val="27313B"/>
                </a:solidFill>
                <a:latin typeface="Calibri" pitchFamily="34" charset="0"/>
                <a:ea typeface="Calibri" pitchFamily="34" charset="-122"/>
                <a:cs typeface="Calibri" pitchFamily="34" charset="-120"/>
              </a:rPr>
              <a:t>Choose the correct dispersion measure (range, IQR, variance, SD) and interpret it.</a:t>
            </a:r>
            <a:endParaRPr lang="en-US" sz="1350" dirty="0"/>
          </a:p>
        </p:txBody>
      </p:sp>
      <p:sp>
        <p:nvSpPr>
          <p:cNvPr id="18" name="Shape 15"/>
          <p:cNvSpPr/>
          <p:nvPr/>
        </p:nvSpPr>
        <p:spPr>
          <a:xfrm>
            <a:off x="548640" y="4352544"/>
            <a:ext cx="329184" cy="329184"/>
          </a:xfrm>
          <a:prstGeom prst="ellipse">
            <a:avLst/>
          </a:prstGeom>
          <a:solidFill>
            <a:srgbClr val="25374F"/>
          </a:solidFill>
          <a:ln/>
        </p:spPr>
        <p:txBody>
          <a:bodyPr/>
          <a:lstStyle/>
          <a:p>
            <a:endParaRPr lang="en-GB"/>
          </a:p>
        </p:txBody>
      </p:sp>
      <p:sp>
        <p:nvSpPr>
          <p:cNvPr id="19" name="Text 16"/>
          <p:cNvSpPr/>
          <p:nvPr/>
        </p:nvSpPr>
        <p:spPr>
          <a:xfrm>
            <a:off x="548640" y="4352544"/>
            <a:ext cx="329184"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7"/>
          <p:cNvSpPr/>
          <p:nvPr/>
        </p:nvSpPr>
        <p:spPr>
          <a:xfrm>
            <a:off x="1051560" y="4334256"/>
            <a:ext cx="6309360" cy="502920"/>
          </a:xfrm>
          <a:prstGeom prst="rect">
            <a:avLst/>
          </a:prstGeom>
          <a:noFill/>
          <a:ln/>
        </p:spPr>
        <p:txBody>
          <a:bodyPr wrap="square" rtlCol="0" anchor="t"/>
          <a:lstStyle/>
          <a:p>
            <a:pPr marL="0" indent="0" algn="l">
              <a:lnSpc>
                <a:spcPct val="112000"/>
              </a:lnSpc>
              <a:buNone/>
            </a:pPr>
            <a:r>
              <a:rPr lang="en-US" sz="1350" dirty="0">
                <a:solidFill>
                  <a:srgbClr val="27313B"/>
                </a:solidFill>
                <a:latin typeface="Calibri" pitchFamily="34" charset="0"/>
                <a:ea typeface="Calibri" pitchFamily="34" charset="-122"/>
                <a:cs typeface="Calibri" pitchFamily="34" charset="-120"/>
              </a:rPr>
              <a:t>Recognise skewed vs symmetric distributions and know when mean/SD misleads.</a:t>
            </a:r>
            <a:endParaRPr lang="en-US" sz="1350" dirty="0"/>
          </a:p>
        </p:txBody>
      </p:sp>
      <p:sp>
        <p:nvSpPr>
          <p:cNvPr id="21" name="Shape 18"/>
          <p:cNvSpPr/>
          <p:nvPr/>
        </p:nvSpPr>
        <p:spPr>
          <a:xfrm>
            <a:off x="548640" y="4956048"/>
            <a:ext cx="329184" cy="329184"/>
          </a:xfrm>
          <a:prstGeom prst="ellipse">
            <a:avLst/>
          </a:prstGeom>
          <a:solidFill>
            <a:srgbClr val="25374F"/>
          </a:solidFill>
          <a:ln/>
        </p:spPr>
        <p:txBody>
          <a:bodyPr/>
          <a:lstStyle/>
          <a:p>
            <a:endParaRPr lang="en-GB"/>
          </a:p>
        </p:txBody>
      </p:sp>
      <p:sp>
        <p:nvSpPr>
          <p:cNvPr id="22" name="Text 19"/>
          <p:cNvSpPr/>
          <p:nvPr/>
        </p:nvSpPr>
        <p:spPr>
          <a:xfrm>
            <a:off x="548640" y="4956048"/>
            <a:ext cx="329184"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0"/>
          <p:cNvSpPr/>
          <p:nvPr/>
        </p:nvSpPr>
        <p:spPr>
          <a:xfrm>
            <a:off x="1051560" y="4937760"/>
            <a:ext cx="6309360" cy="502920"/>
          </a:xfrm>
          <a:prstGeom prst="rect">
            <a:avLst/>
          </a:prstGeom>
          <a:noFill/>
          <a:ln/>
        </p:spPr>
        <p:txBody>
          <a:bodyPr wrap="square" rtlCol="0" anchor="t"/>
          <a:lstStyle/>
          <a:p>
            <a:pPr marL="0" indent="0" algn="l">
              <a:lnSpc>
                <a:spcPct val="112000"/>
              </a:lnSpc>
              <a:buNone/>
            </a:pPr>
            <a:r>
              <a:rPr lang="en-US" sz="1350" dirty="0">
                <a:solidFill>
                  <a:srgbClr val="27313B"/>
                </a:solidFill>
                <a:latin typeface="Calibri" pitchFamily="34" charset="0"/>
                <a:ea typeface="Calibri" pitchFamily="34" charset="-122"/>
                <a:cs typeface="Calibri" pitchFamily="34" charset="-120"/>
              </a:rPr>
              <a:t>Construct a baseline “Table 1” and select the correct chart type for a variable.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1 · FOUNDATIONS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Why the Data Type Comes First</a:t>
            </a:r>
            <a:endParaRPr lang="en-US" sz="3000" dirty="0"/>
          </a:p>
        </p:txBody>
      </p:sp>
      <p:sp>
        <p:nvSpPr>
          <p:cNvPr id="7" name="Text 4"/>
          <p:cNvSpPr/>
          <p:nvPr/>
        </p:nvSpPr>
        <p:spPr>
          <a:xfrm>
            <a:off x="548640" y="1600200"/>
            <a:ext cx="6675120" cy="731520"/>
          </a:xfrm>
          <a:prstGeom prst="rect">
            <a:avLst/>
          </a:prstGeom>
          <a:noFill/>
          <a:ln/>
        </p:spPr>
        <p:txBody>
          <a:bodyPr wrap="square" rtlCol="0" anchor="t"/>
          <a:lstStyle/>
          <a:p>
            <a:pPr marL="0" indent="0" algn="l">
              <a:lnSpc>
                <a:spcPct val="120000"/>
              </a:lnSpc>
              <a:buNone/>
            </a:pPr>
            <a:r>
              <a:rPr lang="en-US" sz="1350" dirty="0">
                <a:solidFill>
                  <a:srgbClr val="27313B"/>
                </a:solidFill>
                <a:latin typeface="Calibri" pitchFamily="34" charset="0"/>
                <a:ea typeface="Calibri" pitchFamily="34" charset="-122"/>
                <a:cs typeface="Calibri" pitchFamily="34" charset="-120"/>
              </a:rPr>
              <a:t>Every summary statistic and every chart assumes a specific data type. Get the type wrong, and the “summary” becomes meaningless — or actively misleading.</a:t>
            </a:r>
            <a:endParaRPr lang="en-US" sz="1350" dirty="0"/>
          </a:p>
        </p:txBody>
      </p:sp>
      <p:sp>
        <p:nvSpPr>
          <p:cNvPr id="8" name="Shape 5"/>
          <p:cNvSpPr/>
          <p:nvPr/>
        </p:nvSpPr>
        <p:spPr>
          <a:xfrm>
            <a:off x="548640" y="2331720"/>
            <a:ext cx="6675120" cy="1481328"/>
          </a:xfrm>
          <a:prstGeom prst="roundRect">
            <a:avLst>
              <a:gd name="adj" fmla="val 5556"/>
            </a:avLst>
          </a:prstGeom>
          <a:solidFill>
            <a:srgbClr val="F4F5F7"/>
          </a:solidFill>
          <a:ln/>
        </p:spPr>
        <p:txBody>
          <a:bodyPr/>
          <a:lstStyle/>
          <a:p>
            <a:endParaRPr lang="en-GB"/>
          </a:p>
        </p:txBody>
      </p:sp>
      <p:sp>
        <p:nvSpPr>
          <p:cNvPr id="9" name="Text 6"/>
          <p:cNvSpPr/>
          <p:nvPr/>
        </p:nvSpPr>
        <p:spPr>
          <a:xfrm>
            <a:off x="777240" y="2441448"/>
            <a:ext cx="1554480" cy="1234440"/>
          </a:xfrm>
          <a:prstGeom prst="rect">
            <a:avLst/>
          </a:prstGeom>
          <a:noFill/>
          <a:ln/>
        </p:spPr>
        <p:txBody>
          <a:bodyPr wrap="square" rtlCol="0" anchor="ctr"/>
          <a:lstStyle/>
          <a:p>
            <a:pPr marL="0" indent="0">
              <a:buNone/>
            </a:pPr>
            <a:r>
              <a:rPr lang="en-US" sz="3400" b="1" dirty="0">
                <a:solidFill>
                  <a:srgbClr val="E63425"/>
                </a:solidFill>
                <a:latin typeface="Cambria" pitchFamily="34" charset="0"/>
                <a:ea typeface="Cambria" pitchFamily="34" charset="-122"/>
                <a:cs typeface="Cambria" pitchFamily="34" charset="-120"/>
              </a:rPr>
              <a:t>901</a:t>
            </a:r>
            <a:endParaRPr lang="en-US" sz="3400" dirty="0"/>
          </a:p>
        </p:txBody>
      </p:sp>
      <p:sp>
        <p:nvSpPr>
          <p:cNvPr id="10" name="Text 7"/>
          <p:cNvSpPr/>
          <p:nvPr/>
        </p:nvSpPr>
        <p:spPr>
          <a:xfrm>
            <a:off x="2423160" y="2459736"/>
            <a:ext cx="4617720" cy="1234440"/>
          </a:xfrm>
          <a:prstGeom prst="rect">
            <a:avLst/>
          </a:prstGeom>
          <a:noFill/>
          <a:ln/>
        </p:spPr>
        <p:txBody>
          <a:bodyPr wrap="square" rtlCol="0" anchor="t"/>
          <a:lstStyle/>
          <a:p>
            <a:pPr marL="0" indent="0" algn="l">
              <a:lnSpc>
                <a:spcPct val="115000"/>
              </a:lnSpc>
              <a:buNone/>
            </a:pPr>
            <a:r>
              <a:rPr lang="en-US" sz="1100" dirty="0">
                <a:solidFill>
                  <a:srgbClr val="27313B"/>
                </a:solidFill>
                <a:latin typeface="Calibri" pitchFamily="34" charset="0"/>
                <a:ea typeface="Calibri" pitchFamily="34" charset="-122"/>
                <a:cs typeface="Calibri" pitchFamily="34" charset="-120"/>
              </a:rPr>
              <a:t>Participants screened in Chihota et al. (2022, J Int AIDS Soc) across Zambia &amp; Zimbabwe — a mix of categorical (sex, HIV status), discrete (age in years) and continuous (CD4 count, viral load) variables in one dataset.</a:t>
            </a:r>
            <a:endParaRPr lang="en-US" sz="1100" dirty="0"/>
          </a:p>
        </p:txBody>
      </p:sp>
      <p:sp>
        <p:nvSpPr>
          <p:cNvPr id="11" name="Shape 8"/>
          <p:cNvSpPr/>
          <p:nvPr/>
        </p:nvSpPr>
        <p:spPr>
          <a:xfrm>
            <a:off x="548640" y="3977640"/>
            <a:ext cx="6675120" cy="1481328"/>
          </a:xfrm>
          <a:prstGeom prst="roundRect">
            <a:avLst>
              <a:gd name="adj" fmla="val 5556"/>
            </a:avLst>
          </a:prstGeom>
          <a:solidFill>
            <a:srgbClr val="F4F5F7"/>
          </a:solidFill>
          <a:ln/>
        </p:spPr>
        <p:txBody>
          <a:bodyPr/>
          <a:lstStyle/>
          <a:p>
            <a:endParaRPr lang="en-GB"/>
          </a:p>
        </p:txBody>
      </p:sp>
      <p:sp>
        <p:nvSpPr>
          <p:cNvPr id="12" name="Text 9"/>
          <p:cNvSpPr/>
          <p:nvPr/>
        </p:nvSpPr>
        <p:spPr>
          <a:xfrm>
            <a:off x="777240" y="4087368"/>
            <a:ext cx="1554480" cy="1234440"/>
          </a:xfrm>
          <a:prstGeom prst="rect">
            <a:avLst/>
          </a:prstGeom>
          <a:noFill/>
          <a:ln/>
        </p:spPr>
        <p:txBody>
          <a:bodyPr wrap="square" rtlCol="0" anchor="ctr"/>
          <a:lstStyle/>
          <a:p>
            <a:pPr marL="0" indent="0">
              <a:buNone/>
            </a:pPr>
            <a:r>
              <a:rPr lang="en-US" sz="3400" b="1" dirty="0">
                <a:solidFill>
                  <a:srgbClr val="E63425"/>
                </a:solidFill>
                <a:latin typeface="Cambria" pitchFamily="34" charset="0"/>
                <a:ea typeface="Cambria" pitchFamily="34" charset="-122"/>
                <a:cs typeface="Cambria" pitchFamily="34" charset="-120"/>
              </a:rPr>
              <a:t>16,883</a:t>
            </a:r>
            <a:endParaRPr lang="en-US" sz="3400" dirty="0"/>
          </a:p>
        </p:txBody>
      </p:sp>
      <p:sp>
        <p:nvSpPr>
          <p:cNvPr id="13" name="Text 10"/>
          <p:cNvSpPr/>
          <p:nvPr/>
        </p:nvSpPr>
        <p:spPr>
          <a:xfrm>
            <a:off x="2423160" y="4105656"/>
            <a:ext cx="4617720" cy="1234440"/>
          </a:xfrm>
          <a:prstGeom prst="rect">
            <a:avLst/>
          </a:prstGeom>
          <a:noFill/>
          <a:ln/>
        </p:spPr>
        <p:txBody>
          <a:bodyPr wrap="square" rtlCol="0" anchor="t"/>
          <a:lstStyle/>
          <a:p>
            <a:pPr marL="0" indent="0" algn="l">
              <a:lnSpc>
                <a:spcPct val="115000"/>
              </a:lnSpc>
              <a:buNone/>
            </a:pPr>
            <a:r>
              <a:rPr lang="en-US" sz="1100" dirty="0">
                <a:solidFill>
                  <a:srgbClr val="27313B"/>
                </a:solidFill>
                <a:latin typeface="Calibri" pitchFamily="34" charset="0"/>
                <a:ea typeface="Calibri" pitchFamily="34" charset="-122"/>
                <a:cs typeface="Calibri" pitchFamily="34" charset="-120"/>
              </a:rPr>
              <a:t>Youth aged 18–24 analysed in Sabapathy et al. (2024, Lancet Child Adolesc Health) — systolic/diastolic BP (continuous), hypertension status (binary categorical), and age (discrete, median 20, IQR 19–22).</a:t>
            </a:r>
            <a:endParaRPr lang="en-US" sz="1100" dirty="0"/>
          </a:p>
        </p:txBody>
      </p:sp>
      <p:sp>
        <p:nvSpPr>
          <p:cNvPr id="14" name="Shape 11"/>
          <p:cNvSpPr/>
          <p:nvPr/>
        </p:nvSpPr>
        <p:spPr>
          <a:xfrm>
            <a:off x="7452360" y="1600200"/>
            <a:ext cx="4190695" cy="4480560"/>
          </a:xfrm>
          <a:prstGeom prst="roundRect">
            <a:avLst>
              <a:gd name="adj" fmla="val 1964"/>
            </a:avLst>
          </a:prstGeom>
          <a:solidFill>
            <a:srgbClr val="25374F"/>
          </a:solidFill>
          <a:ln/>
        </p:spPr>
        <p:txBody>
          <a:bodyPr/>
          <a:lstStyle/>
          <a:p>
            <a:endParaRPr lang="en-GB"/>
          </a:p>
        </p:txBody>
      </p:sp>
      <p:sp>
        <p:nvSpPr>
          <p:cNvPr id="15" name="Text 12"/>
          <p:cNvSpPr/>
          <p:nvPr/>
        </p:nvSpPr>
        <p:spPr>
          <a:xfrm>
            <a:off x="7726680" y="1828800"/>
            <a:ext cx="3642055" cy="320040"/>
          </a:xfrm>
          <a:prstGeom prst="rect">
            <a:avLst/>
          </a:prstGeom>
          <a:noFill/>
          <a:ln/>
        </p:spPr>
        <p:txBody>
          <a:bodyPr wrap="square" rtlCol="0" anchor="t"/>
          <a:lstStyle/>
          <a:p>
            <a:pPr marL="0" indent="0" algn="l">
              <a:lnSpc>
                <a:spcPct val="112000"/>
              </a:lnSpc>
              <a:buNone/>
            </a:pPr>
            <a:r>
              <a:rPr lang="en-US" sz="1250" b="1" dirty="0">
                <a:solidFill>
                  <a:srgbClr val="E63425"/>
                </a:solidFill>
                <a:latin typeface="Calibri" pitchFamily="34" charset="0"/>
                <a:ea typeface="Calibri" pitchFamily="34" charset="-122"/>
                <a:cs typeface="Calibri" pitchFamily="34" charset="-120"/>
              </a:rPr>
              <a:t>THE GOLDEN RULE</a:t>
            </a:r>
            <a:endParaRPr lang="en-US" sz="1250" dirty="0"/>
          </a:p>
        </p:txBody>
      </p:sp>
      <p:sp>
        <p:nvSpPr>
          <p:cNvPr id="16" name="Text 13"/>
          <p:cNvSpPr/>
          <p:nvPr/>
        </p:nvSpPr>
        <p:spPr>
          <a:xfrm>
            <a:off x="7726680" y="2176272"/>
            <a:ext cx="3642055" cy="457200"/>
          </a:xfrm>
          <a:prstGeom prst="rect">
            <a:avLst/>
          </a:prstGeom>
          <a:noFill/>
          <a:ln/>
        </p:spPr>
        <p:txBody>
          <a:bodyPr wrap="square" rtlCol="0" anchor="t"/>
          <a:lstStyle/>
          <a:p>
            <a:pPr marL="0" indent="0" algn="l">
              <a:lnSpc>
                <a:spcPct val="112000"/>
              </a:lnSpc>
              <a:buNone/>
            </a:pPr>
            <a:r>
              <a:rPr lang="en-US" sz="1250" dirty="0">
                <a:solidFill>
                  <a:srgbClr val="D9E2EC"/>
                </a:solidFill>
                <a:latin typeface="Calibri" pitchFamily="34" charset="0"/>
                <a:ea typeface="Calibri" pitchFamily="34" charset="-122"/>
                <a:cs typeface="Calibri" pitchFamily="34" charset="-120"/>
              </a:rPr>
              <a:t>Ask three questions before summarising any variable:</a:t>
            </a:r>
            <a:endParaRPr lang="en-US" sz="1250" dirty="0"/>
          </a:p>
        </p:txBody>
      </p:sp>
      <p:sp>
        <p:nvSpPr>
          <p:cNvPr id="17" name="Text 14"/>
          <p:cNvSpPr/>
          <p:nvPr/>
        </p:nvSpPr>
        <p:spPr>
          <a:xfrm>
            <a:off x="7726680" y="2697480"/>
            <a:ext cx="3642055" cy="274320"/>
          </a:xfrm>
          <a:prstGeom prst="rect">
            <a:avLst/>
          </a:prstGeom>
          <a:noFill/>
          <a:ln/>
        </p:spPr>
        <p:txBody>
          <a:bodyPr wrap="square" rtlCol="0" anchor="t"/>
          <a:lstStyle/>
          <a:p>
            <a:pPr marL="0" indent="0" algn="l">
              <a:lnSpc>
                <a:spcPct val="112000"/>
              </a:lnSpc>
              <a:buNone/>
            </a:pPr>
            <a:r>
              <a:rPr lang="en-US" sz="1150" b="1" dirty="0">
                <a:solidFill>
                  <a:srgbClr val="E63425"/>
                </a:solidFill>
                <a:latin typeface="Calibri" pitchFamily="34" charset="0"/>
                <a:ea typeface="Calibri" pitchFamily="34" charset="-122"/>
                <a:cs typeface="Calibri" pitchFamily="34" charset="-120"/>
              </a:rPr>
              <a:t>Categories or numbers?</a:t>
            </a:r>
            <a:endParaRPr lang="en-US" sz="1150" dirty="0"/>
          </a:p>
        </p:txBody>
      </p:sp>
      <p:sp>
        <p:nvSpPr>
          <p:cNvPr id="18" name="Text 15"/>
          <p:cNvSpPr/>
          <p:nvPr/>
        </p:nvSpPr>
        <p:spPr>
          <a:xfrm>
            <a:off x="7726680" y="2971800"/>
            <a:ext cx="3642055" cy="502920"/>
          </a:xfrm>
          <a:prstGeom prst="rect">
            <a:avLst/>
          </a:prstGeom>
          <a:noFill/>
          <a:ln/>
        </p:spPr>
        <p:txBody>
          <a:bodyPr wrap="square" rtlCol="0" anchor="t"/>
          <a:lstStyle/>
          <a:p>
            <a:pPr marL="0" indent="0" algn="l">
              <a:lnSpc>
                <a:spcPct val="115000"/>
              </a:lnSpc>
              <a:buNone/>
            </a:pPr>
            <a:r>
              <a:rPr lang="en-US" sz="1100" dirty="0">
                <a:solidFill>
                  <a:srgbClr val="D9E2EC"/>
                </a:solidFill>
                <a:latin typeface="Calibri" pitchFamily="34" charset="0"/>
                <a:ea typeface="Calibri" pitchFamily="34" charset="-122"/>
                <a:cs typeface="Calibri" pitchFamily="34" charset="-120"/>
              </a:rPr>
              <a:t>Sex, HIV status, ART regimen → categories. Age, CD4, BP → numbers.</a:t>
            </a:r>
            <a:endParaRPr lang="en-US" sz="1100" dirty="0"/>
          </a:p>
        </p:txBody>
      </p:sp>
      <p:sp>
        <p:nvSpPr>
          <p:cNvPr id="19" name="Text 16"/>
          <p:cNvSpPr/>
          <p:nvPr/>
        </p:nvSpPr>
        <p:spPr>
          <a:xfrm>
            <a:off x="7726680" y="3474720"/>
            <a:ext cx="3642055" cy="274320"/>
          </a:xfrm>
          <a:prstGeom prst="rect">
            <a:avLst/>
          </a:prstGeom>
          <a:noFill/>
          <a:ln/>
        </p:spPr>
        <p:txBody>
          <a:bodyPr wrap="square" rtlCol="0" anchor="t"/>
          <a:lstStyle/>
          <a:p>
            <a:pPr marL="0" indent="0" algn="l">
              <a:lnSpc>
                <a:spcPct val="112000"/>
              </a:lnSpc>
              <a:buNone/>
            </a:pPr>
            <a:r>
              <a:rPr lang="en-US" sz="1150" b="1" dirty="0">
                <a:solidFill>
                  <a:srgbClr val="E63425"/>
                </a:solidFill>
                <a:latin typeface="Calibri" pitchFamily="34" charset="0"/>
                <a:ea typeface="Calibri" pitchFamily="34" charset="-122"/>
                <a:cs typeface="Calibri" pitchFamily="34" charset="-120"/>
              </a:rPr>
              <a:t>If numbers — counted or measured?</a:t>
            </a:r>
            <a:endParaRPr lang="en-US" sz="1150" dirty="0"/>
          </a:p>
        </p:txBody>
      </p:sp>
      <p:sp>
        <p:nvSpPr>
          <p:cNvPr id="20" name="Text 17"/>
          <p:cNvSpPr/>
          <p:nvPr/>
        </p:nvSpPr>
        <p:spPr>
          <a:xfrm>
            <a:off x="7726680" y="3749040"/>
            <a:ext cx="3642055" cy="502920"/>
          </a:xfrm>
          <a:prstGeom prst="rect">
            <a:avLst/>
          </a:prstGeom>
          <a:noFill/>
          <a:ln/>
        </p:spPr>
        <p:txBody>
          <a:bodyPr wrap="square" rtlCol="0" anchor="t"/>
          <a:lstStyle/>
          <a:p>
            <a:pPr marL="0" indent="0" algn="l">
              <a:lnSpc>
                <a:spcPct val="115000"/>
              </a:lnSpc>
              <a:buNone/>
            </a:pPr>
            <a:r>
              <a:rPr lang="en-US" sz="1100" dirty="0">
                <a:solidFill>
                  <a:srgbClr val="D9E2EC"/>
                </a:solidFill>
                <a:latin typeface="Calibri" pitchFamily="34" charset="0"/>
                <a:ea typeface="Calibri" pitchFamily="34" charset="-122"/>
                <a:cs typeface="Calibri" pitchFamily="34" charset="-120"/>
              </a:rPr>
              <a:t>Number of clinic visits (counted, discrete) vs weight in kg (measured, continuous).</a:t>
            </a:r>
            <a:endParaRPr lang="en-US" sz="1100" dirty="0"/>
          </a:p>
        </p:txBody>
      </p:sp>
      <p:sp>
        <p:nvSpPr>
          <p:cNvPr id="21" name="Text 18"/>
          <p:cNvSpPr/>
          <p:nvPr/>
        </p:nvSpPr>
        <p:spPr>
          <a:xfrm>
            <a:off x="7726680" y="4251960"/>
            <a:ext cx="3642055" cy="274320"/>
          </a:xfrm>
          <a:prstGeom prst="rect">
            <a:avLst/>
          </a:prstGeom>
          <a:noFill/>
          <a:ln/>
        </p:spPr>
        <p:txBody>
          <a:bodyPr wrap="square" rtlCol="0" anchor="t"/>
          <a:lstStyle/>
          <a:p>
            <a:pPr marL="0" indent="0" algn="l">
              <a:lnSpc>
                <a:spcPct val="112000"/>
              </a:lnSpc>
              <a:buNone/>
            </a:pPr>
            <a:r>
              <a:rPr lang="en-US" sz="1150" b="1" dirty="0">
                <a:solidFill>
                  <a:srgbClr val="E63425"/>
                </a:solidFill>
                <a:latin typeface="Calibri" pitchFamily="34" charset="0"/>
                <a:ea typeface="Calibri" pitchFamily="34" charset="-122"/>
                <a:cs typeface="Calibri" pitchFamily="34" charset="-120"/>
              </a:rPr>
              <a:t>If numbers — symmetric or skewed?</a:t>
            </a:r>
            <a:endParaRPr lang="en-US" sz="1150" dirty="0"/>
          </a:p>
        </p:txBody>
      </p:sp>
      <p:sp>
        <p:nvSpPr>
          <p:cNvPr id="22" name="Text 19"/>
          <p:cNvSpPr/>
          <p:nvPr/>
        </p:nvSpPr>
        <p:spPr>
          <a:xfrm>
            <a:off x="7726680" y="4526280"/>
            <a:ext cx="3642055" cy="502920"/>
          </a:xfrm>
          <a:prstGeom prst="rect">
            <a:avLst/>
          </a:prstGeom>
          <a:noFill/>
          <a:ln/>
        </p:spPr>
        <p:txBody>
          <a:bodyPr wrap="square" rtlCol="0" anchor="t"/>
          <a:lstStyle/>
          <a:p>
            <a:pPr marL="0" indent="0" algn="l">
              <a:lnSpc>
                <a:spcPct val="115000"/>
              </a:lnSpc>
              <a:buNone/>
            </a:pPr>
            <a:r>
              <a:rPr lang="en-US" sz="1100" dirty="0">
                <a:solidFill>
                  <a:srgbClr val="D9E2EC"/>
                </a:solidFill>
                <a:latin typeface="Calibri" pitchFamily="34" charset="0"/>
                <a:ea typeface="Calibri" pitchFamily="34" charset="-122"/>
                <a:cs typeface="Calibri" pitchFamily="34" charset="-120"/>
              </a:rPr>
              <a:t>This decides mean vs median, SD vs IQR, and which chart to draw.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1 · THE DATA TYPE HIERARCHY</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Categorical vs Numerical: The Four Basic Types</a:t>
            </a:r>
            <a:endParaRPr lang="en-US" sz="3000" dirty="0"/>
          </a:p>
        </p:txBody>
      </p:sp>
      <p:sp>
        <p:nvSpPr>
          <p:cNvPr id="7" name="Shape 4"/>
          <p:cNvSpPr/>
          <p:nvPr/>
        </p:nvSpPr>
        <p:spPr>
          <a:xfrm>
            <a:off x="548640" y="1572768"/>
            <a:ext cx="5387188" cy="1810512"/>
          </a:xfrm>
          <a:prstGeom prst="roundRect">
            <a:avLst>
              <a:gd name="adj" fmla="val 4545"/>
            </a:avLst>
          </a:prstGeom>
          <a:solidFill>
            <a:srgbClr val="25374F"/>
          </a:solidFill>
          <a:ln/>
        </p:spPr>
        <p:txBody>
          <a:bodyPr/>
          <a:lstStyle/>
          <a:p>
            <a:endParaRPr lang="en-GB"/>
          </a:p>
        </p:txBody>
      </p:sp>
      <p:sp>
        <p:nvSpPr>
          <p:cNvPr id="8" name="Shape 5"/>
          <p:cNvSpPr/>
          <p:nvPr/>
        </p:nvSpPr>
        <p:spPr>
          <a:xfrm>
            <a:off x="804672" y="1773936"/>
            <a:ext cx="2468880" cy="292608"/>
          </a:xfrm>
          <a:prstGeom prst="roundRect">
            <a:avLst>
              <a:gd name="adj" fmla="val 50000"/>
            </a:avLst>
          </a:prstGeom>
          <a:solidFill>
            <a:srgbClr val="2E8B9B"/>
          </a:solidFill>
          <a:ln/>
        </p:spPr>
        <p:txBody>
          <a:bodyPr/>
          <a:lstStyle/>
          <a:p>
            <a:endParaRPr lang="en-GB"/>
          </a:p>
        </p:txBody>
      </p:sp>
      <p:sp>
        <p:nvSpPr>
          <p:cNvPr id="9" name="Text 6"/>
          <p:cNvSpPr/>
          <p:nvPr/>
        </p:nvSpPr>
        <p:spPr>
          <a:xfrm>
            <a:off x="804672" y="1773936"/>
            <a:ext cx="2468880" cy="292608"/>
          </a:xfrm>
          <a:prstGeom prst="rect">
            <a:avLst/>
          </a:prstGeom>
          <a:noFill/>
          <a:ln/>
        </p:spPr>
        <p:txBody>
          <a:bodyPr wrap="square" rtlCol="0" anchor="ctr"/>
          <a:lstStyle/>
          <a:p>
            <a:pPr marL="0" indent="0" algn="ctr">
              <a:buNone/>
            </a:pPr>
            <a:r>
              <a:rPr lang="en-US" sz="950" b="1" dirty="0">
                <a:solidFill>
                  <a:srgbClr val="25374F"/>
                </a:solidFill>
                <a:latin typeface="Courier New" pitchFamily="34" charset="0"/>
                <a:ea typeface="Courier New" pitchFamily="34" charset="-122"/>
                <a:cs typeface="Courier New" pitchFamily="34" charset="-120"/>
              </a:rPr>
              <a:t>NOMINAL · categorical</a:t>
            </a:r>
            <a:endParaRPr lang="en-US" sz="950" dirty="0"/>
          </a:p>
        </p:txBody>
      </p:sp>
      <p:sp>
        <p:nvSpPr>
          <p:cNvPr id="10" name="Text 7"/>
          <p:cNvSpPr/>
          <p:nvPr/>
        </p:nvSpPr>
        <p:spPr>
          <a:xfrm>
            <a:off x="804672" y="2176272"/>
            <a:ext cx="4875124" cy="411480"/>
          </a:xfrm>
          <a:prstGeom prst="rect">
            <a:avLst/>
          </a:prstGeom>
          <a:noFill/>
          <a:ln/>
        </p:spPr>
        <p:txBody>
          <a:bodyPr wrap="square" rtlCol="0" anchor="t"/>
          <a:lstStyle/>
          <a:p>
            <a:pPr marL="0" indent="0" algn="l">
              <a:lnSpc>
                <a:spcPct val="112000"/>
              </a:lnSpc>
              <a:buNone/>
            </a:pPr>
            <a:r>
              <a:rPr lang="en-US" sz="1400" b="1" dirty="0">
                <a:solidFill>
                  <a:srgbClr val="FFFFFF"/>
                </a:solidFill>
                <a:latin typeface="Calibri" pitchFamily="34" charset="0"/>
                <a:ea typeface="Calibri" pitchFamily="34" charset="-122"/>
                <a:cs typeface="Calibri" pitchFamily="34" charset="-120"/>
              </a:rPr>
              <a:t>Named categories, no natural order</a:t>
            </a:r>
            <a:endParaRPr lang="en-US" sz="1400" dirty="0"/>
          </a:p>
        </p:txBody>
      </p:sp>
      <p:sp>
        <p:nvSpPr>
          <p:cNvPr id="11" name="Text 8"/>
          <p:cNvSpPr/>
          <p:nvPr/>
        </p:nvSpPr>
        <p:spPr>
          <a:xfrm>
            <a:off x="804672" y="2532888"/>
            <a:ext cx="4875124" cy="411480"/>
          </a:xfrm>
          <a:prstGeom prst="rect">
            <a:avLst/>
          </a:prstGeom>
          <a:noFill/>
          <a:ln/>
        </p:spPr>
        <p:txBody>
          <a:bodyPr wrap="square" rtlCol="0" anchor="t"/>
          <a:lstStyle/>
          <a:p>
            <a:pPr marL="0" indent="0" algn="l">
              <a:lnSpc>
                <a:spcPct val="115000"/>
              </a:lnSpc>
              <a:buNone/>
            </a:pPr>
            <a:r>
              <a:rPr lang="en-US" sz="1150" dirty="0">
                <a:solidFill>
                  <a:srgbClr val="D9E2EC"/>
                </a:solidFill>
                <a:latin typeface="Calibri" pitchFamily="34" charset="0"/>
                <a:ea typeface="Calibri" pitchFamily="34" charset="-122"/>
                <a:cs typeface="Calibri" pitchFamily="34" charset="-120"/>
              </a:rPr>
              <a:t>Categories could be re-ordered without losing any meaning.</a:t>
            </a:r>
            <a:endParaRPr lang="en-US" sz="1150" dirty="0"/>
          </a:p>
        </p:txBody>
      </p:sp>
      <p:sp>
        <p:nvSpPr>
          <p:cNvPr id="12" name="Text 9"/>
          <p:cNvSpPr/>
          <p:nvPr/>
        </p:nvSpPr>
        <p:spPr>
          <a:xfrm>
            <a:off x="804672" y="2944368"/>
            <a:ext cx="4875124" cy="384048"/>
          </a:xfrm>
          <a:prstGeom prst="rect">
            <a:avLst/>
          </a:prstGeom>
          <a:noFill/>
          <a:ln/>
        </p:spPr>
        <p:txBody>
          <a:bodyPr wrap="square" rtlCol="0" anchor="t"/>
          <a:lstStyle/>
          <a:p>
            <a:pPr marL="0" indent="0" algn="l">
              <a:lnSpc>
                <a:spcPct val="110000"/>
              </a:lnSpc>
              <a:buNone/>
            </a:pPr>
            <a:r>
              <a:rPr lang="en-US" sz="1000" i="1" dirty="0">
                <a:solidFill>
                  <a:srgbClr val="9FB0C2"/>
                </a:solidFill>
                <a:latin typeface="Calibri" pitchFamily="34" charset="0"/>
                <a:ea typeface="Calibri" pitchFamily="34" charset="-122"/>
                <a:cs typeface="Calibri" pitchFamily="34" charset="-120"/>
              </a:rPr>
              <a:t>e.g. sex, HIV status, ART regimen (TDF/3TC/DTG vs TDF/3TC/EFV), district of residence</a:t>
            </a:r>
            <a:endParaRPr lang="en-US" sz="1000" dirty="0"/>
          </a:p>
        </p:txBody>
      </p:sp>
      <p:sp>
        <p:nvSpPr>
          <p:cNvPr id="13" name="Shape 10"/>
          <p:cNvSpPr/>
          <p:nvPr/>
        </p:nvSpPr>
        <p:spPr>
          <a:xfrm>
            <a:off x="6255868" y="1572768"/>
            <a:ext cx="5387188" cy="1810512"/>
          </a:xfrm>
          <a:prstGeom prst="roundRect">
            <a:avLst>
              <a:gd name="adj" fmla="val 4545"/>
            </a:avLst>
          </a:prstGeom>
          <a:solidFill>
            <a:srgbClr val="25374F"/>
          </a:solidFill>
          <a:ln/>
        </p:spPr>
        <p:txBody>
          <a:bodyPr/>
          <a:lstStyle/>
          <a:p>
            <a:endParaRPr lang="en-GB"/>
          </a:p>
        </p:txBody>
      </p:sp>
      <p:sp>
        <p:nvSpPr>
          <p:cNvPr id="14" name="Shape 11"/>
          <p:cNvSpPr/>
          <p:nvPr/>
        </p:nvSpPr>
        <p:spPr>
          <a:xfrm>
            <a:off x="6511900" y="1773936"/>
            <a:ext cx="2468880" cy="292608"/>
          </a:xfrm>
          <a:prstGeom prst="roundRect">
            <a:avLst>
              <a:gd name="adj" fmla="val 50000"/>
            </a:avLst>
          </a:prstGeom>
          <a:solidFill>
            <a:srgbClr val="F2A93B"/>
          </a:solidFill>
          <a:ln/>
        </p:spPr>
        <p:txBody>
          <a:bodyPr/>
          <a:lstStyle/>
          <a:p>
            <a:endParaRPr lang="en-GB"/>
          </a:p>
        </p:txBody>
      </p:sp>
      <p:sp>
        <p:nvSpPr>
          <p:cNvPr id="15" name="Text 12"/>
          <p:cNvSpPr/>
          <p:nvPr/>
        </p:nvSpPr>
        <p:spPr>
          <a:xfrm>
            <a:off x="6511900" y="1773936"/>
            <a:ext cx="2468880" cy="292608"/>
          </a:xfrm>
          <a:prstGeom prst="rect">
            <a:avLst/>
          </a:prstGeom>
          <a:noFill/>
          <a:ln/>
        </p:spPr>
        <p:txBody>
          <a:bodyPr wrap="square" rtlCol="0" anchor="ctr"/>
          <a:lstStyle/>
          <a:p>
            <a:pPr marL="0" indent="0" algn="ctr">
              <a:buNone/>
            </a:pPr>
            <a:r>
              <a:rPr lang="en-US" sz="950" b="1" dirty="0">
                <a:solidFill>
                  <a:srgbClr val="25374F"/>
                </a:solidFill>
                <a:latin typeface="Courier New" pitchFamily="34" charset="0"/>
                <a:ea typeface="Courier New" pitchFamily="34" charset="-122"/>
                <a:cs typeface="Courier New" pitchFamily="34" charset="-120"/>
              </a:rPr>
              <a:t>ORDINAL · categorical</a:t>
            </a:r>
            <a:endParaRPr lang="en-US" sz="950" dirty="0"/>
          </a:p>
        </p:txBody>
      </p:sp>
      <p:sp>
        <p:nvSpPr>
          <p:cNvPr id="16" name="Text 13"/>
          <p:cNvSpPr/>
          <p:nvPr/>
        </p:nvSpPr>
        <p:spPr>
          <a:xfrm>
            <a:off x="6511900" y="2176272"/>
            <a:ext cx="4875124" cy="411480"/>
          </a:xfrm>
          <a:prstGeom prst="rect">
            <a:avLst/>
          </a:prstGeom>
          <a:noFill/>
          <a:ln/>
        </p:spPr>
        <p:txBody>
          <a:bodyPr wrap="square" rtlCol="0" anchor="t"/>
          <a:lstStyle/>
          <a:p>
            <a:pPr marL="0" indent="0" algn="l">
              <a:lnSpc>
                <a:spcPct val="112000"/>
              </a:lnSpc>
              <a:buNone/>
            </a:pPr>
            <a:r>
              <a:rPr lang="en-US" sz="1400" b="1" dirty="0">
                <a:solidFill>
                  <a:srgbClr val="FFFFFF"/>
                </a:solidFill>
                <a:latin typeface="Calibri" pitchFamily="34" charset="0"/>
                <a:ea typeface="Calibri" pitchFamily="34" charset="-122"/>
                <a:cs typeface="Calibri" pitchFamily="34" charset="-120"/>
              </a:rPr>
              <a:t>Ranked categories, unequal spacing</a:t>
            </a:r>
            <a:endParaRPr lang="en-US" sz="1400" dirty="0"/>
          </a:p>
        </p:txBody>
      </p:sp>
      <p:sp>
        <p:nvSpPr>
          <p:cNvPr id="17" name="Text 14"/>
          <p:cNvSpPr/>
          <p:nvPr/>
        </p:nvSpPr>
        <p:spPr>
          <a:xfrm>
            <a:off x="6511900" y="2532888"/>
            <a:ext cx="4875124" cy="411480"/>
          </a:xfrm>
          <a:prstGeom prst="rect">
            <a:avLst/>
          </a:prstGeom>
          <a:noFill/>
          <a:ln/>
        </p:spPr>
        <p:txBody>
          <a:bodyPr wrap="square" rtlCol="0" anchor="t"/>
          <a:lstStyle/>
          <a:p>
            <a:pPr marL="0" indent="0" algn="l">
              <a:lnSpc>
                <a:spcPct val="115000"/>
              </a:lnSpc>
              <a:buNone/>
            </a:pPr>
            <a:r>
              <a:rPr lang="en-US" sz="1150" dirty="0">
                <a:solidFill>
                  <a:srgbClr val="D9E2EC"/>
                </a:solidFill>
                <a:latin typeface="Calibri" pitchFamily="34" charset="0"/>
                <a:ea typeface="Calibri" pitchFamily="34" charset="-122"/>
                <a:cs typeface="Calibri" pitchFamily="34" charset="-120"/>
              </a:rPr>
              <a:t>A meaningful order exists, but the “distance” between categories is unequal or unknown.</a:t>
            </a:r>
            <a:endParaRPr lang="en-US" sz="1150" dirty="0"/>
          </a:p>
        </p:txBody>
      </p:sp>
      <p:sp>
        <p:nvSpPr>
          <p:cNvPr id="18" name="Text 15"/>
          <p:cNvSpPr/>
          <p:nvPr/>
        </p:nvSpPr>
        <p:spPr>
          <a:xfrm>
            <a:off x="6511900" y="2944368"/>
            <a:ext cx="4875124" cy="384048"/>
          </a:xfrm>
          <a:prstGeom prst="rect">
            <a:avLst/>
          </a:prstGeom>
          <a:noFill/>
          <a:ln/>
        </p:spPr>
        <p:txBody>
          <a:bodyPr wrap="square" rtlCol="0" anchor="t"/>
          <a:lstStyle/>
          <a:p>
            <a:pPr marL="0" indent="0" algn="l">
              <a:lnSpc>
                <a:spcPct val="110000"/>
              </a:lnSpc>
              <a:buNone/>
            </a:pPr>
            <a:r>
              <a:rPr lang="en-US" sz="1000" i="1" dirty="0">
                <a:solidFill>
                  <a:srgbClr val="9FB0C2"/>
                </a:solidFill>
                <a:latin typeface="Calibri" pitchFamily="34" charset="0"/>
                <a:ea typeface="Calibri" pitchFamily="34" charset="-122"/>
                <a:cs typeface="Calibri" pitchFamily="34" charset="-120"/>
              </a:rPr>
              <a:t>e.g. WHO clinical stage (I–IV), tumour grade, Likert-scale satisfaction (poor/fair/good/excellent)</a:t>
            </a:r>
            <a:endParaRPr lang="en-US" sz="1000" dirty="0"/>
          </a:p>
        </p:txBody>
      </p:sp>
      <p:sp>
        <p:nvSpPr>
          <p:cNvPr id="19" name="Shape 16"/>
          <p:cNvSpPr/>
          <p:nvPr/>
        </p:nvSpPr>
        <p:spPr>
          <a:xfrm>
            <a:off x="548640" y="3703320"/>
            <a:ext cx="5387188" cy="1810512"/>
          </a:xfrm>
          <a:prstGeom prst="roundRect">
            <a:avLst>
              <a:gd name="adj" fmla="val 4545"/>
            </a:avLst>
          </a:prstGeom>
          <a:solidFill>
            <a:srgbClr val="25374F"/>
          </a:solidFill>
          <a:ln/>
        </p:spPr>
        <p:txBody>
          <a:bodyPr/>
          <a:lstStyle/>
          <a:p>
            <a:endParaRPr lang="en-GB"/>
          </a:p>
        </p:txBody>
      </p:sp>
      <p:sp>
        <p:nvSpPr>
          <p:cNvPr id="20" name="Shape 17"/>
          <p:cNvSpPr/>
          <p:nvPr/>
        </p:nvSpPr>
        <p:spPr>
          <a:xfrm>
            <a:off x="804672" y="3904488"/>
            <a:ext cx="2468880" cy="292608"/>
          </a:xfrm>
          <a:prstGeom prst="roundRect">
            <a:avLst>
              <a:gd name="adj" fmla="val 50000"/>
            </a:avLst>
          </a:prstGeom>
          <a:solidFill>
            <a:srgbClr val="5B9A56"/>
          </a:solidFill>
          <a:ln/>
        </p:spPr>
        <p:txBody>
          <a:bodyPr/>
          <a:lstStyle/>
          <a:p>
            <a:endParaRPr lang="en-GB"/>
          </a:p>
        </p:txBody>
      </p:sp>
      <p:sp>
        <p:nvSpPr>
          <p:cNvPr id="21" name="Text 18"/>
          <p:cNvSpPr/>
          <p:nvPr/>
        </p:nvSpPr>
        <p:spPr>
          <a:xfrm>
            <a:off x="804672" y="3904488"/>
            <a:ext cx="2468880" cy="292608"/>
          </a:xfrm>
          <a:prstGeom prst="rect">
            <a:avLst/>
          </a:prstGeom>
          <a:noFill/>
          <a:ln/>
        </p:spPr>
        <p:txBody>
          <a:bodyPr wrap="square" rtlCol="0" anchor="ctr"/>
          <a:lstStyle/>
          <a:p>
            <a:pPr marL="0" indent="0" algn="ctr">
              <a:buNone/>
            </a:pPr>
            <a:r>
              <a:rPr lang="en-US" sz="950" b="1" dirty="0">
                <a:solidFill>
                  <a:srgbClr val="25374F"/>
                </a:solidFill>
                <a:latin typeface="Courier New" pitchFamily="34" charset="0"/>
                <a:ea typeface="Courier New" pitchFamily="34" charset="-122"/>
                <a:cs typeface="Courier New" pitchFamily="34" charset="-120"/>
              </a:rPr>
              <a:t>DISCRETE · numerical</a:t>
            </a:r>
            <a:endParaRPr lang="en-US" sz="950" dirty="0"/>
          </a:p>
        </p:txBody>
      </p:sp>
      <p:sp>
        <p:nvSpPr>
          <p:cNvPr id="22" name="Text 19"/>
          <p:cNvSpPr/>
          <p:nvPr/>
        </p:nvSpPr>
        <p:spPr>
          <a:xfrm>
            <a:off x="804672" y="4306824"/>
            <a:ext cx="4875124" cy="411480"/>
          </a:xfrm>
          <a:prstGeom prst="rect">
            <a:avLst/>
          </a:prstGeom>
          <a:noFill/>
          <a:ln/>
        </p:spPr>
        <p:txBody>
          <a:bodyPr wrap="square" rtlCol="0" anchor="t"/>
          <a:lstStyle/>
          <a:p>
            <a:pPr marL="0" indent="0" algn="l">
              <a:lnSpc>
                <a:spcPct val="112000"/>
              </a:lnSpc>
              <a:buNone/>
            </a:pPr>
            <a:r>
              <a:rPr lang="en-US" sz="1400" b="1" dirty="0">
                <a:solidFill>
                  <a:srgbClr val="FFFFFF"/>
                </a:solidFill>
                <a:latin typeface="Calibri" pitchFamily="34" charset="0"/>
                <a:ea typeface="Calibri" pitchFamily="34" charset="-122"/>
                <a:cs typeface="Calibri" pitchFamily="34" charset="-120"/>
              </a:rPr>
              <a:t>Counted whole numbers</a:t>
            </a:r>
            <a:endParaRPr lang="en-US" sz="1400" dirty="0"/>
          </a:p>
        </p:txBody>
      </p:sp>
      <p:sp>
        <p:nvSpPr>
          <p:cNvPr id="23" name="Text 20"/>
          <p:cNvSpPr/>
          <p:nvPr/>
        </p:nvSpPr>
        <p:spPr>
          <a:xfrm>
            <a:off x="804672" y="4663440"/>
            <a:ext cx="4875124" cy="411480"/>
          </a:xfrm>
          <a:prstGeom prst="rect">
            <a:avLst/>
          </a:prstGeom>
          <a:noFill/>
          <a:ln/>
        </p:spPr>
        <p:txBody>
          <a:bodyPr wrap="square" rtlCol="0" anchor="t"/>
          <a:lstStyle/>
          <a:p>
            <a:pPr marL="0" indent="0" algn="l">
              <a:lnSpc>
                <a:spcPct val="115000"/>
              </a:lnSpc>
              <a:buNone/>
            </a:pPr>
            <a:r>
              <a:rPr lang="en-US" sz="1150" dirty="0">
                <a:solidFill>
                  <a:srgbClr val="D9E2EC"/>
                </a:solidFill>
                <a:latin typeface="Calibri" pitchFamily="34" charset="0"/>
                <a:ea typeface="Calibri" pitchFamily="34" charset="-122"/>
                <a:cs typeface="Calibri" pitchFamily="34" charset="-120"/>
              </a:rPr>
              <a:t>Values jump between integers — a fraction is not meaningful.</a:t>
            </a:r>
            <a:endParaRPr lang="en-US" sz="1150" dirty="0"/>
          </a:p>
        </p:txBody>
      </p:sp>
      <p:sp>
        <p:nvSpPr>
          <p:cNvPr id="24" name="Text 21"/>
          <p:cNvSpPr/>
          <p:nvPr/>
        </p:nvSpPr>
        <p:spPr>
          <a:xfrm>
            <a:off x="804672" y="5074920"/>
            <a:ext cx="4875124" cy="384048"/>
          </a:xfrm>
          <a:prstGeom prst="rect">
            <a:avLst/>
          </a:prstGeom>
          <a:noFill/>
          <a:ln/>
        </p:spPr>
        <p:txBody>
          <a:bodyPr wrap="square" rtlCol="0" anchor="t"/>
          <a:lstStyle/>
          <a:p>
            <a:pPr marL="0" indent="0" algn="l">
              <a:lnSpc>
                <a:spcPct val="110000"/>
              </a:lnSpc>
              <a:buNone/>
            </a:pPr>
            <a:r>
              <a:rPr lang="en-US" sz="1000" i="1" dirty="0">
                <a:solidFill>
                  <a:srgbClr val="9FB0C2"/>
                </a:solidFill>
                <a:latin typeface="Calibri" pitchFamily="34" charset="0"/>
                <a:ea typeface="Calibri" pitchFamily="34" charset="-122"/>
                <a:cs typeface="Calibri" pitchFamily="34" charset="-120"/>
              </a:rPr>
              <a:t>e.g. number of children, number of clinic visits in a year, parity, age in completed years</a:t>
            </a:r>
            <a:endParaRPr lang="en-US" sz="1000" dirty="0"/>
          </a:p>
        </p:txBody>
      </p:sp>
      <p:sp>
        <p:nvSpPr>
          <p:cNvPr id="25" name="Shape 22"/>
          <p:cNvSpPr/>
          <p:nvPr/>
        </p:nvSpPr>
        <p:spPr>
          <a:xfrm>
            <a:off x="6255868" y="3703320"/>
            <a:ext cx="5387188" cy="1810512"/>
          </a:xfrm>
          <a:prstGeom prst="roundRect">
            <a:avLst>
              <a:gd name="adj" fmla="val 4545"/>
            </a:avLst>
          </a:prstGeom>
          <a:solidFill>
            <a:srgbClr val="25374F"/>
          </a:solidFill>
          <a:ln/>
        </p:spPr>
        <p:txBody>
          <a:bodyPr/>
          <a:lstStyle/>
          <a:p>
            <a:endParaRPr lang="en-GB"/>
          </a:p>
        </p:txBody>
      </p:sp>
      <p:sp>
        <p:nvSpPr>
          <p:cNvPr id="26" name="Shape 23"/>
          <p:cNvSpPr/>
          <p:nvPr/>
        </p:nvSpPr>
        <p:spPr>
          <a:xfrm>
            <a:off x="6511900" y="3904488"/>
            <a:ext cx="2468880" cy="292608"/>
          </a:xfrm>
          <a:prstGeom prst="roundRect">
            <a:avLst>
              <a:gd name="adj" fmla="val 50000"/>
            </a:avLst>
          </a:prstGeom>
          <a:solidFill>
            <a:srgbClr val="E63425"/>
          </a:solidFill>
          <a:ln/>
        </p:spPr>
        <p:txBody>
          <a:bodyPr/>
          <a:lstStyle/>
          <a:p>
            <a:endParaRPr lang="en-GB"/>
          </a:p>
        </p:txBody>
      </p:sp>
      <p:sp>
        <p:nvSpPr>
          <p:cNvPr id="27" name="Text 24"/>
          <p:cNvSpPr/>
          <p:nvPr/>
        </p:nvSpPr>
        <p:spPr>
          <a:xfrm>
            <a:off x="6511900" y="3904488"/>
            <a:ext cx="2468880" cy="292608"/>
          </a:xfrm>
          <a:prstGeom prst="rect">
            <a:avLst/>
          </a:prstGeom>
          <a:noFill/>
          <a:ln/>
        </p:spPr>
        <p:txBody>
          <a:bodyPr wrap="square" rtlCol="0" anchor="ctr"/>
          <a:lstStyle/>
          <a:p>
            <a:pPr marL="0" indent="0" algn="ctr">
              <a:buNone/>
            </a:pPr>
            <a:r>
              <a:rPr lang="en-US" sz="950" b="1" dirty="0">
                <a:solidFill>
                  <a:srgbClr val="25374F"/>
                </a:solidFill>
                <a:latin typeface="Courier New" pitchFamily="34" charset="0"/>
                <a:ea typeface="Courier New" pitchFamily="34" charset="-122"/>
                <a:cs typeface="Courier New" pitchFamily="34" charset="-120"/>
              </a:rPr>
              <a:t>CONTINUOUS · numerical</a:t>
            </a:r>
            <a:endParaRPr lang="en-US" sz="950" dirty="0"/>
          </a:p>
        </p:txBody>
      </p:sp>
      <p:sp>
        <p:nvSpPr>
          <p:cNvPr id="28" name="Text 25"/>
          <p:cNvSpPr/>
          <p:nvPr/>
        </p:nvSpPr>
        <p:spPr>
          <a:xfrm>
            <a:off x="6511900" y="4306824"/>
            <a:ext cx="4875124" cy="411480"/>
          </a:xfrm>
          <a:prstGeom prst="rect">
            <a:avLst/>
          </a:prstGeom>
          <a:noFill/>
          <a:ln/>
        </p:spPr>
        <p:txBody>
          <a:bodyPr wrap="square" rtlCol="0" anchor="t"/>
          <a:lstStyle/>
          <a:p>
            <a:pPr marL="0" indent="0" algn="l">
              <a:lnSpc>
                <a:spcPct val="112000"/>
              </a:lnSpc>
              <a:buNone/>
            </a:pPr>
            <a:r>
              <a:rPr lang="en-US" sz="1400" b="1" dirty="0">
                <a:solidFill>
                  <a:srgbClr val="FFFFFF"/>
                </a:solidFill>
                <a:latin typeface="Calibri" pitchFamily="34" charset="0"/>
                <a:ea typeface="Calibri" pitchFamily="34" charset="-122"/>
                <a:cs typeface="Calibri" pitchFamily="34" charset="-120"/>
              </a:rPr>
              <a:t>Measured on a scale</a:t>
            </a:r>
            <a:endParaRPr lang="en-US" sz="1400" dirty="0"/>
          </a:p>
        </p:txBody>
      </p:sp>
      <p:sp>
        <p:nvSpPr>
          <p:cNvPr id="29" name="Text 26"/>
          <p:cNvSpPr/>
          <p:nvPr/>
        </p:nvSpPr>
        <p:spPr>
          <a:xfrm>
            <a:off x="6511900" y="4663440"/>
            <a:ext cx="4875124" cy="411480"/>
          </a:xfrm>
          <a:prstGeom prst="rect">
            <a:avLst/>
          </a:prstGeom>
          <a:noFill/>
          <a:ln/>
        </p:spPr>
        <p:txBody>
          <a:bodyPr wrap="square" rtlCol="0" anchor="t"/>
          <a:lstStyle/>
          <a:p>
            <a:pPr marL="0" indent="0" algn="l">
              <a:lnSpc>
                <a:spcPct val="115000"/>
              </a:lnSpc>
              <a:buNone/>
            </a:pPr>
            <a:r>
              <a:rPr lang="en-US" sz="1150" dirty="0">
                <a:solidFill>
                  <a:srgbClr val="D9E2EC"/>
                </a:solidFill>
                <a:latin typeface="Calibri" pitchFamily="34" charset="0"/>
                <a:ea typeface="Calibri" pitchFamily="34" charset="-122"/>
                <a:cs typeface="Calibri" pitchFamily="34" charset="-120"/>
              </a:rPr>
              <a:t>Any value within a range is possible, limited only by instrument precision.</a:t>
            </a:r>
            <a:endParaRPr lang="en-US" sz="1150" dirty="0"/>
          </a:p>
        </p:txBody>
      </p:sp>
      <p:sp>
        <p:nvSpPr>
          <p:cNvPr id="30" name="Text 27"/>
          <p:cNvSpPr/>
          <p:nvPr/>
        </p:nvSpPr>
        <p:spPr>
          <a:xfrm>
            <a:off x="6511900" y="5074920"/>
            <a:ext cx="4875124" cy="384048"/>
          </a:xfrm>
          <a:prstGeom prst="rect">
            <a:avLst/>
          </a:prstGeom>
          <a:noFill/>
          <a:ln/>
        </p:spPr>
        <p:txBody>
          <a:bodyPr wrap="square" rtlCol="0" anchor="t"/>
          <a:lstStyle/>
          <a:p>
            <a:pPr marL="0" indent="0" algn="l">
              <a:lnSpc>
                <a:spcPct val="110000"/>
              </a:lnSpc>
              <a:buNone/>
            </a:pPr>
            <a:r>
              <a:rPr lang="en-US" sz="1000" i="1" dirty="0">
                <a:solidFill>
                  <a:srgbClr val="9FB0C2"/>
                </a:solidFill>
                <a:latin typeface="Calibri" pitchFamily="34" charset="0"/>
                <a:ea typeface="Calibri" pitchFamily="34" charset="-122"/>
                <a:cs typeface="Calibri" pitchFamily="34" charset="-120"/>
              </a:rPr>
              <a:t>e.g. CD4 count (cells/mm³), viral load (copies/ml), systolic BP (mmHg), weight (kg)</a:t>
            </a:r>
            <a:endParaRPr lang="en-US" sz="1000" dirty="0"/>
          </a:p>
        </p:txBody>
      </p:sp>
      <p:sp>
        <p:nvSpPr>
          <p:cNvPr id="31" name="Text 28"/>
          <p:cNvSpPr/>
          <p:nvPr/>
        </p:nvSpPr>
        <p:spPr>
          <a:xfrm>
            <a:off x="548640" y="5650992"/>
            <a:ext cx="11094415" cy="457200"/>
          </a:xfrm>
          <a:prstGeom prst="rect">
            <a:avLst/>
          </a:prstGeom>
          <a:noFill/>
          <a:ln/>
        </p:spPr>
        <p:txBody>
          <a:bodyPr wrap="square" rtlCol="0" anchor="t"/>
          <a:lstStyle/>
          <a:p>
            <a:pPr marL="0" indent="0" algn="l">
              <a:lnSpc>
                <a:spcPct val="112000"/>
              </a:lnSpc>
              <a:buNone/>
            </a:pPr>
            <a:r>
              <a:rPr lang="en-US" sz="1150" i="1" dirty="0">
                <a:solidFill>
                  <a:srgbClr val="5B6B7C"/>
                </a:solidFill>
                <a:latin typeface="Calibri" pitchFamily="34" charset="0"/>
                <a:ea typeface="Calibri" pitchFamily="34" charset="-122"/>
                <a:cs typeface="Calibri" pitchFamily="34" charset="-120"/>
              </a:rPr>
              <a:t>Binary variables (e.g. hypertension: yes/no) are a special case of nominal data with exactly two categories — common in clinical research and the basis of proportions and odds.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2 · DESCRIPTIVE STATISTICS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Choosing the Right Summary Statistic</a:t>
            </a:r>
            <a:endParaRPr lang="en-US" sz="3000" dirty="0"/>
          </a:p>
        </p:txBody>
      </p:sp>
      <p:sp>
        <p:nvSpPr>
          <p:cNvPr id="7" name="Text 4"/>
          <p:cNvSpPr/>
          <p:nvPr/>
        </p:nvSpPr>
        <p:spPr>
          <a:xfrm>
            <a:off x="548640" y="1536192"/>
            <a:ext cx="11094415" cy="411480"/>
          </a:xfrm>
          <a:prstGeom prst="rect">
            <a:avLst/>
          </a:prstGeom>
          <a:noFill/>
          <a:ln/>
        </p:spPr>
        <p:txBody>
          <a:bodyPr wrap="square" rtlCol="0" anchor="t"/>
          <a:lstStyle/>
          <a:p>
            <a:pPr marL="0" indent="0" algn="l">
              <a:lnSpc>
                <a:spcPct val="112000"/>
              </a:lnSpc>
              <a:buNone/>
            </a:pPr>
            <a:r>
              <a:rPr lang="en-US" sz="1300" i="1" dirty="0">
                <a:solidFill>
                  <a:srgbClr val="5B6B7C"/>
                </a:solidFill>
                <a:latin typeface="Calibri" pitchFamily="34" charset="0"/>
                <a:ea typeface="Calibri" pitchFamily="34" charset="-122"/>
                <a:cs typeface="Calibri" pitchFamily="34" charset="-120"/>
              </a:rPr>
              <a:t>Once a variable's type is known, the choice of central tendency and dispersion follows directly.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1536192"/>
        </p:xfrm>
        <a:graphic>
          <a:graphicData uri="http://schemas.openxmlformats.org/drawingml/2006/table">
            <a:tbl>
              <a:tblPr/>
              <a:tblGrid>
                <a:gridCol w="3106436">
                  <a:extLst>
                    <a:ext uri="{9D8B030D-6E8A-4147-A177-3AD203B41FA5}">
                      <a16:colId xmlns:a16="http://schemas.microsoft.com/office/drawing/2014/main" val="20000"/>
                    </a:ext>
                  </a:extLst>
                </a:gridCol>
                <a:gridCol w="2662660">
                  <a:extLst>
                    <a:ext uri="{9D8B030D-6E8A-4147-A177-3AD203B41FA5}">
                      <a16:colId xmlns:a16="http://schemas.microsoft.com/office/drawing/2014/main" val="20001"/>
                    </a:ext>
                  </a:extLst>
                </a:gridCol>
                <a:gridCol w="2884548">
                  <a:extLst>
                    <a:ext uri="{9D8B030D-6E8A-4147-A177-3AD203B41FA5}">
                      <a16:colId xmlns:a16="http://schemas.microsoft.com/office/drawing/2014/main" val="20002"/>
                    </a:ext>
                  </a:extLst>
                </a:gridCol>
                <a:gridCol w="2440771">
                  <a:extLst>
                    <a:ext uri="{9D8B030D-6E8A-4147-A177-3AD203B41FA5}">
                      <a16:colId xmlns:a16="http://schemas.microsoft.com/office/drawing/2014/main" val="20003"/>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Data type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Central tendency</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Dispersion</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Typical report style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Nominal / ordinal</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 (%) per category</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Numerical — symmetric</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Standard deviation (SD)</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Mean ± SD</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Numerical — skewed</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Interquartile range (IQR)</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Median (IQR)</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5"/>
          <p:cNvSpPr/>
          <p:nvPr/>
        </p:nvSpPr>
        <p:spPr>
          <a:xfrm>
            <a:off x="548640" y="4160520"/>
            <a:ext cx="6949440" cy="457200"/>
          </a:xfrm>
          <a:prstGeom prst="roundRect">
            <a:avLst>
              <a:gd name="adj" fmla="val 18000"/>
            </a:avLst>
          </a:prstGeom>
          <a:solidFill>
            <a:srgbClr val="F4F5F7"/>
          </a:solidFill>
          <a:ln/>
        </p:spPr>
        <p:txBody>
          <a:bodyPr/>
          <a:lstStyle/>
          <a:p>
            <a:endParaRPr lang="en-GB"/>
          </a:p>
        </p:txBody>
      </p:sp>
      <p:sp>
        <p:nvSpPr>
          <p:cNvPr id="10" name="Text 6"/>
          <p:cNvSpPr/>
          <p:nvPr/>
        </p:nvSpPr>
        <p:spPr>
          <a:xfrm>
            <a:off x="731520" y="4160520"/>
            <a:ext cx="6583680" cy="457200"/>
          </a:xfrm>
          <a:prstGeom prst="rect">
            <a:avLst/>
          </a:prstGeom>
          <a:noFill/>
          <a:ln/>
        </p:spPr>
        <p:txBody>
          <a:bodyPr wrap="square" rtlCol="0" anchor="ctr"/>
          <a:lstStyle/>
          <a:p>
            <a:pPr marL="0" indent="0" algn="l">
              <a:lnSpc>
                <a:spcPct val="112000"/>
              </a:lnSpc>
              <a:buNone/>
            </a:pPr>
            <a:r>
              <a:rPr lang="en-US" sz="1150" dirty="0">
                <a:solidFill>
                  <a:srgbClr val="27313B"/>
                </a:solidFill>
                <a:latin typeface="Calibri" pitchFamily="34" charset="0"/>
                <a:ea typeface="Calibri" pitchFamily="34" charset="-122"/>
                <a:cs typeface="Calibri" pitchFamily="34" charset="-120"/>
              </a:rPr>
              <a:t>Is the variable named categories with no order?</a:t>
            </a:r>
            <a:endParaRPr lang="en-US" sz="1150" dirty="0"/>
          </a:p>
        </p:txBody>
      </p:sp>
      <p:sp>
        <p:nvSpPr>
          <p:cNvPr id="11" name="Text 7"/>
          <p:cNvSpPr/>
          <p:nvPr/>
        </p:nvSpPr>
        <p:spPr>
          <a:xfrm>
            <a:off x="7635240" y="4160520"/>
            <a:ext cx="365760" cy="457200"/>
          </a:xfrm>
          <a:prstGeom prst="rect">
            <a:avLst/>
          </a:prstGeom>
          <a:noFill/>
          <a:ln/>
        </p:spPr>
        <p:txBody>
          <a:bodyPr wrap="square" rtlCol="0" anchor="ctr"/>
          <a:lstStyle/>
          <a:p>
            <a:pPr marL="0" indent="0" algn="ctr">
              <a:buNone/>
            </a:pPr>
            <a:r>
              <a:rPr lang="en-US" sz="1400" dirty="0">
                <a:solidFill>
                  <a:srgbClr val="5B6B7C"/>
                </a:solidFill>
              </a:rPr>
              <a:t>→</a:t>
            </a:r>
            <a:endParaRPr lang="en-US" sz="1400" dirty="0"/>
          </a:p>
        </p:txBody>
      </p:sp>
      <p:sp>
        <p:nvSpPr>
          <p:cNvPr id="12" name="Shape 8"/>
          <p:cNvSpPr/>
          <p:nvPr/>
        </p:nvSpPr>
        <p:spPr>
          <a:xfrm>
            <a:off x="8138160" y="4215384"/>
            <a:ext cx="2286000" cy="347472"/>
          </a:xfrm>
          <a:prstGeom prst="roundRect">
            <a:avLst>
              <a:gd name="adj" fmla="val 50000"/>
            </a:avLst>
          </a:prstGeom>
          <a:solidFill>
            <a:srgbClr val="2E8B9B"/>
          </a:solidFill>
          <a:ln/>
        </p:spPr>
        <p:txBody>
          <a:bodyPr/>
          <a:lstStyle/>
          <a:p>
            <a:endParaRPr lang="en-GB"/>
          </a:p>
        </p:txBody>
      </p:sp>
      <p:sp>
        <p:nvSpPr>
          <p:cNvPr id="13" name="Text 9"/>
          <p:cNvSpPr/>
          <p:nvPr/>
        </p:nvSpPr>
        <p:spPr>
          <a:xfrm>
            <a:off x="8138160" y="4215384"/>
            <a:ext cx="2286000" cy="347472"/>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Mode + n (%)</a:t>
            </a:r>
            <a:endParaRPr lang="en-US" sz="950" dirty="0"/>
          </a:p>
        </p:txBody>
      </p:sp>
      <p:sp>
        <p:nvSpPr>
          <p:cNvPr id="14" name="Shape 10"/>
          <p:cNvSpPr/>
          <p:nvPr/>
        </p:nvSpPr>
        <p:spPr>
          <a:xfrm>
            <a:off x="548640" y="4727448"/>
            <a:ext cx="6949440" cy="457200"/>
          </a:xfrm>
          <a:prstGeom prst="roundRect">
            <a:avLst>
              <a:gd name="adj" fmla="val 18000"/>
            </a:avLst>
          </a:prstGeom>
          <a:solidFill>
            <a:srgbClr val="F4F5F7"/>
          </a:solidFill>
          <a:ln/>
        </p:spPr>
        <p:txBody>
          <a:bodyPr/>
          <a:lstStyle/>
          <a:p>
            <a:endParaRPr lang="en-GB"/>
          </a:p>
        </p:txBody>
      </p:sp>
      <p:sp>
        <p:nvSpPr>
          <p:cNvPr id="15" name="Text 11"/>
          <p:cNvSpPr/>
          <p:nvPr/>
        </p:nvSpPr>
        <p:spPr>
          <a:xfrm>
            <a:off x="731520" y="4727448"/>
            <a:ext cx="6583680" cy="457200"/>
          </a:xfrm>
          <a:prstGeom prst="rect">
            <a:avLst/>
          </a:prstGeom>
          <a:noFill/>
          <a:ln/>
        </p:spPr>
        <p:txBody>
          <a:bodyPr wrap="square" rtlCol="0" anchor="ctr"/>
          <a:lstStyle/>
          <a:p>
            <a:pPr marL="0" indent="0" algn="l">
              <a:lnSpc>
                <a:spcPct val="112000"/>
              </a:lnSpc>
              <a:buNone/>
            </a:pPr>
            <a:r>
              <a:rPr lang="en-US" sz="1150" dirty="0">
                <a:solidFill>
                  <a:srgbClr val="27313B"/>
                </a:solidFill>
                <a:latin typeface="Calibri" pitchFamily="34" charset="0"/>
                <a:ea typeface="Calibri" pitchFamily="34" charset="-122"/>
                <a:cs typeface="Calibri" pitchFamily="34" charset="-120"/>
              </a:rPr>
              <a:t>Is it numeric and roughly bell-shaped?</a:t>
            </a:r>
            <a:endParaRPr lang="en-US" sz="1150" dirty="0"/>
          </a:p>
        </p:txBody>
      </p:sp>
      <p:sp>
        <p:nvSpPr>
          <p:cNvPr id="16" name="Text 12"/>
          <p:cNvSpPr/>
          <p:nvPr/>
        </p:nvSpPr>
        <p:spPr>
          <a:xfrm>
            <a:off x="7635240" y="4727448"/>
            <a:ext cx="365760" cy="457200"/>
          </a:xfrm>
          <a:prstGeom prst="rect">
            <a:avLst/>
          </a:prstGeom>
          <a:noFill/>
          <a:ln/>
        </p:spPr>
        <p:txBody>
          <a:bodyPr wrap="square" rtlCol="0" anchor="ctr"/>
          <a:lstStyle/>
          <a:p>
            <a:pPr marL="0" indent="0" algn="ctr">
              <a:buNone/>
            </a:pPr>
            <a:r>
              <a:rPr lang="en-US" sz="1400" dirty="0">
                <a:solidFill>
                  <a:srgbClr val="5B6B7C"/>
                </a:solidFill>
              </a:rPr>
              <a:t>→</a:t>
            </a:r>
            <a:endParaRPr lang="en-US" sz="1400" dirty="0"/>
          </a:p>
        </p:txBody>
      </p:sp>
      <p:sp>
        <p:nvSpPr>
          <p:cNvPr id="17" name="Shape 13"/>
          <p:cNvSpPr/>
          <p:nvPr/>
        </p:nvSpPr>
        <p:spPr>
          <a:xfrm>
            <a:off x="8138160" y="4782312"/>
            <a:ext cx="2286000" cy="347472"/>
          </a:xfrm>
          <a:prstGeom prst="roundRect">
            <a:avLst>
              <a:gd name="adj" fmla="val 50000"/>
            </a:avLst>
          </a:prstGeom>
          <a:solidFill>
            <a:srgbClr val="5B9A56"/>
          </a:solidFill>
          <a:ln/>
        </p:spPr>
        <p:txBody>
          <a:bodyPr/>
          <a:lstStyle/>
          <a:p>
            <a:endParaRPr lang="en-GB"/>
          </a:p>
        </p:txBody>
      </p:sp>
      <p:sp>
        <p:nvSpPr>
          <p:cNvPr id="18" name="Text 14"/>
          <p:cNvSpPr/>
          <p:nvPr/>
        </p:nvSpPr>
        <p:spPr>
          <a:xfrm>
            <a:off x="8138160" y="4782312"/>
            <a:ext cx="2286000" cy="347472"/>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Mean &amp; SD</a:t>
            </a:r>
            <a:endParaRPr lang="en-US" sz="950" dirty="0"/>
          </a:p>
        </p:txBody>
      </p:sp>
      <p:sp>
        <p:nvSpPr>
          <p:cNvPr id="19" name="Shape 15"/>
          <p:cNvSpPr/>
          <p:nvPr/>
        </p:nvSpPr>
        <p:spPr>
          <a:xfrm>
            <a:off x="548640" y="5294376"/>
            <a:ext cx="6949440" cy="457200"/>
          </a:xfrm>
          <a:prstGeom prst="roundRect">
            <a:avLst>
              <a:gd name="adj" fmla="val 18000"/>
            </a:avLst>
          </a:prstGeom>
          <a:solidFill>
            <a:srgbClr val="F4F5F7"/>
          </a:solidFill>
          <a:ln/>
        </p:spPr>
        <p:txBody>
          <a:bodyPr/>
          <a:lstStyle/>
          <a:p>
            <a:endParaRPr lang="en-GB"/>
          </a:p>
        </p:txBody>
      </p:sp>
      <p:sp>
        <p:nvSpPr>
          <p:cNvPr id="20" name="Text 16"/>
          <p:cNvSpPr/>
          <p:nvPr/>
        </p:nvSpPr>
        <p:spPr>
          <a:xfrm>
            <a:off x="731520" y="5294376"/>
            <a:ext cx="6583680" cy="457200"/>
          </a:xfrm>
          <a:prstGeom prst="rect">
            <a:avLst/>
          </a:prstGeom>
          <a:noFill/>
          <a:ln/>
        </p:spPr>
        <p:txBody>
          <a:bodyPr wrap="square" rtlCol="0" anchor="ctr"/>
          <a:lstStyle/>
          <a:p>
            <a:pPr marL="0" indent="0" algn="l">
              <a:lnSpc>
                <a:spcPct val="112000"/>
              </a:lnSpc>
              <a:buNone/>
            </a:pPr>
            <a:r>
              <a:rPr lang="en-US" sz="1150" dirty="0">
                <a:solidFill>
                  <a:srgbClr val="27313B"/>
                </a:solidFill>
                <a:latin typeface="Calibri" pitchFamily="34" charset="0"/>
                <a:ea typeface="Calibri" pitchFamily="34" charset="-122"/>
                <a:cs typeface="Calibri" pitchFamily="34" charset="-120"/>
              </a:rPr>
              <a:t>Is it numeric but skewed, or has outliers?</a:t>
            </a:r>
            <a:endParaRPr lang="en-US" sz="1150" dirty="0"/>
          </a:p>
        </p:txBody>
      </p:sp>
      <p:sp>
        <p:nvSpPr>
          <p:cNvPr id="21" name="Text 17"/>
          <p:cNvSpPr/>
          <p:nvPr/>
        </p:nvSpPr>
        <p:spPr>
          <a:xfrm>
            <a:off x="7635240" y="5294376"/>
            <a:ext cx="365760" cy="457200"/>
          </a:xfrm>
          <a:prstGeom prst="rect">
            <a:avLst/>
          </a:prstGeom>
          <a:noFill/>
          <a:ln/>
        </p:spPr>
        <p:txBody>
          <a:bodyPr wrap="square" rtlCol="0" anchor="ctr"/>
          <a:lstStyle/>
          <a:p>
            <a:pPr marL="0" indent="0" algn="ctr">
              <a:buNone/>
            </a:pPr>
            <a:r>
              <a:rPr lang="en-US" sz="1400" dirty="0">
                <a:solidFill>
                  <a:srgbClr val="5B6B7C"/>
                </a:solidFill>
              </a:rPr>
              <a:t>→</a:t>
            </a:r>
            <a:endParaRPr lang="en-US" sz="1400" dirty="0"/>
          </a:p>
        </p:txBody>
      </p:sp>
      <p:sp>
        <p:nvSpPr>
          <p:cNvPr id="22" name="Shape 18"/>
          <p:cNvSpPr/>
          <p:nvPr/>
        </p:nvSpPr>
        <p:spPr>
          <a:xfrm>
            <a:off x="8138160" y="5349240"/>
            <a:ext cx="2286000" cy="347472"/>
          </a:xfrm>
          <a:prstGeom prst="roundRect">
            <a:avLst>
              <a:gd name="adj" fmla="val 50000"/>
            </a:avLst>
          </a:prstGeom>
          <a:solidFill>
            <a:srgbClr val="E63425"/>
          </a:solidFill>
          <a:ln/>
        </p:spPr>
        <p:txBody>
          <a:bodyPr/>
          <a:lstStyle/>
          <a:p>
            <a:endParaRPr lang="en-GB"/>
          </a:p>
        </p:txBody>
      </p:sp>
      <p:sp>
        <p:nvSpPr>
          <p:cNvPr id="23" name="Text 19"/>
          <p:cNvSpPr/>
          <p:nvPr/>
        </p:nvSpPr>
        <p:spPr>
          <a:xfrm>
            <a:off x="8138160" y="5349240"/>
            <a:ext cx="2286000" cy="347472"/>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Median &amp; IQR</a:t>
            </a:r>
            <a:endParaRPr lang="en-US" sz="950" dirty="0"/>
          </a:p>
        </p:txBody>
      </p:sp>
      <p:sp>
        <p:nvSpPr>
          <p:cNvPr id="24" name="Shape 20"/>
          <p:cNvSpPr/>
          <p:nvPr/>
        </p:nvSpPr>
        <p:spPr>
          <a:xfrm>
            <a:off x="548640" y="5943600"/>
            <a:ext cx="11094415" cy="566928"/>
          </a:xfrm>
          <a:prstGeom prst="roundRect">
            <a:avLst>
              <a:gd name="adj" fmla="val 14516"/>
            </a:avLst>
          </a:prstGeom>
          <a:solidFill>
            <a:srgbClr val="F4F5F7"/>
          </a:solidFill>
          <a:ln/>
        </p:spPr>
        <p:txBody>
          <a:bodyPr/>
          <a:lstStyle/>
          <a:p>
            <a:endParaRPr lang="en-GB"/>
          </a:p>
        </p:txBody>
      </p:sp>
      <p:sp>
        <p:nvSpPr>
          <p:cNvPr id="25" name="Text 21"/>
          <p:cNvSpPr/>
          <p:nvPr/>
        </p:nvSpPr>
        <p:spPr>
          <a:xfrm>
            <a:off x="731520" y="5943600"/>
            <a:ext cx="10728655" cy="566928"/>
          </a:xfrm>
          <a:prstGeom prst="rect">
            <a:avLst/>
          </a:prstGeom>
          <a:noFill/>
          <a:ln/>
        </p:spPr>
        <p:txBody>
          <a:bodyPr wrap="square" rtlCol="0" anchor="ctr"/>
          <a:lstStyle/>
          <a:p>
            <a:pPr marL="0" indent="0" algn="l">
              <a:lnSpc>
                <a:spcPct val="112000"/>
              </a:lnSpc>
              <a:buNone/>
            </a:pPr>
            <a:r>
              <a:rPr lang="en-US" sz="1100" i="1" dirty="0">
                <a:solidFill>
                  <a:srgbClr val="5B6B7C"/>
                </a:solidFill>
                <a:latin typeface="Calibri" pitchFamily="34" charset="0"/>
                <a:ea typeface="Calibri" pitchFamily="34" charset="-122"/>
                <a:cs typeface="Calibri" pitchFamily="34" charset="-120"/>
              </a:rPr>
              <a:t>Chihota et al. (2022) reported CD4 count and viral load as median (IQR) — a signal the authors detected skewness and correctly avoided the mean.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2 · CENTRAL TENDENCY</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Mean, Median &amp; Mode — A Worked Comparison</a:t>
            </a:r>
            <a:endParaRPr lang="en-US" sz="3000" dirty="0"/>
          </a:p>
        </p:txBody>
      </p:sp>
      <p:sp>
        <p:nvSpPr>
          <p:cNvPr id="7" name="Shape 4"/>
          <p:cNvSpPr/>
          <p:nvPr/>
        </p:nvSpPr>
        <p:spPr>
          <a:xfrm>
            <a:off x="548640" y="1572768"/>
            <a:ext cx="6675120" cy="777240"/>
          </a:xfrm>
          <a:prstGeom prst="roundRect">
            <a:avLst>
              <a:gd name="adj" fmla="val 10588"/>
            </a:avLst>
          </a:prstGeom>
          <a:solidFill>
            <a:srgbClr val="F4F5F7"/>
          </a:solidFill>
          <a:ln/>
        </p:spPr>
        <p:txBody>
          <a:bodyPr/>
          <a:lstStyle/>
          <a:p>
            <a:endParaRPr lang="en-GB"/>
          </a:p>
        </p:txBody>
      </p:sp>
      <p:sp>
        <p:nvSpPr>
          <p:cNvPr id="8" name="Text 5"/>
          <p:cNvSpPr/>
          <p:nvPr/>
        </p:nvSpPr>
        <p:spPr>
          <a:xfrm>
            <a:off x="731520" y="1664208"/>
            <a:ext cx="6309360" cy="274320"/>
          </a:xfrm>
          <a:prstGeom prst="rect">
            <a:avLst/>
          </a:prstGeom>
          <a:noFill/>
          <a:ln/>
        </p:spPr>
        <p:txBody>
          <a:bodyPr wrap="square" rtlCol="0" anchor="t"/>
          <a:lstStyle/>
          <a:p>
            <a:pPr marL="0" indent="0" algn="l">
              <a:lnSpc>
                <a:spcPct val="112000"/>
              </a:lnSpc>
              <a:buNone/>
            </a:pPr>
            <a:r>
              <a:rPr lang="en-US" sz="1050" b="1" dirty="0">
                <a:solidFill>
                  <a:srgbClr val="E63425"/>
                </a:solidFill>
                <a:latin typeface="Calibri" pitchFamily="34" charset="0"/>
                <a:ea typeface="Calibri" pitchFamily="34" charset="-122"/>
                <a:cs typeface="Calibri" pitchFamily="34" charset="-120"/>
              </a:rPr>
              <a:t>TOY DATASET: CD4 COUNT (cells/mm³), n=9</a:t>
            </a:r>
            <a:endParaRPr lang="en-US" sz="1050" dirty="0"/>
          </a:p>
        </p:txBody>
      </p:sp>
      <p:sp>
        <p:nvSpPr>
          <p:cNvPr id="9" name="Text 6"/>
          <p:cNvSpPr/>
          <p:nvPr/>
        </p:nvSpPr>
        <p:spPr>
          <a:xfrm>
            <a:off x="731520" y="1920240"/>
            <a:ext cx="6309360" cy="365760"/>
          </a:xfrm>
          <a:prstGeom prst="rect">
            <a:avLst/>
          </a:prstGeom>
          <a:noFill/>
          <a:ln/>
        </p:spPr>
        <p:txBody>
          <a:bodyPr wrap="square" rtlCol="0" anchor="t"/>
          <a:lstStyle/>
          <a:p>
            <a:pPr marL="0" indent="0" algn="l">
              <a:lnSpc>
                <a:spcPct val="112000"/>
              </a:lnSpc>
              <a:buNone/>
            </a:pPr>
            <a:r>
              <a:rPr lang="en-US" sz="1300" dirty="0">
                <a:solidFill>
                  <a:srgbClr val="27313B"/>
                </a:solidFill>
                <a:latin typeface="Calibri" pitchFamily="34" charset="0"/>
                <a:ea typeface="Calibri" pitchFamily="34" charset="-122"/>
                <a:cs typeface="Calibri" pitchFamily="34" charset="-120"/>
              </a:rPr>
              <a:t>80, 95, 110, 140, 160, 190, 210, 240, 980</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6675120" cy="1536192"/>
        </p:xfrm>
        <a:graphic>
          <a:graphicData uri="http://schemas.openxmlformats.org/drawingml/2006/table">
            <a:tbl>
              <a:tblPr/>
              <a:tblGrid>
                <a:gridCol w="2002536">
                  <a:extLst>
                    <a:ext uri="{9D8B030D-6E8A-4147-A177-3AD203B41FA5}">
                      <a16:colId xmlns:a16="http://schemas.microsoft.com/office/drawing/2014/main" val="20000"/>
                    </a:ext>
                  </a:extLst>
                </a:gridCol>
                <a:gridCol w="1869034">
                  <a:extLst>
                    <a:ext uri="{9D8B030D-6E8A-4147-A177-3AD203B41FA5}">
                      <a16:colId xmlns:a16="http://schemas.microsoft.com/office/drawing/2014/main" val="20001"/>
                    </a:ext>
                  </a:extLst>
                </a:gridCol>
                <a:gridCol w="280355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Sensitive to the 980 outlier?</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245.0</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Yes — pulled sharply upward</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160.0</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No — robust to the outlier</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None (all unique)</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7313B"/>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7452360" y="1572768"/>
            <a:ext cx="4190695" cy="4434840"/>
          </a:xfrm>
          <a:prstGeom prst="roundRect">
            <a:avLst>
              <a:gd name="adj" fmla="val 1964"/>
            </a:avLst>
          </a:prstGeom>
          <a:solidFill>
            <a:srgbClr val="25374F"/>
          </a:solidFill>
          <a:ln/>
        </p:spPr>
        <p:txBody>
          <a:bodyPr/>
          <a:lstStyle/>
          <a:p>
            <a:endParaRPr lang="en-GB"/>
          </a:p>
        </p:txBody>
      </p:sp>
      <p:sp>
        <p:nvSpPr>
          <p:cNvPr id="12" name="Text 8"/>
          <p:cNvSpPr/>
          <p:nvPr/>
        </p:nvSpPr>
        <p:spPr>
          <a:xfrm>
            <a:off x="7708392" y="1783080"/>
            <a:ext cx="3678631" cy="320040"/>
          </a:xfrm>
          <a:prstGeom prst="rect">
            <a:avLst/>
          </a:prstGeom>
          <a:noFill/>
          <a:ln/>
        </p:spPr>
        <p:txBody>
          <a:bodyPr wrap="square" rtlCol="0" anchor="t"/>
          <a:lstStyle/>
          <a:p>
            <a:pPr marL="0" indent="0" algn="l">
              <a:lnSpc>
                <a:spcPct val="112000"/>
              </a:lnSpc>
              <a:buNone/>
            </a:pPr>
            <a:r>
              <a:rPr lang="en-US" sz="1200" b="1" dirty="0">
                <a:solidFill>
                  <a:srgbClr val="E63425"/>
                </a:solidFill>
                <a:latin typeface="Calibri" pitchFamily="34" charset="0"/>
                <a:ea typeface="Calibri" pitchFamily="34" charset="-122"/>
                <a:cs typeface="Calibri" pitchFamily="34" charset="-120"/>
              </a:rPr>
              <a:t>REGIONAL EVIDENCE</a:t>
            </a:r>
            <a:endParaRPr lang="en-US" sz="1200" dirty="0"/>
          </a:p>
        </p:txBody>
      </p:sp>
      <p:sp>
        <p:nvSpPr>
          <p:cNvPr id="13" name="Text 9"/>
          <p:cNvSpPr/>
          <p:nvPr/>
        </p:nvSpPr>
        <p:spPr>
          <a:xfrm>
            <a:off x="7708392" y="2121408"/>
            <a:ext cx="3678631" cy="502920"/>
          </a:xfrm>
          <a:prstGeom prst="rect">
            <a:avLst/>
          </a:prstGeom>
          <a:noFill/>
          <a:ln/>
        </p:spPr>
        <p:txBody>
          <a:bodyPr wrap="square" rtlCol="0" anchor="t"/>
          <a:lstStyle/>
          <a:p>
            <a:pPr marL="0" indent="0" algn="l">
              <a:lnSpc>
                <a:spcPct val="112000"/>
              </a:lnSpc>
              <a:buNone/>
            </a:pPr>
            <a:r>
              <a:rPr lang="en-US" sz="1150" dirty="0">
                <a:solidFill>
                  <a:srgbClr val="D9E2EC"/>
                </a:solidFill>
                <a:latin typeface="Calibri" pitchFamily="34" charset="0"/>
                <a:ea typeface="Calibri" pitchFamily="34" charset="-122"/>
                <a:cs typeface="Calibri" pitchFamily="34" charset="-120"/>
              </a:rPr>
              <a:t>Chihota BV et al. (2022) reported CD4 count in PLWH as:</a:t>
            </a:r>
            <a:endParaRPr lang="en-US" sz="1150" dirty="0"/>
          </a:p>
        </p:txBody>
      </p:sp>
      <p:sp>
        <p:nvSpPr>
          <p:cNvPr id="14" name="Shape 10"/>
          <p:cNvSpPr/>
          <p:nvPr/>
        </p:nvSpPr>
        <p:spPr>
          <a:xfrm>
            <a:off x="7708392" y="2697480"/>
            <a:ext cx="3678631" cy="777240"/>
          </a:xfrm>
          <a:prstGeom prst="roundRect">
            <a:avLst>
              <a:gd name="adj" fmla="val 10588"/>
            </a:avLst>
          </a:prstGeom>
          <a:solidFill>
            <a:srgbClr val="32455D"/>
          </a:solidFill>
          <a:ln/>
        </p:spPr>
        <p:txBody>
          <a:bodyPr/>
          <a:lstStyle/>
          <a:p>
            <a:endParaRPr lang="en-GB"/>
          </a:p>
        </p:txBody>
      </p:sp>
      <p:sp>
        <p:nvSpPr>
          <p:cNvPr id="15" name="Text 11"/>
          <p:cNvSpPr/>
          <p:nvPr/>
        </p:nvSpPr>
        <p:spPr>
          <a:xfrm>
            <a:off x="7872984" y="2788920"/>
            <a:ext cx="3367735" cy="594360"/>
          </a:xfrm>
          <a:prstGeom prst="rect">
            <a:avLst/>
          </a:prstGeom>
          <a:noFill/>
          <a:ln/>
        </p:spPr>
        <p:txBody>
          <a:bodyPr wrap="square" rtlCol="0" anchor="t"/>
          <a:lstStyle/>
          <a:p>
            <a:pPr marL="0" indent="0" algn="l">
              <a:lnSpc>
                <a:spcPct val="130000"/>
              </a:lnSpc>
              <a:buNone/>
            </a:pPr>
            <a:r>
              <a:rPr lang="en-US" sz="1200" dirty="0">
                <a:solidFill>
                  <a:srgbClr val="FFFFFF"/>
                </a:solidFill>
                <a:latin typeface="Calibri" pitchFamily="34" charset="0"/>
                <a:ea typeface="Calibri" pitchFamily="34" charset="-122"/>
                <a:cs typeface="Calibri" pitchFamily="34" charset="-120"/>
              </a:rPr>
              <a:t>Median 228 cells/mm³</a:t>
            </a:r>
            <a:endParaRPr lang="en-US" sz="1200" dirty="0"/>
          </a:p>
          <a:p>
            <a:pPr marL="0" indent="0" algn="l">
              <a:lnSpc>
                <a:spcPct val="130000"/>
              </a:lnSpc>
              <a:buNone/>
            </a:pPr>
            <a:r>
              <a:rPr lang="en-US" sz="1200" dirty="0">
                <a:solidFill>
                  <a:srgbClr val="FFFFFF"/>
                </a:solidFill>
                <a:latin typeface="Calibri" pitchFamily="34" charset="0"/>
                <a:ea typeface="Calibri" pitchFamily="34" charset="-122"/>
                <a:cs typeface="Calibri" pitchFamily="34" charset="-120"/>
              </a:rPr>
              <a:t>IQR 108–412</a:t>
            </a:r>
            <a:endParaRPr lang="en-US" sz="1200" dirty="0"/>
          </a:p>
        </p:txBody>
      </p:sp>
      <p:sp>
        <p:nvSpPr>
          <p:cNvPr id="16" name="Text 12"/>
          <p:cNvSpPr/>
          <p:nvPr/>
        </p:nvSpPr>
        <p:spPr>
          <a:xfrm>
            <a:off x="7708392" y="3657600"/>
            <a:ext cx="3678631" cy="2194560"/>
          </a:xfrm>
          <a:prstGeom prst="rect">
            <a:avLst/>
          </a:prstGeom>
          <a:noFill/>
          <a:ln/>
        </p:spPr>
        <p:txBody>
          <a:bodyPr wrap="square" rtlCol="0" anchor="t"/>
          <a:lstStyle/>
          <a:p>
            <a:pPr marL="0" indent="0" algn="l">
              <a:lnSpc>
                <a:spcPct val="125000"/>
              </a:lnSpc>
              <a:buNone/>
            </a:pPr>
            <a:r>
              <a:rPr lang="en-US" sz="1100" dirty="0">
                <a:solidFill>
                  <a:srgbClr val="D9E2EC"/>
                </a:solidFill>
                <a:latin typeface="Calibri" pitchFamily="34" charset="0"/>
                <a:ea typeface="Calibri" pitchFamily="34" charset="-122"/>
                <a:cs typeface="Calibri" pitchFamily="34" charset="-120"/>
              </a:rPr>
              <a:t>Viral load was even more skewed: median 24,114 copies/ml, IQR 277–214,271 — a &gt;770-fold range between the 25th and 75th percentile. A mean here would be dominated by a handful of very high values.</a:t>
            </a:r>
            <a:endParaRPr lang="en-US" sz="1100" dirty="0"/>
          </a:p>
        </p:txBody>
      </p:sp>
      <p:sp>
        <p:nvSpPr>
          <p:cNvPr id="17" name="Text 13"/>
          <p:cNvSpPr/>
          <p:nvPr/>
        </p:nvSpPr>
        <p:spPr>
          <a:xfrm>
            <a:off x="548640" y="5623560"/>
            <a:ext cx="6675120" cy="822960"/>
          </a:xfrm>
          <a:prstGeom prst="rect">
            <a:avLst/>
          </a:prstGeom>
          <a:noFill/>
          <a:ln/>
        </p:spPr>
        <p:txBody>
          <a:bodyPr wrap="square" rtlCol="0" anchor="t"/>
          <a:lstStyle/>
          <a:p>
            <a:pPr marL="0" indent="0" algn="l">
              <a:lnSpc>
                <a:spcPct val="120000"/>
              </a:lnSpc>
              <a:buNone/>
            </a:pPr>
            <a:r>
              <a:rPr lang="en-US" sz="1100" i="1" dirty="0">
                <a:solidFill>
                  <a:srgbClr val="5B6B7C"/>
                </a:solidFill>
                <a:latin typeface="Calibri" pitchFamily="34" charset="0"/>
                <a:ea typeface="Calibri" pitchFamily="34" charset="-122"/>
                <a:cs typeface="Calibri" pitchFamily="34" charset="-120"/>
              </a:rPr>
              <a:t>A single value of 980 drags the mean up by 85 points while leaving the median almost untouched — exactly why the median is preferred whenever outliers or skewness are present.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2 — CHECK YOUR UNDERSTANDING</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Mean or Median?</a:t>
            </a:r>
            <a:endParaRPr lang="en-US" sz="3000" dirty="0"/>
          </a:p>
        </p:txBody>
      </p:sp>
      <p:sp>
        <p:nvSpPr>
          <p:cNvPr id="7" name="Text 4"/>
          <p:cNvSpPr/>
          <p:nvPr/>
        </p:nvSpPr>
        <p:spPr>
          <a:xfrm>
            <a:off x="548640" y="1554480"/>
            <a:ext cx="11094415" cy="777240"/>
          </a:xfrm>
          <a:prstGeom prst="rect">
            <a:avLst/>
          </a:prstGeom>
          <a:noFill/>
          <a:ln/>
        </p:spPr>
        <p:txBody>
          <a:bodyPr wrap="square" rtlCol="0" anchor="t"/>
          <a:lstStyle/>
          <a:p>
            <a:pPr marL="0" indent="0" algn="l">
              <a:lnSpc>
                <a:spcPct val="122000"/>
              </a:lnSpc>
              <a:buNone/>
            </a:pPr>
            <a:r>
              <a:rPr lang="en-US" sz="1300" dirty="0">
                <a:solidFill>
                  <a:srgbClr val="27313B"/>
                </a:solidFill>
                <a:latin typeface="Calibri" pitchFamily="34" charset="0"/>
                <a:ea typeface="Calibri" pitchFamily="34" charset="-122"/>
                <a:cs typeface="Calibri" pitchFamily="34" charset="-120"/>
              </a:rPr>
              <a:t>A Harare research team measures length of hospital stay (in days) for 40 patients admitted with severe malaria. Most patients stay 3–5 days, but two patients with complications stay 45 and 60 days.</a:t>
            </a:r>
            <a:endParaRPr lang="en-US" sz="1300" dirty="0"/>
          </a:p>
        </p:txBody>
      </p:sp>
      <p:sp>
        <p:nvSpPr>
          <p:cNvPr id="8" name="Text 5"/>
          <p:cNvSpPr/>
          <p:nvPr/>
        </p:nvSpPr>
        <p:spPr>
          <a:xfrm>
            <a:off x="548640" y="2395728"/>
            <a:ext cx="11094415" cy="457200"/>
          </a:xfrm>
          <a:prstGeom prst="rect">
            <a:avLst/>
          </a:prstGeom>
          <a:noFill/>
          <a:ln/>
        </p:spPr>
        <p:txBody>
          <a:bodyPr wrap="square" rtlCol="0" anchor="t"/>
          <a:lstStyle/>
          <a:p>
            <a:pPr marL="0" indent="0" algn="l">
              <a:lnSpc>
                <a:spcPct val="115000"/>
              </a:lnSpc>
              <a:buNone/>
            </a:pPr>
            <a:r>
              <a:rPr lang="en-US" sz="1400" b="1" dirty="0">
                <a:solidFill>
                  <a:srgbClr val="25374F"/>
                </a:solidFill>
                <a:latin typeface="Calibri" pitchFamily="34" charset="0"/>
                <a:ea typeface="Calibri" pitchFamily="34" charset="-122"/>
                <a:cs typeface="Calibri" pitchFamily="34" charset="-120"/>
              </a:rPr>
              <a:t>Which pair of statistics should be reported for “length of stay”?</a:t>
            </a:r>
            <a:endParaRPr lang="en-US" sz="1400" dirty="0"/>
          </a:p>
        </p:txBody>
      </p:sp>
      <p:sp>
        <p:nvSpPr>
          <p:cNvPr id="21" name="Text 18"/>
          <p:cNvSpPr/>
          <p:nvPr/>
        </p:nvSpPr>
        <p:spPr>
          <a:xfrm>
            <a:off x="804672" y="5806440"/>
            <a:ext cx="10582351" cy="914400"/>
          </a:xfrm>
          <a:prstGeom prst="rect">
            <a:avLst/>
          </a:prstGeom>
          <a:noFill/>
          <a:ln/>
        </p:spPr>
        <p:txBody>
          <a:bodyPr wrap="square" rtlCol="0" anchor="t"/>
          <a:lstStyle/>
          <a:p>
            <a:pPr marL="0" indent="0" algn="l">
              <a:lnSpc>
                <a:spcPct val="125000"/>
              </a:lnSpc>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2 · DISPERSION</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Measures of Spread: Range, IQR, Variance &amp; SD</a:t>
            </a:r>
            <a:endParaRPr lang="en-US" sz="3000" dirty="0"/>
          </a:p>
        </p:txBody>
      </p:sp>
      <p:sp>
        <p:nvSpPr>
          <p:cNvPr id="7" name="Shape 4"/>
          <p:cNvSpPr/>
          <p:nvPr/>
        </p:nvSpPr>
        <p:spPr>
          <a:xfrm>
            <a:off x="548640" y="1572768"/>
            <a:ext cx="6675120" cy="1170432"/>
          </a:xfrm>
          <a:prstGeom prst="roundRect">
            <a:avLst>
              <a:gd name="adj" fmla="val 7031"/>
            </a:avLst>
          </a:prstGeom>
          <a:solidFill>
            <a:srgbClr val="F4F5F7"/>
          </a:solidFill>
          <a:ln/>
        </p:spPr>
        <p:txBody>
          <a:bodyPr/>
          <a:lstStyle/>
          <a:p>
            <a:endParaRPr lang="en-GB"/>
          </a:p>
        </p:txBody>
      </p:sp>
      <p:sp>
        <p:nvSpPr>
          <p:cNvPr id="8" name="Text 5"/>
          <p:cNvSpPr/>
          <p:nvPr/>
        </p:nvSpPr>
        <p:spPr>
          <a:xfrm>
            <a:off x="749808" y="1700784"/>
            <a:ext cx="6309360" cy="292608"/>
          </a:xfrm>
          <a:prstGeom prst="rect">
            <a:avLst/>
          </a:prstGeom>
          <a:noFill/>
          <a:ln/>
        </p:spPr>
        <p:txBody>
          <a:bodyPr wrap="square" rtlCol="0" anchor="t"/>
          <a:lstStyle/>
          <a:p>
            <a:pPr marL="0" indent="0" algn="l">
              <a:lnSpc>
                <a:spcPct val="112000"/>
              </a:lnSpc>
              <a:buNone/>
            </a:pPr>
            <a:r>
              <a:rPr lang="en-US" sz="1250" b="1" dirty="0">
                <a:solidFill>
                  <a:srgbClr val="E63425"/>
                </a:solidFill>
                <a:latin typeface="Calibri" pitchFamily="34" charset="0"/>
                <a:ea typeface="Calibri" pitchFamily="34" charset="-122"/>
                <a:cs typeface="Calibri" pitchFamily="34" charset="-120"/>
              </a:rPr>
              <a:t>Range</a:t>
            </a:r>
            <a:endParaRPr lang="en-US" sz="1250" dirty="0"/>
          </a:p>
        </p:txBody>
      </p:sp>
      <p:sp>
        <p:nvSpPr>
          <p:cNvPr id="9" name="Text 6"/>
          <p:cNvSpPr/>
          <p:nvPr/>
        </p:nvSpPr>
        <p:spPr>
          <a:xfrm>
            <a:off x="749808" y="2011680"/>
            <a:ext cx="6309360" cy="658368"/>
          </a:xfrm>
          <a:prstGeom prst="rect">
            <a:avLst/>
          </a:prstGeom>
          <a:noFill/>
          <a:ln/>
        </p:spPr>
        <p:txBody>
          <a:bodyPr wrap="square" rtlCol="0" anchor="t"/>
          <a:lstStyle/>
          <a:p>
            <a:pPr marL="0" indent="0" algn="l">
              <a:lnSpc>
                <a:spcPct val="120000"/>
              </a:lnSpc>
              <a:buNone/>
            </a:pPr>
            <a:r>
              <a:rPr lang="en-US" sz="1150" dirty="0">
                <a:solidFill>
                  <a:srgbClr val="27313B"/>
                </a:solidFill>
                <a:latin typeface="Calibri" pitchFamily="34" charset="0"/>
                <a:ea typeface="Calibri" pitchFamily="34" charset="-122"/>
                <a:cs typeface="Calibri" pitchFamily="34" charset="-120"/>
              </a:rPr>
              <a:t>Maximum − minimum. Simple but entirely driven by the two most extreme values.</a:t>
            </a:r>
            <a:endParaRPr lang="en-US" sz="1150" dirty="0"/>
          </a:p>
        </p:txBody>
      </p:sp>
      <p:sp>
        <p:nvSpPr>
          <p:cNvPr id="10" name="Shape 7"/>
          <p:cNvSpPr/>
          <p:nvPr/>
        </p:nvSpPr>
        <p:spPr>
          <a:xfrm>
            <a:off x="548640" y="2898648"/>
            <a:ext cx="6675120" cy="1170432"/>
          </a:xfrm>
          <a:prstGeom prst="roundRect">
            <a:avLst>
              <a:gd name="adj" fmla="val 7031"/>
            </a:avLst>
          </a:prstGeom>
          <a:solidFill>
            <a:srgbClr val="F4F5F7"/>
          </a:solidFill>
          <a:ln/>
        </p:spPr>
        <p:txBody>
          <a:bodyPr/>
          <a:lstStyle/>
          <a:p>
            <a:endParaRPr lang="en-GB"/>
          </a:p>
        </p:txBody>
      </p:sp>
      <p:sp>
        <p:nvSpPr>
          <p:cNvPr id="11" name="Text 8"/>
          <p:cNvSpPr/>
          <p:nvPr/>
        </p:nvSpPr>
        <p:spPr>
          <a:xfrm>
            <a:off x="749808" y="3026664"/>
            <a:ext cx="6309360" cy="292608"/>
          </a:xfrm>
          <a:prstGeom prst="rect">
            <a:avLst/>
          </a:prstGeom>
          <a:noFill/>
          <a:ln/>
        </p:spPr>
        <p:txBody>
          <a:bodyPr wrap="square" rtlCol="0" anchor="t"/>
          <a:lstStyle/>
          <a:p>
            <a:pPr marL="0" indent="0" algn="l">
              <a:lnSpc>
                <a:spcPct val="112000"/>
              </a:lnSpc>
              <a:buNone/>
            </a:pPr>
            <a:r>
              <a:rPr lang="en-US" sz="1250" b="1" dirty="0">
                <a:solidFill>
                  <a:srgbClr val="E63425"/>
                </a:solidFill>
                <a:latin typeface="Calibri" pitchFamily="34" charset="0"/>
                <a:ea typeface="Calibri" pitchFamily="34" charset="-122"/>
                <a:cs typeface="Calibri" pitchFamily="34" charset="-120"/>
              </a:rPr>
              <a:t>Interquartile Range (IQR)</a:t>
            </a:r>
            <a:endParaRPr lang="en-US" sz="1250" dirty="0"/>
          </a:p>
        </p:txBody>
      </p:sp>
      <p:sp>
        <p:nvSpPr>
          <p:cNvPr id="12" name="Text 9"/>
          <p:cNvSpPr/>
          <p:nvPr/>
        </p:nvSpPr>
        <p:spPr>
          <a:xfrm>
            <a:off x="749808" y="3337560"/>
            <a:ext cx="6309360" cy="658368"/>
          </a:xfrm>
          <a:prstGeom prst="rect">
            <a:avLst/>
          </a:prstGeom>
          <a:noFill/>
          <a:ln/>
        </p:spPr>
        <p:txBody>
          <a:bodyPr wrap="square" rtlCol="0" anchor="t"/>
          <a:lstStyle/>
          <a:p>
            <a:pPr marL="0" indent="0" algn="l">
              <a:lnSpc>
                <a:spcPct val="120000"/>
              </a:lnSpc>
              <a:buNone/>
            </a:pPr>
            <a:r>
              <a:rPr lang="en-US" sz="1150" dirty="0">
                <a:solidFill>
                  <a:srgbClr val="27313B"/>
                </a:solidFill>
                <a:latin typeface="Calibri" pitchFamily="34" charset="0"/>
                <a:ea typeface="Calibri" pitchFamily="34" charset="-122"/>
                <a:cs typeface="Calibri" pitchFamily="34" charset="-120"/>
              </a:rPr>
              <a:t>The middle 50% of the data: 75th percentile (Q3) − 25th percentile (Q1). Robust to outliers — pairs with the median.</a:t>
            </a:r>
            <a:endParaRPr lang="en-US" sz="1150" dirty="0"/>
          </a:p>
        </p:txBody>
      </p:sp>
      <p:sp>
        <p:nvSpPr>
          <p:cNvPr id="13" name="Shape 10"/>
          <p:cNvSpPr/>
          <p:nvPr/>
        </p:nvSpPr>
        <p:spPr>
          <a:xfrm>
            <a:off x="548640" y="4224528"/>
            <a:ext cx="6675120" cy="1170432"/>
          </a:xfrm>
          <a:prstGeom prst="roundRect">
            <a:avLst>
              <a:gd name="adj" fmla="val 7031"/>
            </a:avLst>
          </a:prstGeom>
          <a:solidFill>
            <a:srgbClr val="F4F5F7"/>
          </a:solidFill>
          <a:ln/>
        </p:spPr>
        <p:txBody>
          <a:bodyPr/>
          <a:lstStyle/>
          <a:p>
            <a:endParaRPr lang="en-GB"/>
          </a:p>
        </p:txBody>
      </p:sp>
      <p:sp>
        <p:nvSpPr>
          <p:cNvPr id="14" name="Text 11"/>
          <p:cNvSpPr/>
          <p:nvPr/>
        </p:nvSpPr>
        <p:spPr>
          <a:xfrm>
            <a:off x="749808" y="4352544"/>
            <a:ext cx="6309360" cy="292608"/>
          </a:xfrm>
          <a:prstGeom prst="rect">
            <a:avLst/>
          </a:prstGeom>
          <a:noFill/>
          <a:ln/>
        </p:spPr>
        <p:txBody>
          <a:bodyPr wrap="square" rtlCol="0" anchor="t"/>
          <a:lstStyle/>
          <a:p>
            <a:pPr marL="0" indent="0" algn="l">
              <a:lnSpc>
                <a:spcPct val="112000"/>
              </a:lnSpc>
              <a:buNone/>
            </a:pPr>
            <a:r>
              <a:rPr lang="en-US" sz="1250" b="1" dirty="0">
                <a:solidFill>
                  <a:srgbClr val="E63425"/>
                </a:solidFill>
                <a:latin typeface="Calibri" pitchFamily="34" charset="0"/>
                <a:ea typeface="Calibri" pitchFamily="34" charset="-122"/>
                <a:cs typeface="Calibri" pitchFamily="34" charset="-120"/>
              </a:rPr>
              <a:t>Standard Deviation (SD)</a:t>
            </a:r>
            <a:endParaRPr lang="en-US" sz="1250" dirty="0"/>
          </a:p>
        </p:txBody>
      </p:sp>
      <p:sp>
        <p:nvSpPr>
          <p:cNvPr id="15" name="Text 12"/>
          <p:cNvSpPr/>
          <p:nvPr/>
        </p:nvSpPr>
        <p:spPr>
          <a:xfrm>
            <a:off x="749808" y="4663440"/>
            <a:ext cx="6309360" cy="658368"/>
          </a:xfrm>
          <a:prstGeom prst="rect">
            <a:avLst/>
          </a:prstGeom>
          <a:noFill/>
          <a:ln/>
        </p:spPr>
        <p:txBody>
          <a:bodyPr wrap="square" rtlCol="0" anchor="t"/>
          <a:lstStyle/>
          <a:p>
            <a:pPr marL="0" indent="0" algn="l">
              <a:lnSpc>
                <a:spcPct val="120000"/>
              </a:lnSpc>
              <a:buNone/>
            </a:pPr>
            <a:r>
              <a:rPr lang="en-US" sz="1150" dirty="0">
                <a:solidFill>
                  <a:srgbClr val="27313B"/>
                </a:solidFill>
                <a:latin typeface="Calibri" pitchFamily="34" charset="0"/>
                <a:ea typeface="Calibri" pitchFamily="34" charset="-122"/>
                <a:cs typeface="Calibri" pitchFamily="34" charset="-120"/>
              </a:rPr>
              <a:t>Average distance of each observation from the mean. Pairs with the mean; assumes rough symmetry.</a:t>
            </a:r>
            <a:endParaRPr lang="en-US" sz="1150" dirty="0"/>
          </a:p>
        </p:txBody>
      </p:sp>
      <p:sp>
        <p:nvSpPr>
          <p:cNvPr id="16" name="Shape 13"/>
          <p:cNvSpPr/>
          <p:nvPr/>
        </p:nvSpPr>
        <p:spPr>
          <a:xfrm>
            <a:off x="7452360" y="1572768"/>
            <a:ext cx="4190695" cy="4434840"/>
          </a:xfrm>
          <a:prstGeom prst="roundRect">
            <a:avLst>
              <a:gd name="adj" fmla="val 1964"/>
            </a:avLst>
          </a:prstGeom>
          <a:solidFill>
            <a:srgbClr val="25374F"/>
          </a:solidFill>
          <a:ln/>
        </p:spPr>
        <p:txBody>
          <a:bodyPr/>
          <a:lstStyle/>
          <a:p>
            <a:endParaRPr lang="en-GB"/>
          </a:p>
        </p:txBody>
      </p:sp>
      <p:sp>
        <p:nvSpPr>
          <p:cNvPr id="17" name="Text 14"/>
          <p:cNvSpPr/>
          <p:nvPr/>
        </p:nvSpPr>
        <p:spPr>
          <a:xfrm>
            <a:off x="7708392" y="1783080"/>
            <a:ext cx="3678631" cy="320040"/>
          </a:xfrm>
          <a:prstGeom prst="rect">
            <a:avLst/>
          </a:prstGeom>
          <a:noFill/>
          <a:ln/>
        </p:spPr>
        <p:txBody>
          <a:bodyPr wrap="square" rtlCol="0" anchor="t"/>
          <a:lstStyle/>
          <a:p>
            <a:pPr marL="0" indent="0" algn="l">
              <a:lnSpc>
                <a:spcPct val="112000"/>
              </a:lnSpc>
              <a:buNone/>
            </a:pPr>
            <a:r>
              <a:rPr lang="en-US" sz="1150" b="1" dirty="0">
                <a:solidFill>
                  <a:srgbClr val="E63425"/>
                </a:solidFill>
                <a:latin typeface="Calibri" pitchFamily="34" charset="0"/>
                <a:ea typeface="Calibri" pitchFamily="34" charset="-122"/>
                <a:cs typeface="Calibri" pitchFamily="34" charset="-120"/>
              </a:rPr>
              <a:t>CD4 COUNT — CHIHOTA ET AL., 2022</a:t>
            </a:r>
            <a:endParaRPr lang="en-US" sz="1150" dirty="0"/>
          </a:p>
        </p:txBody>
      </p:sp>
      <p:sp>
        <p:nvSpPr>
          <p:cNvPr id="18" name="Shape 15"/>
          <p:cNvSpPr/>
          <p:nvPr/>
        </p:nvSpPr>
        <p:spPr>
          <a:xfrm>
            <a:off x="7708392" y="2194560"/>
            <a:ext cx="3678631" cy="402336"/>
          </a:xfrm>
          <a:prstGeom prst="rect">
            <a:avLst/>
          </a:prstGeom>
          <a:solidFill>
            <a:srgbClr val="0F1B2B"/>
          </a:solidFill>
          <a:ln/>
        </p:spPr>
        <p:txBody>
          <a:bodyPr/>
          <a:lstStyle/>
          <a:p>
            <a:endParaRPr lang="en-GB"/>
          </a:p>
        </p:txBody>
      </p:sp>
      <p:sp>
        <p:nvSpPr>
          <p:cNvPr id="19" name="Text 16"/>
          <p:cNvSpPr/>
          <p:nvPr/>
        </p:nvSpPr>
        <p:spPr>
          <a:xfrm>
            <a:off x="7854696" y="2194560"/>
            <a:ext cx="2023247" cy="402336"/>
          </a:xfrm>
          <a:prstGeom prst="rect">
            <a:avLst/>
          </a:prstGeom>
          <a:noFill/>
          <a:ln/>
        </p:spPr>
        <p:txBody>
          <a:bodyPr wrap="square" rtlCol="0" anchor="ctr"/>
          <a:lstStyle/>
          <a:p>
            <a:pPr marL="0" indent="0" algn="l">
              <a:lnSpc>
                <a:spcPct val="112000"/>
              </a:lnSpc>
              <a:buNone/>
            </a:pPr>
            <a:r>
              <a:rPr lang="en-US" sz="1150" b="1" dirty="0">
                <a:solidFill>
                  <a:srgbClr val="FFFFFF"/>
                </a:solidFill>
                <a:latin typeface="Calibri" pitchFamily="34" charset="0"/>
                <a:ea typeface="Calibri" pitchFamily="34" charset="-122"/>
                <a:cs typeface="Calibri" pitchFamily="34" charset="-120"/>
              </a:rPr>
              <a:t>Statistic</a:t>
            </a:r>
            <a:endParaRPr lang="en-US" sz="1150" dirty="0"/>
          </a:p>
        </p:txBody>
      </p:sp>
      <p:sp>
        <p:nvSpPr>
          <p:cNvPr id="20" name="Text 17"/>
          <p:cNvSpPr/>
          <p:nvPr/>
        </p:nvSpPr>
        <p:spPr>
          <a:xfrm>
            <a:off x="9694012" y="2194560"/>
            <a:ext cx="1655384" cy="402336"/>
          </a:xfrm>
          <a:prstGeom prst="rect">
            <a:avLst/>
          </a:prstGeom>
          <a:noFill/>
          <a:ln/>
        </p:spPr>
        <p:txBody>
          <a:bodyPr wrap="square" rtlCol="0" anchor="ctr"/>
          <a:lstStyle/>
          <a:p>
            <a:pPr marL="0" indent="0" algn="l">
              <a:lnSpc>
                <a:spcPct val="112000"/>
              </a:lnSpc>
              <a:buNone/>
            </a:pPr>
            <a:r>
              <a:rPr lang="en-US" sz="1150" b="1" dirty="0">
                <a:solidFill>
                  <a:srgbClr val="FFFFFF"/>
                </a:solidFill>
                <a:latin typeface="Calibri" pitchFamily="34" charset="0"/>
                <a:ea typeface="Calibri" pitchFamily="34" charset="-122"/>
                <a:cs typeface="Calibri" pitchFamily="34" charset="-120"/>
              </a:rPr>
              <a:t>Value</a:t>
            </a:r>
            <a:endParaRPr lang="en-US" sz="1150" dirty="0"/>
          </a:p>
        </p:txBody>
      </p:sp>
      <p:sp>
        <p:nvSpPr>
          <p:cNvPr id="21" name="Shape 18"/>
          <p:cNvSpPr/>
          <p:nvPr/>
        </p:nvSpPr>
        <p:spPr>
          <a:xfrm>
            <a:off x="7708392" y="2596896"/>
            <a:ext cx="3678631" cy="402336"/>
          </a:xfrm>
          <a:prstGeom prst="rect">
            <a:avLst/>
          </a:prstGeom>
          <a:solidFill>
            <a:srgbClr val="2B3C52"/>
          </a:solidFill>
          <a:ln/>
        </p:spPr>
        <p:txBody>
          <a:bodyPr/>
          <a:lstStyle/>
          <a:p>
            <a:endParaRPr lang="en-GB"/>
          </a:p>
        </p:txBody>
      </p:sp>
      <p:sp>
        <p:nvSpPr>
          <p:cNvPr id="22" name="Text 19"/>
          <p:cNvSpPr/>
          <p:nvPr/>
        </p:nvSpPr>
        <p:spPr>
          <a:xfrm>
            <a:off x="7854696" y="2596896"/>
            <a:ext cx="2023247"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Median</a:t>
            </a:r>
            <a:endParaRPr lang="en-US" sz="1150" dirty="0"/>
          </a:p>
        </p:txBody>
      </p:sp>
      <p:sp>
        <p:nvSpPr>
          <p:cNvPr id="23" name="Text 20"/>
          <p:cNvSpPr/>
          <p:nvPr/>
        </p:nvSpPr>
        <p:spPr>
          <a:xfrm>
            <a:off x="9694012" y="2596896"/>
            <a:ext cx="1655384"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228 cells/mm³</a:t>
            </a:r>
            <a:endParaRPr lang="en-US" sz="1150" dirty="0"/>
          </a:p>
        </p:txBody>
      </p:sp>
      <p:sp>
        <p:nvSpPr>
          <p:cNvPr id="24" name="Shape 21"/>
          <p:cNvSpPr/>
          <p:nvPr/>
        </p:nvSpPr>
        <p:spPr>
          <a:xfrm>
            <a:off x="7708392" y="2999232"/>
            <a:ext cx="3678631" cy="402336"/>
          </a:xfrm>
          <a:prstGeom prst="rect">
            <a:avLst/>
          </a:prstGeom>
          <a:solidFill>
            <a:srgbClr val="32455D"/>
          </a:solidFill>
          <a:ln/>
        </p:spPr>
        <p:txBody>
          <a:bodyPr/>
          <a:lstStyle/>
          <a:p>
            <a:endParaRPr lang="en-GB"/>
          </a:p>
        </p:txBody>
      </p:sp>
      <p:sp>
        <p:nvSpPr>
          <p:cNvPr id="25" name="Text 22"/>
          <p:cNvSpPr/>
          <p:nvPr/>
        </p:nvSpPr>
        <p:spPr>
          <a:xfrm>
            <a:off x="7854696" y="2999232"/>
            <a:ext cx="2023247"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Q1 (25th pct.)</a:t>
            </a:r>
            <a:endParaRPr lang="en-US" sz="1150" dirty="0"/>
          </a:p>
        </p:txBody>
      </p:sp>
      <p:sp>
        <p:nvSpPr>
          <p:cNvPr id="26" name="Text 23"/>
          <p:cNvSpPr/>
          <p:nvPr/>
        </p:nvSpPr>
        <p:spPr>
          <a:xfrm>
            <a:off x="9694012" y="2999232"/>
            <a:ext cx="1655384"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108 cells/mm³</a:t>
            </a:r>
            <a:endParaRPr lang="en-US" sz="1150" dirty="0"/>
          </a:p>
        </p:txBody>
      </p:sp>
      <p:sp>
        <p:nvSpPr>
          <p:cNvPr id="27" name="Shape 24"/>
          <p:cNvSpPr/>
          <p:nvPr/>
        </p:nvSpPr>
        <p:spPr>
          <a:xfrm>
            <a:off x="7708392" y="3401568"/>
            <a:ext cx="3678631" cy="402336"/>
          </a:xfrm>
          <a:prstGeom prst="rect">
            <a:avLst/>
          </a:prstGeom>
          <a:solidFill>
            <a:srgbClr val="2B3C52"/>
          </a:solidFill>
          <a:ln/>
        </p:spPr>
        <p:txBody>
          <a:bodyPr/>
          <a:lstStyle/>
          <a:p>
            <a:endParaRPr lang="en-GB"/>
          </a:p>
        </p:txBody>
      </p:sp>
      <p:sp>
        <p:nvSpPr>
          <p:cNvPr id="28" name="Text 25"/>
          <p:cNvSpPr/>
          <p:nvPr/>
        </p:nvSpPr>
        <p:spPr>
          <a:xfrm>
            <a:off x="7854696" y="3401568"/>
            <a:ext cx="2023247"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Q3 (75th pct.)</a:t>
            </a:r>
            <a:endParaRPr lang="en-US" sz="1150" dirty="0"/>
          </a:p>
        </p:txBody>
      </p:sp>
      <p:sp>
        <p:nvSpPr>
          <p:cNvPr id="29" name="Text 26"/>
          <p:cNvSpPr/>
          <p:nvPr/>
        </p:nvSpPr>
        <p:spPr>
          <a:xfrm>
            <a:off x="9694012" y="3401568"/>
            <a:ext cx="1655384" cy="402336"/>
          </a:xfrm>
          <a:prstGeom prst="rect">
            <a:avLst/>
          </a:prstGeom>
          <a:noFill/>
          <a:ln/>
        </p:spPr>
        <p:txBody>
          <a:bodyPr wrap="square" rtlCol="0" anchor="ctr"/>
          <a:lstStyle/>
          <a:p>
            <a:pPr marL="0" indent="0" algn="l">
              <a:lnSpc>
                <a:spcPct val="112000"/>
              </a:lnSpc>
              <a:buNone/>
            </a:pPr>
            <a:r>
              <a:rPr lang="en-US" sz="1150" dirty="0">
                <a:solidFill>
                  <a:srgbClr val="FFFFFF"/>
                </a:solidFill>
                <a:latin typeface="Calibri" pitchFamily="34" charset="0"/>
                <a:ea typeface="Calibri" pitchFamily="34" charset="-122"/>
                <a:cs typeface="Calibri" pitchFamily="34" charset="-120"/>
              </a:rPr>
              <a:t>412 cells/mm³</a:t>
            </a:r>
            <a:endParaRPr lang="en-US" sz="1150" dirty="0"/>
          </a:p>
        </p:txBody>
      </p:sp>
      <p:sp>
        <p:nvSpPr>
          <p:cNvPr id="30" name="Shape 27"/>
          <p:cNvSpPr/>
          <p:nvPr/>
        </p:nvSpPr>
        <p:spPr>
          <a:xfrm>
            <a:off x="7708392" y="3803904"/>
            <a:ext cx="3678631" cy="402336"/>
          </a:xfrm>
          <a:prstGeom prst="rect">
            <a:avLst/>
          </a:prstGeom>
          <a:solidFill>
            <a:srgbClr val="32455D"/>
          </a:solidFill>
          <a:ln/>
        </p:spPr>
        <p:txBody>
          <a:bodyPr/>
          <a:lstStyle/>
          <a:p>
            <a:endParaRPr lang="en-GB"/>
          </a:p>
        </p:txBody>
      </p:sp>
      <p:sp>
        <p:nvSpPr>
          <p:cNvPr id="31" name="Text 28"/>
          <p:cNvSpPr/>
          <p:nvPr/>
        </p:nvSpPr>
        <p:spPr>
          <a:xfrm>
            <a:off x="7854696" y="3803904"/>
            <a:ext cx="2023247" cy="402336"/>
          </a:xfrm>
          <a:prstGeom prst="rect">
            <a:avLst/>
          </a:prstGeom>
          <a:noFill/>
          <a:ln/>
        </p:spPr>
        <p:txBody>
          <a:bodyPr wrap="square" rtlCol="0" anchor="ctr"/>
          <a:lstStyle/>
          <a:p>
            <a:pPr marL="0" indent="0" algn="l">
              <a:lnSpc>
                <a:spcPct val="112000"/>
              </a:lnSpc>
              <a:buNone/>
            </a:pPr>
            <a:r>
              <a:rPr lang="en-US" sz="1150" b="1" dirty="0">
                <a:solidFill>
                  <a:srgbClr val="FF7A6B"/>
                </a:solidFill>
                <a:latin typeface="Calibri" pitchFamily="34" charset="0"/>
                <a:ea typeface="Calibri" pitchFamily="34" charset="-122"/>
                <a:cs typeface="Calibri" pitchFamily="34" charset="-120"/>
              </a:rPr>
              <a:t>IQR</a:t>
            </a:r>
            <a:endParaRPr lang="en-US" sz="1150" dirty="0"/>
          </a:p>
        </p:txBody>
      </p:sp>
      <p:sp>
        <p:nvSpPr>
          <p:cNvPr id="32" name="Text 29"/>
          <p:cNvSpPr/>
          <p:nvPr/>
        </p:nvSpPr>
        <p:spPr>
          <a:xfrm>
            <a:off x="9694012" y="3803904"/>
            <a:ext cx="1655384" cy="402336"/>
          </a:xfrm>
          <a:prstGeom prst="rect">
            <a:avLst/>
          </a:prstGeom>
          <a:noFill/>
          <a:ln/>
        </p:spPr>
        <p:txBody>
          <a:bodyPr wrap="square" rtlCol="0" anchor="ctr"/>
          <a:lstStyle/>
          <a:p>
            <a:pPr marL="0" indent="0" algn="l">
              <a:lnSpc>
                <a:spcPct val="112000"/>
              </a:lnSpc>
              <a:buNone/>
            </a:pPr>
            <a:r>
              <a:rPr lang="en-US" sz="1150" b="1" dirty="0">
                <a:solidFill>
                  <a:srgbClr val="FF7A6B"/>
                </a:solidFill>
                <a:latin typeface="Calibri" pitchFamily="34" charset="0"/>
                <a:ea typeface="Calibri" pitchFamily="34" charset="-122"/>
                <a:cs typeface="Calibri" pitchFamily="34" charset="-120"/>
              </a:rPr>
              <a:t>304 cells/mm³</a:t>
            </a:r>
            <a:endParaRPr lang="en-US" sz="1150" dirty="0"/>
          </a:p>
        </p:txBody>
      </p:sp>
      <p:sp>
        <p:nvSpPr>
          <p:cNvPr id="33" name="Text 30"/>
          <p:cNvSpPr/>
          <p:nvPr/>
        </p:nvSpPr>
        <p:spPr>
          <a:xfrm>
            <a:off x="7708392" y="4370832"/>
            <a:ext cx="3678631" cy="731520"/>
          </a:xfrm>
          <a:prstGeom prst="rect">
            <a:avLst/>
          </a:prstGeom>
          <a:noFill/>
          <a:ln/>
        </p:spPr>
        <p:txBody>
          <a:bodyPr wrap="square" rtlCol="0" anchor="t"/>
          <a:lstStyle/>
          <a:p>
            <a:pPr marL="0" indent="0" algn="l">
              <a:lnSpc>
                <a:spcPct val="120000"/>
              </a:lnSpc>
              <a:buNone/>
            </a:pPr>
            <a:r>
              <a:rPr lang="en-US" sz="1050" i="1" dirty="0">
                <a:solidFill>
                  <a:srgbClr val="9FB0C2"/>
                </a:solidFill>
                <a:latin typeface="Calibri" pitchFamily="34" charset="0"/>
                <a:ea typeface="Calibri" pitchFamily="34" charset="-122"/>
                <a:cs typeface="Calibri" pitchFamily="34" charset="-120"/>
              </a:rPr>
              <a:t>Reported as “228 (IQR 108–412)” — the standard format in medical journals: median (Q1–Q3).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2 · DISTRIBUTION SHAPE</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Symmetric vs Skewed Distributions</a:t>
            </a:r>
            <a:endParaRPr lang="en-US" sz="3000" dirty="0"/>
          </a:p>
        </p:txBody>
      </p:sp>
      <p:sp>
        <p:nvSpPr>
          <p:cNvPr id="7" name="Shape 4"/>
          <p:cNvSpPr/>
          <p:nvPr/>
        </p:nvSpPr>
        <p:spPr>
          <a:xfrm>
            <a:off x="548640" y="1600200"/>
            <a:ext cx="5364328" cy="3291840"/>
          </a:xfrm>
          <a:prstGeom prst="roundRect">
            <a:avLst>
              <a:gd name="adj" fmla="val 2500"/>
            </a:avLst>
          </a:prstGeom>
          <a:solidFill>
            <a:srgbClr val="F4F5F7"/>
          </a:solidFill>
          <a:ln/>
        </p:spPr>
        <p:txBody>
          <a:bodyPr/>
          <a:lstStyle/>
          <a:p>
            <a:endParaRPr lang="en-GB"/>
          </a:p>
        </p:txBody>
      </p:sp>
      <p:sp>
        <p:nvSpPr>
          <p:cNvPr id="8" name="Shape 5"/>
          <p:cNvSpPr/>
          <p:nvPr/>
        </p:nvSpPr>
        <p:spPr>
          <a:xfrm>
            <a:off x="804672" y="1810512"/>
            <a:ext cx="384048" cy="384048"/>
          </a:xfrm>
          <a:prstGeom prst="ellipse">
            <a:avLst/>
          </a:prstGeom>
          <a:solidFill>
            <a:srgbClr val="5B9A56"/>
          </a:solidFill>
          <a:ln/>
        </p:spPr>
        <p:txBody>
          <a:bodyPr/>
          <a:lstStyle/>
          <a:p>
            <a:endParaRPr lang="en-GB"/>
          </a:p>
        </p:txBody>
      </p:sp>
      <p:sp>
        <p:nvSpPr>
          <p:cNvPr id="9" name="Text 6"/>
          <p:cNvSpPr/>
          <p:nvPr/>
        </p:nvSpPr>
        <p:spPr>
          <a:xfrm>
            <a:off x="804672" y="1810512"/>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325880" y="1810512"/>
            <a:ext cx="4358488" cy="457200"/>
          </a:xfrm>
          <a:prstGeom prst="rect">
            <a:avLst/>
          </a:prstGeom>
          <a:noFill/>
          <a:ln/>
        </p:spPr>
        <p:txBody>
          <a:bodyPr wrap="square" rtlCol="0" anchor="ctr"/>
          <a:lstStyle/>
          <a:p>
            <a:pPr marL="0" indent="0" algn="l">
              <a:lnSpc>
                <a:spcPct val="112000"/>
              </a:lnSpc>
              <a:buNone/>
            </a:pPr>
            <a:r>
              <a:rPr lang="en-US" sz="1500" b="1" dirty="0">
                <a:solidFill>
                  <a:srgbClr val="25374F"/>
                </a:solidFill>
                <a:latin typeface="Calibri" pitchFamily="34" charset="0"/>
                <a:ea typeface="Calibri" pitchFamily="34" charset="-122"/>
                <a:cs typeface="Calibri" pitchFamily="34" charset="-120"/>
              </a:rPr>
              <a:t>Symmetric distribution</a:t>
            </a:r>
            <a:endParaRPr lang="en-US" sz="1500" dirty="0"/>
          </a:p>
        </p:txBody>
      </p:sp>
      <p:sp>
        <p:nvSpPr>
          <p:cNvPr id="11" name="Text 8"/>
          <p:cNvSpPr/>
          <p:nvPr/>
        </p:nvSpPr>
        <p:spPr>
          <a:xfrm>
            <a:off x="804672" y="2331720"/>
            <a:ext cx="4852264" cy="914400"/>
          </a:xfrm>
          <a:prstGeom prst="rect">
            <a:avLst/>
          </a:prstGeom>
          <a:noFill/>
          <a:ln/>
        </p:spPr>
        <p:txBody>
          <a:bodyPr wrap="square" rtlCol="0" anchor="t"/>
          <a:lstStyle/>
          <a:p>
            <a:pPr marL="0" indent="0" algn="l">
              <a:lnSpc>
                <a:spcPct val="120000"/>
              </a:lnSpc>
              <a:buNone/>
            </a:pPr>
            <a:r>
              <a:rPr lang="en-US" sz="1200" dirty="0">
                <a:solidFill>
                  <a:srgbClr val="27313B"/>
                </a:solidFill>
                <a:latin typeface="Calibri" pitchFamily="34" charset="0"/>
                <a:ea typeface="Calibri" pitchFamily="34" charset="-122"/>
                <a:cs typeface="Calibri" pitchFamily="34" charset="-120"/>
              </a:rPr>
              <a:t>Mean ≈ median ≈ mode. The bell-shaped “normal” curve is the classic example (covered in depth in Topic 3, Module 2).</a:t>
            </a:r>
            <a:endParaRPr lang="en-US" sz="1200" dirty="0"/>
          </a:p>
        </p:txBody>
      </p:sp>
      <p:sp>
        <p:nvSpPr>
          <p:cNvPr id="12" name="Text 9"/>
          <p:cNvSpPr/>
          <p:nvPr/>
        </p:nvSpPr>
        <p:spPr>
          <a:xfrm>
            <a:off x="804672" y="3246120"/>
            <a:ext cx="4852264" cy="320040"/>
          </a:xfrm>
          <a:prstGeom prst="rect">
            <a:avLst/>
          </a:prstGeom>
          <a:noFill/>
          <a:ln/>
        </p:spPr>
        <p:txBody>
          <a:bodyPr wrap="square" rtlCol="0" anchor="t"/>
          <a:lstStyle/>
          <a:p>
            <a:pPr marL="0" indent="0" algn="l">
              <a:lnSpc>
                <a:spcPct val="112000"/>
              </a:lnSpc>
              <a:buNone/>
            </a:pPr>
            <a:r>
              <a:rPr lang="en-US" sz="1150" b="1" dirty="0">
                <a:solidFill>
                  <a:srgbClr val="25374F"/>
                </a:solidFill>
                <a:latin typeface="Calibri" pitchFamily="34" charset="0"/>
                <a:ea typeface="Calibri" pitchFamily="34" charset="-122"/>
                <a:cs typeface="Calibri" pitchFamily="34" charset="-120"/>
              </a:rPr>
              <a:t>Use:  Mean ± SD</a:t>
            </a:r>
            <a:endParaRPr lang="en-US" sz="1150" dirty="0"/>
          </a:p>
        </p:txBody>
      </p:sp>
      <p:sp>
        <p:nvSpPr>
          <p:cNvPr id="13" name="Text 10"/>
          <p:cNvSpPr/>
          <p:nvPr/>
        </p:nvSpPr>
        <p:spPr>
          <a:xfrm>
            <a:off x="804672" y="3566160"/>
            <a:ext cx="4852264" cy="640080"/>
          </a:xfrm>
          <a:prstGeom prst="rect">
            <a:avLst/>
          </a:prstGeom>
          <a:noFill/>
          <a:ln/>
        </p:spPr>
        <p:txBody>
          <a:bodyPr wrap="square" rtlCol="0" anchor="t"/>
          <a:lstStyle/>
          <a:p>
            <a:pPr marL="0" indent="0" algn="l">
              <a:lnSpc>
                <a:spcPct val="112000"/>
              </a:lnSpc>
              <a:buNone/>
            </a:pPr>
            <a:r>
              <a:rPr lang="en-US" sz="1150" dirty="0">
                <a:solidFill>
                  <a:srgbClr val="5B6B7C"/>
                </a:solidFill>
                <a:latin typeface="Calibri" pitchFamily="34" charset="0"/>
                <a:ea typeface="Calibri" pitchFamily="34" charset="-122"/>
                <a:cs typeface="Calibri" pitchFamily="34" charset="-120"/>
              </a:rPr>
              <a:t>Chart:  Histogram looks bell-shaped; box plot is centred</a:t>
            </a:r>
            <a:endParaRPr lang="en-US" sz="1150" dirty="0"/>
          </a:p>
        </p:txBody>
      </p:sp>
      <p:sp>
        <p:nvSpPr>
          <p:cNvPr id="14" name="Shape 11"/>
          <p:cNvSpPr/>
          <p:nvPr/>
        </p:nvSpPr>
        <p:spPr>
          <a:xfrm>
            <a:off x="6278728" y="1600200"/>
            <a:ext cx="5364328" cy="3291840"/>
          </a:xfrm>
          <a:prstGeom prst="roundRect">
            <a:avLst>
              <a:gd name="adj" fmla="val 2500"/>
            </a:avLst>
          </a:prstGeom>
          <a:solidFill>
            <a:srgbClr val="25374F"/>
          </a:solidFill>
          <a:ln/>
        </p:spPr>
        <p:txBody>
          <a:bodyPr/>
          <a:lstStyle/>
          <a:p>
            <a:endParaRPr lang="en-GB"/>
          </a:p>
        </p:txBody>
      </p:sp>
      <p:sp>
        <p:nvSpPr>
          <p:cNvPr id="15" name="Shape 12"/>
          <p:cNvSpPr/>
          <p:nvPr/>
        </p:nvSpPr>
        <p:spPr>
          <a:xfrm>
            <a:off x="6534760" y="1810512"/>
            <a:ext cx="384048" cy="384048"/>
          </a:xfrm>
          <a:prstGeom prst="ellipse">
            <a:avLst/>
          </a:prstGeom>
          <a:solidFill>
            <a:srgbClr val="E63425"/>
          </a:solidFill>
          <a:ln/>
        </p:spPr>
        <p:txBody>
          <a:bodyPr/>
          <a:lstStyle/>
          <a:p>
            <a:endParaRPr lang="en-GB"/>
          </a:p>
        </p:txBody>
      </p:sp>
      <p:sp>
        <p:nvSpPr>
          <p:cNvPr id="16" name="Text 13"/>
          <p:cNvSpPr/>
          <p:nvPr/>
        </p:nvSpPr>
        <p:spPr>
          <a:xfrm>
            <a:off x="6534760" y="1810512"/>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p:nvPr/>
        </p:nvSpPr>
        <p:spPr>
          <a:xfrm>
            <a:off x="7055968" y="1810512"/>
            <a:ext cx="4358488" cy="457200"/>
          </a:xfrm>
          <a:prstGeom prst="rect">
            <a:avLst/>
          </a:prstGeom>
          <a:noFill/>
          <a:ln/>
        </p:spPr>
        <p:txBody>
          <a:bodyPr wrap="square" rtlCol="0" anchor="ctr"/>
          <a:lstStyle/>
          <a:p>
            <a:pPr marL="0" indent="0" algn="l">
              <a:lnSpc>
                <a:spcPct val="112000"/>
              </a:lnSpc>
              <a:buNone/>
            </a:pPr>
            <a:r>
              <a:rPr lang="en-US" sz="1500" b="1" dirty="0">
                <a:solidFill>
                  <a:srgbClr val="FFFFFF"/>
                </a:solidFill>
                <a:latin typeface="Calibri" pitchFamily="34" charset="0"/>
                <a:ea typeface="Calibri" pitchFamily="34" charset="-122"/>
                <a:cs typeface="Calibri" pitchFamily="34" charset="-120"/>
              </a:rPr>
              <a:t>Right-skewed distribution</a:t>
            </a:r>
            <a:endParaRPr lang="en-US" sz="1500" dirty="0"/>
          </a:p>
        </p:txBody>
      </p:sp>
      <p:sp>
        <p:nvSpPr>
          <p:cNvPr id="18" name="Text 15"/>
          <p:cNvSpPr/>
          <p:nvPr/>
        </p:nvSpPr>
        <p:spPr>
          <a:xfrm>
            <a:off x="6534760" y="2331720"/>
            <a:ext cx="4852264" cy="914400"/>
          </a:xfrm>
          <a:prstGeom prst="rect">
            <a:avLst/>
          </a:prstGeom>
          <a:noFill/>
          <a:ln/>
        </p:spPr>
        <p:txBody>
          <a:bodyPr wrap="square" rtlCol="0" anchor="t"/>
          <a:lstStyle/>
          <a:p>
            <a:pPr marL="0" indent="0" algn="l">
              <a:lnSpc>
                <a:spcPct val="120000"/>
              </a:lnSpc>
              <a:buNone/>
            </a:pPr>
            <a:r>
              <a:rPr lang="en-US" sz="1200" dirty="0">
                <a:solidFill>
                  <a:srgbClr val="D9E2EC"/>
                </a:solidFill>
                <a:latin typeface="Calibri" pitchFamily="34" charset="0"/>
                <a:ea typeface="Calibri" pitchFamily="34" charset="-122"/>
                <a:cs typeface="Calibri" pitchFamily="34" charset="-120"/>
              </a:rPr>
              <a:t>A long tail of high values pulls the mean above the median. Extremely common in clinical labs: viral load, CD4 count, hospital costs.</a:t>
            </a:r>
            <a:endParaRPr lang="en-US" sz="1200" dirty="0"/>
          </a:p>
        </p:txBody>
      </p:sp>
      <p:sp>
        <p:nvSpPr>
          <p:cNvPr id="19" name="Text 16"/>
          <p:cNvSpPr/>
          <p:nvPr/>
        </p:nvSpPr>
        <p:spPr>
          <a:xfrm>
            <a:off x="6534760" y="3246120"/>
            <a:ext cx="4852264" cy="320040"/>
          </a:xfrm>
          <a:prstGeom prst="rect">
            <a:avLst/>
          </a:prstGeom>
          <a:noFill/>
          <a:ln/>
        </p:spPr>
        <p:txBody>
          <a:bodyPr wrap="square" rtlCol="0" anchor="t"/>
          <a:lstStyle/>
          <a:p>
            <a:pPr marL="0" indent="0" algn="l">
              <a:lnSpc>
                <a:spcPct val="112000"/>
              </a:lnSpc>
              <a:buNone/>
            </a:pPr>
            <a:r>
              <a:rPr lang="en-US" sz="1150" b="1" dirty="0">
                <a:solidFill>
                  <a:srgbClr val="FF9B8F"/>
                </a:solidFill>
                <a:latin typeface="Calibri" pitchFamily="34" charset="0"/>
                <a:ea typeface="Calibri" pitchFamily="34" charset="-122"/>
                <a:cs typeface="Calibri" pitchFamily="34" charset="-120"/>
              </a:rPr>
              <a:t>Use:  Median (IQR)</a:t>
            </a:r>
            <a:endParaRPr lang="en-US" sz="1150" dirty="0"/>
          </a:p>
        </p:txBody>
      </p:sp>
      <p:sp>
        <p:nvSpPr>
          <p:cNvPr id="20" name="Text 17"/>
          <p:cNvSpPr/>
          <p:nvPr/>
        </p:nvSpPr>
        <p:spPr>
          <a:xfrm>
            <a:off x="6534760" y="3566160"/>
            <a:ext cx="4852264" cy="640080"/>
          </a:xfrm>
          <a:prstGeom prst="rect">
            <a:avLst/>
          </a:prstGeom>
          <a:noFill/>
          <a:ln/>
        </p:spPr>
        <p:txBody>
          <a:bodyPr wrap="square" rtlCol="0" anchor="t"/>
          <a:lstStyle/>
          <a:p>
            <a:pPr marL="0" indent="0" algn="l">
              <a:lnSpc>
                <a:spcPct val="112000"/>
              </a:lnSpc>
              <a:buNone/>
            </a:pPr>
            <a:r>
              <a:rPr lang="en-US" sz="1150" dirty="0">
                <a:solidFill>
                  <a:srgbClr val="D9E2EC"/>
                </a:solidFill>
                <a:latin typeface="Calibri" pitchFamily="34" charset="0"/>
                <a:ea typeface="Calibri" pitchFamily="34" charset="-122"/>
                <a:cs typeface="Calibri" pitchFamily="34" charset="-120"/>
              </a:rPr>
              <a:t>Chart:  Histogram has a long right tail; box plot shows whiskers/outliers on the high side</a:t>
            </a:r>
            <a:endParaRPr lang="en-US" sz="1150" dirty="0"/>
          </a:p>
        </p:txBody>
      </p:sp>
      <p:sp>
        <p:nvSpPr>
          <p:cNvPr id="21" name="Text 18"/>
          <p:cNvSpPr/>
          <p:nvPr/>
        </p:nvSpPr>
        <p:spPr>
          <a:xfrm>
            <a:off x="548640" y="5120640"/>
            <a:ext cx="11094415" cy="548640"/>
          </a:xfrm>
          <a:prstGeom prst="rect">
            <a:avLst/>
          </a:prstGeom>
          <a:noFill/>
          <a:ln/>
        </p:spPr>
        <p:txBody>
          <a:bodyPr wrap="square" rtlCol="0" anchor="t"/>
          <a:lstStyle/>
          <a:p>
            <a:pPr marL="0" indent="0" algn="l">
              <a:lnSpc>
                <a:spcPct val="112000"/>
              </a:lnSpc>
              <a:buNone/>
            </a:pPr>
            <a:r>
              <a:rPr lang="en-US" sz="1150" i="1" dirty="0">
                <a:solidFill>
                  <a:srgbClr val="5B6B7C"/>
                </a:solidFill>
                <a:latin typeface="Calibri" pitchFamily="34" charset="0"/>
                <a:ea typeface="Calibri" pitchFamily="34" charset="-122"/>
                <a:cs typeface="Calibri" pitchFamily="34" charset="-120"/>
              </a:rPr>
              <a:t>Quick check: if mean &gt; median, the data are right-skewed. If mean &lt; median, left-skewed. If mean ≈ median, roughly symmetric.</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11B75FA-8678-EACB-F36A-05338809B38A}"/>
              </a:ext>
            </a:extLst>
          </p:cNvPr>
          <p:cNvPicPr>
            <a:picLocks noChangeAspect="1"/>
          </p:cNvPicPr>
          <p:nvPr/>
        </p:nvPicPr>
        <p:blipFill>
          <a:blip r:embed="rId3"/>
          <a:srcRect t="10348" b="10996"/>
          <a:stretch>
            <a:fillRect/>
          </a:stretch>
        </p:blipFill>
        <p:spPr>
          <a:xfrm>
            <a:off x="20" y="1282"/>
            <a:ext cx="12191980" cy="6856718"/>
          </a:xfrm>
          <a:prstGeom prst="rect">
            <a:avLst/>
          </a:prstGeom>
          <a:solidFill>
            <a:schemeClr val="accent1">
              <a:lumMod val="60000"/>
              <a:lumOff val="40000"/>
            </a:schemeClr>
          </a:solidFill>
          <a:ln>
            <a:solidFill>
              <a:schemeClr val="accent1"/>
            </a:solidFill>
          </a:ln>
        </p:spPr>
      </p:pic>
    </p:spTree>
    <p:extLst>
      <p:ext uri="{BB962C8B-B14F-4D97-AF65-F5344CB8AC3E}">
        <p14:creationId xmlns:p14="http://schemas.microsoft.com/office/powerpoint/2010/main" val="2817156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3 · DATA PRESENTATION — TABLES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Constructing a Baseline “Table 1”</a:t>
            </a:r>
            <a:endParaRPr lang="en-US" sz="3000" dirty="0"/>
          </a:p>
        </p:txBody>
      </p:sp>
      <p:sp>
        <p:nvSpPr>
          <p:cNvPr id="7" name="Text 4"/>
          <p:cNvSpPr/>
          <p:nvPr/>
        </p:nvSpPr>
        <p:spPr>
          <a:xfrm>
            <a:off x="548640" y="1536192"/>
            <a:ext cx="11094415" cy="411480"/>
          </a:xfrm>
          <a:prstGeom prst="rect">
            <a:avLst/>
          </a:prstGeom>
          <a:noFill/>
          <a:ln/>
        </p:spPr>
        <p:txBody>
          <a:bodyPr wrap="square" rtlCol="0" anchor="t"/>
          <a:lstStyle/>
          <a:p>
            <a:pPr marL="0" indent="0" algn="l">
              <a:lnSpc>
                <a:spcPct val="112000"/>
              </a:lnSpc>
              <a:buNone/>
            </a:pPr>
            <a:r>
              <a:rPr lang="en-US" sz="1300" i="1" dirty="0">
                <a:solidFill>
                  <a:srgbClr val="5B6B7C"/>
                </a:solidFill>
                <a:latin typeface="Calibri" pitchFamily="34" charset="0"/>
                <a:ea typeface="Calibri" pitchFamily="34" charset="-122"/>
                <a:cs typeface="Calibri" pitchFamily="34" charset="-120"/>
              </a:rPr>
              <a:t>Every clinical paper opens with a baseline characteristics table — matching each variable to the correct summary format by data type.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6" cy="2743200"/>
        </p:xfrm>
        <a:graphic>
          <a:graphicData uri="http://schemas.openxmlformats.org/drawingml/2006/table">
            <a:tbl>
              <a:tblPr/>
              <a:tblGrid>
                <a:gridCol w="3106436">
                  <a:extLst>
                    <a:ext uri="{9D8B030D-6E8A-4147-A177-3AD203B41FA5}">
                      <a16:colId xmlns:a16="http://schemas.microsoft.com/office/drawing/2014/main" val="20000"/>
                    </a:ext>
                  </a:extLst>
                </a:gridCol>
                <a:gridCol w="2662660">
                  <a:extLst>
                    <a:ext uri="{9D8B030D-6E8A-4147-A177-3AD203B41FA5}">
                      <a16:colId xmlns:a16="http://schemas.microsoft.com/office/drawing/2014/main" val="20001"/>
                    </a:ext>
                  </a:extLst>
                </a:gridCol>
                <a:gridCol w="1996995">
                  <a:extLst>
                    <a:ext uri="{9D8B030D-6E8A-4147-A177-3AD203B41FA5}">
                      <a16:colId xmlns:a16="http://schemas.microsoft.com/office/drawing/2014/main" val="20002"/>
                    </a:ext>
                  </a:extLst>
                </a:gridCol>
                <a:gridCol w="3328325">
                  <a:extLst>
                    <a:ext uri="{9D8B030D-6E8A-4147-A177-3AD203B41FA5}">
                      <a16:colId xmlns:a16="http://schemas.microsoft.com/office/drawing/2014/main" val="20003"/>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Characteristic</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Value (illustrative)</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Sex</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Nominal</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 (%)</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Female 9,973/16,883 (59.1%)</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HIV status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Nominal (binary)</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 (%)</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PLWH 420/901 (47%)</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Age (years)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Discrete, skewed</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Median (IQR)</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20 (19–22)</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CD4 count (cells/mm³)</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Continuous, skewed</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Median (IQR)</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228 (108–412)</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Metabolic syndrome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Nominal (binary)</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 (%)</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172/901 (19%)</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548640" y="5166360"/>
            <a:ext cx="11094415" cy="960120"/>
          </a:xfrm>
          <a:prstGeom prst="roundRect">
            <a:avLst>
              <a:gd name="adj" fmla="val 8571"/>
            </a:avLst>
          </a:prstGeom>
          <a:solidFill>
            <a:srgbClr val="F4F5F7"/>
          </a:solidFill>
          <a:ln/>
        </p:spPr>
        <p:txBody>
          <a:bodyPr/>
          <a:lstStyle/>
          <a:p>
            <a:endParaRPr lang="en-GB"/>
          </a:p>
        </p:txBody>
      </p:sp>
      <p:sp>
        <p:nvSpPr>
          <p:cNvPr id="10" name="Text 6"/>
          <p:cNvSpPr/>
          <p:nvPr/>
        </p:nvSpPr>
        <p:spPr>
          <a:xfrm>
            <a:off x="777240" y="5166360"/>
            <a:ext cx="10637215" cy="960120"/>
          </a:xfrm>
          <a:prstGeom prst="rect">
            <a:avLst/>
          </a:prstGeom>
          <a:noFill/>
          <a:ln/>
        </p:spPr>
        <p:txBody>
          <a:bodyPr wrap="square" rtlCol="0" anchor="ctr"/>
          <a:lstStyle/>
          <a:p>
            <a:pPr marL="0" indent="0" algn="l">
              <a:lnSpc>
                <a:spcPct val="125000"/>
              </a:lnSpc>
              <a:buNone/>
            </a:pPr>
            <a:r>
              <a:rPr lang="en-US" sz="1150" dirty="0">
                <a:solidFill>
                  <a:srgbClr val="27313B"/>
                </a:solidFill>
                <a:latin typeface="Calibri" pitchFamily="34" charset="0"/>
                <a:ea typeface="Calibri" pitchFamily="34" charset="-122"/>
                <a:cs typeface="Calibri" pitchFamily="34" charset="-120"/>
              </a:rPr>
              <a:t>A well-constructed Table 1 legitimately mixes formats row by row — some report n (%), others median (IQR), and (with genuinely symmetric numeric variables) some may report mean ± SD. A table that forces every row into an identical format is very likely misrepresenting at least one variable.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3 — CHECK YOUR UNDERSTANDING</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Spot the Table 1 Error</a:t>
            </a:r>
            <a:endParaRPr lang="en-US" sz="3000" dirty="0"/>
          </a:p>
        </p:txBody>
      </p:sp>
      <p:sp>
        <p:nvSpPr>
          <p:cNvPr id="7" name="Text 4"/>
          <p:cNvSpPr/>
          <p:nvPr/>
        </p:nvSpPr>
        <p:spPr>
          <a:xfrm>
            <a:off x="548640" y="1554480"/>
            <a:ext cx="11094415" cy="777240"/>
          </a:xfrm>
          <a:prstGeom prst="rect">
            <a:avLst/>
          </a:prstGeom>
          <a:noFill/>
          <a:ln/>
        </p:spPr>
        <p:txBody>
          <a:bodyPr wrap="square" rtlCol="0" anchor="t"/>
          <a:lstStyle/>
          <a:p>
            <a:pPr marL="0" indent="0" algn="l">
              <a:lnSpc>
                <a:spcPct val="122000"/>
              </a:lnSpc>
              <a:buNone/>
            </a:pPr>
            <a:r>
              <a:rPr lang="en-US" sz="1300" dirty="0">
                <a:solidFill>
                  <a:srgbClr val="27313B"/>
                </a:solidFill>
                <a:latin typeface="Calibri" pitchFamily="34" charset="0"/>
                <a:ea typeface="Calibri" pitchFamily="34" charset="-122"/>
                <a:cs typeface="Calibri" pitchFamily="34" charset="-120"/>
              </a:rPr>
              <a:t>A draft manuscript reports: “ART regimen: mean = 1.8 (SD 0.6)”, where regimen was coded 1 = TDF/3TC/DTG, 2 = TDF/3TC/EFV, 3 = AZT/3TC/LPVr.</a:t>
            </a:r>
            <a:endParaRPr lang="en-US" sz="1300" dirty="0"/>
          </a:p>
        </p:txBody>
      </p:sp>
      <p:sp>
        <p:nvSpPr>
          <p:cNvPr id="8" name="Text 5"/>
          <p:cNvSpPr/>
          <p:nvPr/>
        </p:nvSpPr>
        <p:spPr>
          <a:xfrm>
            <a:off x="548640" y="2395728"/>
            <a:ext cx="11094415" cy="457200"/>
          </a:xfrm>
          <a:prstGeom prst="rect">
            <a:avLst/>
          </a:prstGeom>
          <a:noFill/>
          <a:ln/>
        </p:spPr>
        <p:txBody>
          <a:bodyPr wrap="square" rtlCol="0" anchor="t"/>
          <a:lstStyle/>
          <a:p>
            <a:pPr marL="0" indent="0" algn="l">
              <a:lnSpc>
                <a:spcPct val="115000"/>
              </a:lnSpc>
              <a:buNone/>
            </a:pPr>
            <a:r>
              <a:rPr lang="en-US" sz="1400" b="1" dirty="0">
                <a:solidFill>
                  <a:srgbClr val="25374F"/>
                </a:solidFill>
                <a:latin typeface="Calibri" pitchFamily="34" charset="0"/>
                <a:ea typeface="Calibri" pitchFamily="34" charset="-122"/>
                <a:cs typeface="Calibri" pitchFamily="34" charset="-120"/>
              </a:rPr>
              <a:t>What is the problem with this table row?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3 · DATA PRESENTATION — FIGURES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Choosing the Right Chart by Data Type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2743200"/>
        </p:xfrm>
        <a:graphic>
          <a:graphicData uri="http://schemas.openxmlformats.org/drawingml/2006/table">
            <a:tbl>
              <a:tblPr/>
              <a:tblGrid>
                <a:gridCol w="4659654">
                  <a:extLst>
                    <a:ext uri="{9D8B030D-6E8A-4147-A177-3AD203B41FA5}">
                      <a16:colId xmlns:a16="http://schemas.microsoft.com/office/drawing/2014/main" val="20000"/>
                    </a:ext>
                  </a:extLst>
                </a:gridCol>
                <a:gridCol w="3106436">
                  <a:extLst>
                    <a:ext uri="{9D8B030D-6E8A-4147-A177-3AD203B41FA5}">
                      <a16:colId xmlns:a16="http://schemas.microsoft.com/office/drawing/2014/main" val="20001"/>
                    </a:ext>
                  </a:extLst>
                </a:gridCol>
                <a:gridCol w="3328325">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Best chart</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Avoid</a:t>
                      </a:r>
                      <a:endParaRPr lang="en-US" sz="120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Nominal / ordinal (1 variable)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Bar chart</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Pie chart with &gt;5 slices; 3D effects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Continuous (1 variable, distribution)</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Histogram or box plot</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Bar chart (implies discrete categories)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Continuous by group (comparison)</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Grouped box plot</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Bar chart of means alone (hides spread)</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Two continuous variables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Scatter plot</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Line joining unordered points</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Trend over time</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Line chart</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7313B"/>
                          </a:solidFill>
                          <a:latin typeface="Calibri" pitchFamily="34" charset="0"/>
                          <a:ea typeface="Calibri" pitchFamily="34" charset="-122"/>
                          <a:cs typeface="Calibri" pitchFamily="34" charset="-120"/>
                        </a:rPr>
                        <a:t>Bar chart for a continuous time trend</a:t>
                      </a:r>
                      <a:endParaRPr lang="en-US" sz="115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4709160"/>
            <a:ext cx="7223760" cy="384048"/>
          </a:xfrm>
          <a:prstGeom prst="roundRect">
            <a:avLst>
              <a:gd name="adj" fmla="val 21429"/>
            </a:avLst>
          </a:prstGeom>
          <a:solidFill>
            <a:srgbClr val="F4F5F7"/>
          </a:solidFill>
          <a:ln/>
        </p:spPr>
        <p:txBody>
          <a:bodyPr/>
          <a:lstStyle/>
          <a:p>
            <a:endParaRPr lang="en-GB"/>
          </a:p>
        </p:txBody>
      </p:sp>
      <p:sp>
        <p:nvSpPr>
          <p:cNvPr id="9" name="Text 5"/>
          <p:cNvSpPr/>
          <p:nvPr/>
        </p:nvSpPr>
        <p:spPr>
          <a:xfrm>
            <a:off x="713232" y="4709160"/>
            <a:ext cx="6858000" cy="384048"/>
          </a:xfrm>
          <a:prstGeom prst="rect">
            <a:avLst/>
          </a:prstGeom>
          <a:noFill/>
          <a:ln/>
        </p:spPr>
        <p:txBody>
          <a:bodyPr wrap="square" rtlCol="0" anchor="ctr"/>
          <a:lstStyle/>
          <a:p>
            <a:pPr marL="0" indent="0" algn="l">
              <a:lnSpc>
                <a:spcPct val="112000"/>
              </a:lnSpc>
              <a:buNone/>
            </a:pPr>
            <a:r>
              <a:rPr lang="en-US" sz="1080" dirty="0">
                <a:solidFill>
                  <a:srgbClr val="27313B"/>
                </a:solidFill>
                <a:latin typeface="Calibri" pitchFamily="34" charset="0"/>
                <a:ea typeface="Calibri" pitchFamily="34" charset="-122"/>
                <a:cs typeface="Calibri" pitchFamily="34" charset="-120"/>
              </a:rPr>
              <a:t>Is the variable made of named categories?</a:t>
            </a:r>
            <a:endParaRPr lang="en-US" sz="1080" dirty="0"/>
          </a:p>
        </p:txBody>
      </p:sp>
      <p:sp>
        <p:nvSpPr>
          <p:cNvPr id="10" name="Text 6"/>
          <p:cNvSpPr/>
          <p:nvPr/>
        </p:nvSpPr>
        <p:spPr>
          <a:xfrm>
            <a:off x="7863840" y="4709160"/>
            <a:ext cx="320040" cy="384048"/>
          </a:xfrm>
          <a:prstGeom prst="rect">
            <a:avLst/>
          </a:prstGeom>
          <a:noFill/>
          <a:ln/>
        </p:spPr>
        <p:txBody>
          <a:bodyPr wrap="square" rtlCol="0" anchor="ctr"/>
          <a:lstStyle/>
          <a:p>
            <a:pPr marL="0" indent="0" algn="ctr">
              <a:buNone/>
            </a:pPr>
            <a:r>
              <a:rPr lang="en-US" sz="1300" dirty="0">
                <a:solidFill>
                  <a:srgbClr val="5B6B7C"/>
                </a:solidFill>
              </a:rPr>
              <a:t>→</a:t>
            </a:r>
            <a:endParaRPr lang="en-US" sz="1300" dirty="0"/>
          </a:p>
        </p:txBody>
      </p:sp>
      <p:sp>
        <p:nvSpPr>
          <p:cNvPr id="11" name="Shape 7"/>
          <p:cNvSpPr/>
          <p:nvPr/>
        </p:nvSpPr>
        <p:spPr>
          <a:xfrm>
            <a:off x="8275320" y="4754880"/>
            <a:ext cx="2651760" cy="292608"/>
          </a:xfrm>
          <a:prstGeom prst="roundRect">
            <a:avLst>
              <a:gd name="adj" fmla="val 50000"/>
            </a:avLst>
          </a:prstGeom>
          <a:solidFill>
            <a:srgbClr val="2E8B9B"/>
          </a:solidFill>
          <a:ln/>
        </p:spPr>
        <p:txBody>
          <a:bodyPr/>
          <a:lstStyle/>
          <a:p>
            <a:endParaRPr lang="en-GB"/>
          </a:p>
        </p:txBody>
      </p:sp>
      <p:sp>
        <p:nvSpPr>
          <p:cNvPr id="12" name="Text 8"/>
          <p:cNvSpPr/>
          <p:nvPr/>
        </p:nvSpPr>
        <p:spPr>
          <a:xfrm>
            <a:off x="8275320" y="4754880"/>
            <a:ext cx="2651760" cy="292608"/>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Bar chart</a:t>
            </a:r>
            <a:endParaRPr lang="en-US" sz="950" dirty="0"/>
          </a:p>
        </p:txBody>
      </p:sp>
      <p:sp>
        <p:nvSpPr>
          <p:cNvPr id="7" name="Shape 9"/>
          <p:cNvSpPr/>
          <p:nvPr/>
        </p:nvSpPr>
        <p:spPr>
          <a:xfrm>
            <a:off x="548640" y="5166360"/>
            <a:ext cx="7223760" cy="384048"/>
          </a:xfrm>
          <a:prstGeom prst="roundRect">
            <a:avLst>
              <a:gd name="adj" fmla="val 21429"/>
            </a:avLst>
          </a:prstGeom>
          <a:solidFill>
            <a:srgbClr val="F4F5F7"/>
          </a:solidFill>
          <a:ln/>
        </p:spPr>
        <p:txBody>
          <a:bodyPr/>
          <a:lstStyle/>
          <a:p>
            <a:endParaRPr lang="en-GB"/>
          </a:p>
        </p:txBody>
      </p:sp>
      <p:sp>
        <p:nvSpPr>
          <p:cNvPr id="14" name="Text 10"/>
          <p:cNvSpPr/>
          <p:nvPr/>
        </p:nvSpPr>
        <p:spPr>
          <a:xfrm>
            <a:off x="713232" y="5166360"/>
            <a:ext cx="6858000" cy="384048"/>
          </a:xfrm>
          <a:prstGeom prst="rect">
            <a:avLst/>
          </a:prstGeom>
          <a:noFill/>
          <a:ln/>
        </p:spPr>
        <p:txBody>
          <a:bodyPr wrap="square" rtlCol="0" anchor="ctr"/>
          <a:lstStyle/>
          <a:p>
            <a:pPr marL="0" indent="0" algn="l">
              <a:lnSpc>
                <a:spcPct val="112000"/>
              </a:lnSpc>
              <a:buNone/>
            </a:pPr>
            <a:r>
              <a:rPr lang="en-US" sz="1080" dirty="0">
                <a:solidFill>
                  <a:srgbClr val="27313B"/>
                </a:solidFill>
                <a:latin typeface="Calibri" pitchFamily="34" charset="0"/>
                <a:ea typeface="Calibri" pitchFamily="34" charset="-122"/>
                <a:cs typeface="Calibri" pitchFamily="34" charset="-120"/>
              </a:rPr>
              <a:t>Do you want to show the shape of one numeric variable?</a:t>
            </a:r>
            <a:endParaRPr lang="en-US" sz="1080" dirty="0"/>
          </a:p>
        </p:txBody>
      </p:sp>
      <p:sp>
        <p:nvSpPr>
          <p:cNvPr id="15" name="Text 11"/>
          <p:cNvSpPr/>
          <p:nvPr/>
        </p:nvSpPr>
        <p:spPr>
          <a:xfrm>
            <a:off x="7863840" y="5166360"/>
            <a:ext cx="320040" cy="384048"/>
          </a:xfrm>
          <a:prstGeom prst="rect">
            <a:avLst/>
          </a:prstGeom>
          <a:noFill/>
          <a:ln/>
        </p:spPr>
        <p:txBody>
          <a:bodyPr wrap="square" rtlCol="0" anchor="ctr"/>
          <a:lstStyle/>
          <a:p>
            <a:pPr marL="0" indent="0" algn="ctr">
              <a:buNone/>
            </a:pPr>
            <a:r>
              <a:rPr lang="en-US" sz="1300" dirty="0">
                <a:solidFill>
                  <a:srgbClr val="5B6B7C"/>
                </a:solidFill>
              </a:rPr>
              <a:t>→</a:t>
            </a:r>
            <a:endParaRPr lang="en-US" sz="1300" dirty="0"/>
          </a:p>
        </p:txBody>
      </p:sp>
      <p:sp>
        <p:nvSpPr>
          <p:cNvPr id="16" name="Shape 12"/>
          <p:cNvSpPr/>
          <p:nvPr/>
        </p:nvSpPr>
        <p:spPr>
          <a:xfrm>
            <a:off x="8275320" y="5212080"/>
            <a:ext cx="2651760" cy="292608"/>
          </a:xfrm>
          <a:prstGeom prst="roundRect">
            <a:avLst>
              <a:gd name="adj" fmla="val 50000"/>
            </a:avLst>
          </a:prstGeom>
          <a:solidFill>
            <a:srgbClr val="5B9A56"/>
          </a:solidFill>
          <a:ln/>
        </p:spPr>
        <p:txBody>
          <a:bodyPr/>
          <a:lstStyle/>
          <a:p>
            <a:endParaRPr lang="en-GB"/>
          </a:p>
        </p:txBody>
      </p:sp>
      <p:sp>
        <p:nvSpPr>
          <p:cNvPr id="17" name="Text 13"/>
          <p:cNvSpPr/>
          <p:nvPr/>
        </p:nvSpPr>
        <p:spPr>
          <a:xfrm>
            <a:off x="8275320" y="5212080"/>
            <a:ext cx="2651760" cy="292608"/>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Histogram / box plot</a:t>
            </a:r>
            <a:endParaRPr lang="en-US" sz="950" dirty="0"/>
          </a:p>
        </p:txBody>
      </p:sp>
      <p:sp>
        <p:nvSpPr>
          <p:cNvPr id="18" name="Shape 14"/>
          <p:cNvSpPr/>
          <p:nvPr/>
        </p:nvSpPr>
        <p:spPr>
          <a:xfrm>
            <a:off x="548640" y="5623560"/>
            <a:ext cx="7223760" cy="384048"/>
          </a:xfrm>
          <a:prstGeom prst="roundRect">
            <a:avLst>
              <a:gd name="adj" fmla="val 21429"/>
            </a:avLst>
          </a:prstGeom>
          <a:solidFill>
            <a:srgbClr val="F4F5F7"/>
          </a:solidFill>
          <a:ln/>
        </p:spPr>
        <p:txBody>
          <a:bodyPr/>
          <a:lstStyle/>
          <a:p>
            <a:endParaRPr lang="en-GB"/>
          </a:p>
        </p:txBody>
      </p:sp>
      <p:sp>
        <p:nvSpPr>
          <p:cNvPr id="19" name="Text 15"/>
          <p:cNvSpPr/>
          <p:nvPr/>
        </p:nvSpPr>
        <p:spPr>
          <a:xfrm>
            <a:off x="713232" y="5623560"/>
            <a:ext cx="6858000" cy="384048"/>
          </a:xfrm>
          <a:prstGeom prst="rect">
            <a:avLst/>
          </a:prstGeom>
          <a:noFill/>
          <a:ln/>
        </p:spPr>
        <p:txBody>
          <a:bodyPr wrap="square" rtlCol="0" anchor="ctr"/>
          <a:lstStyle/>
          <a:p>
            <a:pPr marL="0" indent="0" algn="l">
              <a:lnSpc>
                <a:spcPct val="112000"/>
              </a:lnSpc>
              <a:buNone/>
            </a:pPr>
            <a:r>
              <a:rPr lang="en-US" sz="1080" dirty="0">
                <a:solidFill>
                  <a:srgbClr val="27313B"/>
                </a:solidFill>
                <a:latin typeface="Calibri" pitchFamily="34" charset="0"/>
                <a:ea typeface="Calibri" pitchFamily="34" charset="-122"/>
                <a:cs typeface="Calibri" pitchFamily="34" charset="-120"/>
              </a:rPr>
              <a:t>Comparing a numeric variable across groups?</a:t>
            </a:r>
            <a:endParaRPr lang="en-US" sz="1080" dirty="0"/>
          </a:p>
        </p:txBody>
      </p:sp>
      <p:sp>
        <p:nvSpPr>
          <p:cNvPr id="20" name="Text 16"/>
          <p:cNvSpPr/>
          <p:nvPr/>
        </p:nvSpPr>
        <p:spPr>
          <a:xfrm>
            <a:off x="7863840" y="5623560"/>
            <a:ext cx="320040" cy="384048"/>
          </a:xfrm>
          <a:prstGeom prst="rect">
            <a:avLst/>
          </a:prstGeom>
          <a:noFill/>
          <a:ln/>
        </p:spPr>
        <p:txBody>
          <a:bodyPr wrap="square" rtlCol="0" anchor="ctr"/>
          <a:lstStyle/>
          <a:p>
            <a:pPr marL="0" indent="0" algn="ctr">
              <a:buNone/>
            </a:pPr>
            <a:r>
              <a:rPr lang="en-US" sz="1300" dirty="0">
                <a:solidFill>
                  <a:srgbClr val="5B6B7C"/>
                </a:solidFill>
              </a:rPr>
              <a:t>→</a:t>
            </a:r>
            <a:endParaRPr lang="en-US" sz="1300" dirty="0"/>
          </a:p>
        </p:txBody>
      </p:sp>
      <p:sp>
        <p:nvSpPr>
          <p:cNvPr id="21" name="Shape 17"/>
          <p:cNvSpPr/>
          <p:nvPr/>
        </p:nvSpPr>
        <p:spPr>
          <a:xfrm>
            <a:off x="8275320" y="5669280"/>
            <a:ext cx="2651760" cy="292608"/>
          </a:xfrm>
          <a:prstGeom prst="roundRect">
            <a:avLst>
              <a:gd name="adj" fmla="val 50000"/>
            </a:avLst>
          </a:prstGeom>
          <a:solidFill>
            <a:srgbClr val="F2A93B"/>
          </a:solidFill>
          <a:ln/>
        </p:spPr>
        <p:txBody>
          <a:bodyPr/>
          <a:lstStyle/>
          <a:p>
            <a:endParaRPr lang="en-GB"/>
          </a:p>
        </p:txBody>
      </p:sp>
      <p:sp>
        <p:nvSpPr>
          <p:cNvPr id="22" name="Text 18"/>
          <p:cNvSpPr/>
          <p:nvPr/>
        </p:nvSpPr>
        <p:spPr>
          <a:xfrm>
            <a:off x="8275320" y="5669280"/>
            <a:ext cx="2651760" cy="292608"/>
          </a:xfrm>
          <a:prstGeom prst="rect">
            <a:avLst/>
          </a:prstGeom>
          <a:noFill/>
          <a:ln/>
        </p:spPr>
        <p:txBody>
          <a:bodyPr wrap="square" rtlCol="0" anchor="ctr"/>
          <a:lstStyle/>
          <a:p>
            <a:pPr marL="0" indent="0" algn="ctr">
              <a:buNone/>
            </a:pPr>
            <a:r>
              <a:rPr lang="en-US" sz="950" b="1" dirty="0">
                <a:solidFill>
                  <a:srgbClr val="25374F"/>
                </a:solidFill>
                <a:latin typeface="Courier New" pitchFamily="34" charset="0"/>
                <a:ea typeface="Courier New" pitchFamily="34" charset="-122"/>
                <a:cs typeface="Courier New" pitchFamily="34" charset="-120"/>
              </a:rPr>
              <a:t>Grouped box plot</a:t>
            </a:r>
            <a:endParaRPr lang="en-US" sz="950" dirty="0"/>
          </a:p>
        </p:txBody>
      </p:sp>
      <p:sp>
        <p:nvSpPr>
          <p:cNvPr id="23" name="Shape 19"/>
          <p:cNvSpPr/>
          <p:nvPr/>
        </p:nvSpPr>
        <p:spPr>
          <a:xfrm>
            <a:off x="548640" y="6080760"/>
            <a:ext cx="7223760" cy="384048"/>
          </a:xfrm>
          <a:prstGeom prst="roundRect">
            <a:avLst>
              <a:gd name="adj" fmla="val 21429"/>
            </a:avLst>
          </a:prstGeom>
          <a:solidFill>
            <a:srgbClr val="F4F5F7"/>
          </a:solidFill>
          <a:ln/>
        </p:spPr>
        <p:txBody>
          <a:bodyPr/>
          <a:lstStyle/>
          <a:p>
            <a:endParaRPr lang="en-GB"/>
          </a:p>
        </p:txBody>
      </p:sp>
      <p:sp>
        <p:nvSpPr>
          <p:cNvPr id="24" name="Text 20"/>
          <p:cNvSpPr/>
          <p:nvPr/>
        </p:nvSpPr>
        <p:spPr>
          <a:xfrm>
            <a:off x="713232" y="6080760"/>
            <a:ext cx="6858000" cy="384048"/>
          </a:xfrm>
          <a:prstGeom prst="rect">
            <a:avLst/>
          </a:prstGeom>
          <a:noFill/>
          <a:ln/>
        </p:spPr>
        <p:txBody>
          <a:bodyPr wrap="square" rtlCol="0" anchor="ctr"/>
          <a:lstStyle/>
          <a:p>
            <a:pPr marL="0" indent="0" algn="l">
              <a:lnSpc>
                <a:spcPct val="112000"/>
              </a:lnSpc>
              <a:buNone/>
            </a:pPr>
            <a:r>
              <a:rPr lang="en-US" sz="1080" dirty="0">
                <a:solidFill>
                  <a:srgbClr val="27313B"/>
                </a:solidFill>
                <a:latin typeface="Calibri" pitchFamily="34" charset="0"/>
                <a:ea typeface="Calibri" pitchFamily="34" charset="-122"/>
                <a:cs typeface="Calibri" pitchFamily="34" charset="-120"/>
              </a:rPr>
              <a:t>Relationship between two numeric variables?</a:t>
            </a:r>
            <a:endParaRPr lang="en-US" sz="1080" dirty="0"/>
          </a:p>
        </p:txBody>
      </p:sp>
      <p:sp>
        <p:nvSpPr>
          <p:cNvPr id="25" name="Text 21"/>
          <p:cNvSpPr/>
          <p:nvPr/>
        </p:nvSpPr>
        <p:spPr>
          <a:xfrm>
            <a:off x="7863840" y="6080760"/>
            <a:ext cx="320040" cy="384048"/>
          </a:xfrm>
          <a:prstGeom prst="rect">
            <a:avLst/>
          </a:prstGeom>
          <a:noFill/>
          <a:ln/>
        </p:spPr>
        <p:txBody>
          <a:bodyPr wrap="square" rtlCol="0" anchor="ctr"/>
          <a:lstStyle/>
          <a:p>
            <a:pPr marL="0" indent="0" algn="ctr">
              <a:buNone/>
            </a:pPr>
            <a:r>
              <a:rPr lang="en-US" sz="1300" dirty="0">
                <a:solidFill>
                  <a:srgbClr val="5B6B7C"/>
                </a:solidFill>
              </a:rPr>
              <a:t>→</a:t>
            </a:r>
            <a:endParaRPr lang="en-US" sz="1300" dirty="0"/>
          </a:p>
        </p:txBody>
      </p:sp>
      <p:sp>
        <p:nvSpPr>
          <p:cNvPr id="26" name="Shape 22"/>
          <p:cNvSpPr/>
          <p:nvPr/>
        </p:nvSpPr>
        <p:spPr>
          <a:xfrm>
            <a:off x="8275320" y="6126480"/>
            <a:ext cx="2651760" cy="292608"/>
          </a:xfrm>
          <a:prstGeom prst="roundRect">
            <a:avLst>
              <a:gd name="adj" fmla="val 50000"/>
            </a:avLst>
          </a:prstGeom>
          <a:solidFill>
            <a:srgbClr val="E63425"/>
          </a:solidFill>
          <a:ln/>
        </p:spPr>
        <p:txBody>
          <a:bodyPr/>
          <a:lstStyle/>
          <a:p>
            <a:endParaRPr lang="en-GB"/>
          </a:p>
        </p:txBody>
      </p:sp>
      <p:sp>
        <p:nvSpPr>
          <p:cNvPr id="27" name="Text 23"/>
          <p:cNvSpPr/>
          <p:nvPr/>
        </p:nvSpPr>
        <p:spPr>
          <a:xfrm>
            <a:off x="8275320" y="6126480"/>
            <a:ext cx="2651760" cy="292608"/>
          </a:xfrm>
          <a:prstGeom prst="rect">
            <a:avLst/>
          </a:prstGeom>
          <a:noFill/>
          <a:ln/>
        </p:spPr>
        <p:txBody>
          <a:bodyPr wrap="square"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Scatter plot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3 · DATA PRESENTATION — FIGURES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The Five Charts, Rendered</a:t>
            </a:r>
            <a:endParaRPr lang="en-US" sz="3000" dirty="0"/>
          </a:p>
        </p:txBody>
      </p:sp>
      <p:sp>
        <p:nvSpPr>
          <p:cNvPr id="7" name="Text 4"/>
          <p:cNvSpPr/>
          <p:nvPr/>
        </p:nvSpPr>
        <p:spPr>
          <a:xfrm>
            <a:off x="548640" y="1481328"/>
            <a:ext cx="11094415" cy="320040"/>
          </a:xfrm>
          <a:prstGeom prst="rect">
            <a:avLst/>
          </a:prstGeom>
          <a:noFill/>
          <a:ln/>
        </p:spPr>
        <p:txBody>
          <a:bodyPr wrap="square" rtlCol="0" anchor="t"/>
          <a:lstStyle/>
          <a:p>
            <a:pPr marL="0" indent="0" algn="l">
              <a:lnSpc>
                <a:spcPct val="112000"/>
              </a:lnSpc>
              <a:buNone/>
            </a:pPr>
            <a:r>
              <a:rPr lang="en-US" sz="1200" i="1" dirty="0">
                <a:solidFill>
                  <a:srgbClr val="5B6B7C"/>
                </a:solidFill>
                <a:latin typeface="Calibri" pitchFamily="34" charset="0"/>
                <a:ea typeface="Calibri" pitchFamily="34" charset="-122"/>
                <a:cs typeface="Calibri" pitchFamily="34" charset="-120"/>
              </a:rPr>
              <a:t>Illustrative charts built from the decision matrix on the previous slide — same data types, same rules.</a:t>
            </a:r>
            <a:endParaRPr lang="en-US" sz="1200" dirty="0"/>
          </a:p>
        </p:txBody>
      </p:sp>
      <p:sp>
        <p:nvSpPr>
          <p:cNvPr id="8" name="Shape 5"/>
          <p:cNvSpPr/>
          <p:nvPr/>
        </p:nvSpPr>
        <p:spPr>
          <a:xfrm>
            <a:off x="548640" y="1901952"/>
            <a:ext cx="3514039" cy="2103120"/>
          </a:xfrm>
          <a:prstGeom prst="roundRect">
            <a:avLst>
              <a:gd name="adj" fmla="val 3913"/>
            </a:avLst>
          </a:prstGeom>
          <a:solidFill>
            <a:srgbClr val="F4F5F7"/>
          </a:solidFill>
          <a:ln/>
        </p:spPr>
        <p:txBody>
          <a:bodyPr/>
          <a:lstStyle/>
          <a:p>
            <a:endParaRPr lang="en-GB"/>
          </a:p>
        </p:txBody>
      </p:sp>
      <p:sp>
        <p:nvSpPr>
          <p:cNvPr id="9" name="Text 6"/>
          <p:cNvSpPr/>
          <p:nvPr/>
        </p:nvSpPr>
        <p:spPr>
          <a:xfrm>
            <a:off x="658368" y="1975104"/>
            <a:ext cx="3294583" cy="274320"/>
          </a:xfrm>
          <a:prstGeom prst="rect">
            <a:avLst/>
          </a:prstGeom>
          <a:noFill/>
          <a:ln/>
        </p:spPr>
        <p:txBody>
          <a:bodyPr wrap="square" rtlCol="0" anchor="t"/>
          <a:lstStyle/>
          <a:p>
            <a:pPr marL="0" indent="0" algn="ctr">
              <a:lnSpc>
                <a:spcPct val="112000"/>
              </a:lnSpc>
              <a:buNone/>
            </a:pPr>
            <a:r>
              <a:rPr lang="en-US" sz="1050" b="1" dirty="0">
                <a:solidFill>
                  <a:srgbClr val="25374F"/>
                </a:solidFill>
                <a:latin typeface="Calibri" pitchFamily="34" charset="0"/>
                <a:ea typeface="Calibri" pitchFamily="34" charset="-122"/>
                <a:cs typeface="Calibri" pitchFamily="34" charset="-120"/>
              </a:rPr>
              <a:t>BAR CHART — nominal</a:t>
            </a:r>
            <a:endParaRPr lang="en-US" sz="1050" dirty="0"/>
          </a:p>
        </p:txBody>
      </p:sp>
      <p:graphicFrame>
        <p:nvGraphicFramePr>
          <p:cNvPr id="10" name="Chart 0"/>
          <p:cNvGraphicFramePr/>
          <p:nvPr/>
        </p:nvGraphicFramePr>
        <p:xfrm>
          <a:off x="713232" y="2267712"/>
          <a:ext cx="3184855" cy="118872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658368" y="3621024"/>
            <a:ext cx="3294583" cy="329184"/>
          </a:xfrm>
          <a:prstGeom prst="rect">
            <a:avLst/>
          </a:prstGeom>
          <a:noFill/>
          <a:ln/>
        </p:spPr>
        <p:txBody>
          <a:bodyPr wrap="square" rtlCol="0" anchor="t"/>
          <a:lstStyle/>
          <a:p>
            <a:pPr marL="0" indent="0" algn="ctr">
              <a:lnSpc>
                <a:spcPct val="112000"/>
              </a:lnSpc>
              <a:buNone/>
            </a:pPr>
            <a:r>
              <a:rPr lang="en-US" sz="900" i="1" dirty="0">
                <a:solidFill>
                  <a:srgbClr val="5B6B7C"/>
                </a:solidFill>
                <a:latin typeface="Calibri" pitchFamily="34" charset="0"/>
                <a:ea typeface="Calibri" pitchFamily="34" charset="-122"/>
                <a:cs typeface="Calibri" pitchFamily="34" charset="-120"/>
              </a:rPr>
              <a:t>ART regimen — n (%) per category</a:t>
            </a:r>
            <a:endParaRPr lang="en-US" sz="900" dirty="0"/>
          </a:p>
        </p:txBody>
      </p:sp>
      <p:sp>
        <p:nvSpPr>
          <p:cNvPr id="12" name="Shape 8"/>
          <p:cNvSpPr/>
          <p:nvPr/>
        </p:nvSpPr>
        <p:spPr>
          <a:xfrm>
            <a:off x="4336999" y="1901952"/>
            <a:ext cx="3514039" cy="2103120"/>
          </a:xfrm>
          <a:prstGeom prst="roundRect">
            <a:avLst>
              <a:gd name="adj" fmla="val 3913"/>
            </a:avLst>
          </a:prstGeom>
          <a:solidFill>
            <a:srgbClr val="F4F5F7"/>
          </a:solidFill>
          <a:ln/>
        </p:spPr>
        <p:txBody>
          <a:bodyPr/>
          <a:lstStyle/>
          <a:p>
            <a:endParaRPr lang="en-GB"/>
          </a:p>
        </p:txBody>
      </p:sp>
      <p:sp>
        <p:nvSpPr>
          <p:cNvPr id="13" name="Text 9"/>
          <p:cNvSpPr/>
          <p:nvPr/>
        </p:nvSpPr>
        <p:spPr>
          <a:xfrm>
            <a:off x="4446727" y="1975104"/>
            <a:ext cx="3294583" cy="274320"/>
          </a:xfrm>
          <a:prstGeom prst="rect">
            <a:avLst/>
          </a:prstGeom>
          <a:noFill/>
          <a:ln/>
        </p:spPr>
        <p:txBody>
          <a:bodyPr wrap="square" rtlCol="0" anchor="t"/>
          <a:lstStyle/>
          <a:p>
            <a:pPr marL="0" indent="0" algn="ctr">
              <a:lnSpc>
                <a:spcPct val="112000"/>
              </a:lnSpc>
              <a:buNone/>
            </a:pPr>
            <a:r>
              <a:rPr lang="en-US" sz="1050" b="1" dirty="0">
                <a:solidFill>
                  <a:srgbClr val="25374F"/>
                </a:solidFill>
                <a:latin typeface="Calibri" pitchFamily="34" charset="0"/>
                <a:ea typeface="Calibri" pitchFamily="34" charset="-122"/>
                <a:cs typeface="Calibri" pitchFamily="34" charset="-120"/>
              </a:rPr>
              <a:t>HISTOGRAM — continuous, skewed</a:t>
            </a:r>
            <a:endParaRPr lang="en-US" sz="1050" dirty="0"/>
          </a:p>
        </p:txBody>
      </p:sp>
      <p:graphicFrame>
        <p:nvGraphicFramePr>
          <p:cNvPr id="14" name="Chart 1"/>
          <p:cNvGraphicFramePr/>
          <p:nvPr>
            <p:extLst>
              <p:ext uri="{D42A27DB-BD31-4B8C-83A1-F6EECF244321}">
                <p14:modId xmlns:p14="http://schemas.microsoft.com/office/powerpoint/2010/main" val="3440282059"/>
              </p:ext>
            </p:extLst>
          </p:nvPr>
        </p:nvGraphicFramePr>
        <p:xfrm>
          <a:off x="4501591" y="2267712"/>
          <a:ext cx="3184855" cy="118872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0"/>
          <p:cNvSpPr/>
          <p:nvPr/>
        </p:nvSpPr>
        <p:spPr>
          <a:xfrm>
            <a:off x="4446727" y="3621024"/>
            <a:ext cx="3294583" cy="329184"/>
          </a:xfrm>
          <a:prstGeom prst="rect">
            <a:avLst/>
          </a:prstGeom>
          <a:noFill/>
          <a:ln/>
        </p:spPr>
        <p:txBody>
          <a:bodyPr wrap="square" rtlCol="0" anchor="t"/>
          <a:lstStyle/>
          <a:p>
            <a:pPr marL="0" indent="0" algn="ctr">
              <a:lnSpc>
                <a:spcPct val="112000"/>
              </a:lnSpc>
              <a:buNone/>
            </a:pPr>
            <a:r>
              <a:rPr lang="en-US" sz="900" i="1" dirty="0">
                <a:solidFill>
                  <a:srgbClr val="5B6B7C"/>
                </a:solidFill>
                <a:latin typeface="Calibri" pitchFamily="34" charset="0"/>
                <a:ea typeface="Calibri" pitchFamily="34" charset="-122"/>
                <a:cs typeface="Calibri" pitchFamily="34" charset="-120"/>
              </a:rPr>
              <a:t>CD4 count — long right tail</a:t>
            </a:r>
            <a:endParaRPr lang="en-US" sz="900" dirty="0"/>
          </a:p>
        </p:txBody>
      </p:sp>
      <p:sp>
        <p:nvSpPr>
          <p:cNvPr id="16" name="Shape 11"/>
          <p:cNvSpPr/>
          <p:nvPr/>
        </p:nvSpPr>
        <p:spPr>
          <a:xfrm>
            <a:off x="8125358" y="1901952"/>
            <a:ext cx="3514039" cy="2103120"/>
          </a:xfrm>
          <a:prstGeom prst="roundRect">
            <a:avLst>
              <a:gd name="adj" fmla="val 3913"/>
            </a:avLst>
          </a:prstGeom>
          <a:solidFill>
            <a:srgbClr val="F4F5F7"/>
          </a:solidFill>
          <a:ln/>
        </p:spPr>
        <p:txBody>
          <a:bodyPr/>
          <a:lstStyle/>
          <a:p>
            <a:endParaRPr lang="en-GB"/>
          </a:p>
        </p:txBody>
      </p:sp>
      <p:sp>
        <p:nvSpPr>
          <p:cNvPr id="17" name="Text 12"/>
          <p:cNvSpPr/>
          <p:nvPr/>
        </p:nvSpPr>
        <p:spPr>
          <a:xfrm>
            <a:off x="8235086" y="1975104"/>
            <a:ext cx="3294583" cy="274320"/>
          </a:xfrm>
          <a:prstGeom prst="rect">
            <a:avLst/>
          </a:prstGeom>
          <a:noFill/>
          <a:ln/>
        </p:spPr>
        <p:txBody>
          <a:bodyPr wrap="square" rtlCol="0" anchor="t"/>
          <a:lstStyle/>
          <a:p>
            <a:pPr marL="0" indent="0" algn="ctr">
              <a:lnSpc>
                <a:spcPct val="112000"/>
              </a:lnSpc>
              <a:buNone/>
            </a:pPr>
            <a:r>
              <a:rPr lang="en-US" sz="1050" b="1" dirty="0">
                <a:solidFill>
                  <a:srgbClr val="25374F"/>
                </a:solidFill>
                <a:latin typeface="Calibri" pitchFamily="34" charset="0"/>
                <a:ea typeface="Calibri" pitchFamily="34" charset="-122"/>
                <a:cs typeface="Calibri" pitchFamily="34" charset="-120"/>
              </a:rPr>
              <a:t>BOX PLOT — continuous by group</a:t>
            </a:r>
            <a:endParaRPr lang="en-US" sz="1050" dirty="0"/>
          </a:p>
        </p:txBody>
      </p:sp>
      <p:sp>
        <p:nvSpPr>
          <p:cNvPr id="18" name="Shape 13"/>
          <p:cNvSpPr/>
          <p:nvPr/>
        </p:nvSpPr>
        <p:spPr>
          <a:xfrm>
            <a:off x="8399678" y="3227832"/>
            <a:ext cx="2965399" cy="0"/>
          </a:xfrm>
          <a:prstGeom prst="line">
            <a:avLst/>
          </a:prstGeom>
          <a:noFill/>
          <a:ln w="12700">
            <a:solidFill>
              <a:srgbClr val="5B6B7C"/>
            </a:solidFill>
            <a:prstDash val="solid"/>
          </a:ln>
        </p:spPr>
        <p:txBody>
          <a:bodyPr/>
          <a:lstStyle/>
          <a:p>
            <a:endParaRPr lang="en-GB"/>
          </a:p>
        </p:txBody>
      </p:sp>
      <p:sp>
        <p:nvSpPr>
          <p:cNvPr id="19" name="Shape 14"/>
          <p:cNvSpPr/>
          <p:nvPr/>
        </p:nvSpPr>
        <p:spPr>
          <a:xfrm>
            <a:off x="9222638" y="2496312"/>
            <a:ext cx="0" cy="685800"/>
          </a:xfrm>
          <a:prstGeom prst="line">
            <a:avLst/>
          </a:prstGeom>
          <a:noFill/>
          <a:ln w="15875">
            <a:solidFill>
              <a:srgbClr val="25374F"/>
            </a:solidFill>
            <a:prstDash val="solid"/>
          </a:ln>
        </p:spPr>
        <p:txBody>
          <a:bodyPr/>
          <a:lstStyle/>
          <a:p>
            <a:endParaRPr lang="en-GB"/>
          </a:p>
        </p:txBody>
      </p:sp>
      <p:sp>
        <p:nvSpPr>
          <p:cNvPr id="20" name="Shape 15"/>
          <p:cNvSpPr/>
          <p:nvPr/>
        </p:nvSpPr>
        <p:spPr>
          <a:xfrm>
            <a:off x="8948318" y="2679192"/>
            <a:ext cx="548640" cy="365760"/>
          </a:xfrm>
          <a:prstGeom prst="rect">
            <a:avLst/>
          </a:prstGeom>
          <a:solidFill>
            <a:srgbClr val="F2A93B"/>
          </a:solidFill>
          <a:ln w="12700">
            <a:solidFill>
              <a:srgbClr val="25374F"/>
            </a:solidFill>
            <a:prstDash val="solid"/>
          </a:ln>
        </p:spPr>
        <p:txBody>
          <a:bodyPr/>
          <a:lstStyle/>
          <a:p>
            <a:endParaRPr lang="en-GB"/>
          </a:p>
        </p:txBody>
      </p:sp>
      <p:sp>
        <p:nvSpPr>
          <p:cNvPr id="21" name="Shape 16"/>
          <p:cNvSpPr/>
          <p:nvPr/>
        </p:nvSpPr>
        <p:spPr>
          <a:xfrm>
            <a:off x="8948318" y="2862072"/>
            <a:ext cx="548640" cy="0"/>
          </a:xfrm>
          <a:prstGeom prst="line">
            <a:avLst/>
          </a:prstGeom>
          <a:noFill/>
          <a:ln w="22225">
            <a:solidFill>
              <a:srgbClr val="25374F"/>
            </a:solidFill>
            <a:prstDash val="solid"/>
          </a:ln>
        </p:spPr>
        <p:txBody>
          <a:bodyPr/>
          <a:lstStyle/>
          <a:p>
            <a:endParaRPr lang="en-GB"/>
          </a:p>
        </p:txBody>
      </p:sp>
      <p:sp>
        <p:nvSpPr>
          <p:cNvPr id="22" name="Text 17"/>
          <p:cNvSpPr/>
          <p:nvPr/>
        </p:nvSpPr>
        <p:spPr>
          <a:xfrm>
            <a:off x="8628278" y="3273552"/>
            <a:ext cx="1188720" cy="182880"/>
          </a:xfrm>
          <a:prstGeom prst="rect">
            <a:avLst/>
          </a:prstGeom>
          <a:noFill/>
          <a:ln/>
        </p:spPr>
        <p:txBody>
          <a:bodyPr wrap="square" rtlCol="0" anchor="t"/>
          <a:lstStyle/>
          <a:p>
            <a:pPr marL="0" indent="0" algn="ctr">
              <a:lnSpc>
                <a:spcPct val="112000"/>
              </a:lnSpc>
              <a:buNone/>
            </a:pPr>
            <a:r>
              <a:rPr lang="en-US" sz="850" dirty="0">
                <a:solidFill>
                  <a:srgbClr val="5B6B7C"/>
                </a:solidFill>
                <a:latin typeface="Calibri" pitchFamily="34" charset="0"/>
                <a:ea typeface="Calibri" pitchFamily="34" charset="-122"/>
                <a:cs typeface="Calibri" pitchFamily="34" charset="-120"/>
              </a:rPr>
              <a:t>Female</a:t>
            </a:r>
            <a:endParaRPr lang="en-US" sz="850" dirty="0"/>
          </a:p>
        </p:txBody>
      </p:sp>
      <p:sp>
        <p:nvSpPr>
          <p:cNvPr id="23" name="Shape 18"/>
          <p:cNvSpPr/>
          <p:nvPr/>
        </p:nvSpPr>
        <p:spPr>
          <a:xfrm>
            <a:off x="10685678" y="2359152"/>
            <a:ext cx="0" cy="822960"/>
          </a:xfrm>
          <a:prstGeom prst="line">
            <a:avLst/>
          </a:prstGeom>
          <a:noFill/>
          <a:ln w="15875">
            <a:solidFill>
              <a:srgbClr val="25374F"/>
            </a:solidFill>
            <a:prstDash val="solid"/>
          </a:ln>
        </p:spPr>
        <p:txBody>
          <a:bodyPr/>
          <a:lstStyle/>
          <a:p>
            <a:endParaRPr lang="en-GB"/>
          </a:p>
        </p:txBody>
      </p:sp>
      <p:sp>
        <p:nvSpPr>
          <p:cNvPr id="24" name="Shape 19"/>
          <p:cNvSpPr/>
          <p:nvPr/>
        </p:nvSpPr>
        <p:spPr>
          <a:xfrm>
            <a:off x="10411358" y="2496312"/>
            <a:ext cx="548640" cy="320040"/>
          </a:xfrm>
          <a:prstGeom prst="rect">
            <a:avLst/>
          </a:prstGeom>
          <a:solidFill>
            <a:srgbClr val="2E8B9B"/>
          </a:solidFill>
          <a:ln w="12700">
            <a:solidFill>
              <a:srgbClr val="25374F"/>
            </a:solidFill>
            <a:prstDash val="solid"/>
          </a:ln>
        </p:spPr>
        <p:txBody>
          <a:bodyPr/>
          <a:lstStyle/>
          <a:p>
            <a:endParaRPr lang="en-GB"/>
          </a:p>
        </p:txBody>
      </p:sp>
      <p:sp>
        <p:nvSpPr>
          <p:cNvPr id="25" name="Shape 20"/>
          <p:cNvSpPr/>
          <p:nvPr/>
        </p:nvSpPr>
        <p:spPr>
          <a:xfrm>
            <a:off x="10411358" y="2651760"/>
            <a:ext cx="548640" cy="0"/>
          </a:xfrm>
          <a:prstGeom prst="line">
            <a:avLst/>
          </a:prstGeom>
          <a:noFill/>
          <a:ln w="22225">
            <a:solidFill>
              <a:srgbClr val="25374F"/>
            </a:solidFill>
            <a:prstDash val="solid"/>
          </a:ln>
        </p:spPr>
        <p:txBody>
          <a:bodyPr/>
          <a:lstStyle/>
          <a:p>
            <a:endParaRPr lang="en-GB"/>
          </a:p>
        </p:txBody>
      </p:sp>
      <p:sp>
        <p:nvSpPr>
          <p:cNvPr id="26" name="Text 21"/>
          <p:cNvSpPr/>
          <p:nvPr/>
        </p:nvSpPr>
        <p:spPr>
          <a:xfrm>
            <a:off x="10091318" y="3273552"/>
            <a:ext cx="1188720" cy="182880"/>
          </a:xfrm>
          <a:prstGeom prst="rect">
            <a:avLst/>
          </a:prstGeom>
          <a:noFill/>
          <a:ln/>
        </p:spPr>
        <p:txBody>
          <a:bodyPr wrap="square" rtlCol="0" anchor="t"/>
          <a:lstStyle/>
          <a:p>
            <a:pPr marL="0" indent="0" algn="ctr">
              <a:lnSpc>
                <a:spcPct val="112000"/>
              </a:lnSpc>
              <a:buNone/>
            </a:pPr>
            <a:r>
              <a:rPr lang="en-US" sz="850" dirty="0">
                <a:solidFill>
                  <a:srgbClr val="5B6B7C"/>
                </a:solidFill>
                <a:latin typeface="Calibri" pitchFamily="34" charset="0"/>
                <a:ea typeface="Calibri" pitchFamily="34" charset="-122"/>
                <a:cs typeface="Calibri" pitchFamily="34" charset="-120"/>
              </a:rPr>
              <a:t>Male</a:t>
            </a:r>
            <a:endParaRPr lang="en-US" sz="850" dirty="0"/>
          </a:p>
        </p:txBody>
      </p:sp>
      <p:sp>
        <p:nvSpPr>
          <p:cNvPr id="27" name="Text 22"/>
          <p:cNvSpPr/>
          <p:nvPr/>
        </p:nvSpPr>
        <p:spPr>
          <a:xfrm>
            <a:off x="8235086" y="3621024"/>
            <a:ext cx="3294583" cy="329184"/>
          </a:xfrm>
          <a:prstGeom prst="rect">
            <a:avLst/>
          </a:prstGeom>
          <a:noFill/>
          <a:ln/>
        </p:spPr>
        <p:txBody>
          <a:bodyPr wrap="square" rtlCol="0" anchor="t"/>
          <a:lstStyle/>
          <a:p>
            <a:pPr marL="0" indent="0" algn="ctr">
              <a:lnSpc>
                <a:spcPct val="112000"/>
              </a:lnSpc>
              <a:buNone/>
            </a:pPr>
            <a:r>
              <a:rPr lang="en-US" sz="900" i="1" dirty="0">
                <a:solidFill>
                  <a:srgbClr val="5B6B7C"/>
                </a:solidFill>
                <a:latin typeface="Calibri" pitchFamily="34" charset="0"/>
                <a:ea typeface="Calibri" pitchFamily="34" charset="-122"/>
                <a:cs typeface="Calibri" pitchFamily="34" charset="-120"/>
              </a:rPr>
              <a:t>Systolic BP by sex — median, IQR &amp; range</a:t>
            </a:r>
            <a:endParaRPr lang="en-US" sz="900" dirty="0"/>
          </a:p>
        </p:txBody>
      </p:sp>
      <p:sp>
        <p:nvSpPr>
          <p:cNvPr id="28" name="Shape 23"/>
          <p:cNvSpPr/>
          <p:nvPr/>
        </p:nvSpPr>
        <p:spPr>
          <a:xfrm>
            <a:off x="548640" y="4279392"/>
            <a:ext cx="3514039" cy="2103120"/>
          </a:xfrm>
          <a:prstGeom prst="roundRect">
            <a:avLst>
              <a:gd name="adj" fmla="val 3913"/>
            </a:avLst>
          </a:prstGeom>
          <a:solidFill>
            <a:srgbClr val="F4F5F7"/>
          </a:solidFill>
          <a:ln/>
        </p:spPr>
        <p:txBody>
          <a:bodyPr/>
          <a:lstStyle/>
          <a:p>
            <a:endParaRPr lang="en-GB"/>
          </a:p>
        </p:txBody>
      </p:sp>
      <p:sp>
        <p:nvSpPr>
          <p:cNvPr id="29" name="Text 24"/>
          <p:cNvSpPr/>
          <p:nvPr/>
        </p:nvSpPr>
        <p:spPr>
          <a:xfrm>
            <a:off x="658368" y="4352544"/>
            <a:ext cx="3294583" cy="274320"/>
          </a:xfrm>
          <a:prstGeom prst="rect">
            <a:avLst/>
          </a:prstGeom>
          <a:noFill/>
          <a:ln/>
        </p:spPr>
        <p:txBody>
          <a:bodyPr wrap="square" rtlCol="0" anchor="t"/>
          <a:lstStyle/>
          <a:p>
            <a:pPr marL="0" indent="0" algn="ctr">
              <a:lnSpc>
                <a:spcPct val="112000"/>
              </a:lnSpc>
              <a:buNone/>
            </a:pPr>
            <a:r>
              <a:rPr lang="en-US" sz="1050" b="1" dirty="0">
                <a:solidFill>
                  <a:srgbClr val="25374F"/>
                </a:solidFill>
                <a:latin typeface="Calibri" pitchFamily="34" charset="0"/>
                <a:ea typeface="Calibri" pitchFamily="34" charset="-122"/>
                <a:cs typeface="Calibri" pitchFamily="34" charset="-120"/>
              </a:rPr>
              <a:t>SCATTER PLOT — two continuous</a:t>
            </a:r>
            <a:endParaRPr lang="en-US" sz="1050" dirty="0"/>
          </a:p>
        </p:txBody>
      </p:sp>
      <p:graphicFrame>
        <p:nvGraphicFramePr>
          <p:cNvPr id="30" name="Chart 2"/>
          <p:cNvGraphicFramePr/>
          <p:nvPr/>
        </p:nvGraphicFramePr>
        <p:xfrm>
          <a:off x="713232" y="4645152"/>
          <a:ext cx="3184855" cy="1188720"/>
        </p:xfrm>
        <a:graphic>
          <a:graphicData uri="http://schemas.openxmlformats.org/drawingml/2006/chart">
            <c:chart xmlns:c="http://schemas.openxmlformats.org/drawingml/2006/chart" xmlns:r="http://schemas.openxmlformats.org/officeDocument/2006/relationships" r:id="rId6"/>
          </a:graphicData>
        </a:graphic>
      </p:graphicFrame>
      <p:sp>
        <p:nvSpPr>
          <p:cNvPr id="31" name="Text 25"/>
          <p:cNvSpPr/>
          <p:nvPr/>
        </p:nvSpPr>
        <p:spPr>
          <a:xfrm>
            <a:off x="658368" y="5998464"/>
            <a:ext cx="3294583" cy="329184"/>
          </a:xfrm>
          <a:prstGeom prst="rect">
            <a:avLst/>
          </a:prstGeom>
          <a:noFill/>
          <a:ln/>
        </p:spPr>
        <p:txBody>
          <a:bodyPr wrap="square" rtlCol="0" anchor="t"/>
          <a:lstStyle/>
          <a:p>
            <a:pPr marL="0" indent="0" algn="ctr">
              <a:lnSpc>
                <a:spcPct val="112000"/>
              </a:lnSpc>
              <a:buNone/>
            </a:pPr>
            <a:r>
              <a:rPr lang="en-US" sz="900" i="1" dirty="0">
                <a:solidFill>
                  <a:srgbClr val="5B6B7C"/>
                </a:solidFill>
                <a:latin typeface="Calibri" pitchFamily="34" charset="0"/>
                <a:ea typeface="Calibri" pitchFamily="34" charset="-122"/>
                <a:cs typeface="Calibri" pitchFamily="34" charset="-120"/>
              </a:rPr>
              <a:t>Age vs systolic BP — each dot = 1 participant</a:t>
            </a:r>
            <a:endParaRPr lang="en-US" sz="900" dirty="0"/>
          </a:p>
        </p:txBody>
      </p:sp>
      <p:sp>
        <p:nvSpPr>
          <p:cNvPr id="32" name="Shape 26"/>
          <p:cNvSpPr/>
          <p:nvPr/>
        </p:nvSpPr>
        <p:spPr>
          <a:xfrm>
            <a:off x="4336999" y="4279392"/>
            <a:ext cx="3514039" cy="2103120"/>
          </a:xfrm>
          <a:prstGeom prst="roundRect">
            <a:avLst>
              <a:gd name="adj" fmla="val 3913"/>
            </a:avLst>
          </a:prstGeom>
          <a:solidFill>
            <a:srgbClr val="F4F5F7"/>
          </a:solidFill>
          <a:ln/>
        </p:spPr>
        <p:txBody>
          <a:bodyPr/>
          <a:lstStyle/>
          <a:p>
            <a:endParaRPr lang="en-GB"/>
          </a:p>
        </p:txBody>
      </p:sp>
      <p:sp>
        <p:nvSpPr>
          <p:cNvPr id="33" name="Text 27"/>
          <p:cNvSpPr/>
          <p:nvPr/>
        </p:nvSpPr>
        <p:spPr>
          <a:xfrm>
            <a:off x="4446727" y="4352544"/>
            <a:ext cx="3294583" cy="274320"/>
          </a:xfrm>
          <a:prstGeom prst="rect">
            <a:avLst/>
          </a:prstGeom>
          <a:noFill/>
          <a:ln/>
        </p:spPr>
        <p:txBody>
          <a:bodyPr wrap="square" rtlCol="0" anchor="t"/>
          <a:lstStyle/>
          <a:p>
            <a:pPr marL="0" indent="0" algn="ctr">
              <a:lnSpc>
                <a:spcPct val="112000"/>
              </a:lnSpc>
              <a:buNone/>
            </a:pPr>
            <a:r>
              <a:rPr lang="en-US" sz="1050" b="1" dirty="0">
                <a:solidFill>
                  <a:srgbClr val="25374F"/>
                </a:solidFill>
                <a:latin typeface="Calibri" pitchFamily="34" charset="0"/>
                <a:ea typeface="Calibri" pitchFamily="34" charset="-122"/>
                <a:cs typeface="Calibri" pitchFamily="34" charset="-120"/>
              </a:rPr>
              <a:t>LINE CHART — trend over time</a:t>
            </a:r>
            <a:endParaRPr lang="en-US" sz="1050" dirty="0"/>
          </a:p>
        </p:txBody>
      </p:sp>
      <p:graphicFrame>
        <p:nvGraphicFramePr>
          <p:cNvPr id="34" name="Chart 3"/>
          <p:cNvGraphicFramePr/>
          <p:nvPr/>
        </p:nvGraphicFramePr>
        <p:xfrm>
          <a:off x="4501591" y="4645152"/>
          <a:ext cx="3184855" cy="1188720"/>
        </p:xfrm>
        <a:graphic>
          <a:graphicData uri="http://schemas.openxmlformats.org/drawingml/2006/chart">
            <c:chart xmlns:c="http://schemas.openxmlformats.org/drawingml/2006/chart" xmlns:r="http://schemas.openxmlformats.org/officeDocument/2006/relationships" r:id="rId7"/>
          </a:graphicData>
        </a:graphic>
      </p:graphicFrame>
      <p:sp>
        <p:nvSpPr>
          <p:cNvPr id="35" name="Text 28"/>
          <p:cNvSpPr/>
          <p:nvPr/>
        </p:nvSpPr>
        <p:spPr>
          <a:xfrm>
            <a:off x="4446727" y="5998464"/>
            <a:ext cx="3294583" cy="329184"/>
          </a:xfrm>
          <a:prstGeom prst="rect">
            <a:avLst/>
          </a:prstGeom>
          <a:noFill/>
          <a:ln/>
        </p:spPr>
        <p:txBody>
          <a:bodyPr wrap="square" rtlCol="0" anchor="t"/>
          <a:lstStyle/>
          <a:p>
            <a:pPr marL="0" indent="0" algn="ctr">
              <a:lnSpc>
                <a:spcPct val="112000"/>
              </a:lnSpc>
              <a:buNone/>
            </a:pPr>
            <a:r>
              <a:rPr lang="en-US" sz="900" i="1" dirty="0">
                <a:solidFill>
                  <a:srgbClr val="5B6B7C"/>
                </a:solidFill>
                <a:latin typeface="Calibri" pitchFamily="34" charset="0"/>
                <a:ea typeface="Calibri" pitchFamily="34" charset="-122"/>
                <a:cs typeface="Calibri" pitchFamily="34" charset="-120"/>
              </a:rPr>
              <a:t>Annual clinic enrolment — ordered time points</a:t>
            </a:r>
            <a:endParaRPr lang="en-US" sz="900" dirty="0"/>
          </a:p>
        </p:txBody>
      </p:sp>
      <p:sp>
        <p:nvSpPr>
          <p:cNvPr id="36" name="Shape 29"/>
          <p:cNvSpPr/>
          <p:nvPr/>
        </p:nvSpPr>
        <p:spPr>
          <a:xfrm>
            <a:off x="8125358" y="4279392"/>
            <a:ext cx="3514039" cy="2103120"/>
          </a:xfrm>
          <a:prstGeom prst="roundRect">
            <a:avLst>
              <a:gd name="adj" fmla="val 3913"/>
            </a:avLst>
          </a:prstGeom>
          <a:solidFill>
            <a:srgbClr val="25374F"/>
          </a:solidFill>
          <a:ln/>
        </p:spPr>
        <p:txBody>
          <a:bodyPr/>
          <a:lstStyle/>
          <a:p>
            <a:endParaRPr lang="en-GB"/>
          </a:p>
        </p:txBody>
      </p:sp>
      <p:sp>
        <p:nvSpPr>
          <p:cNvPr id="37" name="Text 30"/>
          <p:cNvSpPr/>
          <p:nvPr/>
        </p:nvSpPr>
        <p:spPr>
          <a:xfrm>
            <a:off x="8399678" y="4782312"/>
            <a:ext cx="2965399" cy="1097280"/>
          </a:xfrm>
          <a:prstGeom prst="rect">
            <a:avLst/>
          </a:prstGeom>
          <a:noFill/>
          <a:ln/>
        </p:spPr>
        <p:txBody>
          <a:bodyPr wrap="square" rtlCol="0" anchor="ctr"/>
          <a:lstStyle/>
          <a:p>
            <a:pPr marL="0" indent="0" algn="ctr">
              <a:lnSpc>
                <a:spcPct val="130000"/>
              </a:lnSpc>
              <a:buNone/>
            </a:pPr>
            <a:r>
              <a:rPr lang="en-US" sz="1250" dirty="0">
                <a:solidFill>
                  <a:srgbClr val="FFFFFF"/>
                </a:solidFill>
                <a:latin typeface="Calibri" pitchFamily="34" charset="0"/>
                <a:ea typeface="Calibri" pitchFamily="34" charset="-122"/>
                <a:cs typeface="Calibri" pitchFamily="34" charset="-120"/>
              </a:rPr>
              <a:t>Match the chart to the data type on the table — never the other way around.</a:t>
            </a:r>
            <a:endParaRPr lang="en-US" sz="1250" dirty="0"/>
          </a:p>
        </p:txBody>
      </p:sp>
      <p:pic>
        <p:nvPicPr>
          <p:cNvPr id="39" name="Picture 38">
            <a:extLst>
              <a:ext uri="{FF2B5EF4-FFF2-40B4-BE49-F238E27FC236}">
                <a16:creationId xmlns:a16="http://schemas.microsoft.com/office/drawing/2014/main" id="{972DC214-A68A-A487-72F7-4AC69337AE97}"/>
              </a:ext>
            </a:extLst>
          </p:cNvPr>
          <p:cNvPicPr>
            <a:picLocks noChangeAspect="1"/>
          </p:cNvPicPr>
          <p:nvPr/>
        </p:nvPicPr>
        <p:blipFill>
          <a:blip r:embed="rId8"/>
          <a:stretch>
            <a:fillRect/>
          </a:stretch>
        </p:blipFill>
        <p:spPr>
          <a:xfrm>
            <a:off x="4721047" y="2350008"/>
            <a:ext cx="2605728" cy="12161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3 · REGIONAL EVIDENCE</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Reading a Real Figure: Hypertension by Sex, Zimbabwe</a:t>
            </a:r>
            <a:endParaRPr lang="en-US" sz="3000" dirty="0"/>
          </a:p>
        </p:txBody>
      </p:sp>
      <p:sp>
        <p:nvSpPr>
          <p:cNvPr id="7" name="Text 4"/>
          <p:cNvSpPr/>
          <p:nvPr/>
        </p:nvSpPr>
        <p:spPr>
          <a:xfrm>
            <a:off x="548640" y="1572768"/>
            <a:ext cx="6675120" cy="777240"/>
          </a:xfrm>
          <a:prstGeom prst="rect">
            <a:avLst/>
          </a:prstGeom>
          <a:noFill/>
          <a:ln/>
        </p:spPr>
        <p:txBody>
          <a:bodyPr wrap="square" rtlCol="0" anchor="t"/>
          <a:lstStyle/>
          <a:p>
            <a:pPr marL="0" indent="0" algn="l">
              <a:lnSpc>
                <a:spcPct val="122000"/>
              </a:lnSpc>
              <a:buNone/>
            </a:pPr>
            <a:r>
              <a:rPr lang="en-US" sz="1250" dirty="0">
                <a:solidFill>
                  <a:srgbClr val="27313B"/>
                </a:solidFill>
                <a:latin typeface="Calibri" pitchFamily="34" charset="0"/>
                <a:ea typeface="Calibri" pitchFamily="34" charset="-122"/>
                <a:cs typeface="Calibri" pitchFamily="34" charset="-120"/>
              </a:rPr>
              <a:t>Sabapathy et al. (2024) present hypertension prevalence as bars by category (sex, age band) — the correct choice because “hypertension: yes/no” is nominal and sex is nominal.</a:t>
            </a:r>
            <a:endParaRPr lang="en-US" sz="1250" dirty="0"/>
          </a:p>
        </p:txBody>
      </p:sp>
      <p:sp>
        <p:nvSpPr>
          <p:cNvPr id="8" name="Text 5"/>
          <p:cNvSpPr/>
          <p:nvPr/>
        </p:nvSpPr>
        <p:spPr>
          <a:xfrm>
            <a:off x="548640" y="2606040"/>
            <a:ext cx="2926080" cy="274320"/>
          </a:xfrm>
          <a:prstGeom prst="rect">
            <a:avLst/>
          </a:prstGeom>
          <a:noFill/>
          <a:ln/>
        </p:spPr>
        <p:txBody>
          <a:bodyPr wrap="square" rtlCol="0" anchor="t"/>
          <a:lstStyle/>
          <a:p>
            <a:pPr marL="0" indent="0" algn="l">
              <a:lnSpc>
                <a:spcPct val="112000"/>
              </a:lnSpc>
              <a:buNone/>
            </a:pPr>
            <a:r>
              <a:rPr lang="en-US" sz="1200" dirty="0">
                <a:solidFill>
                  <a:srgbClr val="27313B"/>
                </a:solidFill>
                <a:latin typeface="Calibri" pitchFamily="34" charset="0"/>
                <a:ea typeface="Calibri" pitchFamily="34" charset="-122"/>
                <a:cs typeface="Calibri" pitchFamily="34" charset="-120"/>
              </a:rPr>
              <a:t>Female (n=9,973)</a:t>
            </a:r>
            <a:endParaRPr lang="en-US" sz="1200" dirty="0"/>
          </a:p>
        </p:txBody>
      </p:sp>
      <p:sp>
        <p:nvSpPr>
          <p:cNvPr id="9" name="Text 6"/>
          <p:cNvSpPr/>
          <p:nvPr/>
        </p:nvSpPr>
        <p:spPr>
          <a:xfrm>
            <a:off x="6583680" y="2606040"/>
            <a:ext cx="640080" cy="274320"/>
          </a:xfrm>
          <a:prstGeom prst="rect">
            <a:avLst/>
          </a:prstGeom>
          <a:noFill/>
          <a:ln/>
        </p:spPr>
        <p:txBody>
          <a:bodyPr wrap="square" rtlCol="0" anchor="t"/>
          <a:lstStyle/>
          <a:p>
            <a:pPr marL="0" indent="0" algn="r">
              <a:lnSpc>
                <a:spcPct val="112000"/>
              </a:lnSpc>
              <a:buNone/>
            </a:pPr>
            <a:r>
              <a:rPr lang="en-US" sz="1200" b="1" dirty="0">
                <a:solidFill>
                  <a:srgbClr val="E63425"/>
                </a:solidFill>
                <a:latin typeface="Calibri" pitchFamily="34" charset="0"/>
                <a:ea typeface="Calibri" pitchFamily="34" charset="-122"/>
                <a:cs typeface="Calibri" pitchFamily="34" charset="-120"/>
              </a:rPr>
              <a:t>6.1%</a:t>
            </a:r>
            <a:endParaRPr lang="en-US" sz="1200" dirty="0"/>
          </a:p>
        </p:txBody>
      </p:sp>
      <p:sp>
        <p:nvSpPr>
          <p:cNvPr id="10" name="Shape 7"/>
          <p:cNvSpPr/>
          <p:nvPr/>
        </p:nvSpPr>
        <p:spPr>
          <a:xfrm>
            <a:off x="548640" y="2926080"/>
            <a:ext cx="6675120" cy="292608"/>
          </a:xfrm>
          <a:prstGeom prst="roundRect">
            <a:avLst>
              <a:gd name="adj" fmla="val 15625"/>
            </a:avLst>
          </a:prstGeom>
          <a:solidFill>
            <a:srgbClr val="F4F5F7"/>
          </a:solidFill>
          <a:ln/>
        </p:spPr>
        <p:txBody>
          <a:bodyPr/>
          <a:lstStyle/>
          <a:p>
            <a:endParaRPr lang="en-GB"/>
          </a:p>
        </p:txBody>
      </p:sp>
      <p:sp>
        <p:nvSpPr>
          <p:cNvPr id="11" name="Shape 8"/>
          <p:cNvSpPr/>
          <p:nvPr/>
        </p:nvSpPr>
        <p:spPr>
          <a:xfrm>
            <a:off x="548640" y="2926080"/>
            <a:ext cx="3393186" cy="292608"/>
          </a:xfrm>
          <a:prstGeom prst="roundRect">
            <a:avLst>
              <a:gd name="adj" fmla="val 15625"/>
            </a:avLst>
          </a:prstGeom>
          <a:solidFill>
            <a:srgbClr val="E63425"/>
          </a:solidFill>
          <a:ln/>
        </p:spPr>
        <p:txBody>
          <a:bodyPr/>
          <a:lstStyle/>
          <a:p>
            <a:endParaRPr lang="en-GB"/>
          </a:p>
        </p:txBody>
      </p:sp>
      <p:sp>
        <p:nvSpPr>
          <p:cNvPr id="12" name="Text 9"/>
          <p:cNvSpPr/>
          <p:nvPr/>
        </p:nvSpPr>
        <p:spPr>
          <a:xfrm>
            <a:off x="548640" y="3474720"/>
            <a:ext cx="2926080" cy="274320"/>
          </a:xfrm>
          <a:prstGeom prst="rect">
            <a:avLst/>
          </a:prstGeom>
          <a:noFill/>
          <a:ln/>
        </p:spPr>
        <p:txBody>
          <a:bodyPr wrap="square" rtlCol="0" anchor="t"/>
          <a:lstStyle/>
          <a:p>
            <a:pPr marL="0" indent="0" algn="l">
              <a:lnSpc>
                <a:spcPct val="112000"/>
              </a:lnSpc>
              <a:buNone/>
            </a:pPr>
            <a:r>
              <a:rPr lang="en-US" sz="1200" dirty="0">
                <a:solidFill>
                  <a:srgbClr val="27313B"/>
                </a:solidFill>
                <a:latin typeface="Calibri" pitchFamily="34" charset="0"/>
                <a:ea typeface="Calibri" pitchFamily="34" charset="-122"/>
                <a:cs typeface="Calibri" pitchFamily="34" charset="-120"/>
              </a:rPr>
              <a:t>Male (n=6,910)</a:t>
            </a:r>
            <a:endParaRPr lang="en-US" sz="1200" dirty="0"/>
          </a:p>
        </p:txBody>
      </p:sp>
      <p:sp>
        <p:nvSpPr>
          <p:cNvPr id="13" name="Text 10"/>
          <p:cNvSpPr/>
          <p:nvPr/>
        </p:nvSpPr>
        <p:spPr>
          <a:xfrm>
            <a:off x="6583680" y="3474720"/>
            <a:ext cx="640080" cy="274320"/>
          </a:xfrm>
          <a:prstGeom prst="rect">
            <a:avLst/>
          </a:prstGeom>
          <a:noFill/>
          <a:ln/>
        </p:spPr>
        <p:txBody>
          <a:bodyPr wrap="square" rtlCol="0" anchor="t"/>
          <a:lstStyle/>
          <a:p>
            <a:pPr marL="0" indent="0" algn="r">
              <a:lnSpc>
                <a:spcPct val="112000"/>
              </a:lnSpc>
              <a:buNone/>
            </a:pPr>
            <a:r>
              <a:rPr lang="en-US" sz="1200" b="1" dirty="0">
                <a:solidFill>
                  <a:srgbClr val="25374F"/>
                </a:solidFill>
                <a:latin typeface="Calibri" pitchFamily="34" charset="0"/>
                <a:ea typeface="Calibri" pitchFamily="34" charset="-122"/>
                <a:cs typeface="Calibri" pitchFamily="34" charset="-120"/>
              </a:rPr>
              <a:t>9.3%</a:t>
            </a:r>
            <a:endParaRPr lang="en-US" sz="1200" dirty="0"/>
          </a:p>
        </p:txBody>
      </p:sp>
      <p:sp>
        <p:nvSpPr>
          <p:cNvPr id="14" name="Shape 11"/>
          <p:cNvSpPr/>
          <p:nvPr/>
        </p:nvSpPr>
        <p:spPr>
          <a:xfrm>
            <a:off x="548640" y="3794760"/>
            <a:ext cx="6675120" cy="292608"/>
          </a:xfrm>
          <a:prstGeom prst="roundRect">
            <a:avLst>
              <a:gd name="adj" fmla="val 15625"/>
            </a:avLst>
          </a:prstGeom>
          <a:solidFill>
            <a:srgbClr val="F4F5F7"/>
          </a:solidFill>
          <a:ln/>
        </p:spPr>
        <p:txBody>
          <a:bodyPr/>
          <a:lstStyle/>
          <a:p>
            <a:endParaRPr lang="en-GB"/>
          </a:p>
        </p:txBody>
      </p:sp>
      <p:sp>
        <p:nvSpPr>
          <p:cNvPr id="15" name="Shape 12"/>
          <p:cNvSpPr/>
          <p:nvPr/>
        </p:nvSpPr>
        <p:spPr>
          <a:xfrm>
            <a:off x="548640" y="3794760"/>
            <a:ext cx="5173218" cy="292608"/>
          </a:xfrm>
          <a:prstGeom prst="roundRect">
            <a:avLst>
              <a:gd name="adj" fmla="val 15625"/>
            </a:avLst>
          </a:prstGeom>
          <a:solidFill>
            <a:srgbClr val="25374F"/>
          </a:solidFill>
          <a:ln/>
        </p:spPr>
        <p:txBody>
          <a:bodyPr/>
          <a:lstStyle/>
          <a:p>
            <a:endParaRPr lang="en-GB"/>
          </a:p>
        </p:txBody>
      </p:sp>
      <p:sp>
        <p:nvSpPr>
          <p:cNvPr id="16" name="Text 13"/>
          <p:cNvSpPr/>
          <p:nvPr/>
        </p:nvSpPr>
        <p:spPr>
          <a:xfrm>
            <a:off x="548640" y="4434840"/>
            <a:ext cx="6675120" cy="457200"/>
          </a:xfrm>
          <a:prstGeom prst="rect">
            <a:avLst/>
          </a:prstGeom>
          <a:noFill/>
          <a:ln/>
        </p:spPr>
        <p:txBody>
          <a:bodyPr wrap="square" rtlCol="0" anchor="t"/>
          <a:lstStyle/>
          <a:p>
            <a:pPr marL="0" indent="0" algn="l">
              <a:lnSpc>
                <a:spcPct val="112000"/>
              </a:lnSpc>
              <a:buNone/>
            </a:pPr>
            <a:r>
              <a:rPr lang="en-US" sz="1050" i="1" dirty="0">
                <a:solidFill>
                  <a:srgbClr val="5B6B7C"/>
                </a:solidFill>
                <a:latin typeface="Calibri" pitchFamily="34" charset="0"/>
                <a:ea typeface="Calibri" pitchFamily="34" charset="-122"/>
                <a:cs typeface="Calibri" pitchFamily="34" charset="-120"/>
              </a:rPr>
              <a:t>Illustrative bars from reported sex-stratified prevalence patterns; overall prevalence 7.4% (95% CI 7.0–7.8%).</a:t>
            </a:r>
            <a:endParaRPr lang="en-US" sz="1050" dirty="0"/>
          </a:p>
        </p:txBody>
      </p:sp>
      <p:sp>
        <p:nvSpPr>
          <p:cNvPr id="17" name="Shape 14"/>
          <p:cNvSpPr/>
          <p:nvPr/>
        </p:nvSpPr>
        <p:spPr>
          <a:xfrm>
            <a:off x="7452360" y="1572768"/>
            <a:ext cx="4190695" cy="4434840"/>
          </a:xfrm>
          <a:prstGeom prst="roundRect">
            <a:avLst>
              <a:gd name="adj" fmla="val 1964"/>
            </a:avLst>
          </a:prstGeom>
          <a:solidFill>
            <a:srgbClr val="25374F"/>
          </a:solidFill>
          <a:ln/>
        </p:spPr>
        <p:txBody>
          <a:bodyPr/>
          <a:lstStyle/>
          <a:p>
            <a:endParaRPr lang="en-GB"/>
          </a:p>
        </p:txBody>
      </p:sp>
      <p:sp>
        <p:nvSpPr>
          <p:cNvPr id="18" name="Text 15"/>
          <p:cNvSpPr/>
          <p:nvPr/>
        </p:nvSpPr>
        <p:spPr>
          <a:xfrm>
            <a:off x="7708392" y="1783080"/>
            <a:ext cx="3678631" cy="320040"/>
          </a:xfrm>
          <a:prstGeom prst="rect">
            <a:avLst/>
          </a:prstGeom>
          <a:noFill/>
          <a:ln/>
        </p:spPr>
        <p:txBody>
          <a:bodyPr wrap="square" rtlCol="0" anchor="t"/>
          <a:lstStyle/>
          <a:p>
            <a:pPr marL="0" indent="0" algn="l">
              <a:lnSpc>
                <a:spcPct val="112000"/>
              </a:lnSpc>
              <a:buNone/>
            </a:pPr>
            <a:r>
              <a:rPr lang="en-US" sz="1200" b="1" dirty="0">
                <a:solidFill>
                  <a:srgbClr val="E63425"/>
                </a:solidFill>
                <a:latin typeface="Calibri" pitchFamily="34" charset="0"/>
                <a:ea typeface="Calibri" pitchFamily="34" charset="-122"/>
                <a:cs typeface="Calibri" pitchFamily="34" charset="-120"/>
              </a:rPr>
              <a:t>WHY A BAR CHART?</a:t>
            </a:r>
            <a:endParaRPr lang="en-US" sz="1200" dirty="0"/>
          </a:p>
        </p:txBody>
      </p:sp>
      <p:sp>
        <p:nvSpPr>
          <p:cNvPr id="19" name="Text 16"/>
          <p:cNvSpPr/>
          <p:nvPr/>
        </p:nvSpPr>
        <p:spPr>
          <a:xfrm>
            <a:off x="7708392" y="2121408"/>
            <a:ext cx="3678631" cy="1554480"/>
          </a:xfrm>
          <a:prstGeom prst="rect">
            <a:avLst/>
          </a:prstGeom>
          <a:noFill/>
          <a:ln/>
        </p:spPr>
        <p:txBody>
          <a:bodyPr wrap="square" rtlCol="0" anchor="t"/>
          <a:lstStyle/>
          <a:p>
            <a:pPr marL="0" indent="0" algn="l">
              <a:lnSpc>
                <a:spcPct val="125000"/>
              </a:lnSpc>
              <a:buNone/>
            </a:pPr>
            <a:r>
              <a:rPr lang="en-US" sz="1150" dirty="0">
                <a:solidFill>
                  <a:srgbClr val="D9E2EC"/>
                </a:solidFill>
                <a:latin typeface="Calibri" pitchFamily="34" charset="0"/>
                <a:ea typeface="Calibri" pitchFamily="34" charset="-122"/>
                <a:cs typeface="Calibri" pitchFamily="34" charset="-120"/>
              </a:rPr>
              <a:t>Both variables on this chart — sex and hypertension status — are nominal/binary categories. A bar chart's height directly encodes a proportion; the gaps between bars correctly signal that categories are discrete, unordered groups, not points on a continuous scale.</a:t>
            </a:r>
            <a:endParaRPr lang="en-US" sz="1150" dirty="0"/>
          </a:p>
        </p:txBody>
      </p:sp>
      <p:sp>
        <p:nvSpPr>
          <p:cNvPr id="20" name="Text 17"/>
          <p:cNvSpPr/>
          <p:nvPr/>
        </p:nvSpPr>
        <p:spPr>
          <a:xfrm>
            <a:off x="7708392" y="3794760"/>
            <a:ext cx="3678631" cy="2011680"/>
          </a:xfrm>
          <a:prstGeom prst="rect">
            <a:avLst/>
          </a:prstGeom>
          <a:noFill/>
          <a:ln/>
        </p:spPr>
        <p:txBody>
          <a:bodyPr wrap="square" rtlCol="0" anchor="t"/>
          <a:lstStyle/>
          <a:p>
            <a:pPr marL="0" indent="0" algn="l">
              <a:lnSpc>
                <a:spcPct val="125000"/>
              </a:lnSpc>
              <a:buNone/>
            </a:pPr>
            <a:r>
              <a:rPr lang="en-US" sz="1050" i="1" dirty="0">
                <a:solidFill>
                  <a:srgbClr val="9FB0C2"/>
                </a:solidFill>
                <a:latin typeface="Calibri" pitchFamily="34" charset="0"/>
                <a:ea typeface="Calibri" pitchFamily="34" charset="-122"/>
                <a:cs typeface="Calibri" pitchFamily="34" charset="-120"/>
              </a:rPr>
              <a:t>If systolic BP itself (continuous) were being compared by sex, a box plot — not a bar chart of means — would be the correct choice, since it also shows spread.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4 · PUTTING IT TOGETHER</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The Full Decision Matrix</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3401568"/>
        </p:xfrm>
        <a:graphic>
          <a:graphicData uri="http://schemas.openxmlformats.org/drawingml/2006/table">
            <a:tbl>
              <a:tblPr/>
              <a:tblGrid>
                <a:gridCol w="1775106">
                  <a:extLst>
                    <a:ext uri="{9D8B030D-6E8A-4147-A177-3AD203B41FA5}">
                      <a16:colId xmlns:a16="http://schemas.microsoft.com/office/drawing/2014/main" val="20000"/>
                    </a:ext>
                  </a:extLst>
                </a:gridCol>
                <a:gridCol w="1775106">
                  <a:extLst>
                    <a:ext uri="{9D8B030D-6E8A-4147-A177-3AD203B41FA5}">
                      <a16:colId xmlns:a16="http://schemas.microsoft.com/office/drawing/2014/main" val="20001"/>
                    </a:ext>
                  </a:extLst>
                </a:gridCol>
                <a:gridCol w="1331330">
                  <a:extLst>
                    <a:ext uri="{9D8B030D-6E8A-4147-A177-3AD203B41FA5}">
                      <a16:colId xmlns:a16="http://schemas.microsoft.com/office/drawing/2014/main" val="20002"/>
                    </a:ext>
                  </a:extLst>
                </a:gridCol>
                <a:gridCol w="2662660">
                  <a:extLst>
                    <a:ext uri="{9D8B030D-6E8A-4147-A177-3AD203B41FA5}">
                      <a16:colId xmlns:a16="http://schemas.microsoft.com/office/drawing/2014/main" val="20003"/>
                    </a:ext>
                  </a:extLst>
                </a:gridCol>
                <a:gridCol w="3550213">
                  <a:extLst>
                    <a:ext uri="{9D8B030D-6E8A-4147-A177-3AD203B41FA5}">
                      <a16:colId xmlns:a16="http://schemas.microsoft.com/office/drawing/2014/main" val="20004"/>
                    </a:ext>
                  </a:extLst>
                </a:gridCol>
              </a:tblGrid>
              <a:tr h="566928">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Data type</a:t>
                      </a:r>
                      <a:endParaRPr lang="en-US" sz="103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Central tendency</a:t>
                      </a:r>
                      <a:endParaRPr lang="en-US" sz="103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Dispersion</a:t>
                      </a:r>
                      <a:endParaRPr lang="en-US" sz="103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Chart</a:t>
                      </a:r>
                      <a:endParaRPr lang="en-US" sz="103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Regional example</a:t>
                      </a:r>
                      <a:endParaRPr lang="en-US" sz="103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566928">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Nominal</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Mode</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Bar chart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Sex: 59.1% female (Sabapathy et al.)</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Ordinal</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Mode / median rank</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Bar chart (ordered)</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WHO clinical stage distribution</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566928">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Discrete, skewed</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Median</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IQR</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Histogram / box plot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Age: 20 (IQR 19–22) years</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Continuous, symmetric</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Mean</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SD</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Histogram (bell-shaped)</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Height in a large adult cohort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566928">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Continuous, skewed</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Median</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IQR</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Histogram (long tail) / box plot</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80" dirty="0">
                          <a:solidFill>
                            <a:srgbClr val="27313B"/>
                          </a:solidFill>
                          <a:latin typeface="Calibri" pitchFamily="34" charset="0"/>
                          <a:ea typeface="Calibri" pitchFamily="34" charset="-122"/>
                          <a:cs typeface="Calibri" pitchFamily="34" charset="-120"/>
                        </a:rPr>
                        <a:t>CD4: 228 (IQR 108–412)</a:t>
                      </a:r>
                      <a:endParaRPr lang="en-US" sz="980" dirty="0">
                        <a:latin typeface="Calibri" charset="0"/>
                        <a:ea typeface="Calibri" charset="0"/>
                        <a:cs typeface="Calibri" charset="0"/>
                      </a:endParaRPr>
                    </a:p>
                  </a:txBody>
                  <a:tcPr marL="101600" marR="101600" marT="50800" marB="50800" anchor="ctr">
                    <a:lnL w="9525" cap="flat" cmpd="sng" algn="ctr">
                      <a:solidFill>
                        <a:srgbClr val="E3E7EB"/>
                      </a:solidFill>
                      <a:prstDash val="solid"/>
                      <a:round/>
                      <a:headEnd type="none" w="med" len="med"/>
                      <a:tailEnd type="none" w="med" len="med"/>
                    </a:lnL>
                    <a:lnR w="9525" cap="flat" cmpd="sng" algn="ctr">
                      <a:solidFill>
                        <a:srgbClr val="E3E7EB"/>
                      </a:solidFill>
                      <a:prstDash val="solid"/>
                      <a:round/>
                      <a:headEnd type="none" w="med" len="med"/>
                      <a:tailEnd type="none" w="med" len="med"/>
                    </a:lnR>
                    <a:lnT w="9525" cap="flat" cmpd="sng" algn="ctr">
                      <a:solidFill>
                        <a:srgbClr val="E3E7EB"/>
                      </a:solidFill>
                      <a:prstDash val="solid"/>
                      <a:round/>
                      <a:headEnd type="none" w="med" len="med"/>
                      <a:tailEnd type="none" w="med" len="med"/>
                    </a:lnT>
                    <a:lnB w="9525"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5623560"/>
            <a:ext cx="11094415" cy="502920"/>
          </a:xfrm>
          <a:prstGeom prst="roundRect">
            <a:avLst>
              <a:gd name="adj" fmla="val 16364"/>
            </a:avLst>
          </a:prstGeom>
          <a:solidFill>
            <a:srgbClr val="F4F5F7"/>
          </a:solidFill>
          <a:ln/>
        </p:spPr>
        <p:txBody>
          <a:bodyPr/>
          <a:lstStyle/>
          <a:p>
            <a:endParaRPr lang="en-GB"/>
          </a:p>
        </p:txBody>
      </p:sp>
      <p:sp>
        <p:nvSpPr>
          <p:cNvPr id="9" name="Text 5"/>
          <p:cNvSpPr/>
          <p:nvPr/>
        </p:nvSpPr>
        <p:spPr>
          <a:xfrm>
            <a:off x="731520" y="5623560"/>
            <a:ext cx="10728655" cy="502920"/>
          </a:xfrm>
          <a:prstGeom prst="rect">
            <a:avLst/>
          </a:prstGeom>
          <a:noFill/>
          <a:ln/>
        </p:spPr>
        <p:txBody>
          <a:bodyPr wrap="square" rtlCol="0" anchor="ctr"/>
          <a:lstStyle/>
          <a:p>
            <a:pPr marL="0" indent="0" algn="l">
              <a:lnSpc>
                <a:spcPct val="112000"/>
              </a:lnSpc>
              <a:buNone/>
            </a:pPr>
            <a:r>
              <a:rPr lang="en-US" sz="1100" i="1" dirty="0">
                <a:solidFill>
                  <a:srgbClr val="5B6B7C"/>
                </a:solidFill>
                <a:latin typeface="Calibri" pitchFamily="34" charset="0"/>
                <a:ea typeface="Calibri" pitchFamily="34" charset="-122"/>
                <a:cs typeface="Calibri" pitchFamily="34" charset="-120"/>
              </a:rPr>
              <a:t>Memorise the flow: data type → shape (if numeric) → statistic → chart. Every Table 1 and every figure in your Final Presentation Project should follow this chain.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SECTION 4 · READING CRITICALLY</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Common Pitfalls in Data Summary &amp; Presentation</a:t>
            </a:r>
            <a:endParaRPr lang="en-US" sz="3000" dirty="0"/>
          </a:p>
        </p:txBody>
      </p:sp>
      <p:sp>
        <p:nvSpPr>
          <p:cNvPr id="7" name="Shape 4"/>
          <p:cNvSpPr/>
          <p:nvPr/>
        </p:nvSpPr>
        <p:spPr>
          <a:xfrm>
            <a:off x="548640" y="1600200"/>
            <a:ext cx="5387188" cy="1874520"/>
          </a:xfrm>
          <a:prstGeom prst="roundRect">
            <a:avLst>
              <a:gd name="adj" fmla="val 4390"/>
            </a:avLst>
          </a:prstGeom>
          <a:solidFill>
            <a:srgbClr val="F4F5F7"/>
          </a:solidFill>
          <a:ln/>
        </p:spPr>
        <p:txBody>
          <a:bodyPr/>
          <a:lstStyle/>
          <a:p>
            <a:endParaRPr lang="en-GB"/>
          </a:p>
        </p:txBody>
      </p:sp>
      <p:sp>
        <p:nvSpPr>
          <p:cNvPr id="8" name="Shape 5"/>
          <p:cNvSpPr/>
          <p:nvPr/>
        </p:nvSpPr>
        <p:spPr>
          <a:xfrm>
            <a:off x="786384" y="1837944"/>
            <a:ext cx="146304" cy="146304"/>
          </a:xfrm>
          <a:prstGeom prst="ellipse">
            <a:avLst/>
          </a:prstGeom>
          <a:solidFill>
            <a:srgbClr val="E63425"/>
          </a:solidFill>
          <a:ln/>
        </p:spPr>
        <p:txBody>
          <a:bodyPr/>
          <a:lstStyle/>
          <a:p>
            <a:endParaRPr lang="en-GB"/>
          </a:p>
        </p:txBody>
      </p:sp>
      <p:sp>
        <p:nvSpPr>
          <p:cNvPr id="9" name="Text 6"/>
          <p:cNvSpPr/>
          <p:nvPr/>
        </p:nvSpPr>
        <p:spPr>
          <a:xfrm>
            <a:off x="1051560" y="1783080"/>
            <a:ext cx="4655668" cy="320040"/>
          </a:xfrm>
          <a:prstGeom prst="rect">
            <a:avLst/>
          </a:prstGeom>
          <a:noFill/>
          <a:ln/>
        </p:spPr>
        <p:txBody>
          <a:bodyPr wrap="square" rtlCol="0" anchor="t"/>
          <a:lstStyle/>
          <a:p>
            <a:pPr marL="0" indent="0" algn="l">
              <a:lnSpc>
                <a:spcPct val="112000"/>
              </a:lnSpc>
              <a:buNone/>
            </a:pPr>
            <a:r>
              <a:rPr lang="en-US" sz="1300" b="1" dirty="0">
                <a:solidFill>
                  <a:srgbClr val="25374F"/>
                </a:solidFill>
                <a:latin typeface="Calibri" pitchFamily="34" charset="0"/>
                <a:ea typeface="Calibri" pitchFamily="34" charset="-122"/>
                <a:cs typeface="Calibri" pitchFamily="34" charset="-120"/>
              </a:rPr>
              <a:t>Mean ± SD for skewed data</a:t>
            </a:r>
            <a:endParaRPr lang="en-US" sz="1300" dirty="0"/>
          </a:p>
        </p:txBody>
      </p:sp>
      <p:sp>
        <p:nvSpPr>
          <p:cNvPr id="10" name="Text 7"/>
          <p:cNvSpPr/>
          <p:nvPr/>
        </p:nvSpPr>
        <p:spPr>
          <a:xfrm>
            <a:off x="786384" y="2194560"/>
            <a:ext cx="4911700" cy="1097280"/>
          </a:xfrm>
          <a:prstGeom prst="rect">
            <a:avLst/>
          </a:prstGeom>
          <a:noFill/>
          <a:ln/>
        </p:spPr>
        <p:txBody>
          <a:bodyPr wrap="square" rtlCol="0" anchor="t"/>
          <a:lstStyle/>
          <a:p>
            <a:pPr marL="0" indent="0" algn="l">
              <a:lnSpc>
                <a:spcPct val="122000"/>
              </a:lnSpc>
              <a:buNone/>
            </a:pPr>
            <a:r>
              <a:rPr lang="en-US" sz="1100" dirty="0">
                <a:solidFill>
                  <a:srgbClr val="27313B"/>
                </a:solidFill>
                <a:latin typeface="Calibri" pitchFamily="34" charset="0"/>
                <a:ea typeface="Calibri" pitchFamily="34" charset="-122"/>
                <a:cs typeface="Calibri" pitchFamily="34" charset="-120"/>
              </a:rPr>
              <a:t>Reporting “viral load: mean 45,000 ± 62,000” is arithmetically correct but clinically misleading — an SD larger than the mean is itself a red flag for skewness.</a:t>
            </a:r>
            <a:endParaRPr lang="en-US" sz="1100" dirty="0"/>
          </a:p>
        </p:txBody>
      </p:sp>
      <p:sp>
        <p:nvSpPr>
          <p:cNvPr id="11" name="Shape 8"/>
          <p:cNvSpPr/>
          <p:nvPr/>
        </p:nvSpPr>
        <p:spPr>
          <a:xfrm>
            <a:off x="6255868" y="1600200"/>
            <a:ext cx="5387188" cy="1874520"/>
          </a:xfrm>
          <a:prstGeom prst="roundRect">
            <a:avLst>
              <a:gd name="adj" fmla="val 4390"/>
            </a:avLst>
          </a:prstGeom>
          <a:solidFill>
            <a:srgbClr val="F4F5F7"/>
          </a:solidFill>
          <a:ln/>
        </p:spPr>
        <p:txBody>
          <a:bodyPr/>
          <a:lstStyle/>
          <a:p>
            <a:endParaRPr lang="en-GB"/>
          </a:p>
        </p:txBody>
      </p:sp>
      <p:sp>
        <p:nvSpPr>
          <p:cNvPr id="12" name="Shape 9"/>
          <p:cNvSpPr/>
          <p:nvPr/>
        </p:nvSpPr>
        <p:spPr>
          <a:xfrm>
            <a:off x="6493612" y="1837944"/>
            <a:ext cx="146304" cy="146304"/>
          </a:xfrm>
          <a:prstGeom prst="ellipse">
            <a:avLst/>
          </a:prstGeom>
          <a:solidFill>
            <a:srgbClr val="F2A93B"/>
          </a:solidFill>
          <a:ln/>
        </p:spPr>
        <p:txBody>
          <a:bodyPr/>
          <a:lstStyle/>
          <a:p>
            <a:endParaRPr lang="en-GB"/>
          </a:p>
        </p:txBody>
      </p:sp>
      <p:sp>
        <p:nvSpPr>
          <p:cNvPr id="13" name="Text 10"/>
          <p:cNvSpPr/>
          <p:nvPr/>
        </p:nvSpPr>
        <p:spPr>
          <a:xfrm>
            <a:off x="6758788" y="1783080"/>
            <a:ext cx="4655668" cy="320040"/>
          </a:xfrm>
          <a:prstGeom prst="rect">
            <a:avLst/>
          </a:prstGeom>
          <a:noFill/>
          <a:ln/>
        </p:spPr>
        <p:txBody>
          <a:bodyPr wrap="square" rtlCol="0" anchor="t"/>
          <a:lstStyle/>
          <a:p>
            <a:pPr marL="0" indent="0" algn="l">
              <a:lnSpc>
                <a:spcPct val="112000"/>
              </a:lnSpc>
              <a:buNone/>
            </a:pPr>
            <a:r>
              <a:rPr lang="en-US" sz="1300" b="1" dirty="0">
                <a:solidFill>
                  <a:srgbClr val="25374F"/>
                </a:solidFill>
                <a:latin typeface="Calibri" pitchFamily="34" charset="0"/>
                <a:ea typeface="Calibri" pitchFamily="34" charset="-122"/>
                <a:cs typeface="Calibri" pitchFamily="34" charset="-120"/>
              </a:rPr>
              <a:t>Averaging category codes</a:t>
            </a:r>
            <a:endParaRPr lang="en-US" sz="1300" dirty="0"/>
          </a:p>
        </p:txBody>
      </p:sp>
      <p:sp>
        <p:nvSpPr>
          <p:cNvPr id="14" name="Text 11"/>
          <p:cNvSpPr/>
          <p:nvPr/>
        </p:nvSpPr>
        <p:spPr>
          <a:xfrm>
            <a:off x="6493612" y="2194560"/>
            <a:ext cx="4911700" cy="1097280"/>
          </a:xfrm>
          <a:prstGeom prst="rect">
            <a:avLst/>
          </a:prstGeom>
          <a:noFill/>
          <a:ln/>
        </p:spPr>
        <p:txBody>
          <a:bodyPr wrap="square" rtlCol="0" anchor="t"/>
          <a:lstStyle/>
          <a:p>
            <a:pPr marL="0" indent="0" algn="l">
              <a:lnSpc>
                <a:spcPct val="122000"/>
              </a:lnSpc>
              <a:buNone/>
            </a:pPr>
            <a:r>
              <a:rPr lang="en-US" sz="1100" dirty="0">
                <a:solidFill>
                  <a:srgbClr val="27313B"/>
                </a:solidFill>
                <a:latin typeface="Calibri" pitchFamily="34" charset="0"/>
                <a:ea typeface="Calibri" pitchFamily="34" charset="-122"/>
                <a:cs typeface="Calibri" pitchFamily="34" charset="-120"/>
              </a:rPr>
              <a:t>Numeric codes for nominal categories (e.g. 1=Harare, 2=Bulawayo, 3=Mutare) must never be averaged. Common in poorly cleaned REDCap/Excel exports.</a:t>
            </a:r>
            <a:endParaRPr lang="en-US" sz="1100" dirty="0"/>
          </a:p>
        </p:txBody>
      </p:sp>
      <p:sp>
        <p:nvSpPr>
          <p:cNvPr id="15" name="Shape 12"/>
          <p:cNvSpPr/>
          <p:nvPr/>
        </p:nvSpPr>
        <p:spPr>
          <a:xfrm>
            <a:off x="548640" y="3794760"/>
            <a:ext cx="5387188" cy="1874520"/>
          </a:xfrm>
          <a:prstGeom prst="roundRect">
            <a:avLst>
              <a:gd name="adj" fmla="val 4390"/>
            </a:avLst>
          </a:prstGeom>
          <a:solidFill>
            <a:srgbClr val="F4F5F7"/>
          </a:solidFill>
          <a:ln/>
        </p:spPr>
        <p:txBody>
          <a:bodyPr/>
          <a:lstStyle/>
          <a:p>
            <a:endParaRPr lang="en-GB"/>
          </a:p>
        </p:txBody>
      </p:sp>
      <p:sp>
        <p:nvSpPr>
          <p:cNvPr id="16" name="Shape 13"/>
          <p:cNvSpPr/>
          <p:nvPr/>
        </p:nvSpPr>
        <p:spPr>
          <a:xfrm>
            <a:off x="786384" y="4032504"/>
            <a:ext cx="146304" cy="146304"/>
          </a:xfrm>
          <a:prstGeom prst="ellipse">
            <a:avLst/>
          </a:prstGeom>
          <a:solidFill>
            <a:srgbClr val="2E8B9B"/>
          </a:solidFill>
          <a:ln/>
        </p:spPr>
        <p:txBody>
          <a:bodyPr/>
          <a:lstStyle/>
          <a:p>
            <a:endParaRPr lang="en-GB"/>
          </a:p>
        </p:txBody>
      </p:sp>
      <p:sp>
        <p:nvSpPr>
          <p:cNvPr id="17" name="Text 14"/>
          <p:cNvSpPr/>
          <p:nvPr/>
        </p:nvSpPr>
        <p:spPr>
          <a:xfrm>
            <a:off x="1051560" y="3977640"/>
            <a:ext cx="4655668" cy="320040"/>
          </a:xfrm>
          <a:prstGeom prst="rect">
            <a:avLst/>
          </a:prstGeom>
          <a:noFill/>
          <a:ln/>
        </p:spPr>
        <p:txBody>
          <a:bodyPr wrap="square" rtlCol="0" anchor="t"/>
          <a:lstStyle/>
          <a:p>
            <a:pPr marL="0" indent="0" algn="l">
              <a:lnSpc>
                <a:spcPct val="112000"/>
              </a:lnSpc>
              <a:buNone/>
            </a:pPr>
            <a:r>
              <a:rPr lang="en-US" sz="1300" b="1" dirty="0">
                <a:solidFill>
                  <a:srgbClr val="25374F"/>
                </a:solidFill>
                <a:latin typeface="Calibri" pitchFamily="34" charset="0"/>
                <a:ea typeface="Calibri" pitchFamily="34" charset="-122"/>
                <a:cs typeface="Calibri" pitchFamily="34" charset="-120"/>
              </a:rPr>
              <a:t>Pie charts with many slices</a:t>
            </a:r>
            <a:endParaRPr lang="en-US" sz="1300" dirty="0"/>
          </a:p>
        </p:txBody>
      </p:sp>
      <p:sp>
        <p:nvSpPr>
          <p:cNvPr id="18" name="Text 15"/>
          <p:cNvSpPr/>
          <p:nvPr/>
        </p:nvSpPr>
        <p:spPr>
          <a:xfrm>
            <a:off x="786384" y="4389120"/>
            <a:ext cx="4911700" cy="1097280"/>
          </a:xfrm>
          <a:prstGeom prst="rect">
            <a:avLst/>
          </a:prstGeom>
          <a:noFill/>
          <a:ln/>
        </p:spPr>
        <p:txBody>
          <a:bodyPr wrap="square" rtlCol="0" anchor="t"/>
          <a:lstStyle/>
          <a:p>
            <a:pPr marL="0" indent="0" algn="l">
              <a:lnSpc>
                <a:spcPct val="122000"/>
              </a:lnSpc>
              <a:buNone/>
            </a:pPr>
            <a:r>
              <a:rPr lang="en-US" sz="1100" dirty="0">
                <a:solidFill>
                  <a:srgbClr val="27313B"/>
                </a:solidFill>
                <a:latin typeface="Calibri" pitchFamily="34" charset="0"/>
                <a:ea typeface="Calibri" pitchFamily="34" charset="-122"/>
                <a:cs typeface="Calibri" pitchFamily="34" charset="-120"/>
              </a:rPr>
              <a:t>More than 4–5 categories on a pie chart become unreadable. A sorted horizontal bar chart almost always communicates the same information more clearly.</a:t>
            </a:r>
            <a:endParaRPr lang="en-US" sz="1100" dirty="0"/>
          </a:p>
        </p:txBody>
      </p:sp>
      <p:sp>
        <p:nvSpPr>
          <p:cNvPr id="19" name="Shape 16"/>
          <p:cNvSpPr/>
          <p:nvPr/>
        </p:nvSpPr>
        <p:spPr>
          <a:xfrm>
            <a:off x="6255868" y="3794760"/>
            <a:ext cx="5387188" cy="1874520"/>
          </a:xfrm>
          <a:prstGeom prst="roundRect">
            <a:avLst>
              <a:gd name="adj" fmla="val 4390"/>
            </a:avLst>
          </a:prstGeom>
          <a:solidFill>
            <a:srgbClr val="F4F5F7"/>
          </a:solidFill>
          <a:ln/>
        </p:spPr>
        <p:txBody>
          <a:bodyPr/>
          <a:lstStyle/>
          <a:p>
            <a:endParaRPr lang="en-GB"/>
          </a:p>
        </p:txBody>
      </p:sp>
      <p:sp>
        <p:nvSpPr>
          <p:cNvPr id="20" name="Shape 17"/>
          <p:cNvSpPr/>
          <p:nvPr/>
        </p:nvSpPr>
        <p:spPr>
          <a:xfrm>
            <a:off x="6493612" y="4032504"/>
            <a:ext cx="146304" cy="146304"/>
          </a:xfrm>
          <a:prstGeom prst="ellipse">
            <a:avLst/>
          </a:prstGeom>
          <a:solidFill>
            <a:srgbClr val="5B9A56"/>
          </a:solidFill>
          <a:ln/>
        </p:spPr>
        <p:txBody>
          <a:bodyPr/>
          <a:lstStyle/>
          <a:p>
            <a:endParaRPr lang="en-GB"/>
          </a:p>
        </p:txBody>
      </p:sp>
      <p:sp>
        <p:nvSpPr>
          <p:cNvPr id="21" name="Text 18"/>
          <p:cNvSpPr/>
          <p:nvPr/>
        </p:nvSpPr>
        <p:spPr>
          <a:xfrm>
            <a:off x="6758788" y="3977640"/>
            <a:ext cx="4655668" cy="320040"/>
          </a:xfrm>
          <a:prstGeom prst="rect">
            <a:avLst/>
          </a:prstGeom>
          <a:noFill/>
          <a:ln/>
        </p:spPr>
        <p:txBody>
          <a:bodyPr wrap="square" rtlCol="0" anchor="t"/>
          <a:lstStyle/>
          <a:p>
            <a:pPr marL="0" indent="0" algn="l">
              <a:lnSpc>
                <a:spcPct val="112000"/>
              </a:lnSpc>
              <a:buNone/>
            </a:pPr>
            <a:r>
              <a:rPr lang="en-US" sz="1300" b="1" dirty="0">
                <a:solidFill>
                  <a:srgbClr val="25374F"/>
                </a:solidFill>
                <a:latin typeface="Calibri" pitchFamily="34" charset="0"/>
                <a:ea typeface="Calibri" pitchFamily="34" charset="-122"/>
                <a:cs typeface="Calibri" pitchFamily="34" charset="-120"/>
              </a:rPr>
              <a:t>Truncated and or dual y-axes</a:t>
            </a:r>
            <a:endParaRPr lang="en-US" sz="1300" dirty="0"/>
          </a:p>
        </p:txBody>
      </p:sp>
      <p:sp>
        <p:nvSpPr>
          <p:cNvPr id="22" name="Text 19"/>
          <p:cNvSpPr/>
          <p:nvPr/>
        </p:nvSpPr>
        <p:spPr>
          <a:xfrm>
            <a:off x="6493612" y="4389120"/>
            <a:ext cx="4911700" cy="1097280"/>
          </a:xfrm>
          <a:prstGeom prst="rect">
            <a:avLst/>
          </a:prstGeom>
          <a:noFill/>
          <a:ln/>
        </p:spPr>
        <p:txBody>
          <a:bodyPr wrap="square" rtlCol="0" anchor="t"/>
          <a:lstStyle/>
          <a:p>
            <a:pPr marL="0" indent="0" algn="l">
              <a:lnSpc>
                <a:spcPct val="122000"/>
              </a:lnSpc>
              <a:buNone/>
            </a:pPr>
            <a:r>
              <a:rPr lang="en-US" sz="1100" dirty="0">
                <a:solidFill>
                  <a:srgbClr val="27313B"/>
                </a:solidFill>
                <a:latin typeface="Calibri" pitchFamily="34" charset="0"/>
                <a:ea typeface="Calibri" pitchFamily="34" charset="-122"/>
                <a:cs typeface="Calibri" pitchFamily="34" charset="-120"/>
              </a:rPr>
              <a:t>Bar charts that do not start the y-axis at zero exaggerate small differences. Dual y-axes can imply false correlations between unrelated variables.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25374F"/>
        </a:solidFill>
        <a:effectLst/>
      </p:bgPr>
    </p:bg>
    <p:spTree>
      <p:nvGrpSpPr>
        <p:cNvPr id="1" name=""/>
        <p:cNvGrpSpPr/>
        <p:nvPr/>
      </p:nvGrpSpPr>
      <p:grpSpPr>
        <a:xfrm>
          <a:off x="0" y="0"/>
          <a:ext cx="0" cy="0"/>
          <a:chOff x="0" y="0"/>
          <a:chExt cx="0" cy="0"/>
        </a:xfrm>
      </p:grpSpPr>
      <p:sp>
        <p:nvSpPr>
          <p:cNvPr id="2" name="Shape 0"/>
          <p:cNvSpPr/>
          <p:nvPr/>
        </p:nvSpPr>
        <p:spPr>
          <a:xfrm>
            <a:off x="-1709928" y="-1709928"/>
            <a:ext cx="3108960" cy="3108960"/>
          </a:xfrm>
          <a:prstGeom prst="ellipse">
            <a:avLst/>
          </a:prstGeom>
          <a:solidFill>
            <a:srgbClr val="1B2A3D"/>
          </a:solidFill>
          <a:ln/>
        </p:spPr>
        <p:txBody>
          <a:bodyPr/>
          <a:lstStyle/>
          <a:p>
            <a:endParaRPr lang="en-GB"/>
          </a:p>
        </p:txBody>
      </p:sp>
      <p:pic>
        <p:nvPicPr>
          <p:cNvPr id="3"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4" name="Text 1"/>
          <p:cNvSpPr/>
          <p:nvPr/>
        </p:nvSpPr>
        <p:spPr>
          <a:xfrm>
            <a:off x="548640" y="384048"/>
            <a:ext cx="5486400" cy="320040"/>
          </a:xfrm>
          <a:prstGeom prst="rect">
            <a:avLst/>
          </a:prstGeom>
          <a:noFill/>
          <a:ln/>
        </p:spPr>
        <p:txBody>
          <a:bodyPr wrap="square" rtlCol="0" anchor="ctr"/>
          <a:lstStyle/>
          <a:p>
            <a:pPr marL="0" indent="0">
              <a:buNone/>
            </a:pPr>
            <a:r>
              <a:rPr lang="en-US" sz="1250" b="1" kern="0" spc="100" dirty="0">
                <a:solidFill>
                  <a:srgbClr val="E63425"/>
                </a:solidFill>
                <a:latin typeface="Calibri" pitchFamily="34" charset="0"/>
                <a:ea typeface="Calibri" pitchFamily="34" charset="-122"/>
                <a:cs typeface="Calibri" pitchFamily="34" charset="-120"/>
              </a:rPr>
              <a:t>SECTION 5 · RECAP</a:t>
            </a:r>
            <a:endParaRPr lang="en-US" sz="1250" dirty="0"/>
          </a:p>
        </p:txBody>
      </p:sp>
      <p:sp>
        <p:nvSpPr>
          <p:cNvPr id="5" name="Text 2"/>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6" name="Shape 3"/>
          <p:cNvSpPr/>
          <p:nvPr/>
        </p:nvSpPr>
        <p:spPr>
          <a:xfrm>
            <a:off x="548640" y="1691640"/>
            <a:ext cx="292608" cy="292608"/>
          </a:xfrm>
          <a:prstGeom prst="ellipse">
            <a:avLst/>
          </a:prstGeom>
          <a:solidFill>
            <a:srgbClr val="E63425"/>
          </a:solidFill>
          <a:ln/>
        </p:spPr>
        <p:txBody>
          <a:bodyPr/>
          <a:lstStyle/>
          <a:p>
            <a:endParaRPr lang="en-GB"/>
          </a:p>
        </p:txBody>
      </p:sp>
      <p:sp>
        <p:nvSpPr>
          <p:cNvPr id="7" name="Text 4"/>
          <p:cNvSpPr/>
          <p:nvPr/>
        </p:nvSpPr>
        <p:spPr>
          <a:xfrm>
            <a:off x="548640" y="1691640"/>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8" name="Text 5"/>
          <p:cNvSpPr/>
          <p:nvPr/>
        </p:nvSpPr>
        <p:spPr>
          <a:xfrm>
            <a:off x="1005840" y="1664208"/>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Classify every variable first: nominal, ordinal, discrete or continuous — this decides everything that follows.</a:t>
            </a:r>
            <a:endParaRPr lang="en-US" sz="1300" dirty="0"/>
          </a:p>
        </p:txBody>
      </p:sp>
      <p:sp>
        <p:nvSpPr>
          <p:cNvPr id="9" name="Shape 6"/>
          <p:cNvSpPr/>
          <p:nvPr/>
        </p:nvSpPr>
        <p:spPr>
          <a:xfrm>
            <a:off x="548640" y="2386584"/>
            <a:ext cx="292608" cy="292608"/>
          </a:xfrm>
          <a:prstGeom prst="ellipse">
            <a:avLst/>
          </a:prstGeom>
          <a:solidFill>
            <a:srgbClr val="E63425"/>
          </a:solidFill>
          <a:ln/>
        </p:spPr>
        <p:txBody>
          <a:bodyPr/>
          <a:lstStyle/>
          <a:p>
            <a:endParaRPr lang="en-GB"/>
          </a:p>
        </p:txBody>
      </p:sp>
      <p:sp>
        <p:nvSpPr>
          <p:cNvPr id="10" name="Text 7"/>
          <p:cNvSpPr/>
          <p:nvPr/>
        </p:nvSpPr>
        <p:spPr>
          <a:xfrm>
            <a:off x="548640" y="2386584"/>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1" name="Text 8"/>
          <p:cNvSpPr/>
          <p:nvPr/>
        </p:nvSpPr>
        <p:spPr>
          <a:xfrm>
            <a:off x="1005840" y="2359152"/>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Categorical data: summarise with n (%) and a mode; never average category codes.</a:t>
            </a:r>
            <a:endParaRPr lang="en-US" sz="1300" dirty="0"/>
          </a:p>
        </p:txBody>
      </p:sp>
      <p:sp>
        <p:nvSpPr>
          <p:cNvPr id="12" name="Shape 9"/>
          <p:cNvSpPr/>
          <p:nvPr/>
        </p:nvSpPr>
        <p:spPr>
          <a:xfrm>
            <a:off x="548640" y="3081528"/>
            <a:ext cx="292608" cy="292608"/>
          </a:xfrm>
          <a:prstGeom prst="ellipse">
            <a:avLst/>
          </a:prstGeom>
          <a:solidFill>
            <a:srgbClr val="E63425"/>
          </a:solidFill>
          <a:ln/>
        </p:spPr>
        <p:txBody>
          <a:bodyPr/>
          <a:lstStyle/>
          <a:p>
            <a:endParaRPr lang="en-GB"/>
          </a:p>
        </p:txBody>
      </p:sp>
      <p:sp>
        <p:nvSpPr>
          <p:cNvPr id="13" name="Text 10"/>
          <p:cNvSpPr/>
          <p:nvPr/>
        </p:nvSpPr>
        <p:spPr>
          <a:xfrm>
            <a:off x="548640" y="3081528"/>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4" name="Text 11"/>
          <p:cNvSpPr/>
          <p:nvPr/>
        </p:nvSpPr>
        <p:spPr>
          <a:xfrm>
            <a:off x="1005840" y="3054096"/>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Numerical data: check the shape. Symmetric → mean &amp; SD. Skewed or outlier-prone → median &amp; IQR.</a:t>
            </a:r>
            <a:endParaRPr lang="en-US" sz="1300" dirty="0"/>
          </a:p>
        </p:txBody>
      </p:sp>
      <p:sp>
        <p:nvSpPr>
          <p:cNvPr id="15" name="Shape 12"/>
          <p:cNvSpPr/>
          <p:nvPr/>
        </p:nvSpPr>
        <p:spPr>
          <a:xfrm>
            <a:off x="548640" y="3776472"/>
            <a:ext cx="292608" cy="292608"/>
          </a:xfrm>
          <a:prstGeom prst="ellipse">
            <a:avLst/>
          </a:prstGeom>
          <a:solidFill>
            <a:srgbClr val="E63425"/>
          </a:solidFill>
          <a:ln/>
        </p:spPr>
        <p:txBody>
          <a:bodyPr/>
          <a:lstStyle/>
          <a:p>
            <a:endParaRPr lang="en-GB"/>
          </a:p>
        </p:txBody>
      </p:sp>
      <p:sp>
        <p:nvSpPr>
          <p:cNvPr id="16" name="Text 13"/>
          <p:cNvSpPr/>
          <p:nvPr/>
        </p:nvSpPr>
        <p:spPr>
          <a:xfrm>
            <a:off x="548640" y="3776472"/>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7" name="Text 14"/>
          <p:cNvSpPr/>
          <p:nvPr/>
        </p:nvSpPr>
        <p:spPr>
          <a:xfrm>
            <a:off x="1005840" y="3749040"/>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CD4 count and viral load in Zimbabwean/Zambian HIV cohorts are classic right-skewed examples — always reported as median (IQR).</a:t>
            </a:r>
            <a:endParaRPr lang="en-US" sz="1300" dirty="0"/>
          </a:p>
        </p:txBody>
      </p:sp>
      <p:sp>
        <p:nvSpPr>
          <p:cNvPr id="18" name="Shape 15"/>
          <p:cNvSpPr/>
          <p:nvPr/>
        </p:nvSpPr>
        <p:spPr>
          <a:xfrm>
            <a:off x="548640" y="4471416"/>
            <a:ext cx="292608" cy="292608"/>
          </a:xfrm>
          <a:prstGeom prst="ellipse">
            <a:avLst/>
          </a:prstGeom>
          <a:solidFill>
            <a:srgbClr val="E63425"/>
          </a:solidFill>
          <a:ln/>
        </p:spPr>
        <p:txBody>
          <a:bodyPr/>
          <a:lstStyle/>
          <a:p>
            <a:endParaRPr lang="en-GB"/>
          </a:p>
        </p:txBody>
      </p:sp>
      <p:sp>
        <p:nvSpPr>
          <p:cNvPr id="19" name="Text 16"/>
          <p:cNvSpPr/>
          <p:nvPr/>
        </p:nvSpPr>
        <p:spPr>
          <a:xfrm>
            <a:off x="548640" y="4471416"/>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0" name="Text 17"/>
          <p:cNvSpPr/>
          <p:nvPr/>
        </p:nvSpPr>
        <p:spPr>
          <a:xfrm>
            <a:off x="1005840" y="4443984"/>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A Table 1 legitimately mixes formats: n (%) for categorical rows, mean±SD or median (IQR) for numeric rows.</a:t>
            </a:r>
            <a:endParaRPr lang="en-US" sz="1300" dirty="0"/>
          </a:p>
        </p:txBody>
      </p:sp>
      <p:sp>
        <p:nvSpPr>
          <p:cNvPr id="21" name="Shape 18"/>
          <p:cNvSpPr/>
          <p:nvPr/>
        </p:nvSpPr>
        <p:spPr>
          <a:xfrm>
            <a:off x="548640" y="5166360"/>
            <a:ext cx="292608" cy="292608"/>
          </a:xfrm>
          <a:prstGeom prst="ellipse">
            <a:avLst/>
          </a:prstGeom>
          <a:solidFill>
            <a:srgbClr val="E63425"/>
          </a:solidFill>
          <a:ln/>
        </p:spPr>
        <p:txBody>
          <a:bodyPr/>
          <a:lstStyle/>
          <a:p>
            <a:endParaRPr lang="en-GB"/>
          </a:p>
        </p:txBody>
      </p:sp>
      <p:sp>
        <p:nvSpPr>
          <p:cNvPr id="22" name="Text 19"/>
          <p:cNvSpPr/>
          <p:nvPr/>
        </p:nvSpPr>
        <p:spPr>
          <a:xfrm>
            <a:off x="548640" y="5166360"/>
            <a:ext cx="29260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Text 20"/>
          <p:cNvSpPr/>
          <p:nvPr/>
        </p:nvSpPr>
        <p:spPr>
          <a:xfrm>
            <a:off x="1005840" y="5138928"/>
            <a:ext cx="10637215" cy="640080"/>
          </a:xfrm>
          <a:prstGeom prst="rect">
            <a:avLst/>
          </a:prstGeom>
          <a:noFill/>
          <a:ln/>
        </p:spPr>
        <p:txBody>
          <a:bodyPr wrap="square" rtlCol="0" anchor="t"/>
          <a:lstStyle/>
          <a:p>
            <a:pPr marL="0" indent="0" algn="l">
              <a:lnSpc>
                <a:spcPct val="120000"/>
              </a:lnSpc>
              <a:buNone/>
            </a:pPr>
            <a:r>
              <a:rPr lang="en-US" sz="1300" dirty="0">
                <a:solidFill>
                  <a:srgbClr val="E8ECF0"/>
                </a:solidFill>
                <a:latin typeface="Calibri" pitchFamily="34" charset="0"/>
                <a:ea typeface="Calibri" pitchFamily="34" charset="-122"/>
                <a:cs typeface="Calibri" pitchFamily="34" charset="-120"/>
              </a:rPr>
              <a:t>Match the chart to the data type: bar charts for categories, histograms/box plots for numeric distributions, scatter plots for two continuous variables.</a:t>
            </a:r>
            <a:endParaRPr lang="en-US" sz="1300" dirty="0"/>
          </a:p>
        </p:txBody>
      </p:sp>
      <p:sp>
        <p:nvSpPr>
          <p:cNvPr id="24" name="Text 21"/>
          <p:cNvSpPr/>
          <p:nvPr/>
        </p:nvSpPr>
        <p:spPr>
          <a:xfrm>
            <a:off x="548640" y="6355080"/>
            <a:ext cx="3657600" cy="274320"/>
          </a:xfrm>
          <a:prstGeom prst="rect">
            <a:avLst/>
          </a:prstGeom>
          <a:noFill/>
          <a:ln/>
        </p:spPr>
        <p:txBody>
          <a:bodyPr wrap="square" rtlCol="0" anchor="ctr"/>
          <a:lstStyle/>
          <a:p>
            <a:pPr marL="0" indent="0">
              <a:buNone/>
            </a:pPr>
            <a:r>
              <a:rPr lang="en-US" sz="1100" dirty="0">
                <a:solidFill>
                  <a:srgbClr val="C9D3DD"/>
                </a:solidFill>
                <a:latin typeface="Calibri" pitchFamily="34" charset="0"/>
                <a:ea typeface="Calibri" pitchFamily="34" charset="-122"/>
                <a:cs typeface="Calibri" pitchFamily="34" charset="-120"/>
              </a:rPr>
              <a:t>www.newlandsclinic.org.zw</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ome/claude/pptx_build/logo.png"/>
          <p:cNvPicPr>
            <a:picLocks noChangeAspect="1"/>
          </p:cNvPicPr>
          <p:nvPr/>
        </p:nvPicPr>
        <p:blipFill>
          <a:blip r:embed="rId3"/>
          <a:stretch>
            <a:fillRect/>
          </a:stretch>
        </p:blipFill>
        <p:spPr>
          <a:xfrm>
            <a:off x="10774375" y="320040"/>
            <a:ext cx="914400" cy="603504"/>
          </a:xfrm>
          <a:prstGeom prst="rect">
            <a:avLst/>
          </a:prstGeom>
        </p:spPr>
      </p:pic>
      <p:sp>
        <p:nvSpPr>
          <p:cNvPr id="3" name="Text 0"/>
          <p:cNvSpPr/>
          <p:nvPr/>
        </p:nvSpPr>
        <p:spPr>
          <a:xfrm>
            <a:off x="548640" y="384048"/>
            <a:ext cx="8686800" cy="320040"/>
          </a:xfrm>
          <a:prstGeom prst="rect">
            <a:avLst/>
          </a:prstGeom>
          <a:noFill/>
          <a:ln/>
        </p:spPr>
        <p:txBody>
          <a:bodyPr wrap="square" rtlCol="0" anchor="ctr"/>
          <a:lstStyle/>
          <a:p>
            <a:pPr marL="0" indent="0" algn="l">
              <a:buNone/>
            </a:pPr>
            <a:r>
              <a:rPr lang="en-US" sz="1250" b="1" kern="0" spc="100" dirty="0">
                <a:solidFill>
                  <a:srgbClr val="E63425"/>
                </a:solidFill>
                <a:latin typeface="Calibri" pitchFamily="34" charset="0"/>
                <a:ea typeface="Calibri" pitchFamily="34" charset="-122"/>
                <a:cs typeface="Calibri" pitchFamily="34" charset="-120"/>
              </a:rPr>
              <a:t>REFERENCES</a:t>
            </a:r>
            <a:endParaRPr lang="en-US" sz="1250" dirty="0"/>
          </a:p>
        </p:txBody>
      </p:sp>
      <p:sp>
        <p:nvSpPr>
          <p:cNvPr id="4" name="Text 1"/>
          <p:cNvSpPr/>
          <p:nvPr/>
        </p:nvSpPr>
        <p:spPr>
          <a:xfrm>
            <a:off x="548640" y="6473952"/>
            <a:ext cx="7315200" cy="274320"/>
          </a:xfrm>
          <a:prstGeom prst="rect">
            <a:avLst/>
          </a:prstGeom>
          <a:noFill/>
          <a:ln/>
        </p:spPr>
        <p:txBody>
          <a:bodyPr wrap="square" rtlCol="0" anchor="ctr"/>
          <a:lstStyle/>
          <a:p>
            <a:pPr marL="0" indent="0" algn="l">
              <a:buNone/>
            </a:pPr>
            <a:r>
              <a:rPr lang="en-US" sz="1000" dirty="0">
                <a:solidFill>
                  <a:srgbClr val="5B6B7C"/>
                </a:solidFill>
                <a:latin typeface="Calibri" pitchFamily="34" charset="0"/>
                <a:ea typeface="Calibri" pitchFamily="34" charset="-122"/>
                <a:cs typeface="Calibri" pitchFamily="34" charset="-120"/>
              </a:rPr>
              <a:t>Research Masterclass for Clinicians  ·  Newlands Clinic</a:t>
            </a:r>
            <a:endParaRPr lang="en-US" sz="1000" dirty="0"/>
          </a:p>
        </p:txBody>
      </p:sp>
      <p:sp>
        <p:nvSpPr>
          <p:cNvPr id="5" name="Text 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5B6B7C"/>
                </a:solidFill>
                <a:latin typeface="Calibri" pitchFamily="34" charset="0"/>
                <a:ea typeface="Calibri" pitchFamily="34" charset="-122"/>
                <a:cs typeface="Calibri" pitchFamily="34" charset="-120"/>
              </a:rPr>
              <a:t>www.newlandsclinic.org.zw</a:t>
            </a:r>
            <a:endParaRPr lang="en-US" sz="1000" dirty="0"/>
          </a:p>
        </p:txBody>
      </p:sp>
      <p:sp>
        <p:nvSpPr>
          <p:cNvPr id="6" name="Text 3"/>
          <p:cNvSpPr/>
          <p:nvPr/>
        </p:nvSpPr>
        <p:spPr>
          <a:xfrm>
            <a:off x="548640" y="713232"/>
            <a:ext cx="9814255" cy="868680"/>
          </a:xfrm>
          <a:prstGeom prst="rect">
            <a:avLst/>
          </a:prstGeom>
          <a:noFill/>
          <a:ln/>
        </p:spPr>
        <p:txBody>
          <a:bodyPr wrap="square" rtlCol="0" anchor="t"/>
          <a:lstStyle/>
          <a:p>
            <a:pPr marL="0" indent="0" algn="l">
              <a:lnSpc>
                <a:spcPct val="102000"/>
              </a:lnSpc>
              <a:buNone/>
            </a:pPr>
            <a:r>
              <a:rPr lang="en-US" sz="3000" b="1" dirty="0">
                <a:solidFill>
                  <a:srgbClr val="25374F"/>
                </a:solidFill>
                <a:latin typeface="Cambria" pitchFamily="34" charset="0"/>
                <a:ea typeface="Cambria" pitchFamily="34" charset="-122"/>
                <a:cs typeface="Cambria" pitchFamily="34" charset="-120"/>
              </a:rPr>
              <a:t>Peer-Reviewed Sources Used in This Session</a:t>
            </a:r>
            <a:endParaRPr lang="en-US" sz="3000" dirty="0"/>
          </a:p>
        </p:txBody>
      </p:sp>
      <p:sp>
        <p:nvSpPr>
          <p:cNvPr id="7" name="Text 4"/>
          <p:cNvSpPr/>
          <p:nvPr/>
        </p:nvSpPr>
        <p:spPr>
          <a:xfrm>
            <a:off x="548640" y="1691640"/>
            <a:ext cx="5394960" cy="4206240"/>
          </a:xfrm>
          <a:prstGeom prst="rect">
            <a:avLst/>
          </a:prstGeom>
          <a:noFill/>
          <a:ln/>
        </p:spPr>
        <p:txBody>
          <a:bodyPr wrap="square" rtlCol="0" anchor="t"/>
          <a:lstStyle/>
          <a:p>
            <a:pPr marL="228600" indent="-228600">
              <a:lnSpc>
                <a:spcPct val="112000"/>
              </a:lnSpc>
              <a:spcAft>
                <a:spcPts val="1600"/>
              </a:spcAft>
              <a:buSzPct val="100000"/>
              <a:buChar char="•"/>
            </a:pPr>
            <a:endParaRPr lang="en-US" sz="1100" dirty="0">
              <a:solidFill>
                <a:srgbClr val="27313B"/>
              </a:solidFill>
              <a:latin typeface="Calibri" pitchFamily="34" charset="0"/>
              <a:ea typeface="Calibri" pitchFamily="34" charset="-122"/>
              <a:cs typeface="Calibri" pitchFamily="34" charset="-120"/>
            </a:endParaRPr>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https://r-graph-gallery.com/all-graphs.html</a:t>
            </a:r>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Chihota BV, Mandiriri A, Shamu T, et al. for IeDEA Southern Africa. Metabolic syndrome among treatment-naïve people living with and without HIV in Zambia and Zimbabwe. J Int AIDS Soc. 2022;25(12):e26047.</a:t>
            </a:r>
            <a:endParaRPr lang="en-US" sz="1100" dirty="0"/>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Sabapathy K, Mwita FC, Dauya E, Bandason T, Simms V, Dziva Chikwari C, et al. Prevalence of hypertension and high-normal blood pressure among young adults in Zimbabwe: findings from a large, cross-sectional population-based survey. Lancet Child Adolesc Health. 2024;8(2):101–111.</a:t>
            </a:r>
            <a:endParaRPr lang="en-US" sz="1100" dirty="0"/>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Chimbetete C, Shamu T, Roelens M, Bote S, Mudzviti T, Keiser O. Mortality trends and causes of death among HIV positive patients at Newlands Clinic in Harare, Zimbabwe. PLoS One. 2020;15(8):e0237904.</a:t>
            </a:r>
            <a:endParaRPr lang="en-US" sz="1100" dirty="0"/>
          </a:p>
        </p:txBody>
      </p:sp>
      <p:sp>
        <p:nvSpPr>
          <p:cNvPr id="8" name="Text 5"/>
          <p:cNvSpPr/>
          <p:nvPr/>
        </p:nvSpPr>
        <p:spPr>
          <a:xfrm>
            <a:off x="6217920" y="1691640"/>
            <a:ext cx="5394960" cy="4206240"/>
          </a:xfrm>
          <a:prstGeom prst="rect">
            <a:avLst/>
          </a:prstGeom>
          <a:noFill/>
          <a:ln/>
        </p:spPr>
        <p:txBody>
          <a:bodyPr wrap="square" rtlCol="0" anchor="t"/>
          <a:lstStyle/>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Cheza A, Tlou B, Zhou DT. Incidence of NCDs in HIV patients on ART: Chitungwiza Central Hospital retrospective cohort 2010–2019. PLoS One. 2021;16(5):e0252180.</a:t>
            </a:r>
            <a:endParaRPr lang="en-US" sz="1100" dirty="0"/>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Zimbabwe National Statistics Agency (ZIMSTAT). 2022 Population and Housing Census Preliminary Report. Harare: ZIMSTAT; 2022.</a:t>
            </a:r>
            <a:endParaRPr lang="en-US" sz="1100" dirty="0"/>
          </a:p>
          <a:p>
            <a:pPr marL="228600" indent="-228600">
              <a:lnSpc>
                <a:spcPct val="112000"/>
              </a:lnSpc>
              <a:spcAft>
                <a:spcPts val="1600"/>
              </a:spcAft>
              <a:buSzPct val="100000"/>
              <a:buChar char="•"/>
            </a:pPr>
            <a:r>
              <a:rPr lang="en-US" sz="1100" dirty="0">
                <a:solidFill>
                  <a:srgbClr val="27313B"/>
                </a:solidFill>
                <a:latin typeface="Calibri" pitchFamily="34" charset="0"/>
                <a:ea typeface="Calibri" pitchFamily="34" charset="-122"/>
                <a:cs typeface="Calibri" pitchFamily="34" charset="-120"/>
              </a:rPr>
              <a:t>Porta M, Greenland S, Last JM (eds). A Dictionary of Epidemiology. 5th ed. Oxford University Press; 2008.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3094</Words>
  <Application>Microsoft Office PowerPoint</Application>
  <PresentationFormat>Widescreen</PresentationFormat>
  <Paragraphs>359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Ardele M Ndanga</cp:lastModifiedBy>
  <cp:revision>2</cp:revision>
  <dcterms:created xsi:type="dcterms:W3CDTF">2026-08-17T12:02:17Z</dcterms:created>
  <dcterms:modified xsi:type="dcterms:W3CDTF">2026-09-02T10:23:19Z</dcterms:modified>
</cp:coreProperties>
</file>