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654" autoAdjust="0"/>
  </p:normalViewPr>
  <p:slideViewPr>
    <p:cSldViewPr snapToGrid="0" snapToObjects="1">
      <p:cViewPr varScale="1">
        <p:scale>
          <a:sx n="63" d="100"/>
          <a:sy n="63" d="100"/>
        </p:scale>
        <p:origin x="135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428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use cases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74F"/>
        </a:solidFill>
        <a:effectLst/>
      </p:bgPr>
    </p:bg>
    <p:spTree>
      <p:nvGrpSpPr>
        <p:cNvPr id="1" name=""/>
        <p:cNvGrpSpPr/>
        <p:nvPr/>
      </p:nvGrpSpPr>
      <p:grpSpPr>
        <a:xfrm>
          <a:off x="0" y="0"/>
          <a:ext cx="0" cy="0"/>
          <a:chOff x="0" y="0"/>
          <a:chExt cx="0" cy="0"/>
        </a:xfrm>
      </p:grpSpPr>
      <p:sp>
        <p:nvSpPr>
          <p:cNvPr id="2" name="Shape 0"/>
          <p:cNvSpPr/>
          <p:nvPr/>
        </p:nvSpPr>
        <p:spPr>
          <a:xfrm>
            <a:off x="9265615" y="3931920"/>
            <a:ext cx="3840480" cy="3840480"/>
          </a:xfrm>
          <a:prstGeom prst="ellipse">
            <a:avLst/>
          </a:prstGeom>
          <a:solidFill>
            <a:srgbClr val="1B2A3D"/>
          </a:solidFill>
          <a:ln/>
        </p:spPr>
        <p:txBody>
          <a:bodyPr/>
          <a:lstStyle/>
          <a:p>
            <a:endParaRPr lang="en-GB"/>
          </a:p>
        </p:txBody>
      </p:sp>
      <p:sp>
        <p:nvSpPr>
          <p:cNvPr id="3" name="Shape 1"/>
          <p:cNvSpPr/>
          <p:nvPr/>
        </p:nvSpPr>
        <p:spPr>
          <a:xfrm>
            <a:off x="9357055" y="4526280"/>
            <a:ext cx="2286000" cy="2286000"/>
          </a:xfrm>
          <a:prstGeom prst="ellipse">
            <a:avLst/>
          </a:prstGeom>
          <a:solidFill>
            <a:srgbClr val="FFFFFF"/>
          </a:solidFill>
          <a:ln/>
        </p:spPr>
        <p:txBody>
          <a:bodyPr/>
          <a:lstStyle/>
          <a:p>
            <a:endParaRPr lang="en-GB"/>
          </a:p>
        </p:txBody>
      </p:sp>
      <p:sp>
        <p:nvSpPr>
          <p:cNvPr id="4" name="Shape 2"/>
          <p:cNvSpPr/>
          <p:nvPr/>
        </p:nvSpPr>
        <p:spPr>
          <a:xfrm>
            <a:off x="9859975" y="5897880"/>
            <a:ext cx="329184" cy="502920"/>
          </a:xfrm>
          <a:prstGeom prst="roundRect">
            <a:avLst>
              <a:gd name="adj" fmla="val 5556"/>
            </a:avLst>
          </a:prstGeom>
          <a:solidFill>
            <a:srgbClr val="E63425"/>
          </a:solidFill>
          <a:ln/>
        </p:spPr>
        <p:txBody>
          <a:bodyPr/>
          <a:lstStyle/>
          <a:p>
            <a:endParaRPr lang="en-GB"/>
          </a:p>
        </p:txBody>
      </p:sp>
      <p:sp>
        <p:nvSpPr>
          <p:cNvPr id="5" name="Shape 3"/>
          <p:cNvSpPr/>
          <p:nvPr/>
        </p:nvSpPr>
        <p:spPr>
          <a:xfrm>
            <a:off x="10280599" y="5577840"/>
            <a:ext cx="329184" cy="822960"/>
          </a:xfrm>
          <a:prstGeom prst="roundRect">
            <a:avLst>
              <a:gd name="adj" fmla="val 5556"/>
            </a:avLst>
          </a:prstGeom>
          <a:solidFill>
            <a:srgbClr val="F2A93B"/>
          </a:solidFill>
          <a:ln/>
        </p:spPr>
        <p:txBody>
          <a:bodyPr/>
          <a:lstStyle/>
          <a:p>
            <a:endParaRPr lang="en-GB"/>
          </a:p>
        </p:txBody>
      </p:sp>
      <p:sp>
        <p:nvSpPr>
          <p:cNvPr id="6" name="Shape 4"/>
          <p:cNvSpPr/>
          <p:nvPr/>
        </p:nvSpPr>
        <p:spPr>
          <a:xfrm>
            <a:off x="10701223" y="5303520"/>
            <a:ext cx="329184" cy="1097280"/>
          </a:xfrm>
          <a:prstGeom prst="roundRect">
            <a:avLst>
              <a:gd name="adj" fmla="val 5556"/>
            </a:avLst>
          </a:prstGeom>
          <a:solidFill>
            <a:srgbClr val="5B9A56"/>
          </a:solidFill>
          <a:ln/>
        </p:spPr>
        <p:txBody>
          <a:bodyPr/>
          <a:lstStyle/>
          <a:p>
            <a:endParaRPr lang="en-GB"/>
          </a:p>
        </p:txBody>
      </p:sp>
      <p:sp>
        <p:nvSpPr>
          <p:cNvPr id="7" name="Shape 5"/>
          <p:cNvSpPr/>
          <p:nvPr/>
        </p:nvSpPr>
        <p:spPr>
          <a:xfrm>
            <a:off x="11121847" y="5029200"/>
            <a:ext cx="329184" cy="1371600"/>
          </a:xfrm>
          <a:prstGeom prst="roundRect">
            <a:avLst>
              <a:gd name="adj" fmla="val 5556"/>
            </a:avLst>
          </a:prstGeom>
          <a:solidFill>
            <a:srgbClr val="2E8B9B"/>
          </a:solidFill>
          <a:ln/>
        </p:spPr>
        <p:txBody>
          <a:bodyPr/>
          <a:lstStyle/>
          <a:p>
            <a:endParaRPr lang="en-GB"/>
          </a:p>
        </p:txBody>
      </p:sp>
      <p:pic>
        <p:nvPicPr>
          <p:cNvPr id="8" name="Image 0" descr="/home/claude/proj/logo.png"/>
          <p:cNvPicPr>
            <a:picLocks noChangeAspect="1"/>
          </p:cNvPicPr>
          <p:nvPr/>
        </p:nvPicPr>
        <p:blipFill>
          <a:blip r:embed="rId3"/>
          <a:stretch>
            <a:fillRect/>
          </a:stretch>
        </p:blipFill>
        <p:spPr>
          <a:xfrm>
            <a:off x="502920" y="502920"/>
            <a:ext cx="1554480" cy="1025056"/>
          </a:xfrm>
          <a:prstGeom prst="rect">
            <a:avLst/>
          </a:prstGeom>
        </p:spPr>
      </p:pic>
      <p:sp>
        <p:nvSpPr>
          <p:cNvPr id="9" name="Text 6"/>
          <p:cNvSpPr/>
          <p:nvPr/>
        </p:nvSpPr>
        <p:spPr>
          <a:xfrm>
            <a:off x="502920" y="2148840"/>
            <a:ext cx="8229600" cy="292608"/>
          </a:xfrm>
          <a:prstGeom prst="rect">
            <a:avLst/>
          </a:prstGeom>
          <a:noFill/>
          <a:ln/>
        </p:spPr>
        <p:txBody>
          <a:bodyPr wrap="square" rtlCol="0" anchor="ctr"/>
          <a:lstStyle/>
          <a:p>
            <a:pPr marL="0" indent="0">
              <a:buNone/>
            </a:pPr>
            <a:r>
              <a:rPr lang="en-US" sz="1300" b="1" kern="0" spc="150" dirty="0">
                <a:solidFill>
                  <a:srgbClr val="E63425"/>
                </a:solidFill>
                <a:latin typeface="Arial" pitchFamily="34" charset="0"/>
                <a:ea typeface="Arial" pitchFamily="34" charset="-122"/>
                <a:cs typeface="Arial" pitchFamily="34" charset="-120"/>
              </a:rPr>
              <a:t>RESEARCH MASTERCLASS FOR CLINICIANS · MODULE 1</a:t>
            </a:r>
            <a:endParaRPr lang="en-US" sz="1300" dirty="0"/>
          </a:p>
        </p:txBody>
      </p:sp>
      <p:sp>
        <p:nvSpPr>
          <p:cNvPr id="10" name="Text 7"/>
          <p:cNvSpPr/>
          <p:nvPr/>
        </p:nvSpPr>
        <p:spPr>
          <a:xfrm>
            <a:off x="502920" y="2775204"/>
            <a:ext cx="8686800" cy="100584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Using Routine Health Data for Research</a:t>
            </a:r>
            <a:endParaRPr lang="en-US" sz="3600" dirty="0"/>
          </a:p>
        </p:txBody>
      </p:sp>
      <p:sp>
        <p:nvSpPr>
          <p:cNvPr id="12" name="Text 9"/>
          <p:cNvSpPr/>
          <p:nvPr/>
        </p:nvSpPr>
        <p:spPr>
          <a:xfrm>
            <a:off x="350723" y="5120640"/>
            <a:ext cx="6035040" cy="1097280"/>
          </a:xfrm>
          <a:prstGeom prst="rect">
            <a:avLst/>
          </a:prstGeom>
          <a:noFill/>
          <a:ln/>
        </p:spPr>
        <p:txBody>
          <a:bodyPr wrap="square" rtlCol="0" anchor="ctr"/>
          <a:lstStyle/>
          <a:p>
            <a:pPr marL="0" indent="0">
              <a:buNone/>
            </a:pPr>
            <a:r>
              <a:rPr lang="en-US" sz="1200" i="1" dirty="0">
                <a:solidFill>
                  <a:srgbClr val="C9D3DD"/>
                </a:solidFill>
                <a:latin typeface="Arial" pitchFamily="34" charset="0"/>
                <a:ea typeface="Arial" pitchFamily="34" charset="-122"/>
                <a:cs typeface="Arial" pitchFamily="34" charset="-120"/>
              </a:rPr>
              <a:t>Built around peer-reviewed evidence from Zimbabwe, South Africa and Botswana — ART programme data, cancer registries and national surveillance systems — including the record-linkage work of Shamu and colleagues at Newlands Clinic and the Zimbabwe National Cancer Registry.</a:t>
            </a:r>
            <a:endParaRPr lang="en-US" sz="1200" dirty="0"/>
          </a:p>
        </p:txBody>
      </p:sp>
      <p:sp>
        <p:nvSpPr>
          <p:cNvPr id="13" name="Text 10"/>
          <p:cNvSpPr/>
          <p:nvPr/>
        </p:nvSpPr>
        <p:spPr>
          <a:xfrm>
            <a:off x="502920" y="6355080"/>
            <a:ext cx="4572000" cy="274320"/>
          </a:xfrm>
          <a:prstGeom prst="rect">
            <a:avLst/>
          </a:prstGeom>
          <a:noFill/>
          <a:ln/>
        </p:spPr>
        <p:txBody>
          <a:bodyPr wrap="square" rtlCol="0" anchor="ctr"/>
          <a:lstStyle/>
          <a:p>
            <a:pPr marL="0" indent="0">
              <a:buNone/>
            </a:pPr>
            <a:r>
              <a:rPr lang="en-US" sz="1000" dirty="0">
                <a:solidFill>
                  <a:srgbClr val="C9D3DD"/>
                </a:solidFill>
                <a:latin typeface="Arial" pitchFamily="34" charset="0"/>
                <a:ea typeface="Arial" pitchFamily="34" charset="-122"/>
                <a:cs typeface="Arial" pitchFamily="34" charset="-120"/>
              </a:rPr>
              <a:t>www.newlandsclinic.org.zw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097280" y="269748"/>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MODULE 1 · TOPIC 4 · FOUNDATIONS IN EPIDEMIOLOGY</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Using Routine Health Data for Research</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10" name="Text 7"/>
          <p:cNvSpPr/>
          <p:nvPr/>
        </p:nvSpPr>
        <p:spPr>
          <a:xfrm>
            <a:off x="502920" y="2148840"/>
            <a:ext cx="6766560" cy="274320"/>
          </a:xfrm>
          <a:prstGeom prst="rect">
            <a:avLst/>
          </a:prstGeom>
          <a:noFill/>
          <a:ln/>
        </p:spPr>
        <p:txBody>
          <a:bodyPr wrap="square" rtlCol="0" anchor="t"/>
          <a:lstStyle/>
          <a:p>
            <a:pPr marL="0" indent="0">
              <a:buNone/>
            </a:pPr>
            <a:r>
              <a:rPr lang="en-US" sz="1250" b="1" dirty="0">
                <a:solidFill>
                  <a:srgbClr val="E63425"/>
                </a:solidFill>
                <a:latin typeface="Arial" pitchFamily="34" charset="0"/>
                <a:ea typeface="Arial" pitchFamily="34" charset="-122"/>
                <a:cs typeface="Arial" pitchFamily="34" charset="-120"/>
              </a:rPr>
              <a:t>By the end of this session, you will be able to:</a:t>
            </a:r>
            <a:endParaRPr lang="en-US" sz="1250" dirty="0"/>
          </a:p>
        </p:txBody>
      </p:sp>
      <p:sp>
        <p:nvSpPr>
          <p:cNvPr id="11" name="Shape 8"/>
          <p:cNvSpPr/>
          <p:nvPr/>
        </p:nvSpPr>
        <p:spPr>
          <a:xfrm>
            <a:off x="502920" y="2514600"/>
            <a:ext cx="292608" cy="292608"/>
          </a:xfrm>
          <a:prstGeom prst="ellipse">
            <a:avLst/>
          </a:prstGeom>
          <a:solidFill>
            <a:srgbClr val="25374F"/>
          </a:solidFill>
          <a:ln/>
        </p:spPr>
        <p:txBody>
          <a:bodyPr/>
          <a:lstStyle/>
          <a:p>
            <a:endParaRPr lang="en-GB"/>
          </a:p>
        </p:txBody>
      </p:sp>
      <p:sp>
        <p:nvSpPr>
          <p:cNvPr id="12" name="Text 9"/>
          <p:cNvSpPr/>
          <p:nvPr/>
        </p:nvSpPr>
        <p:spPr>
          <a:xfrm>
            <a:off x="502920" y="2514600"/>
            <a:ext cx="292608" cy="292608"/>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1</a:t>
            </a:r>
            <a:endParaRPr lang="en-US" sz="1100" dirty="0"/>
          </a:p>
        </p:txBody>
      </p:sp>
      <p:sp>
        <p:nvSpPr>
          <p:cNvPr id="13" name="Text 10"/>
          <p:cNvSpPr/>
          <p:nvPr/>
        </p:nvSpPr>
        <p:spPr>
          <a:xfrm>
            <a:off x="914400" y="2487168"/>
            <a:ext cx="640080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Explain what is meant by 'routine data' and why researchers rely on it.</a:t>
            </a:r>
            <a:endParaRPr lang="en-US" sz="1150" dirty="0"/>
          </a:p>
        </p:txBody>
      </p:sp>
      <p:sp>
        <p:nvSpPr>
          <p:cNvPr id="14" name="Shape 11"/>
          <p:cNvSpPr/>
          <p:nvPr/>
        </p:nvSpPr>
        <p:spPr>
          <a:xfrm>
            <a:off x="502920" y="3172968"/>
            <a:ext cx="292608" cy="292608"/>
          </a:xfrm>
          <a:prstGeom prst="ellipse">
            <a:avLst/>
          </a:prstGeom>
          <a:solidFill>
            <a:srgbClr val="25374F"/>
          </a:solidFill>
          <a:ln/>
        </p:spPr>
        <p:txBody>
          <a:bodyPr/>
          <a:lstStyle/>
          <a:p>
            <a:endParaRPr lang="en-GB"/>
          </a:p>
        </p:txBody>
      </p:sp>
      <p:sp>
        <p:nvSpPr>
          <p:cNvPr id="15" name="Text 12"/>
          <p:cNvSpPr/>
          <p:nvPr/>
        </p:nvSpPr>
        <p:spPr>
          <a:xfrm>
            <a:off x="502920" y="3172968"/>
            <a:ext cx="292608" cy="292608"/>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2</a:t>
            </a:r>
            <a:endParaRPr lang="en-US" sz="1100" dirty="0"/>
          </a:p>
        </p:txBody>
      </p:sp>
      <p:sp>
        <p:nvSpPr>
          <p:cNvPr id="16" name="Text 13"/>
          <p:cNvSpPr/>
          <p:nvPr/>
        </p:nvSpPr>
        <p:spPr>
          <a:xfrm>
            <a:off x="914400" y="3145536"/>
            <a:ext cx="640080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Describe the main sources of routine health data and how each is collected.</a:t>
            </a:r>
            <a:endParaRPr lang="en-US" sz="1150" dirty="0"/>
          </a:p>
        </p:txBody>
      </p:sp>
      <p:sp>
        <p:nvSpPr>
          <p:cNvPr id="17" name="Shape 14"/>
          <p:cNvSpPr/>
          <p:nvPr/>
        </p:nvSpPr>
        <p:spPr>
          <a:xfrm>
            <a:off x="502920" y="3831336"/>
            <a:ext cx="292608" cy="292608"/>
          </a:xfrm>
          <a:prstGeom prst="ellipse">
            <a:avLst/>
          </a:prstGeom>
          <a:solidFill>
            <a:srgbClr val="25374F"/>
          </a:solidFill>
          <a:ln/>
        </p:spPr>
        <p:txBody>
          <a:bodyPr/>
          <a:lstStyle/>
          <a:p>
            <a:endParaRPr lang="en-GB"/>
          </a:p>
        </p:txBody>
      </p:sp>
      <p:sp>
        <p:nvSpPr>
          <p:cNvPr id="18" name="Text 15"/>
          <p:cNvSpPr/>
          <p:nvPr/>
        </p:nvSpPr>
        <p:spPr>
          <a:xfrm>
            <a:off x="502920" y="3831336"/>
            <a:ext cx="292608" cy="292608"/>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3</a:t>
            </a:r>
            <a:endParaRPr lang="en-US" sz="1100" dirty="0"/>
          </a:p>
        </p:txBody>
      </p:sp>
      <p:sp>
        <p:nvSpPr>
          <p:cNvPr id="19" name="Text 16"/>
          <p:cNvSpPr/>
          <p:nvPr/>
        </p:nvSpPr>
        <p:spPr>
          <a:xfrm>
            <a:off x="914400" y="3803904"/>
            <a:ext cx="640080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Use routine numerator and denominator data to calculate measures of occurrence.</a:t>
            </a:r>
            <a:endParaRPr lang="en-US" sz="1150" dirty="0"/>
          </a:p>
        </p:txBody>
      </p:sp>
      <p:sp>
        <p:nvSpPr>
          <p:cNvPr id="20" name="Shape 17"/>
          <p:cNvSpPr/>
          <p:nvPr/>
        </p:nvSpPr>
        <p:spPr>
          <a:xfrm>
            <a:off x="502920" y="4489704"/>
            <a:ext cx="292608" cy="292608"/>
          </a:xfrm>
          <a:prstGeom prst="ellipse">
            <a:avLst/>
          </a:prstGeom>
          <a:solidFill>
            <a:srgbClr val="25374F"/>
          </a:solidFill>
          <a:ln/>
        </p:spPr>
        <p:txBody>
          <a:bodyPr/>
          <a:lstStyle/>
          <a:p>
            <a:endParaRPr lang="en-GB"/>
          </a:p>
        </p:txBody>
      </p:sp>
      <p:sp>
        <p:nvSpPr>
          <p:cNvPr id="21" name="Text 18"/>
          <p:cNvSpPr/>
          <p:nvPr/>
        </p:nvSpPr>
        <p:spPr>
          <a:xfrm>
            <a:off x="502920" y="4489704"/>
            <a:ext cx="292608" cy="292608"/>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4</a:t>
            </a:r>
            <a:endParaRPr lang="en-US" sz="1100" dirty="0"/>
          </a:p>
        </p:txBody>
      </p:sp>
      <p:sp>
        <p:nvSpPr>
          <p:cNvPr id="22" name="Text 19"/>
          <p:cNvSpPr/>
          <p:nvPr/>
        </p:nvSpPr>
        <p:spPr>
          <a:xfrm>
            <a:off x="914400" y="4462272"/>
            <a:ext cx="640080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Explain how routine data are used descriptively and analytically, including via record linkage.</a:t>
            </a:r>
            <a:endParaRPr lang="en-US" sz="1150" dirty="0"/>
          </a:p>
        </p:txBody>
      </p:sp>
      <p:sp>
        <p:nvSpPr>
          <p:cNvPr id="23" name="Shape 20"/>
          <p:cNvSpPr/>
          <p:nvPr/>
        </p:nvSpPr>
        <p:spPr>
          <a:xfrm>
            <a:off x="502920" y="5148072"/>
            <a:ext cx="292608" cy="292608"/>
          </a:xfrm>
          <a:prstGeom prst="ellipse">
            <a:avLst/>
          </a:prstGeom>
          <a:solidFill>
            <a:srgbClr val="25374F"/>
          </a:solidFill>
          <a:ln/>
        </p:spPr>
        <p:txBody>
          <a:bodyPr/>
          <a:lstStyle/>
          <a:p>
            <a:endParaRPr lang="en-GB"/>
          </a:p>
        </p:txBody>
      </p:sp>
      <p:sp>
        <p:nvSpPr>
          <p:cNvPr id="24" name="Text 21"/>
          <p:cNvSpPr/>
          <p:nvPr/>
        </p:nvSpPr>
        <p:spPr>
          <a:xfrm>
            <a:off x="502920" y="5148072"/>
            <a:ext cx="292608" cy="292608"/>
          </a:xfrm>
          <a:prstGeom prst="rect">
            <a:avLst/>
          </a:prstGeom>
          <a:noFill/>
          <a:ln/>
        </p:spPr>
        <p:txBody>
          <a:bodyPr wrap="square"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5</a:t>
            </a:r>
            <a:endParaRPr lang="en-US" sz="1100" dirty="0"/>
          </a:p>
        </p:txBody>
      </p:sp>
      <p:sp>
        <p:nvSpPr>
          <p:cNvPr id="25" name="Text 22"/>
          <p:cNvSpPr/>
          <p:nvPr/>
        </p:nvSpPr>
        <p:spPr>
          <a:xfrm>
            <a:off x="914400" y="5120640"/>
            <a:ext cx="640080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Critically appraise a routine data source using six standard interpretation questions.</a:t>
            </a:r>
            <a:endParaRPr lang="en-US" sz="1150" dirty="0"/>
          </a:p>
        </p:txBody>
      </p:sp>
      <p:sp>
        <p:nvSpPr>
          <p:cNvPr id="26" name="Shape 23"/>
          <p:cNvSpPr/>
          <p:nvPr/>
        </p:nvSpPr>
        <p:spPr>
          <a:xfrm>
            <a:off x="7360920" y="1508760"/>
            <a:ext cx="4343400" cy="4617720"/>
          </a:xfrm>
          <a:prstGeom prst="roundRect">
            <a:avLst>
              <a:gd name="adj" fmla="val 1684"/>
            </a:avLst>
          </a:prstGeom>
          <a:solidFill>
            <a:srgbClr val="25374F"/>
          </a:solidFill>
          <a:ln/>
        </p:spPr>
        <p:txBody>
          <a:bodyPr/>
          <a:lstStyle/>
          <a:p>
            <a:endParaRPr lang="en-GB"/>
          </a:p>
        </p:txBody>
      </p:sp>
      <p:sp>
        <p:nvSpPr>
          <p:cNvPr id="27" name="Text 24"/>
          <p:cNvSpPr/>
          <p:nvPr/>
        </p:nvSpPr>
        <p:spPr>
          <a:xfrm>
            <a:off x="7635240" y="1737360"/>
            <a:ext cx="3794760" cy="274320"/>
          </a:xfrm>
          <a:prstGeom prst="rect">
            <a:avLst/>
          </a:prstGeom>
          <a:noFill/>
          <a:ln/>
        </p:spPr>
        <p:txBody>
          <a:bodyPr wrap="square" rtlCol="0" anchor="ctr"/>
          <a:lstStyle/>
          <a:p>
            <a:pPr marL="0" indent="0">
              <a:buNone/>
            </a:pPr>
            <a:r>
              <a:rPr lang="en-US" sz="1150" b="1" kern="0" spc="100" dirty="0">
                <a:solidFill>
                  <a:srgbClr val="E63425"/>
                </a:solidFill>
                <a:latin typeface="Arial" pitchFamily="34" charset="0"/>
                <a:ea typeface="Arial" pitchFamily="34" charset="-122"/>
                <a:cs typeface="Arial" pitchFamily="34" charset="-120"/>
              </a:rPr>
              <a:t>WHY IT MATTERS</a:t>
            </a:r>
            <a:endParaRPr lang="en-US" sz="1150" dirty="0"/>
          </a:p>
        </p:txBody>
      </p:sp>
      <p:sp>
        <p:nvSpPr>
          <p:cNvPr id="28" name="Text 25"/>
          <p:cNvSpPr/>
          <p:nvPr/>
        </p:nvSpPr>
        <p:spPr>
          <a:xfrm>
            <a:off x="7635240" y="2103120"/>
            <a:ext cx="3794760" cy="1463040"/>
          </a:xfrm>
          <a:prstGeom prst="rect">
            <a:avLst/>
          </a:prstGeom>
          <a:noFill/>
          <a:ln/>
        </p:spPr>
        <p:txBody>
          <a:bodyPr wrap="square" rtlCol="0" anchor="t"/>
          <a:lstStyle/>
          <a:p>
            <a:pPr marL="0" indent="0">
              <a:buNone/>
            </a:pPr>
            <a:r>
              <a:rPr lang="en-US" sz="1200" dirty="0">
                <a:solidFill>
                  <a:srgbClr val="DCE3EA"/>
                </a:solidFill>
                <a:latin typeface="Arial" pitchFamily="34" charset="0"/>
                <a:ea typeface="Arial" pitchFamily="34" charset="-122"/>
                <a:cs typeface="Arial" pitchFamily="34" charset="-120"/>
              </a:rPr>
              <a:t>Most published HIV, TB and cancer statistic you will read from this region started life as a clinic register, a death certificate, or a registry entry — not a research questionnaire.</a:t>
            </a:r>
            <a:endParaRPr lang="en-US" sz="1200" dirty="0"/>
          </a:p>
        </p:txBody>
      </p:sp>
      <p:sp>
        <p:nvSpPr>
          <p:cNvPr id="29" name="Text 26"/>
          <p:cNvSpPr/>
          <p:nvPr/>
        </p:nvSpPr>
        <p:spPr>
          <a:xfrm>
            <a:off x="7635240" y="3749040"/>
            <a:ext cx="3794760" cy="914400"/>
          </a:xfrm>
          <a:prstGeom prst="rect">
            <a:avLst/>
          </a:prstGeom>
          <a:noFill/>
          <a:ln/>
        </p:spPr>
        <p:txBody>
          <a:bodyPr wrap="square" rtlCol="0" anchor="t"/>
          <a:lstStyle/>
          <a:p>
            <a:pPr marL="0" indent="0">
              <a:buNone/>
            </a:pPr>
            <a:r>
              <a:rPr lang="en-US" sz="1100" i="1" dirty="0">
                <a:solidFill>
                  <a:srgbClr val="9FB0C2"/>
                </a:solidFill>
                <a:latin typeface="Arial" pitchFamily="34" charset="0"/>
                <a:ea typeface="Arial" pitchFamily="34" charset="-122"/>
                <a:cs typeface="Arial" pitchFamily="34" charset="-120"/>
              </a:rPr>
              <a:t>This topic feeds directly into your Final Presentation Project and the weekly quiz.</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758952" y="384048"/>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1 · FOUNDATIONS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Why Routine Data Are the Backbone of African Epidemiology</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463040"/>
            <a:ext cx="10607040" cy="640080"/>
          </a:xfrm>
          <a:prstGeom prst="rect">
            <a:avLst/>
          </a:prstGeom>
          <a:noFill/>
          <a:ln/>
        </p:spPr>
        <p:txBody>
          <a:bodyPr wrap="square" rtlCol="0" anchor="t"/>
          <a:lstStyle/>
          <a:p>
            <a:pPr marL="0" indent="0">
              <a:buNone/>
            </a:pPr>
            <a:r>
              <a:rPr lang="en-US" sz="1250" dirty="0">
                <a:solidFill>
                  <a:srgbClr val="27313B"/>
                </a:solidFill>
                <a:latin typeface="Arial" pitchFamily="34" charset="0"/>
                <a:ea typeface="Arial" pitchFamily="34" charset="-122"/>
                <a:cs typeface="Arial" pitchFamily="34" charset="-120"/>
              </a:rPr>
              <a:t>Purpose-built data collection is expensive and slow. Across Southern Africa, most of what we know about HIV, TB and cancer comes from data clinics, registries and statistical offices already collect every day for other reasons.</a:t>
            </a:r>
            <a:endParaRPr lang="en-US" sz="1250" dirty="0"/>
          </a:p>
        </p:txBody>
      </p:sp>
      <p:sp>
        <p:nvSpPr>
          <p:cNvPr id="10" name="Shape 7"/>
          <p:cNvSpPr/>
          <p:nvPr/>
        </p:nvSpPr>
        <p:spPr>
          <a:xfrm>
            <a:off x="502920" y="2240280"/>
            <a:ext cx="10607040" cy="1554480"/>
          </a:xfrm>
          <a:prstGeom prst="roundRect">
            <a:avLst>
              <a:gd name="adj" fmla="val 4706"/>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Text 8"/>
          <p:cNvSpPr/>
          <p:nvPr/>
        </p:nvSpPr>
        <p:spPr>
          <a:xfrm>
            <a:off x="758952" y="2377440"/>
            <a:ext cx="4654296" cy="457200"/>
          </a:xfrm>
          <a:prstGeom prst="rect">
            <a:avLst/>
          </a:prstGeom>
          <a:noFill/>
          <a:ln/>
        </p:spPr>
        <p:txBody>
          <a:bodyPr wrap="square" rtlCol="0" anchor="ctr"/>
          <a:lstStyle/>
          <a:p>
            <a:pPr marL="0" indent="0">
              <a:buNone/>
            </a:pPr>
            <a:r>
              <a:rPr lang="en-US" sz="2400" b="1" dirty="0">
                <a:solidFill>
                  <a:srgbClr val="E63425"/>
                </a:solidFill>
                <a:latin typeface="Arial" pitchFamily="34" charset="0"/>
                <a:ea typeface="Arial" pitchFamily="34" charset="-122"/>
                <a:cs typeface="Arial" pitchFamily="34" charset="-120"/>
              </a:rPr>
              <a:t>341/100,000 PY</a:t>
            </a:r>
            <a:endParaRPr lang="en-US" sz="2400" dirty="0"/>
          </a:p>
        </p:txBody>
      </p:sp>
      <p:sp>
        <p:nvSpPr>
          <p:cNvPr id="12" name="Text 9"/>
          <p:cNvSpPr/>
          <p:nvPr/>
        </p:nvSpPr>
        <p:spPr>
          <a:xfrm>
            <a:off x="758951" y="2862072"/>
            <a:ext cx="9878263" cy="868680"/>
          </a:xfrm>
          <a:prstGeom prst="rect">
            <a:avLst/>
          </a:prstGeom>
          <a:noFill/>
          <a:ln/>
        </p:spPr>
        <p:txBody>
          <a:bodyPr wrap="square" rtlCol="0" anchor="t"/>
          <a:lstStyle/>
          <a:p>
            <a:pPr marL="0" indent="0">
              <a:buNone/>
            </a:pPr>
            <a:r>
              <a:rPr lang="en-US" sz="1200" dirty="0">
                <a:solidFill>
                  <a:srgbClr val="27313B"/>
                </a:solidFill>
                <a:latin typeface="Arial" pitchFamily="34" charset="0"/>
                <a:ea typeface="Arial" pitchFamily="34" charset="-122"/>
                <a:cs typeface="Arial" pitchFamily="34" charset="-120"/>
              </a:rPr>
              <a:t>Cancer incidence among 3,442 people living with HIV on ART in Harare — a number that only existed because an ART clinic's records were linked to the Zimbabwe National Cancer Registry (Shamu et al., Cancer Rep, 2022).</a:t>
            </a:r>
            <a:endParaRPr lang="en-US" sz="1200" dirty="0"/>
          </a:p>
        </p:txBody>
      </p:sp>
      <p:sp>
        <p:nvSpPr>
          <p:cNvPr id="16" name="Shape 13"/>
          <p:cNvSpPr/>
          <p:nvPr/>
        </p:nvSpPr>
        <p:spPr>
          <a:xfrm>
            <a:off x="502920" y="4114800"/>
            <a:ext cx="10607040" cy="1828800"/>
          </a:xfrm>
          <a:prstGeom prst="roundRect">
            <a:avLst>
              <a:gd name="adj" fmla="val 4000"/>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7" name="Text 14"/>
          <p:cNvSpPr/>
          <p:nvPr/>
        </p:nvSpPr>
        <p:spPr>
          <a:xfrm>
            <a:off x="777240" y="4297680"/>
            <a:ext cx="10058400" cy="274320"/>
          </a:xfrm>
          <a:prstGeom prst="rect">
            <a:avLst/>
          </a:prstGeom>
          <a:noFill/>
          <a:ln/>
        </p:spPr>
        <p:txBody>
          <a:bodyPr wrap="square" rtlCol="0" anchor="ctr"/>
          <a:lstStyle/>
          <a:p>
            <a:pPr marL="0" indent="0">
              <a:buNone/>
            </a:pPr>
            <a:r>
              <a:rPr lang="en-US" sz="1150" b="1" kern="0" spc="100" dirty="0">
                <a:solidFill>
                  <a:srgbClr val="E63425"/>
                </a:solidFill>
                <a:latin typeface="Arial" pitchFamily="34" charset="0"/>
                <a:ea typeface="Arial" pitchFamily="34" charset="-122"/>
                <a:cs typeface="Arial" pitchFamily="34" charset="-120"/>
              </a:rPr>
              <a:t>FOUR REASONS WE REACH FOR ROUTINE DATA</a:t>
            </a:r>
            <a:endParaRPr lang="en-US" sz="1150" dirty="0"/>
          </a:p>
        </p:txBody>
      </p:sp>
      <p:sp>
        <p:nvSpPr>
          <p:cNvPr id="18" name="Text 15"/>
          <p:cNvSpPr/>
          <p:nvPr/>
        </p:nvSpPr>
        <p:spPr>
          <a:xfrm>
            <a:off x="777240" y="4663440"/>
            <a:ext cx="10058400" cy="1097280"/>
          </a:xfrm>
          <a:prstGeom prst="rect">
            <a:avLst/>
          </a:prstGeom>
          <a:noFill/>
          <a:ln/>
        </p:spPr>
        <p:txBody>
          <a:bodyPr wrap="square" rtlCol="0" anchor="t"/>
          <a:lstStyle/>
          <a:p>
            <a:pPr marL="0" indent="0">
              <a:buNone/>
            </a:pPr>
            <a:r>
              <a:rPr lang="en-US" sz="1200" dirty="0">
                <a:solidFill>
                  <a:srgbClr val="27313B"/>
                </a:solidFill>
                <a:latin typeface="Arial" pitchFamily="34" charset="0"/>
                <a:ea typeface="Arial" pitchFamily="34" charset="-122"/>
                <a:cs typeface="Arial" pitchFamily="34" charset="-120"/>
              </a:rPr>
              <a:t>They usually cover whole populations, not small samples  ·  they already exist, so are cheap and fast to use  ·  they let an urgent hypothesis be tested in months, not years  ·  once linked together, they can answer questions no single system was built to answer.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777240" y="345567"/>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1 · FOUNDATIONS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What Counts as “Routine Data”?</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463040"/>
            <a:ext cx="10607040" cy="548640"/>
          </a:xfrm>
          <a:prstGeom prst="rect">
            <a:avLst/>
          </a:prstGeom>
          <a:noFill/>
          <a:ln/>
        </p:spPr>
        <p:txBody>
          <a:bodyPr wrap="square" rtlCol="0" anchor="t"/>
          <a:lstStyle/>
          <a:p>
            <a:pPr marL="0" indent="0">
              <a:buNone/>
            </a:pPr>
            <a:r>
              <a:rPr lang="en-US" sz="1250" dirty="0">
                <a:solidFill>
                  <a:srgbClr val="27313B"/>
                </a:solidFill>
                <a:latin typeface="Arial" pitchFamily="34" charset="0"/>
                <a:ea typeface="Arial" pitchFamily="34" charset="-122"/>
                <a:cs typeface="Arial" pitchFamily="34" charset="-120"/>
              </a:rPr>
              <a:t>Routine data come from ongoing data-collection systems in health and social services — collected for administration, clinical care or law, not to answer one research question.</a:t>
            </a:r>
            <a:endParaRPr lang="en-US" sz="1250" dirty="0"/>
          </a:p>
        </p:txBody>
      </p:sp>
      <p:sp>
        <p:nvSpPr>
          <p:cNvPr id="10" name="Shape 7"/>
          <p:cNvSpPr/>
          <p:nvPr/>
        </p:nvSpPr>
        <p:spPr>
          <a:xfrm>
            <a:off x="502920" y="2148840"/>
            <a:ext cx="5166360" cy="3566160"/>
          </a:xfrm>
          <a:prstGeom prst="roundRect">
            <a:avLst>
              <a:gd name="adj" fmla="val 205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Shape 8"/>
          <p:cNvSpPr/>
          <p:nvPr/>
        </p:nvSpPr>
        <p:spPr>
          <a:xfrm>
            <a:off x="777240" y="2423160"/>
            <a:ext cx="457200" cy="457200"/>
          </a:xfrm>
          <a:prstGeom prst="ellipse">
            <a:avLst/>
          </a:prstGeom>
          <a:solidFill>
            <a:srgbClr val="2E8B9B"/>
          </a:solidFill>
          <a:ln/>
        </p:spPr>
        <p:txBody>
          <a:bodyPr/>
          <a:lstStyle/>
          <a:p>
            <a:endParaRPr lang="en-GB"/>
          </a:p>
        </p:txBody>
      </p:sp>
      <p:sp>
        <p:nvSpPr>
          <p:cNvPr id="12" name="Text 9"/>
          <p:cNvSpPr/>
          <p:nvPr/>
        </p:nvSpPr>
        <p:spPr>
          <a:xfrm>
            <a:off x="777240" y="2423160"/>
            <a:ext cx="457200" cy="457200"/>
          </a:xfrm>
          <a:prstGeom prst="rect">
            <a:avLst/>
          </a:prstGeom>
          <a:noFill/>
          <a:ln/>
        </p:spPr>
        <p:txBody>
          <a:bodyPr wrap="square"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ROU</a:t>
            </a:r>
            <a:endParaRPr lang="en-US" sz="800" dirty="0"/>
          </a:p>
        </p:txBody>
      </p:sp>
      <p:sp>
        <p:nvSpPr>
          <p:cNvPr id="13" name="Text 10"/>
          <p:cNvSpPr/>
          <p:nvPr/>
        </p:nvSpPr>
        <p:spPr>
          <a:xfrm>
            <a:off x="1371600" y="2468880"/>
            <a:ext cx="3520440" cy="365760"/>
          </a:xfrm>
          <a:prstGeom prst="rect">
            <a:avLst/>
          </a:prstGeom>
          <a:noFill/>
          <a:ln/>
        </p:spPr>
        <p:txBody>
          <a:bodyPr wrap="square" rtlCol="0" anchor="ctr"/>
          <a:lstStyle/>
          <a:p>
            <a:pPr marL="0" indent="0">
              <a:buNone/>
            </a:pPr>
            <a:r>
              <a:rPr lang="en-US" sz="1500" b="1" dirty="0">
                <a:solidFill>
                  <a:srgbClr val="25374F"/>
                </a:solidFill>
                <a:latin typeface="Arial" pitchFamily="34" charset="0"/>
                <a:ea typeface="Arial" pitchFamily="34" charset="-122"/>
                <a:cs typeface="Arial" pitchFamily="34" charset="-120"/>
              </a:rPr>
              <a:t>Routine — already flowing</a:t>
            </a:r>
            <a:endParaRPr lang="en-US" sz="1500" dirty="0"/>
          </a:p>
        </p:txBody>
      </p:sp>
      <p:sp>
        <p:nvSpPr>
          <p:cNvPr id="14" name="Text 11"/>
          <p:cNvSpPr/>
          <p:nvPr/>
        </p:nvSpPr>
        <p:spPr>
          <a:xfrm>
            <a:off x="777240" y="3063240"/>
            <a:ext cx="4617720" cy="4572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The system was built for clinical care or administration, not for your question.</a:t>
            </a:r>
            <a:endParaRPr lang="en-US" sz="1150" dirty="0"/>
          </a:p>
        </p:txBody>
      </p:sp>
      <p:sp>
        <p:nvSpPr>
          <p:cNvPr id="15" name="Text 12"/>
          <p:cNvSpPr/>
          <p:nvPr/>
        </p:nvSpPr>
        <p:spPr>
          <a:xfrm>
            <a:off x="777240" y="3566160"/>
            <a:ext cx="4617720" cy="365760"/>
          </a:xfrm>
          <a:prstGeom prst="rect">
            <a:avLst/>
          </a:prstGeom>
          <a:noFill/>
          <a:ln/>
        </p:spPr>
        <p:txBody>
          <a:bodyPr wrap="square" rtlCol="0" anchor="t"/>
          <a:lstStyle/>
          <a:p>
            <a:pPr marL="0" indent="0">
              <a:buNone/>
            </a:pPr>
            <a:r>
              <a:rPr lang="en-US" sz="1080" b="1" dirty="0">
                <a:solidFill>
                  <a:srgbClr val="25374F"/>
                </a:solidFill>
                <a:latin typeface="Arial" pitchFamily="34" charset="0"/>
                <a:ea typeface="Arial" pitchFamily="34" charset="-122"/>
                <a:cs typeface="Arial" pitchFamily="34" charset="-120"/>
              </a:rPr>
              <a:t>Examples: ART registers, vital registration, cancer registry, census</a:t>
            </a:r>
            <a:endParaRPr lang="en-US" sz="1080" dirty="0"/>
          </a:p>
        </p:txBody>
      </p:sp>
      <p:sp>
        <p:nvSpPr>
          <p:cNvPr id="16" name="Text 13"/>
          <p:cNvSpPr/>
          <p:nvPr/>
        </p:nvSpPr>
        <p:spPr>
          <a:xfrm>
            <a:off x="777240" y="3931920"/>
            <a:ext cx="4617720" cy="365760"/>
          </a:xfrm>
          <a:prstGeom prst="rect">
            <a:avLst/>
          </a:prstGeom>
          <a:noFill/>
          <a:ln/>
        </p:spPr>
        <p:txBody>
          <a:bodyPr wrap="square" rtlCol="0" anchor="t"/>
          <a:lstStyle/>
          <a:p>
            <a:pPr marL="0" indent="0">
              <a:buNone/>
            </a:pPr>
            <a:r>
              <a:rPr lang="en-US" sz="1080" b="1" dirty="0">
                <a:solidFill>
                  <a:srgbClr val="25374F"/>
                </a:solidFill>
                <a:latin typeface="Arial" pitchFamily="34" charset="0"/>
                <a:ea typeface="Arial" pitchFamily="34" charset="-122"/>
                <a:cs typeface="Arial" pitchFamily="34" charset="-120"/>
              </a:rPr>
              <a:t>Cost &amp; speed: cheap and fast — the data already exist</a:t>
            </a:r>
            <a:endParaRPr lang="en-US" sz="1080" dirty="0"/>
          </a:p>
        </p:txBody>
      </p:sp>
      <p:sp>
        <p:nvSpPr>
          <p:cNvPr id="17" name="Text 14"/>
          <p:cNvSpPr/>
          <p:nvPr/>
        </p:nvSpPr>
        <p:spPr>
          <a:xfrm>
            <a:off x="777240" y="4800600"/>
            <a:ext cx="4617720" cy="640080"/>
          </a:xfrm>
          <a:prstGeom prst="rect">
            <a:avLst/>
          </a:prstGeom>
          <a:noFill/>
          <a:ln/>
        </p:spPr>
        <p:txBody>
          <a:bodyPr wrap="square" rtlCol="0" anchor="t"/>
          <a:lstStyle/>
          <a:p>
            <a:pPr marL="0" indent="0">
              <a:buNone/>
            </a:pPr>
            <a:r>
              <a:rPr lang="en-US" sz="1000" i="1" dirty="0">
                <a:solidFill>
                  <a:srgbClr val="5B6B7C"/>
                </a:solidFill>
                <a:latin typeface="Arial" pitchFamily="34" charset="0"/>
                <a:ea typeface="Arial" pitchFamily="34" charset="-122"/>
                <a:cs typeface="Arial" pitchFamily="34" charset="-120"/>
              </a:rPr>
              <a:t>No control over what was measured → case definition &amp; completeness become critical.</a:t>
            </a:r>
            <a:endParaRPr lang="en-US" sz="1000" dirty="0"/>
          </a:p>
        </p:txBody>
      </p:sp>
      <p:sp>
        <p:nvSpPr>
          <p:cNvPr id="18" name="Shape 15"/>
          <p:cNvSpPr/>
          <p:nvPr/>
        </p:nvSpPr>
        <p:spPr>
          <a:xfrm>
            <a:off x="5943600" y="2148840"/>
            <a:ext cx="5166360" cy="3566160"/>
          </a:xfrm>
          <a:prstGeom prst="roundRect">
            <a:avLst>
              <a:gd name="adj" fmla="val 2051"/>
            </a:avLst>
          </a:prstGeom>
          <a:solidFill>
            <a:srgbClr val="25374F"/>
          </a:solidFill>
          <a:ln/>
        </p:spPr>
        <p:txBody>
          <a:bodyPr/>
          <a:lstStyle/>
          <a:p>
            <a:endParaRPr lang="en-GB"/>
          </a:p>
        </p:txBody>
      </p:sp>
      <p:sp>
        <p:nvSpPr>
          <p:cNvPr id="19" name="Shape 16"/>
          <p:cNvSpPr/>
          <p:nvPr/>
        </p:nvSpPr>
        <p:spPr>
          <a:xfrm>
            <a:off x="6217920" y="2423160"/>
            <a:ext cx="457200" cy="457200"/>
          </a:xfrm>
          <a:prstGeom prst="ellipse">
            <a:avLst/>
          </a:prstGeom>
          <a:solidFill>
            <a:srgbClr val="E63425"/>
          </a:solidFill>
          <a:ln/>
        </p:spPr>
        <p:txBody>
          <a:bodyPr/>
          <a:lstStyle/>
          <a:p>
            <a:endParaRPr lang="en-GB"/>
          </a:p>
        </p:txBody>
      </p:sp>
      <p:sp>
        <p:nvSpPr>
          <p:cNvPr id="20" name="Text 17"/>
          <p:cNvSpPr/>
          <p:nvPr/>
        </p:nvSpPr>
        <p:spPr>
          <a:xfrm>
            <a:off x="6217920" y="2423160"/>
            <a:ext cx="457200" cy="457200"/>
          </a:xfrm>
          <a:prstGeom prst="rect">
            <a:avLst/>
          </a:prstGeom>
          <a:noFill/>
          <a:ln/>
        </p:spPr>
        <p:txBody>
          <a:bodyPr wrap="square"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NEW</a:t>
            </a:r>
            <a:endParaRPr lang="en-US" sz="800" dirty="0"/>
          </a:p>
        </p:txBody>
      </p:sp>
      <p:sp>
        <p:nvSpPr>
          <p:cNvPr id="21" name="Text 18"/>
          <p:cNvSpPr/>
          <p:nvPr/>
        </p:nvSpPr>
        <p:spPr>
          <a:xfrm>
            <a:off x="6812280" y="2468880"/>
            <a:ext cx="406908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Purpose-built — collected for you</a:t>
            </a:r>
            <a:endParaRPr lang="en-US" sz="1500" dirty="0"/>
          </a:p>
        </p:txBody>
      </p:sp>
      <p:sp>
        <p:nvSpPr>
          <p:cNvPr id="22" name="Text 19"/>
          <p:cNvSpPr/>
          <p:nvPr/>
        </p:nvSpPr>
        <p:spPr>
          <a:xfrm>
            <a:off x="6217920" y="3063240"/>
            <a:ext cx="4617720" cy="457200"/>
          </a:xfrm>
          <a:prstGeom prst="rect">
            <a:avLst/>
          </a:prstGeom>
          <a:noFill/>
          <a:ln/>
        </p:spPr>
        <p:txBody>
          <a:bodyPr wrap="square" rtlCol="0" anchor="t"/>
          <a:lstStyle/>
          <a:p>
            <a:pPr marL="0" indent="0">
              <a:buNone/>
            </a:pPr>
            <a:r>
              <a:rPr lang="en-US" sz="1150" dirty="0">
                <a:solidFill>
                  <a:srgbClr val="DCE3EA"/>
                </a:solidFill>
                <a:latin typeface="Arial" pitchFamily="34" charset="0"/>
                <a:ea typeface="Arial" pitchFamily="34" charset="-122"/>
                <a:cs typeface="Arial" pitchFamily="34" charset="-120"/>
              </a:rPr>
              <a:t>You design data collection specifically to answer your question.</a:t>
            </a:r>
            <a:endParaRPr lang="en-US" sz="1150" dirty="0"/>
          </a:p>
        </p:txBody>
      </p:sp>
      <p:sp>
        <p:nvSpPr>
          <p:cNvPr id="23" name="Text 20"/>
          <p:cNvSpPr/>
          <p:nvPr/>
        </p:nvSpPr>
        <p:spPr>
          <a:xfrm>
            <a:off x="6217920" y="3566160"/>
            <a:ext cx="4617720" cy="365760"/>
          </a:xfrm>
          <a:prstGeom prst="rect">
            <a:avLst/>
          </a:prstGeom>
          <a:noFill/>
          <a:ln/>
        </p:spPr>
        <p:txBody>
          <a:bodyPr wrap="square" rtlCol="0" anchor="t"/>
          <a:lstStyle/>
          <a:p>
            <a:pPr marL="0" indent="0">
              <a:buNone/>
            </a:pPr>
            <a:r>
              <a:rPr lang="en-US" sz="1080" b="1" dirty="0">
                <a:solidFill>
                  <a:srgbClr val="F0A99A"/>
                </a:solidFill>
                <a:latin typeface="Arial" pitchFamily="34" charset="0"/>
                <a:ea typeface="Arial" pitchFamily="34" charset="-122"/>
                <a:cs typeface="Arial" pitchFamily="34" charset="-120"/>
              </a:rPr>
              <a:t>Examples: Cohort CRFs, trial case-report forms, bespoke surveys</a:t>
            </a:r>
            <a:endParaRPr lang="en-US" sz="1080" dirty="0"/>
          </a:p>
        </p:txBody>
      </p:sp>
      <p:sp>
        <p:nvSpPr>
          <p:cNvPr id="24" name="Text 21"/>
          <p:cNvSpPr/>
          <p:nvPr/>
        </p:nvSpPr>
        <p:spPr>
          <a:xfrm>
            <a:off x="6217920" y="3931920"/>
            <a:ext cx="4617720" cy="365760"/>
          </a:xfrm>
          <a:prstGeom prst="rect">
            <a:avLst/>
          </a:prstGeom>
          <a:noFill/>
          <a:ln/>
        </p:spPr>
        <p:txBody>
          <a:bodyPr wrap="square" rtlCol="0" anchor="t"/>
          <a:lstStyle/>
          <a:p>
            <a:pPr marL="0" indent="0">
              <a:buNone/>
            </a:pPr>
            <a:r>
              <a:rPr lang="en-US" sz="1080" b="1" dirty="0">
                <a:solidFill>
                  <a:srgbClr val="F0A99A"/>
                </a:solidFill>
                <a:latin typeface="Arial" pitchFamily="34" charset="0"/>
                <a:ea typeface="Arial" pitchFamily="34" charset="-122"/>
                <a:cs typeface="Arial" pitchFamily="34" charset="-120"/>
              </a:rPr>
              <a:t>Cost &amp; speed: expensive and slow — fieldwork has to happen first</a:t>
            </a:r>
            <a:endParaRPr lang="en-US" sz="1080" dirty="0"/>
          </a:p>
        </p:txBody>
      </p:sp>
      <p:sp>
        <p:nvSpPr>
          <p:cNvPr id="25" name="Text 22"/>
          <p:cNvSpPr/>
          <p:nvPr/>
        </p:nvSpPr>
        <p:spPr>
          <a:xfrm>
            <a:off x="6217920" y="4800600"/>
            <a:ext cx="4617720" cy="640080"/>
          </a:xfrm>
          <a:prstGeom prst="rect">
            <a:avLst/>
          </a:prstGeom>
          <a:noFill/>
          <a:ln/>
        </p:spPr>
        <p:txBody>
          <a:bodyPr wrap="square" rtlCol="0" anchor="t"/>
          <a:lstStyle/>
          <a:p>
            <a:pPr marL="0" indent="0">
              <a:buNone/>
            </a:pPr>
            <a:r>
              <a:rPr lang="en-US" sz="1000" i="1" dirty="0">
                <a:solidFill>
                  <a:srgbClr val="9FB0C2"/>
                </a:solidFill>
                <a:latin typeface="Arial" pitchFamily="34" charset="0"/>
                <a:ea typeface="Arial" pitchFamily="34" charset="-122"/>
                <a:cs typeface="Arial" pitchFamily="34" charset="-120"/>
              </a:rPr>
              <a:t>Full control over variables → but cannot retrospectively answer an unanticipated question.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23544" y="347853"/>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2 · WHERE THE NUMBERS COME FROM</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Sources of Routine Data</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463040"/>
            <a:ext cx="10607040" cy="457200"/>
          </a:xfrm>
          <a:prstGeom prst="rect">
            <a:avLst/>
          </a:prstGeom>
          <a:noFill/>
          <a:ln/>
        </p:spPr>
        <p:txBody>
          <a:bodyPr wrap="square" rtlCol="0" anchor="t"/>
          <a:lstStyle/>
          <a:p>
            <a:pPr marL="0" indent="0">
              <a:buNone/>
            </a:pPr>
            <a:r>
              <a:rPr lang="en-US" sz="1250" dirty="0">
                <a:solidFill>
                  <a:srgbClr val="27313B"/>
                </a:solidFill>
                <a:latin typeface="Arial" pitchFamily="34" charset="0"/>
                <a:ea typeface="Arial" pitchFamily="34" charset="-122"/>
                <a:cs typeface="Arial" pitchFamily="34" charset="-120"/>
              </a:rPr>
              <a:t>Routine systems supply numerator data (cases, deaths, admissions) and/or denominator data (the population at risk).</a:t>
            </a:r>
            <a:endParaRPr lang="en-US" sz="1250" dirty="0"/>
          </a:p>
        </p:txBody>
      </p:sp>
      <p:sp>
        <p:nvSpPr>
          <p:cNvPr id="10" name="Shape 7"/>
          <p:cNvSpPr/>
          <p:nvPr/>
        </p:nvSpPr>
        <p:spPr>
          <a:xfrm>
            <a:off x="502920" y="2148840"/>
            <a:ext cx="2587752" cy="3566160"/>
          </a:xfrm>
          <a:prstGeom prst="roundRect">
            <a:avLst>
              <a:gd name="adj" fmla="val 2827"/>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Shape 8"/>
          <p:cNvSpPr/>
          <p:nvPr/>
        </p:nvSpPr>
        <p:spPr>
          <a:xfrm>
            <a:off x="731520" y="2377440"/>
            <a:ext cx="256032" cy="256032"/>
          </a:xfrm>
          <a:prstGeom prst="ellipse">
            <a:avLst/>
          </a:prstGeom>
          <a:solidFill>
            <a:srgbClr val="2E8B9B"/>
          </a:solidFill>
          <a:ln/>
        </p:spPr>
        <p:txBody>
          <a:bodyPr/>
          <a:lstStyle/>
          <a:p>
            <a:endParaRPr lang="en-GB"/>
          </a:p>
        </p:txBody>
      </p:sp>
      <p:sp>
        <p:nvSpPr>
          <p:cNvPr id="12" name="Text 9"/>
          <p:cNvSpPr/>
          <p:nvPr/>
        </p:nvSpPr>
        <p:spPr>
          <a:xfrm>
            <a:off x="731520" y="2743200"/>
            <a:ext cx="2130552" cy="594360"/>
          </a:xfrm>
          <a:prstGeom prst="rect">
            <a:avLst/>
          </a:prstGeom>
          <a:noFill/>
          <a:ln/>
        </p:spPr>
        <p:txBody>
          <a:bodyPr wrap="square" rtlCol="0" anchor="ctr"/>
          <a:lstStyle/>
          <a:p>
            <a:pPr marL="0" indent="0">
              <a:buNone/>
            </a:pPr>
            <a:r>
              <a:rPr lang="en-US" sz="1100" b="1" dirty="0">
                <a:solidFill>
                  <a:srgbClr val="25374F"/>
                </a:solidFill>
                <a:latin typeface="Arial" pitchFamily="34" charset="0"/>
                <a:ea typeface="Arial" pitchFamily="34" charset="-122"/>
                <a:cs typeface="Arial" pitchFamily="34" charset="-120"/>
              </a:rPr>
              <a:t>CENSUS &amp; VITAL REGISTRATION</a:t>
            </a:r>
            <a:endParaRPr lang="en-US" sz="1100" dirty="0"/>
          </a:p>
        </p:txBody>
      </p:sp>
      <p:sp>
        <p:nvSpPr>
          <p:cNvPr id="13" name="Text 10"/>
          <p:cNvSpPr/>
          <p:nvPr/>
        </p:nvSpPr>
        <p:spPr>
          <a:xfrm>
            <a:off x="731520" y="3383280"/>
            <a:ext cx="2130552" cy="1051560"/>
          </a:xfrm>
          <a:prstGeom prst="rect">
            <a:avLst/>
          </a:prstGeom>
          <a:noFill/>
          <a:ln/>
        </p:spPr>
        <p:txBody>
          <a:bodyPr wrap="square" rtlCol="0" anchor="t"/>
          <a:lstStyle/>
          <a:p>
            <a:pPr marL="0" indent="0">
              <a:buNone/>
            </a:pPr>
            <a:r>
              <a:rPr lang="en-US" sz="970" dirty="0">
                <a:solidFill>
                  <a:srgbClr val="27313B"/>
                </a:solidFill>
                <a:latin typeface="Arial" pitchFamily="34" charset="0"/>
                <a:ea typeface="Arial" pitchFamily="34" charset="-122"/>
                <a:cs typeface="Arial" pitchFamily="34" charset="-120"/>
              </a:rPr>
              <a:t>Census gives the baseline denominator; birth/death certification updates it and supplies vital-event numerators.</a:t>
            </a:r>
            <a:endParaRPr lang="en-US" sz="970" dirty="0"/>
          </a:p>
        </p:txBody>
      </p:sp>
      <p:sp>
        <p:nvSpPr>
          <p:cNvPr id="14" name="Text 11"/>
          <p:cNvSpPr/>
          <p:nvPr/>
        </p:nvSpPr>
        <p:spPr>
          <a:xfrm>
            <a:off x="731520" y="4480560"/>
            <a:ext cx="2130552" cy="1097280"/>
          </a:xfrm>
          <a:prstGeom prst="rect">
            <a:avLst/>
          </a:prstGeom>
          <a:noFill/>
          <a:ln/>
        </p:spPr>
        <p:txBody>
          <a:bodyPr wrap="square" rtlCol="0" anchor="t"/>
          <a:lstStyle/>
          <a:p>
            <a:pPr marL="0" indent="0">
              <a:buNone/>
            </a:pPr>
            <a:r>
              <a:rPr lang="en-US" sz="880" i="1" dirty="0">
                <a:solidFill>
                  <a:srgbClr val="5B6B7C"/>
                </a:solidFill>
                <a:latin typeface="Arial" pitchFamily="34" charset="0"/>
                <a:ea typeface="Arial" pitchFamily="34" charset="-122"/>
                <a:cs typeface="Arial" pitchFamily="34" charset="-120"/>
              </a:rPr>
              <a:t>Musarandega et al. (2022, BMJ Glob Health): two cross-sectional mortality surveys tracked Zimbabwe's maternal mortality ratio despite incomplete vital registration.</a:t>
            </a:r>
            <a:endParaRPr lang="en-US" sz="880" dirty="0"/>
          </a:p>
        </p:txBody>
      </p:sp>
      <p:sp>
        <p:nvSpPr>
          <p:cNvPr id="15" name="Shape 12"/>
          <p:cNvSpPr/>
          <p:nvPr/>
        </p:nvSpPr>
        <p:spPr>
          <a:xfrm>
            <a:off x="3227832" y="2148840"/>
            <a:ext cx="2587752" cy="3566160"/>
          </a:xfrm>
          <a:prstGeom prst="roundRect">
            <a:avLst>
              <a:gd name="adj" fmla="val 2827"/>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6" name="Shape 13"/>
          <p:cNvSpPr/>
          <p:nvPr/>
        </p:nvSpPr>
        <p:spPr>
          <a:xfrm>
            <a:off x="3456432" y="2377440"/>
            <a:ext cx="256032" cy="256032"/>
          </a:xfrm>
          <a:prstGeom prst="ellipse">
            <a:avLst/>
          </a:prstGeom>
          <a:solidFill>
            <a:srgbClr val="F2A93B"/>
          </a:solidFill>
          <a:ln/>
        </p:spPr>
        <p:txBody>
          <a:bodyPr/>
          <a:lstStyle/>
          <a:p>
            <a:endParaRPr lang="en-GB"/>
          </a:p>
        </p:txBody>
      </p:sp>
      <p:sp>
        <p:nvSpPr>
          <p:cNvPr id="17" name="Text 14"/>
          <p:cNvSpPr/>
          <p:nvPr/>
        </p:nvSpPr>
        <p:spPr>
          <a:xfrm>
            <a:off x="3456432" y="2743200"/>
            <a:ext cx="2130552" cy="594360"/>
          </a:xfrm>
          <a:prstGeom prst="rect">
            <a:avLst/>
          </a:prstGeom>
          <a:noFill/>
          <a:ln/>
        </p:spPr>
        <p:txBody>
          <a:bodyPr wrap="square" rtlCol="0" anchor="ctr"/>
          <a:lstStyle/>
          <a:p>
            <a:pPr marL="0" indent="0">
              <a:buNone/>
            </a:pPr>
            <a:r>
              <a:rPr lang="en-US" sz="1100" b="1" dirty="0">
                <a:solidFill>
                  <a:srgbClr val="25374F"/>
                </a:solidFill>
                <a:latin typeface="Arial" pitchFamily="34" charset="0"/>
                <a:ea typeface="Arial" pitchFamily="34" charset="-122"/>
                <a:cs typeface="Arial" pitchFamily="34" charset="-120"/>
              </a:rPr>
              <a:t>HOSPITAL, PRIMARY CARE &amp; ART DATA</a:t>
            </a:r>
            <a:endParaRPr lang="en-US" sz="1100" dirty="0"/>
          </a:p>
        </p:txBody>
      </p:sp>
      <p:sp>
        <p:nvSpPr>
          <p:cNvPr id="18" name="Text 15"/>
          <p:cNvSpPr/>
          <p:nvPr/>
        </p:nvSpPr>
        <p:spPr>
          <a:xfrm>
            <a:off x="3456432" y="3383280"/>
            <a:ext cx="2130552" cy="1051560"/>
          </a:xfrm>
          <a:prstGeom prst="rect">
            <a:avLst/>
          </a:prstGeom>
          <a:noFill/>
          <a:ln/>
        </p:spPr>
        <p:txBody>
          <a:bodyPr wrap="square" rtlCol="0" anchor="t"/>
          <a:lstStyle/>
          <a:p>
            <a:pPr marL="0" indent="0">
              <a:buNone/>
            </a:pPr>
            <a:r>
              <a:rPr lang="en-US" sz="970" dirty="0">
                <a:solidFill>
                  <a:srgbClr val="27313B"/>
                </a:solidFill>
                <a:latin typeface="Arial" pitchFamily="34" charset="0"/>
                <a:ea typeface="Arial" pitchFamily="34" charset="-122"/>
                <a:cs typeface="Arial" pitchFamily="34" charset="-120"/>
              </a:rPr>
              <a:t>Inpatient, outpatient and ART-clinic electronic records are completed for care, not research — but remain the main morbidity data source.</a:t>
            </a:r>
            <a:endParaRPr lang="en-US" sz="970" dirty="0"/>
          </a:p>
        </p:txBody>
      </p:sp>
      <p:sp>
        <p:nvSpPr>
          <p:cNvPr id="19" name="Text 16"/>
          <p:cNvSpPr/>
          <p:nvPr/>
        </p:nvSpPr>
        <p:spPr>
          <a:xfrm>
            <a:off x="3456432" y="4480560"/>
            <a:ext cx="2130552" cy="1097280"/>
          </a:xfrm>
          <a:prstGeom prst="rect">
            <a:avLst/>
          </a:prstGeom>
          <a:noFill/>
          <a:ln/>
        </p:spPr>
        <p:txBody>
          <a:bodyPr wrap="square" rtlCol="0" anchor="t"/>
          <a:lstStyle/>
          <a:p>
            <a:pPr marL="0" indent="0">
              <a:buNone/>
            </a:pPr>
            <a:r>
              <a:rPr lang="en-US" sz="880" i="1" dirty="0">
                <a:solidFill>
                  <a:srgbClr val="5B6B7C"/>
                </a:solidFill>
                <a:latin typeface="Arial" pitchFamily="34" charset="0"/>
                <a:ea typeface="Arial" pitchFamily="34" charset="-122"/>
                <a:cs typeface="Arial" pitchFamily="34" charset="-120"/>
              </a:rPr>
              <a:t>IeDEA-Southern Africa pools routine ART records of 640,000+ patients across 17 cohorts in 6 countries (Haas et al., 2018).</a:t>
            </a:r>
            <a:endParaRPr lang="en-US" sz="880" dirty="0"/>
          </a:p>
        </p:txBody>
      </p:sp>
      <p:sp>
        <p:nvSpPr>
          <p:cNvPr id="20" name="Shape 17"/>
          <p:cNvSpPr/>
          <p:nvPr/>
        </p:nvSpPr>
        <p:spPr>
          <a:xfrm>
            <a:off x="5952744" y="2148840"/>
            <a:ext cx="2587752" cy="3566160"/>
          </a:xfrm>
          <a:prstGeom prst="roundRect">
            <a:avLst>
              <a:gd name="adj" fmla="val 2827"/>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1" name="Shape 18"/>
          <p:cNvSpPr/>
          <p:nvPr/>
        </p:nvSpPr>
        <p:spPr>
          <a:xfrm>
            <a:off x="6181344" y="2377440"/>
            <a:ext cx="256032" cy="256032"/>
          </a:xfrm>
          <a:prstGeom prst="ellipse">
            <a:avLst/>
          </a:prstGeom>
          <a:solidFill>
            <a:srgbClr val="5B9A56"/>
          </a:solidFill>
          <a:ln/>
        </p:spPr>
        <p:txBody>
          <a:bodyPr/>
          <a:lstStyle/>
          <a:p>
            <a:endParaRPr lang="en-GB"/>
          </a:p>
        </p:txBody>
      </p:sp>
      <p:sp>
        <p:nvSpPr>
          <p:cNvPr id="22" name="Text 19"/>
          <p:cNvSpPr/>
          <p:nvPr/>
        </p:nvSpPr>
        <p:spPr>
          <a:xfrm>
            <a:off x="6181344" y="2743200"/>
            <a:ext cx="2130552" cy="594360"/>
          </a:xfrm>
          <a:prstGeom prst="rect">
            <a:avLst/>
          </a:prstGeom>
          <a:noFill/>
          <a:ln/>
        </p:spPr>
        <p:txBody>
          <a:bodyPr wrap="square" rtlCol="0" anchor="ctr"/>
          <a:lstStyle/>
          <a:p>
            <a:pPr marL="0" indent="0">
              <a:buNone/>
            </a:pPr>
            <a:r>
              <a:rPr lang="en-US" sz="1100" b="1" dirty="0">
                <a:solidFill>
                  <a:srgbClr val="25374F"/>
                </a:solidFill>
                <a:latin typeface="Arial" pitchFamily="34" charset="0"/>
                <a:ea typeface="Arial" pitchFamily="34" charset="-122"/>
                <a:cs typeface="Arial" pitchFamily="34" charset="-120"/>
              </a:rPr>
              <a:t>DISEASE &amp; CANCER REGISTRIES</a:t>
            </a:r>
            <a:endParaRPr lang="en-US" sz="1100" dirty="0"/>
          </a:p>
        </p:txBody>
      </p:sp>
      <p:sp>
        <p:nvSpPr>
          <p:cNvPr id="23" name="Text 20"/>
          <p:cNvSpPr/>
          <p:nvPr/>
        </p:nvSpPr>
        <p:spPr>
          <a:xfrm>
            <a:off x="6181344" y="3383280"/>
            <a:ext cx="2130552" cy="1051560"/>
          </a:xfrm>
          <a:prstGeom prst="rect">
            <a:avLst/>
          </a:prstGeom>
          <a:noFill/>
          <a:ln/>
        </p:spPr>
        <p:txBody>
          <a:bodyPr wrap="square" rtlCol="0" anchor="t"/>
          <a:lstStyle/>
          <a:p>
            <a:pPr marL="0" indent="0">
              <a:buNone/>
            </a:pPr>
            <a:r>
              <a:rPr lang="en-US" sz="970" dirty="0">
                <a:solidFill>
                  <a:srgbClr val="27313B"/>
                </a:solidFill>
                <a:latin typeface="Arial" pitchFamily="34" charset="0"/>
                <a:ea typeface="Arial" pitchFamily="34" charset="-122"/>
                <a:cs typeface="Arial" pitchFamily="34" charset="-120"/>
              </a:rPr>
              <a:t>A population-based registry compiles every new case of a defined condition in a defined population.</a:t>
            </a:r>
            <a:endParaRPr lang="en-US" sz="970" dirty="0"/>
          </a:p>
        </p:txBody>
      </p:sp>
      <p:sp>
        <p:nvSpPr>
          <p:cNvPr id="24" name="Text 21"/>
          <p:cNvSpPr/>
          <p:nvPr/>
        </p:nvSpPr>
        <p:spPr>
          <a:xfrm>
            <a:off x="6181344" y="4480560"/>
            <a:ext cx="2130552" cy="1097280"/>
          </a:xfrm>
          <a:prstGeom prst="rect">
            <a:avLst/>
          </a:prstGeom>
          <a:noFill/>
          <a:ln/>
        </p:spPr>
        <p:txBody>
          <a:bodyPr wrap="square" rtlCol="0" anchor="t"/>
          <a:lstStyle/>
          <a:p>
            <a:pPr marL="0" indent="0">
              <a:buNone/>
            </a:pPr>
            <a:r>
              <a:rPr lang="en-US" sz="880" i="1" dirty="0">
                <a:solidFill>
                  <a:srgbClr val="5B6B7C"/>
                </a:solidFill>
                <a:latin typeface="Arial" pitchFamily="34" charset="0"/>
                <a:ea typeface="Arial" pitchFamily="34" charset="-122"/>
                <a:cs typeface="Arial" pitchFamily="34" charset="-120"/>
              </a:rPr>
              <a:t>Zimbabwe National Cancer Registry, founded 1986 — one of only two African registries with a 30-year view (Chokunonga et al., 2025, JNCI).</a:t>
            </a:r>
            <a:endParaRPr lang="en-US" sz="880" dirty="0"/>
          </a:p>
        </p:txBody>
      </p:sp>
      <p:sp>
        <p:nvSpPr>
          <p:cNvPr id="25" name="Shape 22"/>
          <p:cNvSpPr/>
          <p:nvPr/>
        </p:nvSpPr>
        <p:spPr>
          <a:xfrm>
            <a:off x="8677656" y="2148840"/>
            <a:ext cx="2587752" cy="3566160"/>
          </a:xfrm>
          <a:prstGeom prst="roundRect">
            <a:avLst>
              <a:gd name="adj" fmla="val 2827"/>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6" name="Shape 23"/>
          <p:cNvSpPr/>
          <p:nvPr/>
        </p:nvSpPr>
        <p:spPr>
          <a:xfrm>
            <a:off x="8906256" y="2377440"/>
            <a:ext cx="256032" cy="256032"/>
          </a:xfrm>
          <a:prstGeom prst="ellipse">
            <a:avLst/>
          </a:prstGeom>
          <a:solidFill>
            <a:srgbClr val="5B6B7C"/>
          </a:solidFill>
          <a:ln/>
        </p:spPr>
        <p:txBody>
          <a:bodyPr/>
          <a:lstStyle/>
          <a:p>
            <a:endParaRPr lang="en-GB"/>
          </a:p>
        </p:txBody>
      </p:sp>
      <p:sp>
        <p:nvSpPr>
          <p:cNvPr id="27" name="Text 24"/>
          <p:cNvSpPr/>
          <p:nvPr/>
        </p:nvSpPr>
        <p:spPr>
          <a:xfrm>
            <a:off x="8906256" y="2743200"/>
            <a:ext cx="2130552" cy="594360"/>
          </a:xfrm>
          <a:prstGeom prst="rect">
            <a:avLst/>
          </a:prstGeom>
          <a:noFill/>
          <a:ln/>
        </p:spPr>
        <p:txBody>
          <a:bodyPr wrap="square" rtlCol="0" anchor="ctr"/>
          <a:lstStyle/>
          <a:p>
            <a:pPr marL="0" indent="0">
              <a:buNone/>
            </a:pPr>
            <a:r>
              <a:rPr lang="en-US" sz="1100" b="1" dirty="0">
                <a:solidFill>
                  <a:srgbClr val="25374F"/>
                </a:solidFill>
                <a:latin typeface="Arial" pitchFamily="34" charset="0"/>
                <a:ea typeface="Arial" pitchFamily="34" charset="-122"/>
                <a:cs typeface="Arial" pitchFamily="34" charset="-120"/>
              </a:rPr>
              <a:t>NOTIFICATION OF DISEASES</a:t>
            </a:r>
            <a:endParaRPr lang="en-US" sz="1100" dirty="0"/>
          </a:p>
        </p:txBody>
      </p:sp>
      <p:sp>
        <p:nvSpPr>
          <p:cNvPr id="28" name="Text 25"/>
          <p:cNvSpPr/>
          <p:nvPr/>
        </p:nvSpPr>
        <p:spPr>
          <a:xfrm>
            <a:off x="8906256" y="3383280"/>
            <a:ext cx="2130552" cy="1051560"/>
          </a:xfrm>
          <a:prstGeom prst="rect">
            <a:avLst/>
          </a:prstGeom>
          <a:noFill/>
          <a:ln/>
        </p:spPr>
        <p:txBody>
          <a:bodyPr wrap="square" rtlCol="0" anchor="t"/>
          <a:lstStyle/>
          <a:p>
            <a:pPr marL="0" indent="0">
              <a:buNone/>
            </a:pPr>
            <a:r>
              <a:rPr lang="en-US" sz="970" dirty="0">
                <a:solidFill>
                  <a:srgbClr val="27313B"/>
                </a:solidFill>
                <a:latin typeface="Arial" pitchFamily="34" charset="0"/>
                <a:ea typeface="Arial" pitchFamily="34" charset="-122"/>
                <a:cs typeface="Arial" pitchFamily="34" charset="-120"/>
              </a:rPr>
              <a:t>Health workers are legally required to report notifiable diseases so authorities can act immediately.</a:t>
            </a:r>
            <a:endParaRPr lang="en-US" sz="970" dirty="0"/>
          </a:p>
        </p:txBody>
      </p:sp>
      <p:sp>
        <p:nvSpPr>
          <p:cNvPr id="29" name="Text 26"/>
          <p:cNvSpPr/>
          <p:nvPr/>
        </p:nvSpPr>
        <p:spPr>
          <a:xfrm>
            <a:off x="8906256" y="4480560"/>
            <a:ext cx="2130552" cy="1097280"/>
          </a:xfrm>
          <a:prstGeom prst="rect">
            <a:avLst/>
          </a:prstGeom>
          <a:noFill/>
          <a:ln/>
        </p:spPr>
        <p:txBody>
          <a:bodyPr wrap="square" rtlCol="0" anchor="t"/>
          <a:lstStyle/>
          <a:p>
            <a:pPr marL="0" indent="0">
              <a:buNone/>
            </a:pPr>
            <a:r>
              <a:rPr lang="en-US" sz="880" i="1" dirty="0">
                <a:solidFill>
                  <a:srgbClr val="5B6B7C"/>
                </a:solidFill>
                <a:latin typeface="Arial" pitchFamily="34" charset="0"/>
                <a:ea typeface="Arial" pitchFamily="34" charset="-122"/>
                <a:cs typeface="Arial" pitchFamily="34" charset="-120"/>
              </a:rPr>
              <a:t>Mashe et al. (2023, BMJ Open): Zimbabwe's 2018–19 cholera outbreak — 10,730 cases, attack rate 174.6/100,000.</a:t>
            </a:r>
            <a:endParaRPr lang="en-US" sz="880" dirty="0"/>
          </a:p>
        </p:txBody>
      </p:sp>
      <p:sp>
        <p:nvSpPr>
          <p:cNvPr id="30" name="Text 27"/>
          <p:cNvSpPr/>
          <p:nvPr/>
        </p:nvSpPr>
        <p:spPr>
          <a:xfrm>
            <a:off x="502920" y="5897880"/>
            <a:ext cx="10607040" cy="457200"/>
          </a:xfrm>
          <a:prstGeom prst="rect">
            <a:avLst/>
          </a:prstGeom>
          <a:noFill/>
          <a:ln/>
        </p:spPr>
        <p:txBody>
          <a:bodyPr wrap="square" rtlCol="0" anchor="t"/>
          <a:lstStyle/>
          <a:p>
            <a:pPr marL="0" indent="0">
              <a:buNone/>
            </a:pPr>
            <a:r>
              <a:rPr lang="en-US" sz="1050" dirty="0">
                <a:solidFill>
                  <a:srgbClr val="27313B"/>
                </a:solidFill>
                <a:latin typeface="Arial" pitchFamily="34" charset="0"/>
                <a:ea typeface="Arial" pitchFamily="34" charset="-122"/>
                <a:cs typeface="Arial" pitchFamily="34" charset="-120"/>
              </a:rPr>
              <a:t>Strength: together these sources cover almost the whole spectrum of population health.   Limitation: each was built for a different purpose — none matches the others perfectly.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231880" y="6382512"/>
            <a:ext cx="1920240" cy="1920240"/>
          </a:xfrm>
          <a:prstGeom prst="ellipse">
            <a:avLst/>
          </a:prstGeom>
          <a:solidFill>
            <a:srgbClr val="25374F"/>
          </a:solidFill>
          <a:ln/>
        </p:spPr>
        <p:txBody>
          <a:bodyPr/>
          <a:lstStyle/>
          <a:p>
            <a:endParaRPr lang="en-GB" dirty="0"/>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60120" y="324993"/>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3 · CALCULATING WITH ROUTINE DATA</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Turning Routine Data into Measures of Occurrence</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19" y="1463040"/>
            <a:ext cx="9184005" cy="822960"/>
          </a:xfrm>
          <a:prstGeom prst="rect">
            <a:avLst/>
          </a:prstGeom>
          <a:noFill/>
          <a:ln/>
        </p:spPr>
        <p:txBody>
          <a:bodyPr wrap="square" rtlCol="0" anchor="t"/>
          <a:lstStyle/>
          <a:p>
            <a:pPr marL="0" indent="0">
              <a:buNone/>
            </a:pPr>
            <a:r>
              <a:rPr lang="en-US" sz="1250" dirty="0">
                <a:solidFill>
                  <a:srgbClr val="27313B"/>
                </a:solidFill>
                <a:latin typeface="Arial" pitchFamily="34" charset="0"/>
                <a:ea typeface="Arial" pitchFamily="34" charset="-122"/>
                <a:cs typeface="Arial" pitchFamily="34" charset="-120"/>
              </a:rPr>
              <a:t>A numerator (cases) divided by a denominator (population or person-time at risk) gives a rate. Person-time at risk is usually estimated between censuses:</a:t>
            </a:r>
            <a:endParaRPr lang="en-US" sz="1250" dirty="0"/>
          </a:p>
        </p:txBody>
      </p:sp>
      <p:sp>
        <p:nvSpPr>
          <p:cNvPr id="10" name="Shape 7"/>
          <p:cNvSpPr/>
          <p:nvPr/>
        </p:nvSpPr>
        <p:spPr>
          <a:xfrm>
            <a:off x="502920" y="2377440"/>
            <a:ext cx="6035040" cy="1051560"/>
          </a:xfrm>
          <a:prstGeom prst="roundRect">
            <a:avLst>
              <a:gd name="adj" fmla="val 6957"/>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Text 8"/>
          <p:cNvSpPr/>
          <p:nvPr/>
        </p:nvSpPr>
        <p:spPr>
          <a:xfrm>
            <a:off x="685800" y="2514600"/>
            <a:ext cx="5669280" cy="365760"/>
          </a:xfrm>
          <a:prstGeom prst="rect">
            <a:avLst/>
          </a:prstGeom>
          <a:noFill/>
          <a:ln/>
        </p:spPr>
        <p:txBody>
          <a:bodyPr wrap="square" rtlCol="0" anchor="ctr"/>
          <a:lstStyle/>
          <a:p>
            <a:pPr marL="0" indent="0" algn="ctr">
              <a:buNone/>
            </a:pPr>
            <a:r>
              <a:rPr lang="en-US" sz="1500" dirty="0">
                <a:solidFill>
                  <a:srgbClr val="25374F"/>
                </a:solidFill>
                <a:latin typeface="Consolas" pitchFamily="34" charset="0"/>
                <a:ea typeface="Consolas" pitchFamily="34" charset="-122"/>
                <a:cs typeface="Consolas" pitchFamily="34" charset="-120"/>
              </a:rPr>
              <a:t>Person-time at risk ≈ P½ × T</a:t>
            </a:r>
            <a:endParaRPr lang="en-US" sz="1500" dirty="0"/>
          </a:p>
        </p:txBody>
      </p:sp>
      <p:sp>
        <p:nvSpPr>
          <p:cNvPr id="12" name="Text 9"/>
          <p:cNvSpPr/>
          <p:nvPr/>
        </p:nvSpPr>
        <p:spPr>
          <a:xfrm>
            <a:off x="685800" y="2926080"/>
            <a:ext cx="5669280" cy="457200"/>
          </a:xfrm>
          <a:prstGeom prst="rect">
            <a:avLst/>
          </a:prstGeom>
          <a:noFill/>
          <a:ln/>
        </p:spPr>
        <p:txBody>
          <a:bodyPr wrap="square" rtlCol="0" anchor="t"/>
          <a:lstStyle/>
          <a:p>
            <a:pPr marL="0" indent="0">
              <a:buNone/>
            </a:pPr>
            <a:r>
              <a:rPr lang="en-US" sz="950" dirty="0">
                <a:solidFill>
                  <a:srgbClr val="5B6B7C"/>
                </a:solidFill>
                <a:latin typeface="Arial" pitchFamily="34" charset="0"/>
                <a:ea typeface="Arial" pitchFamily="34" charset="-122"/>
                <a:cs typeface="Arial" pitchFamily="34" charset="-120"/>
              </a:rPr>
              <a:t>P½ = population at the period's midpoint · T = length of period. Holds only if the population is roughly stable and the outcome is rare.</a:t>
            </a:r>
            <a:endParaRPr lang="en-US" sz="950" dirty="0"/>
          </a:p>
        </p:txBody>
      </p:sp>
      <p:sp>
        <p:nvSpPr>
          <p:cNvPr id="13" name="Text 10"/>
          <p:cNvSpPr/>
          <p:nvPr/>
        </p:nvSpPr>
        <p:spPr>
          <a:xfrm>
            <a:off x="131445" y="5232654"/>
            <a:ext cx="6035040" cy="640080"/>
          </a:xfrm>
          <a:prstGeom prst="rect">
            <a:avLst/>
          </a:prstGeom>
          <a:noFill/>
          <a:ln/>
        </p:spPr>
        <p:txBody>
          <a:bodyPr wrap="square" rtlCol="0" anchor="t"/>
          <a:lstStyle/>
          <a:p>
            <a:pPr marL="0" indent="0">
              <a:buNone/>
            </a:pPr>
            <a:r>
              <a:rPr lang="en-US" sz="1080" b="1" dirty="0">
                <a:solidFill>
                  <a:srgbClr val="25374F"/>
                </a:solidFill>
                <a:latin typeface="Arial" pitchFamily="34" charset="0"/>
                <a:ea typeface="Arial" pitchFamily="34" charset="-122"/>
                <a:cs typeface="Arial" pitchFamily="34" charset="-120"/>
              </a:rPr>
              <a:t>Note</a:t>
            </a:r>
          </a:p>
          <a:p>
            <a:r>
              <a:rPr lang="en-ZW" sz="1100" dirty="0"/>
              <a:t>The population must be roughly stable:</a:t>
            </a:r>
          </a:p>
          <a:p>
            <a:r>
              <a:rPr lang="en-ZW" sz="1100" b="1" dirty="0"/>
              <a:t>The outcome must be rare:</a:t>
            </a:r>
            <a:r>
              <a:rPr lang="en-ZW" sz="1100" dirty="0"/>
              <a:t> </a:t>
            </a:r>
            <a:endParaRPr lang="en-US" sz="1080" dirty="0"/>
          </a:p>
        </p:txBody>
      </p:sp>
      <p:sp>
        <p:nvSpPr>
          <p:cNvPr id="14" name="Shape 11"/>
          <p:cNvSpPr/>
          <p:nvPr/>
        </p:nvSpPr>
        <p:spPr>
          <a:xfrm>
            <a:off x="6770369" y="2302764"/>
            <a:ext cx="4846320" cy="4079748"/>
          </a:xfrm>
          <a:prstGeom prst="roundRect">
            <a:avLst>
              <a:gd name="adj" fmla="val 205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5" name="Text 12"/>
          <p:cNvSpPr/>
          <p:nvPr/>
        </p:nvSpPr>
        <p:spPr>
          <a:xfrm>
            <a:off x="7132320" y="2606040"/>
            <a:ext cx="4297680" cy="274320"/>
          </a:xfrm>
          <a:prstGeom prst="rect">
            <a:avLst/>
          </a:prstGeom>
          <a:noFill/>
          <a:ln/>
        </p:spPr>
        <p:txBody>
          <a:bodyPr wrap="square" rtlCol="0" anchor="ctr"/>
          <a:lstStyle/>
          <a:p>
            <a:pPr marL="0" indent="0">
              <a:buNone/>
            </a:pPr>
            <a:r>
              <a:rPr lang="en-US" sz="1050" b="1" kern="0" spc="100" dirty="0">
                <a:solidFill>
                  <a:srgbClr val="E63425"/>
                </a:solidFill>
                <a:latin typeface="Arial" pitchFamily="34" charset="0"/>
                <a:ea typeface="Arial" pitchFamily="34" charset="-122"/>
                <a:cs typeface="Arial" pitchFamily="34" charset="-120"/>
              </a:rPr>
              <a:t>WORKED EXAMPLE — HYPOTHETICAL</a:t>
            </a:r>
            <a:endParaRPr lang="en-US" sz="1050" dirty="0"/>
          </a:p>
        </p:txBody>
      </p:sp>
      <p:sp>
        <p:nvSpPr>
          <p:cNvPr id="16" name="Text 13"/>
          <p:cNvSpPr/>
          <p:nvPr/>
        </p:nvSpPr>
        <p:spPr>
          <a:xfrm>
            <a:off x="7132320" y="2971799"/>
            <a:ext cx="4297680" cy="2532889"/>
          </a:xfrm>
          <a:prstGeom prst="rect">
            <a:avLst/>
          </a:prstGeom>
          <a:noFill/>
          <a:ln/>
        </p:spPr>
        <p:txBody>
          <a:bodyPr wrap="square" rtlCol="0" anchor="t"/>
          <a:lstStyle/>
          <a:p>
            <a:pPr marL="0" indent="0">
              <a:buNone/>
            </a:pPr>
            <a:r>
              <a:rPr lang="en-GB" sz="1150" dirty="0">
                <a:latin typeface="Arial" panose="020B0604020202020204" pitchFamily="34" charset="0"/>
                <a:cs typeface="Arial" panose="020B0604020202020204" pitchFamily="34" charset="0"/>
              </a:rPr>
              <a:t>Let’s say you are looking at a routine quarterly report (a 3-month period) from a health facility</a:t>
            </a:r>
          </a:p>
          <a:p>
            <a:pPr marL="0" indent="0">
              <a:buNone/>
            </a:pPr>
            <a:endParaRPr lang="en-GB" sz="1150" dirty="0">
              <a:latin typeface="Arial" panose="020B0604020202020204" pitchFamily="34" charset="0"/>
              <a:cs typeface="Arial" panose="020B0604020202020204" pitchFamily="34" charset="0"/>
            </a:endParaRPr>
          </a:p>
          <a:p>
            <a:pPr marL="0" indent="0">
              <a:buNone/>
            </a:pPr>
            <a:r>
              <a:rPr lang="en-GB" sz="1150" dirty="0">
                <a:latin typeface="Arial" panose="020B0604020202020204" pitchFamily="34" charset="0"/>
                <a:cs typeface="Arial" panose="020B0604020202020204" pitchFamily="34" charset="0"/>
              </a:rPr>
              <a:t>You don't have individual patient charts</a:t>
            </a:r>
          </a:p>
          <a:p>
            <a:pPr marL="0" indent="0">
              <a:buNone/>
            </a:pPr>
            <a:endParaRPr lang="en-GB" sz="1150" dirty="0">
              <a:latin typeface="Arial" panose="020B0604020202020204" pitchFamily="34" charset="0"/>
              <a:cs typeface="Arial" panose="020B0604020202020204" pitchFamily="34" charset="0"/>
            </a:endParaRPr>
          </a:p>
          <a:p>
            <a:pPr marL="0" indent="0">
              <a:buNone/>
            </a:pPr>
            <a:r>
              <a:rPr lang="en-GB" sz="1150" dirty="0">
                <a:latin typeface="Arial" panose="020B0604020202020204" pitchFamily="34" charset="0"/>
                <a:cs typeface="Arial" panose="020B0604020202020204" pitchFamily="34" charset="0"/>
              </a:rPr>
              <a:t>You just have the clinic's monthly summary tables.</a:t>
            </a:r>
          </a:p>
          <a:p>
            <a:pPr marL="0" indent="0">
              <a:buNone/>
            </a:pPr>
            <a:r>
              <a:rPr lang="en-GB" sz="1150" dirty="0">
                <a:latin typeface="Arial" panose="020B0604020202020204" pitchFamily="34" charset="0"/>
                <a:cs typeface="Arial" panose="020B0604020202020204" pitchFamily="34" charset="0"/>
              </a:rPr>
              <a:t>In the middle of the quarter, the active patient register stood at 800 patients.</a:t>
            </a:r>
          </a:p>
          <a:p>
            <a:pPr marL="0" indent="0">
              <a:buNone/>
            </a:pPr>
            <a:endParaRPr lang="en-GB" sz="1150" dirty="0">
              <a:latin typeface="Arial" panose="020B0604020202020204" pitchFamily="34" charset="0"/>
              <a:cs typeface="Arial" panose="020B0604020202020204" pitchFamily="34" charset="0"/>
            </a:endParaRPr>
          </a:p>
          <a:p>
            <a:pPr marL="0" indent="0">
              <a:buNone/>
            </a:pPr>
            <a:r>
              <a:rPr lang="en-GB" sz="1150" dirty="0">
                <a:latin typeface="Arial" panose="020B0604020202020204" pitchFamily="34" charset="0"/>
                <a:cs typeface="Arial" panose="020B0604020202020204" pitchFamily="34" charset="0"/>
              </a:rPr>
              <a:t>Using the shortcut:</a:t>
            </a:r>
          </a:p>
          <a:p>
            <a:pPr marL="0" indent="0">
              <a:buNone/>
            </a:pPr>
            <a:endParaRPr lang="en-GB" sz="1150" dirty="0">
              <a:latin typeface="Arial" panose="020B0604020202020204" pitchFamily="34" charset="0"/>
              <a:cs typeface="Arial" panose="020B0604020202020204" pitchFamily="34" charset="0"/>
            </a:endParaRPr>
          </a:p>
          <a:p>
            <a:pPr marL="0" indent="0">
              <a:buNone/>
            </a:pPr>
            <a:r>
              <a:rPr lang="en-GB" sz="1150" dirty="0">
                <a:latin typeface="Arial" panose="020B0604020202020204" pitchFamily="34" charset="0"/>
                <a:cs typeface="Arial" panose="020B0604020202020204" pitchFamily="34" charset="0"/>
              </a:rPr>
              <a:t>Person-Time approx. = 800 X 0.25 years = 200 person-years</a:t>
            </a:r>
          </a:p>
          <a:p>
            <a:pPr marL="0" indent="0">
              <a:buNone/>
            </a:pPr>
            <a:r>
              <a:rPr lang="en-GB" sz="1150" dirty="0">
                <a:latin typeface="Arial" panose="020B0604020202020204" pitchFamily="34" charset="0"/>
                <a:cs typeface="Arial" panose="020B0604020202020204" pitchFamily="34" charset="0"/>
              </a:rPr>
              <a:t>Suppose 20 developed the outcome of interest</a:t>
            </a:r>
            <a:endParaRPr lang="en-US" sz="1150" dirty="0">
              <a:latin typeface="Arial" panose="020B0604020202020204" pitchFamily="34" charset="0"/>
              <a:cs typeface="Arial" panose="020B0604020202020204" pitchFamily="34" charset="0"/>
            </a:endParaRPr>
          </a:p>
        </p:txBody>
      </p:sp>
      <p:sp>
        <p:nvSpPr>
          <p:cNvPr id="18" name="Text 15"/>
          <p:cNvSpPr/>
          <p:nvPr/>
        </p:nvSpPr>
        <p:spPr>
          <a:xfrm>
            <a:off x="7117080" y="5774816"/>
            <a:ext cx="4114800" cy="411480"/>
          </a:xfrm>
          <a:prstGeom prst="rect">
            <a:avLst/>
          </a:prstGeom>
          <a:noFill/>
          <a:ln/>
        </p:spPr>
        <p:txBody>
          <a:bodyPr wrap="square" rtlCol="0" anchor="ctr"/>
          <a:lstStyle/>
          <a:p>
            <a:pPr marL="0" indent="0" algn="ctr">
              <a:buNone/>
            </a:pPr>
            <a:r>
              <a:rPr lang="en-US" sz="1200" dirty="0">
                <a:solidFill>
                  <a:srgbClr val="25374F"/>
                </a:solidFill>
                <a:latin typeface="Consolas" pitchFamily="34" charset="0"/>
                <a:ea typeface="Consolas" pitchFamily="34" charset="-122"/>
                <a:cs typeface="Consolas" pitchFamily="34" charset="-120"/>
              </a:rPr>
              <a:t>20 </a:t>
            </a:r>
            <a:r>
              <a:rPr lang="en-US" sz="1200">
                <a:solidFill>
                  <a:srgbClr val="25374F"/>
                </a:solidFill>
                <a:latin typeface="Consolas" pitchFamily="34" charset="0"/>
                <a:ea typeface="Consolas" pitchFamily="34" charset="-122"/>
                <a:cs typeface="Consolas" pitchFamily="34" charset="-120"/>
              </a:rPr>
              <a:t>÷ 200 </a:t>
            </a:r>
            <a:r>
              <a:rPr lang="en-US" sz="1200" dirty="0">
                <a:solidFill>
                  <a:srgbClr val="25374F"/>
                </a:solidFill>
                <a:latin typeface="Consolas" pitchFamily="34" charset="0"/>
                <a:ea typeface="Consolas" pitchFamily="34" charset="-122"/>
                <a:cs typeface="Consolas" pitchFamily="34" charset="-120"/>
              </a:rPr>
              <a:t>PY </a:t>
            </a:r>
            <a:r>
              <a:rPr lang="en-US" sz="1200">
                <a:solidFill>
                  <a:srgbClr val="25374F"/>
                </a:solidFill>
                <a:latin typeface="Consolas" pitchFamily="34" charset="0"/>
                <a:ea typeface="Consolas" pitchFamily="34" charset="-122"/>
                <a:cs typeface="Consolas" pitchFamily="34" charset="-120"/>
              </a:rPr>
              <a:t>= 10 per 100 </a:t>
            </a:r>
            <a:r>
              <a:rPr lang="en-US" sz="1200" dirty="0">
                <a:solidFill>
                  <a:srgbClr val="25374F"/>
                </a:solidFill>
                <a:latin typeface="Consolas" pitchFamily="34" charset="0"/>
                <a:ea typeface="Consolas" pitchFamily="34" charset="-122"/>
                <a:cs typeface="Consolas" pitchFamily="34" charset="-120"/>
              </a:rPr>
              <a:t>PY</a:t>
            </a:r>
            <a:endParaRPr lang="en-US" sz="1200" dirty="0"/>
          </a:p>
        </p:txBody>
      </p:sp>
      <p:sp>
        <p:nvSpPr>
          <p:cNvPr id="19" name="Text 16"/>
          <p:cNvSpPr/>
          <p:nvPr/>
        </p:nvSpPr>
        <p:spPr>
          <a:xfrm>
            <a:off x="7132320" y="4709160"/>
            <a:ext cx="4297680" cy="1005840"/>
          </a:xfrm>
          <a:prstGeom prst="rect">
            <a:avLst/>
          </a:prstGeom>
          <a:noFill/>
          <a:ln/>
        </p:spPr>
        <p:txBody>
          <a:bodyPr wrap="square" rtlCol="0" anchor="t"/>
          <a:lstStyle/>
          <a:p>
            <a:pPr marL="0" indent="0">
              <a:buNone/>
            </a:pP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14400" y="342138"/>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4 · PUTTING ROUTINE DATA TO WORK</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Descriptive Uses</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463040"/>
            <a:ext cx="10607040" cy="365760"/>
          </a:xfrm>
          <a:prstGeom prst="rect">
            <a:avLst/>
          </a:prstGeom>
          <a:noFill/>
          <a:ln/>
        </p:spPr>
        <p:txBody>
          <a:bodyPr wrap="square" rtlCol="0" anchor="t"/>
          <a:lstStyle/>
          <a:p>
            <a:pPr marL="0" indent="0">
              <a:buNone/>
            </a:pPr>
            <a:r>
              <a:rPr lang="en-US" sz="1200" dirty="0">
                <a:solidFill>
                  <a:srgbClr val="27313B"/>
                </a:solidFill>
                <a:latin typeface="Arial" pitchFamily="34" charset="0"/>
                <a:ea typeface="Arial" pitchFamily="34" charset="-122"/>
                <a:cs typeface="Arial" pitchFamily="34" charset="-120"/>
              </a:rPr>
              <a:t>Four overlapping ways routine data describe disease burden and generate hypotheses for analytical study to test later.</a:t>
            </a:r>
            <a:endParaRPr lang="en-US" sz="1200" dirty="0"/>
          </a:p>
        </p:txBody>
      </p:sp>
      <p:sp>
        <p:nvSpPr>
          <p:cNvPr id="10" name="Shape 7"/>
          <p:cNvSpPr/>
          <p:nvPr/>
        </p:nvSpPr>
        <p:spPr>
          <a:xfrm>
            <a:off x="502920" y="1965960"/>
            <a:ext cx="5166360" cy="1417320"/>
          </a:xfrm>
          <a:prstGeom prst="roundRect">
            <a:avLst>
              <a:gd name="adj" fmla="val 516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Text 8"/>
          <p:cNvSpPr/>
          <p:nvPr/>
        </p:nvSpPr>
        <p:spPr>
          <a:xfrm>
            <a:off x="731520" y="2103120"/>
            <a:ext cx="4709160" cy="274320"/>
          </a:xfrm>
          <a:prstGeom prst="rect">
            <a:avLst/>
          </a:prstGeom>
          <a:noFill/>
          <a:ln/>
        </p:spPr>
        <p:txBody>
          <a:bodyPr wrap="square" rtlCol="0" anchor="ctr"/>
          <a:lstStyle/>
          <a:p>
            <a:pPr marL="0" indent="0">
              <a:buNone/>
            </a:pPr>
            <a:r>
              <a:rPr lang="en-US" sz="1050" b="1" kern="0" spc="60" dirty="0">
                <a:solidFill>
                  <a:srgbClr val="E63425"/>
                </a:solidFill>
                <a:latin typeface="Arial" pitchFamily="34" charset="0"/>
                <a:ea typeface="Arial" pitchFamily="34" charset="-122"/>
                <a:cs typeface="Arial" pitchFamily="34" charset="-120"/>
              </a:rPr>
              <a:t>TRENDS OVER TIME</a:t>
            </a:r>
            <a:endParaRPr lang="en-US" sz="1050" dirty="0"/>
          </a:p>
        </p:txBody>
      </p:sp>
      <p:sp>
        <p:nvSpPr>
          <p:cNvPr id="12" name="Text 9"/>
          <p:cNvSpPr/>
          <p:nvPr/>
        </p:nvSpPr>
        <p:spPr>
          <a:xfrm>
            <a:off x="731520" y="2423160"/>
            <a:ext cx="4709160" cy="868680"/>
          </a:xfrm>
          <a:prstGeom prst="rect">
            <a:avLst/>
          </a:prstGeom>
          <a:noFill/>
          <a:ln/>
        </p:spPr>
        <p:txBody>
          <a:bodyPr wrap="square" rtlCol="0" anchor="t"/>
          <a:lstStyle/>
          <a:p>
            <a:pPr marL="0" indent="0">
              <a:buNone/>
            </a:pPr>
            <a:r>
              <a:rPr lang="en-US" sz="1030" dirty="0">
                <a:solidFill>
                  <a:srgbClr val="27313B"/>
                </a:solidFill>
                <a:latin typeface="Arial" pitchFamily="34" charset="0"/>
                <a:ea typeface="Arial" pitchFamily="34" charset="-122"/>
                <a:cs typeface="Arial" pitchFamily="34" charset="-120"/>
              </a:rPr>
              <a:t>Chokunonga et al. (2025, JNCI): 30 years of ZNCR records (1990–2019) track Kaposi sarcoma incidence rising, peaking, then falling alongside Zimbabwe's HIV prevalence curve and ART scale-up.</a:t>
            </a:r>
            <a:endParaRPr lang="en-US" sz="1030" dirty="0"/>
          </a:p>
        </p:txBody>
      </p:sp>
      <p:sp>
        <p:nvSpPr>
          <p:cNvPr id="13" name="Shape 10"/>
          <p:cNvSpPr/>
          <p:nvPr/>
        </p:nvSpPr>
        <p:spPr>
          <a:xfrm>
            <a:off x="5943600" y="1965960"/>
            <a:ext cx="5166360" cy="1417320"/>
          </a:xfrm>
          <a:prstGeom prst="roundRect">
            <a:avLst>
              <a:gd name="adj" fmla="val 516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4" name="Text 11"/>
          <p:cNvSpPr/>
          <p:nvPr/>
        </p:nvSpPr>
        <p:spPr>
          <a:xfrm>
            <a:off x="6172200" y="2103120"/>
            <a:ext cx="4709160" cy="274320"/>
          </a:xfrm>
          <a:prstGeom prst="rect">
            <a:avLst/>
          </a:prstGeom>
          <a:noFill/>
          <a:ln/>
        </p:spPr>
        <p:txBody>
          <a:bodyPr wrap="square" rtlCol="0" anchor="ctr"/>
          <a:lstStyle/>
          <a:p>
            <a:pPr marL="0" indent="0">
              <a:buNone/>
            </a:pPr>
            <a:r>
              <a:rPr lang="en-US" sz="1050" b="1" kern="0" spc="60" dirty="0">
                <a:solidFill>
                  <a:srgbClr val="E63425"/>
                </a:solidFill>
                <a:latin typeface="Arial" pitchFamily="34" charset="0"/>
                <a:ea typeface="Arial" pitchFamily="34" charset="-122"/>
                <a:cs typeface="Arial" pitchFamily="34" charset="-120"/>
              </a:rPr>
              <a:t>ANALYSES BY PLACE</a:t>
            </a:r>
            <a:endParaRPr lang="en-US" sz="1050" dirty="0"/>
          </a:p>
        </p:txBody>
      </p:sp>
      <p:sp>
        <p:nvSpPr>
          <p:cNvPr id="15" name="Text 12"/>
          <p:cNvSpPr/>
          <p:nvPr/>
        </p:nvSpPr>
        <p:spPr>
          <a:xfrm>
            <a:off x="6172200" y="2423160"/>
            <a:ext cx="4709160" cy="868680"/>
          </a:xfrm>
          <a:prstGeom prst="rect">
            <a:avLst/>
          </a:prstGeom>
          <a:noFill/>
          <a:ln/>
        </p:spPr>
        <p:txBody>
          <a:bodyPr wrap="square" rtlCol="0" anchor="t"/>
          <a:lstStyle/>
          <a:p>
            <a:pPr marL="0" indent="0">
              <a:buNone/>
            </a:pPr>
            <a:r>
              <a:rPr lang="en-US" sz="1030" dirty="0">
                <a:solidFill>
                  <a:srgbClr val="27313B"/>
                </a:solidFill>
                <a:latin typeface="Arial" pitchFamily="34" charset="0"/>
                <a:ea typeface="Arial" pitchFamily="34" charset="-122"/>
                <a:cs typeface="Arial" pitchFamily="34" charset="-120"/>
              </a:rPr>
              <a:t>Mashe et al. (2023): district-level cholera notification data let Zimbabwe's multisectoral response target water, sanitation and case-management teams to the highest attack-rate areas.</a:t>
            </a:r>
            <a:endParaRPr lang="en-US" sz="1030" dirty="0"/>
          </a:p>
        </p:txBody>
      </p:sp>
      <p:sp>
        <p:nvSpPr>
          <p:cNvPr id="16" name="Shape 13"/>
          <p:cNvSpPr/>
          <p:nvPr/>
        </p:nvSpPr>
        <p:spPr>
          <a:xfrm>
            <a:off x="502920" y="3584448"/>
            <a:ext cx="5166360" cy="1417320"/>
          </a:xfrm>
          <a:prstGeom prst="roundRect">
            <a:avLst>
              <a:gd name="adj" fmla="val 516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7" name="Text 14"/>
          <p:cNvSpPr/>
          <p:nvPr/>
        </p:nvSpPr>
        <p:spPr>
          <a:xfrm>
            <a:off x="731520" y="3721608"/>
            <a:ext cx="4709160" cy="274320"/>
          </a:xfrm>
          <a:prstGeom prst="rect">
            <a:avLst/>
          </a:prstGeom>
          <a:noFill/>
          <a:ln/>
        </p:spPr>
        <p:txBody>
          <a:bodyPr wrap="square" rtlCol="0" anchor="ctr"/>
          <a:lstStyle/>
          <a:p>
            <a:pPr marL="0" indent="0">
              <a:buNone/>
            </a:pPr>
            <a:r>
              <a:rPr lang="en-US" sz="1050" b="1" kern="0" spc="60" dirty="0">
                <a:solidFill>
                  <a:srgbClr val="E63425"/>
                </a:solidFill>
                <a:latin typeface="Arial" pitchFamily="34" charset="0"/>
                <a:ea typeface="Arial" pitchFamily="34" charset="-122"/>
                <a:cs typeface="Arial" pitchFamily="34" charset="-120"/>
              </a:rPr>
              <a:t>ANALYSES BY EXPOSURE GROUP</a:t>
            </a:r>
            <a:endParaRPr lang="en-US" sz="1050" dirty="0"/>
          </a:p>
        </p:txBody>
      </p:sp>
      <p:sp>
        <p:nvSpPr>
          <p:cNvPr id="18" name="Text 15"/>
          <p:cNvSpPr/>
          <p:nvPr/>
        </p:nvSpPr>
        <p:spPr>
          <a:xfrm>
            <a:off x="731520" y="4041648"/>
            <a:ext cx="4709160" cy="868680"/>
          </a:xfrm>
          <a:prstGeom prst="rect">
            <a:avLst/>
          </a:prstGeom>
          <a:noFill/>
          <a:ln/>
        </p:spPr>
        <p:txBody>
          <a:bodyPr wrap="square" rtlCol="0" anchor="t"/>
          <a:lstStyle/>
          <a:p>
            <a:pPr marL="0" indent="0">
              <a:buNone/>
            </a:pPr>
            <a:r>
              <a:rPr lang="en-US" sz="1030" dirty="0">
                <a:solidFill>
                  <a:srgbClr val="27313B"/>
                </a:solidFill>
                <a:latin typeface="Arial" pitchFamily="34" charset="0"/>
                <a:ea typeface="Arial" pitchFamily="34" charset="-122"/>
                <a:cs typeface="Arial" pitchFamily="34" charset="-120"/>
              </a:rPr>
              <a:t>IeDEA-Southern Africa (Haas et al., 2018): ART retention and mortality compared across Central, East, Southern and West African cohorts (region as exposure)</a:t>
            </a:r>
            <a:endParaRPr lang="en-US" sz="1030" dirty="0"/>
          </a:p>
        </p:txBody>
      </p:sp>
      <p:sp>
        <p:nvSpPr>
          <p:cNvPr id="19" name="Shape 16"/>
          <p:cNvSpPr/>
          <p:nvPr/>
        </p:nvSpPr>
        <p:spPr>
          <a:xfrm>
            <a:off x="5943600" y="3584448"/>
            <a:ext cx="5166360" cy="1417320"/>
          </a:xfrm>
          <a:prstGeom prst="roundRect">
            <a:avLst>
              <a:gd name="adj" fmla="val 516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0" name="Text 17"/>
          <p:cNvSpPr/>
          <p:nvPr/>
        </p:nvSpPr>
        <p:spPr>
          <a:xfrm>
            <a:off x="6172200" y="3721608"/>
            <a:ext cx="4709160" cy="274320"/>
          </a:xfrm>
          <a:prstGeom prst="rect">
            <a:avLst/>
          </a:prstGeom>
          <a:noFill/>
          <a:ln/>
        </p:spPr>
        <p:txBody>
          <a:bodyPr wrap="square" rtlCol="0" anchor="ctr"/>
          <a:lstStyle/>
          <a:p>
            <a:pPr marL="0" indent="0">
              <a:buNone/>
            </a:pPr>
            <a:r>
              <a:rPr lang="en-US" sz="1050" b="1" kern="0" spc="60" dirty="0">
                <a:solidFill>
                  <a:srgbClr val="E63425"/>
                </a:solidFill>
                <a:latin typeface="Arial" pitchFamily="34" charset="0"/>
                <a:ea typeface="Arial" pitchFamily="34" charset="-122"/>
                <a:cs typeface="Arial" pitchFamily="34" charset="-120"/>
              </a:rPr>
              <a:t>SUMMARY STATISTICS</a:t>
            </a:r>
            <a:endParaRPr lang="en-US" sz="1050" dirty="0"/>
          </a:p>
        </p:txBody>
      </p:sp>
      <p:sp>
        <p:nvSpPr>
          <p:cNvPr id="21" name="Text 18"/>
          <p:cNvSpPr/>
          <p:nvPr/>
        </p:nvSpPr>
        <p:spPr>
          <a:xfrm>
            <a:off x="6172200" y="4041648"/>
            <a:ext cx="4709160" cy="868680"/>
          </a:xfrm>
          <a:prstGeom prst="rect">
            <a:avLst/>
          </a:prstGeom>
          <a:noFill/>
          <a:ln/>
        </p:spPr>
        <p:txBody>
          <a:bodyPr wrap="square" rtlCol="0" anchor="t"/>
          <a:lstStyle/>
          <a:p>
            <a:pPr marL="0" indent="0">
              <a:buNone/>
            </a:pPr>
            <a:r>
              <a:rPr lang="en-US" sz="1030" dirty="0">
                <a:solidFill>
                  <a:srgbClr val="27313B"/>
                </a:solidFill>
                <a:latin typeface="Arial" pitchFamily="34" charset="0"/>
                <a:ea typeface="Arial" pitchFamily="34" charset="-122"/>
                <a:cs typeface="Arial" pitchFamily="34" charset="-120"/>
              </a:rPr>
              <a:t>Comparing disease occurrence across populations with different age structures — e.g. Harare's registry population over 30 years</a:t>
            </a:r>
            <a:endParaRPr lang="en-US" sz="1030" dirty="0"/>
          </a:p>
        </p:txBody>
      </p:sp>
      <p:sp>
        <p:nvSpPr>
          <p:cNvPr id="22" name="Text 19"/>
          <p:cNvSpPr/>
          <p:nvPr/>
        </p:nvSpPr>
        <p:spPr>
          <a:xfrm>
            <a:off x="502920" y="6172200"/>
            <a:ext cx="10607040" cy="365760"/>
          </a:xfrm>
          <a:prstGeom prst="rect">
            <a:avLst/>
          </a:prstGeom>
          <a:noFill/>
          <a:ln/>
        </p:spPr>
        <p:txBody>
          <a:bodyPr wrap="square" rtlCol="0" anchor="t"/>
          <a:lstStyle/>
          <a:p>
            <a:pPr marL="0" indent="0">
              <a:buNone/>
            </a:pPr>
            <a:r>
              <a:rPr lang="en-US" sz="1050" dirty="0">
                <a:solidFill>
                  <a:srgbClr val="27313B"/>
                </a:solidFill>
                <a:latin typeface="Arial" pitchFamily="34" charset="0"/>
                <a:ea typeface="Arial" pitchFamily="34" charset="-122"/>
                <a:cs typeface="Arial" pitchFamily="34" charset="-120"/>
              </a:rPr>
              <a:t>Strength: fast, cheap, flags emerging problems early.   Limitation: none of these control for confounding — they generate hypotheses, they don't test them.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104595" y="99060"/>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4 · PUTTING ROUTINE DATA TO WORK</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Analytical Uses: Testing a Specific Hypothesis, Fast</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Shape 6"/>
          <p:cNvSpPr/>
          <p:nvPr/>
        </p:nvSpPr>
        <p:spPr>
          <a:xfrm>
            <a:off x="2103120" y="2075688"/>
            <a:ext cx="7955280" cy="0"/>
          </a:xfrm>
          <a:prstGeom prst="line">
            <a:avLst/>
          </a:prstGeom>
          <a:noFill/>
          <a:ln w="19050">
            <a:solidFill>
              <a:srgbClr val="E3E7EB"/>
            </a:solidFill>
            <a:prstDash val="dash"/>
          </a:ln>
        </p:spPr>
        <p:txBody>
          <a:bodyPr/>
          <a:lstStyle/>
          <a:p>
            <a:endParaRPr lang="en-GB"/>
          </a:p>
        </p:txBody>
      </p:sp>
      <p:sp>
        <p:nvSpPr>
          <p:cNvPr id="10" name="Shape 7"/>
          <p:cNvSpPr/>
          <p:nvPr/>
        </p:nvSpPr>
        <p:spPr>
          <a:xfrm>
            <a:off x="1783080" y="1691640"/>
            <a:ext cx="777240" cy="777240"/>
          </a:xfrm>
          <a:prstGeom prst="ellipse">
            <a:avLst/>
          </a:prstGeom>
          <a:solidFill>
            <a:srgbClr val="E63425"/>
          </a:solidFill>
          <a:ln w="38100">
            <a:solidFill>
              <a:srgbClr val="FFFFFF"/>
            </a:solidFill>
            <a:prstDash val="solid"/>
          </a:ln>
        </p:spPr>
        <p:txBody>
          <a:bodyPr/>
          <a:lstStyle/>
          <a:p>
            <a:endParaRPr lang="en-GB"/>
          </a:p>
        </p:txBody>
      </p:sp>
      <p:sp>
        <p:nvSpPr>
          <p:cNvPr id="11" name="Text 8"/>
          <p:cNvSpPr/>
          <p:nvPr/>
        </p:nvSpPr>
        <p:spPr>
          <a:xfrm>
            <a:off x="178308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2018</a:t>
            </a:r>
            <a:endParaRPr lang="en-US" sz="900" dirty="0"/>
          </a:p>
        </p:txBody>
      </p:sp>
      <p:sp>
        <p:nvSpPr>
          <p:cNvPr id="12" name="Text 9"/>
          <p:cNvSpPr/>
          <p:nvPr/>
        </p:nvSpPr>
        <p:spPr>
          <a:xfrm>
            <a:off x="960120" y="2560320"/>
            <a:ext cx="2423160" cy="457200"/>
          </a:xfrm>
          <a:prstGeom prst="rect">
            <a:avLst/>
          </a:prstGeom>
          <a:noFill/>
          <a:ln/>
        </p:spPr>
        <p:txBody>
          <a:bodyPr wrap="square" rtlCol="0" anchor="t"/>
          <a:lstStyle/>
          <a:p>
            <a:pPr marL="0" indent="0" algn="ctr">
              <a:buNone/>
            </a:pPr>
            <a:r>
              <a:rPr lang="en-US" sz="1030" b="1" dirty="0">
                <a:solidFill>
                  <a:srgbClr val="25374F"/>
                </a:solidFill>
                <a:latin typeface="Arial" pitchFamily="34" charset="0"/>
                <a:ea typeface="Arial" pitchFamily="34" charset="-122"/>
                <a:cs typeface="Arial" pitchFamily="34" charset="-120"/>
              </a:rPr>
              <a:t>Safety signal flagged from routine surveillance</a:t>
            </a:r>
            <a:endParaRPr lang="en-US" sz="1030" dirty="0"/>
          </a:p>
        </p:txBody>
      </p:sp>
      <p:sp>
        <p:nvSpPr>
          <p:cNvPr id="13" name="Shape 10"/>
          <p:cNvSpPr/>
          <p:nvPr/>
        </p:nvSpPr>
        <p:spPr>
          <a:xfrm>
            <a:off x="5440680" y="1691640"/>
            <a:ext cx="777240" cy="777240"/>
          </a:xfrm>
          <a:prstGeom prst="ellipse">
            <a:avLst/>
          </a:prstGeom>
          <a:solidFill>
            <a:srgbClr val="F2A93B"/>
          </a:solidFill>
          <a:ln w="38100">
            <a:solidFill>
              <a:srgbClr val="FFFFFF"/>
            </a:solidFill>
            <a:prstDash val="solid"/>
          </a:ln>
        </p:spPr>
        <p:txBody>
          <a:bodyPr/>
          <a:lstStyle/>
          <a:p>
            <a:endParaRPr lang="en-GB"/>
          </a:p>
        </p:txBody>
      </p:sp>
      <p:sp>
        <p:nvSpPr>
          <p:cNvPr id="14" name="Text 11"/>
          <p:cNvSpPr/>
          <p:nvPr/>
        </p:nvSpPr>
        <p:spPr>
          <a:xfrm>
            <a:off x="544068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EXPAND</a:t>
            </a:r>
            <a:endParaRPr lang="en-US" sz="900" dirty="0"/>
          </a:p>
        </p:txBody>
      </p:sp>
      <p:sp>
        <p:nvSpPr>
          <p:cNvPr id="15" name="Text 12"/>
          <p:cNvSpPr/>
          <p:nvPr/>
        </p:nvSpPr>
        <p:spPr>
          <a:xfrm>
            <a:off x="4617720" y="2560320"/>
            <a:ext cx="2423160" cy="457200"/>
          </a:xfrm>
          <a:prstGeom prst="rect">
            <a:avLst/>
          </a:prstGeom>
          <a:noFill/>
          <a:ln/>
        </p:spPr>
        <p:txBody>
          <a:bodyPr wrap="square" rtlCol="0" anchor="t"/>
          <a:lstStyle/>
          <a:p>
            <a:pPr marL="0" indent="0" algn="ctr">
              <a:buNone/>
            </a:pPr>
            <a:r>
              <a:rPr lang="en-US" sz="1030" b="1" dirty="0">
                <a:solidFill>
                  <a:srgbClr val="25374F"/>
                </a:solidFill>
                <a:latin typeface="Arial" pitchFamily="34" charset="0"/>
                <a:ea typeface="Arial" pitchFamily="34" charset="-122"/>
                <a:cs typeface="Arial" pitchFamily="34" charset="-120"/>
              </a:rPr>
              <a:t>Surveillance grown from 8 to 18 sites</a:t>
            </a:r>
            <a:endParaRPr lang="en-US" sz="1030" dirty="0"/>
          </a:p>
        </p:txBody>
      </p:sp>
      <p:sp>
        <p:nvSpPr>
          <p:cNvPr id="16" name="Shape 13"/>
          <p:cNvSpPr/>
          <p:nvPr/>
        </p:nvSpPr>
        <p:spPr>
          <a:xfrm>
            <a:off x="9098280" y="1691640"/>
            <a:ext cx="777240" cy="777240"/>
          </a:xfrm>
          <a:prstGeom prst="ellipse">
            <a:avLst/>
          </a:prstGeom>
          <a:solidFill>
            <a:srgbClr val="2E8B9B"/>
          </a:solidFill>
          <a:ln w="38100">
            <a:solidFill>
              <a:srgbClr val="FFFFFF"/>
            </a:solidFill>
            <a:prstDash val="solid"/>
          </a:ln>
        </p:spPr>
        <p:txBody>
          <a:bodyPr/>
          <a:lstStyle/>
          <a:p>
            <a:endParaRPr lang="en-GB"/>
          </a:p>
        </p:txBody>
      </p:sp>
      <p:sp>
        <p:nvSpPr>
          <p:cNvPr id="17" name="Text 14"/>
          <p:cNvSpPr/>
          <p:nvPr/>
        </p:nvSpPr>
        <p:spPr>
          <a:xfrm>
            <a:off x="909828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2019</a:t>
            </a:r>
            <a:endParaRPr lang="en-US" sz="900" dirty="0"/>
          </a:p>
        </p:txBody>
      </p:sp>
      <p:sp>
        <p:nvSpPr>
          <p:cNvPr id="18" name="Text 15"/>
          <p:cNvSpPr/>
          <p:nvPr/>
        </p:nvSpPr>
        <p:spPr>
          <a:xfrm>
            <a:off x="8275320" y="2560320"/>
            <a:ext cx="2423160" cy="457200"/>
          </a:xfrm>
          <a:prstGeom prst="rect">
            <a:avLst/>
          </a:prstGeom>
          <a:noFill/>
          <a:ln/>
        </p:spPr>
        <p:txBody>
          <a:bodyPr wrap="square" rtlCol="0" anchor="t"/>
          <a:lstStyle/>
          <a:p>
            <a:pPr marL="0" indent="0" algn="ctr">
              <a:buNone/>
            </a:pPr>
            <a:r>
              <a:rPr lang="en-US" sz="1030" b="1" dirty="0">
                <a:solidFill>
                  <a:srgbClr val="25374F"/>
                </a:solidFill>
                <a:latin typeface="Arial" pitchFamily="34" charset="0"/>
                <a:ea typeface="Arial" pitchFamily="34" charset="-122"/>
                <a:cs typeface="Arial" pitchFamily="34" charset="-120"/>
              </a:rPr>
              <a:t>Signal confirmed at smaller, real magnitude</a:t>
            </a:r>
            <a:endParaRPr lang="en-US" sz="1030" dirty="0"/>
          </a:p>
        </p:txBody>
      </p:sp>
      <p:sp>
        <p:nvSpPr>
          <p:cNvPr id="19" name="Shape 16"/>
          <p:cNvSpPr/>
          <p:nvPr/>
        </p:nvSpPr>
        <p:spPr>
          <a:xfrm>
            <a:off x="502920" y="3017520"/>
            <a:ext cx="10607040" cy="182880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0" name="Text 17"/>
          <p:cNvSpPr/>
          <p:nvPr/>
        </p:nvSpPr>
        <p:spPr>
          <a:xfrm>
            <a:off x="777240" y="3063240"/>
            <a:ext cx="10058400" cy="274320"/>
          </a:xfrm>
          <a:prstGeom prst="rect">
            <a:avLst/>
          </a:prstGeom>
          <a:noFill/>
          <a:ln/>
        </p:spPr>
        <p:txBody>
          <a:bodyPr wrap="square" rtlCol="0" anchor="ctr"/>
          <a:lstStyle/>
          <a:p>
            <a:pPr marL="0" indent="0">
              <a:buNone/>
            </a:pPr>
            <a:r>
              <a:rPr lang="en-US" sz="1150" b="1" dirty="0">
                <a:solidFill>
                  <a:srgbClr val="E63425"/>
                </a:solidFill>
                <a:latin typeface="Arial" pitchFamily="34" charset="0"/>
                <a:ea typeface="Arial" pitchFamily="34" charset="-122"/>
                <a:cs typeface="Arial" pitchFamily="34" charset="-120"/>
              </a:rPr>
              <a:t>THE TSEPAMO STUDY, BOTSWANA</a:t>
            </a:r>
            <a:endParaRPr lang="en-US" sz="1150" dirty="0"/>
          </a:p>
        </p:txBody>
      </p:sp>
      <p:sp>
        <p:nvSpPr>
          <p:cNvPr id="21" name="Text 18"/>
          <p:cNvSpPr/>
          <p:nvPr/>
        </p:nvSpPr>
        <p:spPr>
          <a:xfrm>
            <a:off x="777240" y="3383280"/>
            <a:ext cx="10058400" cy="96012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In May 2018, routine birth-outcomes surveillance in Botswana flagged a higher rate of </a:t>
            </a:r>
            <a:r>
              <a:rPr lang="en-US" sz="1150" dirty="0">
                <a:solidFill>
                  <a:srgbClr val="FF0000"/>
                </a:solidFill>
                <a:latin typeface="Arial" pitchFamily="34" charset="0"/>
                <a:ea typeface="Arial" pitchFamily="34" charset="-122"/>
                <a:cs typeface="Arial" pitchFamily="34" charset="-120"/>
              </a:rPr>
              <a:t>neural-tube defects </a:t>
            </a:r>
            <a:r>
              <a:rPr lang="en-US" sz="1150" dirty="0">
                <a:solidFill>
                  <a:srgbClr val="27313B"/>
                </a:solidFill>
                <a:latin typeface="Arial" pitchFamily="34" charset="0"/>
                <a:ea typeface="Arial" pitchFamily="34" charset="-122"/>
                <a:cs typeface="Arial" pitchFamily="34" charset="-120"/>
              </a:rPr>
              <a:t>among </a:t>
            </a:r>
            <a:r>
              <a:rPr lang="en-US" sz="1150" dirty="0">
                <a:solidFill>
                  <a:srgbClr val="FF0000"/>
                </a:solidFill>
                <a:latin typeface="Arial" pitchFamily="34" charset="0"/>
                <a:ea typeface="Arial" pitchFamily="34" charset="-122"/>
                <a:cs typeface="Arial" pitchFamily="34" charset="-120"/>
              </a:rPr>
              <a:t>infants exposed to dolutegravir </a:t>
            </a:r>
            <a:r>
              <a:rPr lang="en-US" sz="1150" dirty="0">
                <a:solidFill>
                  <a:srgbClr val="27313B"/>
                </a:solidFill>
                <a:latin typeface="Arial" pitchFamily="34" charset="0"/>
                <a:ea typeface="Arial" pitchFamily="34" charset="-122"/>
                <a:cs typeface="Arial" pitchFamily="34" charset="-120"/>
              </a:rPr>
              <a:t>at conception — just as WHO was about to recommend it worldwide. Zash et al. (2019, NEJM) expanded the same surveillance system and confirmed a smaller but real excess risk: 0.30% vs 0.10% of deliveries.</a:t>
            </a:r>
            <a:endParaRPr lang="en-US" sz="1150" dirty="0"/>
          </a:p>
        </p:txBody>
      </p:sp>
      <p:sp>
        <p:nvSpPr>
          <p:cNvPr id="22" name="Text 19"/>
          <p:cNvSpPr/>
          <p:nvPr/>
        </p:nvSpPr>
        <p:spPr>
          <a:xfrm>
            <a:off x="777240" y="4389120"/>
            <a:ext cx="10058400" cy="365760"/>
          </a:xfrm>
          <a:prstGeom prst="rect">
            <a:avLst/>
          </a:prstGeom>
          <a:noFill/>
          <a:ln/>
        </p:spPr>
        <p:txBody>
          <a:bodyPr wrap="square" rtlCol="0" anchor="t"/>
          <a:lstStyle/>
          <a:p>
            <a:pPr marL="0" indent="0">
              <a:buNone/>
            </a:pPr>
            <a:r>
              <a:rPr lang="en-US" sz="1000" i="1" dirty="0">
                <a:solidFill>
                  <a:srgbClr val="5B6B7C"/>
                </a:solidFill>
                <a:latin typeface="Arial" pitchFamily="34" charset="0"/>
                <a:ea typeface="Arial" pitchFamily="34" charset="-122"/>
                <a:cs typeface="Arial" pitchFamily="34" charset="-120"/>
              </a:rPr>
              <a:t>Routine surveillance generated the hypothesis and tested it — refining global ART guidance within about a year.</a:t>
            </a:r>
            <a:endParaRPr lang="en-US" sz="1000" dirty="0"/>
          </a:p>
        </p:txBody>
      </p:sp>
      <p:sp>
        <p:nvSpPr>
          <p:cNvPr id="23" name="Text 20"/>
          <p:cNvSpPr/>
          <p:nvPr/>
        </p:nvSpPr>
        <p:spPr>
          <a:xfrm>
            <a:off x="502920" y="5029200"/>
            <a:ext cx="10607040" cy="822960"/>
          </a:xfrm>
          <a:prstGeom prst="rect">
            <a:avLst/>
          </a:prstGeom>
          <a:noFill/>
          <a:ln/>
        </p:spPr>
        <p:txBody>
          <a:bodyPr wrap="square" rtlCol="0" anchor="t"/>
          <a:lstStyle/>
          <a:p>
            <a:pPr marL="0" indent="0">
              <a:buNone/>
            </a:pPr>
            <a:r>
              <a:rPr lang="en-US" sz="1100" dirty="0">
                <a:solidFill>
                  <a:srgbClr val="27313B"/>
                </a:solidFill>
                <a:latin typeface="Arial" pitchFamily="34" charset="0"/>
                <a:ea typeface="Arial" pitchFamily="34" charset="-122"/>
                <a:cs typeface="Arial" pitchFamily="34" charset="-120"/>
              </a:rPr>
              <a:t>A second example needs no second dataset: Haas et al. (2018) used the same pooled IeDEA-Southern Africa records to test whether patients labelled “lost to follow-up” were truly lost, or had died or self-transferred — interrogating the assumptions inside one routine system.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14400" y="292608"/>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5 · COMBINING ROUTINE DATASETS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Record Linkage: Joining the Dots</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463040"/>
            <a:ext cx="10607040" cy="548640"/>
          </a:xfrm>
          <a:prstGeom prst="rect">
            <a:avLst/>
          </a:prstGeom>
          <a:noFill/>
          <a:ln/>
        </p:spPr>
        <p:txBody>
          <a:bodyPr wrap="square" rtlCol="0" anchor="t"/>
          <a:lstStyle/>
          <a:p>
            <a:pPr marL="0" indent="0">
              <a:buNone/>
            </a:pPr>
            <a:r>
              <a:rPr lang="en-US" sz="1250" dirty="0">
                <a:solidFill>
                  <a:srgbClr val="27313B"/>
                </a:solidFill>
                <a:latin typeface="Arial" pitchFamily="34" charset="0"/>
                <a:ea typeface="Arial" pitchFamily="34" charset="-122"/>
                <a:cs typeface="Arial" pitchFamily="34" charset="-120"/>
              </a:rPr>
              <a:t>No single routine system captures everything about a patient's journey. Record linkage matches records for the same person across two or more routine datasets to build a fuller picture.</a:t>
            </a:r>
            <a:endParaRPr lang="en-US" sz="1250" dirty="0"/>
          </a:p>
        </p:txBody>
      </p:sp>
      <p:sp>
        <p:nvSpPr>
          <p:cNvPr id="10" name="Shape 7"/>
          <p:cNvSpPr/>
          <p:nvPr/>
        </p:nvSpPr>
        <p:spPr>
          <a:xfrm>
            <a:off x="502920" y="2286000"/>
            <a:ext cx="5166360" cy="3474720"/>
          </a:xfrm>
          <a:prstGeom prst="roundRect">
            <a:avLst>
              <a:gd name="adj" fmla="val 210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1" name="Shape 8"/>
          <p:cNvSpPr/>
          <p:nvPr/>
        </p:nvSpPr>
        <p:spPr>
          <a:xfrm>
            <a:off x="777240" y="2560320"/>
            <a:ext cx="411480" cy="411480"/>
          </a:xfrm>
          <a:prstGeom prst="ellipse">
            <a:avLst/>
          </a:prstGeom>
          <a:solidFill>
            <a:srgbClr val="5B9A56"/>
          </a:solidFill>
          <a:ln/>
        </p:spPr>
        <p:txBody>
          <a:bodyPr/>
          <a:lstStyle/>
          <a:p>
            <a:endParaRPr lang="en-GB"/>
          </a:p>
        </p:txBody>
      </p:sp>
      <p:sp>
        <p:nvSpPr>
          <p:cNvPr id="12" name="Text 9"/>
          <p:cNvSpPr/>
          <p:nvPr/>
        </p:nvSpPr>
        <p:spPr>
          <a:xfrm>
            <a:off x="777240" y="2560320"/>
            <a:ext cx="411480" cy="4114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13" name="Text 10"/>
          <p:cNvSpPr/>
          <p:nvPr/>
        </p:nvSpPr>
        <p:spPr>
          <a:xfrm>
            <a:off x="1325880" y="2606040"/>
            <a:ext cx="3611880" cy="365760"/>
          </a:xfrm>
          <a:prstGeom prst="rect">
            <a:avLst/>
          </a:prstGeom>
          <a:noFill/>
          <a:ln/>
        </p:spPr>
        <p:txBody>
          <a:bodyPr wrap="square" rtlCol="0" anchor="ctr"/>
          <a:lstStyle/>
          <a:p>
            <a:pPr marL="0" indent="0">
              <a:buNone/>
            </a:pPr>
            <a:r>
              <a:rPr lang="en-US" sz="1450" b="1" dirty="0">
                <a:solidFill>
                  <a:srgbClr val="25374F"/>
                </a:solidFill>
                <a:latin typeface="Arial" pitchFamily="34" charset="0"/>
                <a:ea typeface="Arial" pitchFamily="34" charset="-122"/>
                <a:cs typeface="Arial" pitchFamily="34" charset="-120"/>
              </a:rPr>
              <a:t>Why link routine datasets</a:t>
            </a:r>
            <a:endParaRPr lang="en-US" sz="1450" dirty="0"/>
          </a:p>
        </p:txBody>
      </p:sp>
      <p:sp>
        <p:nvSpPr>
          <p:cNvPr id="14" name="Text 11"/>
          <p:cNvSpPr/>
          <p:nvPr/>
        </p:nvSpPr>
        <p:spPr>
          <a:xfrm>
            <a:off x="777240" y="3246120"/>
            <a:ext cx="1554480" cy="365760"/>
          </a:xfrm>
          <a:prstGeom prst="rect">
            <a:avLst/>
          </a:prstGeom>
          <a:noFill/>
          <a:ln/>
        </p:spPr>
        <p:txBody>
          <a:bodyPr wrap="square" rtlCol="0" anchor="t"/>
          <a:lstStyle/>
          <a:p>
            <a:pPr marL="0" indent="0">
              <a:buNone/>
            </a:pPr>
            <a:r>
              <a:rPr lang="en-US" sz="1100" b="1" dirty="0">
                <a:solidFill>
                  <a:srgbClr val="E63425"/>
                </a:solidFill>
                <a:latin typeface="Arial" pitchFamily="34" charset="0"/>
                <a:ea typeface="Arial" pitchFamily="34" charset="-122"/>
                <a:cs typeface="Arial" pitchFamily="34" charset="-120"/>
              </a:rPr>
              <a:t>Combines data:</a:t>
            </a:r>
            <a:endParaRPr lang="en-US" sz="1100" dirty="0"/>
          </a:p>
        </p:txBody>
      </p:sp>
      <p:sp>
        <p:nvSpPr>
          <p:cNvPr id="15" name="Text 12"/>
          <p:cNvSpPr/>
          <p:nvPr/>
        </p:nvSpPr>
        <p:spPr>
          <a:xfrm>
            <a:off x="2286000" y="3246120"/>
            <a:ext cx="3383280" cy="502920"/>
          </a:xfrm>
          <a:prstGeom prst="rect">
            <a:avLst/>
          </a:prstGeom>
          <a:noFill/>
          <a:ln/>
        </p:spPr>
        <p:txBody>
          <a:bodyPr wrap="square" rtlCol="0" anchor="t"/>
          <a:lstStyle/>
          <a:p>
            <a:pPr marL="0" indent="0">
              <a:buNone/>
            </a:pPr>
            <a:r>
              <a:rPr lang="en-US" sz="1080" dirty="0">
                <a:solidFill>
                  <a:srgbClr val="27313B"/>
                </a:solidFill>
                <a:latin typeface="Arial" pitchFamily="34" charset="0"/>
                <a:ea typeface="Arial" pitchFamily="34" charset="-122"/>
                <a:cs typeface="Arial" pitchFamily="34" charset="-120"/>
              </a:rPr>
              <a:t>No single dataset fully captures the outcome/variables of interest</a:t>
            </a:r>
            <a:endParaRPr lang="en-US" sz="1080" dirty="0"/>
          </a:p>
        </p:txBody>
      </p:sp>
      <p:sp>
        <p:nvSpPr>
          <p:cNvPr id="18" name="Text 15"/>
          <p:cNvSpPr/>
          <p:nvPr/>
        </p:nvSpPr>
        <p:spPr>
          <a:xfrm>
            <a:off x="777240" y="4562856"/>
            <a:ext cx="1554480" cy="365760"/>
          </a:xfrm>
          <a:prstGeom prst="rect">
            <a:avLst/>
          </a:prstGeom>
          <a:noFill/>
          <a:ln/>
        </p:spPr>
        <p:txBody>
          <a:bodyPr wrap="square" rtlCol="0" anchor="t"/>
          <a:lstStyle/>
          <a:p>
            <a:pPr marL="0" indent="0">
              <a:buNone/>
            </a:pPr>
            <a:r>
              <a:rPr lang="en-US" sz="1100" b="1" dirty="0">
                <a:solidFill>
                  <a:srgbClr val="E63425"/>
                </a:solidFill>
                <a:latin typeface="Arial" pitchFamily="34" charset="0"/>
                <a:ea typeface="Arial" pitchFamily="34" charset="-122"/>
                <a:cs typeface="Arial" pitchFamily="34" charset="-120"/>
              </a:rPr>
              <a:t>Cost &amp; speed:</a:t>
            </a:r>
            <a:endParaRPr lang="en-US" sz="1100" dirty="0"/>
          </a:p>
        </p:txBody>
      </p:sp>
      <p:sp>
        <p:nvSpPr>
          <p:cNvPr id="19" name="Text 16"/>
          <p:cNvSpPr/>
          <p:nvPr/>
        </p:nvSpPr>
        <p:spPr>
          <a:xfrm>
            <a:off x="2286000" y="4562856"/>
            <a:ext cx="3383280" cy="502920"/>
          </a:xfrm>
          <a:prstGeom prst="rect">
            <a:avLst/>
          </a:prstGeom>
          <a:noFill/>
          <a:ln/>
        </p:spPr>
        <p:txBody>
          <a:bodyPr wrap="square" rtlCol="0" anchor="t"/>
          <a:lstStyle/>
          <a:p>
            <a:pPr marL="0" indent="0">
              <a:buNone/>
            </a:pPr>
            <a:r>
              <a:rPr lang="en-US" sz="1080" dirty="0">
                <a:solidFill>
                  <a:srgbClr val="27313B"/>
                </a:solidFill>
                <a:latin typeface="Arial" pitchFamily="34" charset="0"/>
                <a:ea typeface="Arial" pitchFamily="34" charset="-122"/>
                <a:cs typeface="Arial" pitchFamily="34" charset="-120"/>
              </a:rPr>
              <a:t>Cheap — no new fieldwork required</a:t>
            </a:r>
            <a:endParaRPr lang="en-US" sz="1080" dirty="0"/>
          </a:p>
        </p:txBody>
      </p:sp>
      <p:sp>
        <p:nvSpPr>
          <p:cNvPr id="20" name="Shape 17"/>
          <p:cNvSpPr/>
          <p:nvPr/>
        </p:nvSpPr>
        <p:spPr>
          <a:xfrm>
            <a:off x="5943600" y="2286000"/>
            <a:ext cx="5166360" cy="3474720"/>
          </a:xfrm>
          <a:prstGeom prst="roundRect">
            <a:avLst>
              <a:gd name="adj" fmla="val 2105"/>
            </a:avLst>
          </a:prstGeom>
          <a:solidFill>
            <a:srgbClr val="25374F"/>
          </a:solidFill>
          <a:ln/>
        </p:spPr>
        <p:txBody>
          <a:bodyPr/>
          <a:lstStyle/>
          <a:p>
            <a:endParaRPr lang="en-GB"/>
          </a:p>
        </p:txBody>
      </p:sp>
      <p:sp>
        <p:nvSpPr>
          <p:cNvPr id="21" name="Shape 18"/>
          <p:cNvSpPr/>
          <p:nvPr/>
        </p:nvSpPr>
        <p:spPr>
          <a:xfrm>
            <a:off x="6217920" y="2560320"/>
            <a:ext cx="411480" cy="411480"/>
          </a:xfrm>
          <a:prstGeom prst="ellipse">
            <a:avLst/>
          </a:prstGeom>
          <a:solidFill>
            <a:srgbClr val="E63425"/>
          </a:solidFill>
          <a:ln/>
        </p:spPr>
        <p:txBody>
          <a:bodyPr/>
          <a:lstStyle/>
          <a:p>
            <a:endParaRPr lang="en-GB"/>
          </a:p>
        </p:txBody>
      </p:sp>
      <p:sp>
        <p:nvSpPr>
          <p:cNvPr id="22" name="Text 19"/>
          <p:cNvSpPr/>
          <p:nvPr/>
        </p:nvSpPr>
        <p:spPr>
          <a:xfrm>
            <a:off x="6217920" y="2560320"/>
            <a:ext cx="411480" cy="4114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3" name="Text 20"/>
          <p:cNvSpPr/>
          <p:nvPr/>
        </p:nvSpPr>
        <p:spPr>
          <a:xfrm>
            <a:off x="6766560" y="2606040"/>
            <a:ext cx="4069080" cy="365760"/>
          </a:xfrm>
          <a:prstGeom prst="rect">
            <a:avLst/>
          </a:prstGeom>
          <a:noFill/>
          <a:ln/>
        </p:spPr>
        <p:txBody>
          <a:bodyPr wrap="square" rtlCol="0" anchor="ctr"/>
          <a:lstStyle/>
          <a:p>
            <a:pPr marL="0" indent="0">
              <a:buNone/>
            </a:pPr>
            <a:r>
              <a:rPr lang="en-US" sz="1450" b="1" dirty="0">
                <a:solidFill>
                  <a:srgbClr val="FFFFFF"/>
                </a:solidFill>
                <a:latin typeface="Arial" pitchFamily="34" charset="0"/>
                <a:ea typeface="Arial" pitchFamily="34" charset="-122"/>
                <a:cs typeface="Arial" pitchFamily="34" charset="-120"/>
              </a:rPr>
              <a:t>What makes it hard</a:t>
            </a:r>
            <a:endParaRPr lang="en-US" sz="1450" dirty="0"/>
          </a:p>
        </p:txBody>
      </p:sp>
      <p:sp>
        <p:nvSpPr>
          <p:cNvPr id="24" name="Text 21"/>
          <p:cNvSpPr/>
          <p:nvPr/>
        </p:nvSpPr>
        <p:spPr>
          <a:xfrm>
            <a:off x="6217920" y="3246120"/>
            <a:ext cx="1645920" cy="365760"/>
          </a:xfrm>
          <a:prstGeom prst="rect">
            <a:avLst/>
          </a:prstGeom>
          <a:noFill/>
          <a:ln/>
        </p:spPr>
        <p:txBody>
          <a:bodyPr wrap="square" rtlCol="0" anchor="t"/>
          <a:lstStyle/>
          <a:p>
            <a:pPr marL="0" indent="0">
              <a:buNone/>
            </a:pPr>
            <a:r>
              <a:rPr lang="en-US" sz="1100" b="1" dirty="0">
                <a:solidFill>
                  <a:srgbClr val="F0A99A"/>
                </a:solidFill>
                <a:latin typeface="Arial" pitchFamily="34" charset="0"/>
                <a:ea typeface="Arial" pitchFamily="34" charset="-122"/>
                <a:cs typeface="Arial" pitchFamily="34" charset="-120"/>
              </a:rPr>
              <a:t>Identifiers:</a:t>
            </a:r>
            <a:endParaRPr lang="en-US" sz="1100" dirty="0"/>
          </a:p>
        </p:txBody>
      </p:sp>
      <p:sp>
        <p:nvSpPr>
          <p:cNvPr id="25" name="Text 22"/>
          <p:cNvSpPr/>
          <p:nvPr/>
        </p:nvSpPr>
        <p:spPr>
          <a:xfrm>
            <a:off x="7818120" y="3246120"/>
            <a:ext cx="3017520" cy="502920"/>
          </a:xfrm>
          <a:prstGeom prst="rect">
            <a:avLst/>
          </a:prstGeom>
          <a:noFill/>
          <a:ln/>
        </p:spPr>
        <p:txBody>
          <a:bodyPr wrap="square" rtlCol="0" anchor="t"/>
          <a:lstStyle/>
          <a:p>
            <a:pPr marL="0" indent="0">
              <a:buNone/>
            </a:pPr>
            <a:r>
              <a:rPr lang="en-US" sz="1080" dirty="0">
                <a:solidFill>
                  <a:srgbClr val="DCE3EA"/>
                </a:solidFill>
                <a:latin typeface="Arial" pitchFamily="34" charset="0"/>
                <a:ea typeface="Arial" pitchFamily="34" charset="-122"/>
                <a:cs typeface="Arial" pitchFamily="34" charset="-120"/>
              </a:rPr>
              <a:t>Needs a reliable shared identifier and judgement on matches</a:t>
            </a:r>
            <a:endParaRPr lang="en-US" sz="1080" dirty="0"/>
          </a:p>
        </p:txBody>
      </p:sp>
      <p:sp>
        <p:nvSpPr>
          <p:cNvPr id="26" name="Text 23"/>
          <p:cNvSpPr/>
          <p:nvPr/>
        </p:nvSpPr>
        <p:spPr>
          <a:xfrm>
            <a:off x="6217920" y="3904488"/>
            <a:ext cx="1645920" cy="365760"/>
          </a:xfrm>
          <a:prstGeom prst="rect">
            <a:avLst/>
          </a:prstGeom>
          <a:noFill/>
          <a:ln/>
        </p:spPr>
        <p:txBody>
          <a:bodyPr wrap="square" rtlCol="0" anchor="t"/>
          <a:lstStyle/>
          <a:p>
            <a:pPr marL="0" indent="0">
              <a:buNone/>
            </a:pPr>
            <a:r>
              <a:rPr lang="en-US" sz="1100" b="1" dirty="0">
                <a:solidFill>
                  <a:srgbClr val="F0A99A"/>
                </a:solidFill>
                <a:latin typeface="Arial" pitchFamily="34" charset="0"/>
                <a:ea typeface="Arial" pitchFamily="34" charset="-122"/>
                <a:cs typeface="Arial" pitchFamily="34" charset="-120"/>
              </a:rPr>
              <a:t>Confidentiality:</a:t>
            </a:r>
            <a:endParaRPr lang="en-US" sz="1100" dirty="0"/>
          </a:p>
        </p:txBody>
      </p:sp>
      <p:sp>
        <p:nvSpPr>
          <p:cNvPr id="27" name="Text 24"/>
          <p:cNvSpPr/>
          <p:nvPr/>
        </p:nvSpPr>
        <p:spPr>
          <a:xfrm>
            <a:off x="7818120" y="3904488"/>
            <a:ext cx="3017520" cy="502920"/>
          </a:xfrm>
          <a:prstGeom prst="rect">
            <a:avLst/>
          </a:prstGeom>
          <a:noFill/>
          <a:ln/>
        </p:spPr>
        <p:txBody>
          <a:bodyPr wrap="square" rtlCol="0" anchor="t"/>
          <a:lstStyle/>
          <a:p>
            <a:pPr marL="0" indent="0">
              <a:buNone/>
            </a:pPr>
            <a:r>
              <a:rPr lang="en-US" sz="1080" dirty="0">
                <a:solidFill>
                  <a:srgbClr val="DCE3EA"/>
                </a:solidFill>
                <a:latin typeface="Arial" pitchFamily="34" charset="0"/>
                <a:ea typeface="Arial" pitchFamily="34" charset="-122"/>
                <a:cs typeface="Arial" pitchFamily="34" charset="-120"/>
              </a:rPr>
              <a:t>You must identify people in order to link them</a:t>
            </a:r>
            <a:endParaRPr lang="en-US" sz="1080" dirty="0"/>
          </a:p>
        </p:txBody>
      </p:sp>
      <p:sp>
        <p:nvSpPr>
          <p:cNvPr id="28" name="Text 25"/>
          <p:cNvSpPr/>
          <p:nvPr/>
        </p:nvSpPr>
        <p:spPr>
          <a:xfrm>
            <a:off x="6217920" y="4562856"/>
            <a:ext cx="1645920" cy="365760"/>
          </a:xfrm>
          <a:prstGeom prst="rect">
            <a:avLst/>
          </a:prstGeom>
          <a:noFill/>
          <a:ln/>
        </p:spPr>
        <p:txBody>
          <a:bodyPr wrap="square" rtlCol="0" anchor="t"/>
          <a:lstStyle/>
          <a:p>
            <a:pPr marL="0" indent="0">
              <a:buNone/>
            </a:pPr>
            <a:r>
              <a:rPr lang="en-US" sz="1100" b="1" dirty="0">
                <a:solidFill>
                  <a:srgbClr val="F0A99A"/>
                </a:solidFill>
                <a:latin typeface="Arial" pitchFamily="34" charset="0"/>
                <a:ea typeface="Arial" pitchFamily="34" charset="-122"/>
                <a:cs typeface="Arial" pitchFamily="34" charset="-120"/>
              </a:rPr>
              <a:t>Discordant data:</a:t>
            </a:r>
            <a:endParaRPr lang="en-US" sz="1100" dirty="0"/>
          </a:p>
        </p:txBody>
      </p:sp>
      <p:sp>
        <p:nvSpPr>
          <p:cNvPr id="29" name="Text 26"/>
          <p:cNvSpPr/>
          <p:nvPr/>
        </p:nvSpPr>
        <p:spPr>
          <a:xfrm>
            <a:off x="7818120" y="4562856"/>
            <a:ext cx="3017520" cy="502920"/>
          </a:xfrm>
          <a:prstGeom prst="rect">
            <a:avLst/>
          </a:prstGeom>
          <a:noFill/>
          <a:ln/>
        </p:spPr>
        <p:txBody>
          <a:bodyPr wrap="square" rtlCol="0" anchor="t"/>
          <a:lstStyle/>
          <a:p>
            <a:pPr marL="0" indent="0">
              <a:buNone/>
            </a:pPr>
            <a:r>
              <a:rPr lang="en-US" sz="1080" dirty="0">
                <a:solidFill>
                  <a:srgbClr val="DCE3EA"/>
                </a:solidFill>
                <a:latin typeface="Arial" pitchFamily="34" charset="0"/>
                <a:ea typeface="Arial" pitchFamily="34" charset="-122"/>
                <a:cs typeface="Arial" pitchFamily="34" charset="-120"/>
              </a:rPr>
              <a:t>The same variable can differ between sources</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074420" y="228981"/>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5 · COMBINING ROUTINE DATASETS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Record Linkage in Action: Newlands Clinic × ZNCR</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Shape 6"/>
          <p:cNvSpPr/>
          <p:nvPr/>
        </p:nvSpPr>
        <p:spPr>
          <a:xfrm>
            <a:off x="1371600" y="2075688"/>
            <a:ext cx="9418320" cy="0"/>
          </a:xfrm>
          <a:prstGeom prst="line">
            <a:avLst/>
          </a:prstGeom>
          <a:noFill/>
          <a:ln w="19050">
            <a:solidFill>
              <a:srgbClr val="E3E7EB"/>
            </a:solidFill>
            <a:prstDash val="dash"/>
          </a:ln>
        </p:spPr>
        <p:txBody>
          <a:bodyPr/>
          <a:lstStyle/>
          <a:p>
            <a:endParaRPr lang="en-GB"/>
          </a:p>
        </p:txBody>
      </p:sp>
      <p:sp>
        <p:nvSpPr>
          <p:cNvPr id="10" name="Shape 7"/>
          <p:cNvSpPr/>
          <p:nvPr/>
        </p:nvSpPr>
        <p:spPr>
          <a:xfrm>
            <a:off x="1325880" y="1691640"/>
            <a:ext cx="777240" cy="777240"/>
          </a:xfrm>
          <a:prstGeom prst="ellipse">
            <a:avLst/>
          </a:prstGeom>
          <a:solidFill>
            <a:srgbClr val="2E8B9B"/>
          </a:solidFill>
          <a:ln w="38100">
            <a:solidFill>
              <a:srgbClr val="FFFFFF"/>
            </a:solidFill>
            <a:prstDash val="solid"/>
          </a:ln>
        </p:spPr>
        <p:txBody>
          <a:bodyPr/>
          <a:lstStyle/>
          <a:p>
            <a:endParaRPr lang="en-GB"/>
          </a:p>
        </p:txBody>
      </p:sp>
      <p:sp>
        <p:nvSpPr>
          <p:cNvPr id="11" name="Text 8"/>
          <p:cNvSpPr/>
          <p:nvPr/>
        </p:nvSpPr>
        <p:spPr>
          <a:xfrm>
            <a:off x="132588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EMR</a:t>
            </a:r>
            <a:endParaRPr lang="en-US" sz="900" dirty="0"/>
          </a:p>
        </p:txBody>
      </p:sp>
      <p:sp>
        <p:nvSpPr>
          <p:cNvPr id="12" name="Text 9"/>
          <p:cNvSpPr/>
          <p:nvPr/>
        </p:nvSpPr>
        <p:spPr>
          <a:xfrm>
            <a:off x="502920" y="2560320"/>
            <a:ext cx="2377440" cy="457200"/>
          </a:xfrm>
          <a:prstGeom prst="rect">
            <a:avLst/>
          </a:prstGeom>
          <a:noFill/>
          <a:ln/>
        </p:spPr>
        <p:txBody>
          <a:bodyPr wrap="square" rtlCol="0" anchor="t"/>
          <a:lstStyle/>
          <a:p>
            <a:pPr marL="0" indent="0" algn="ctr">
              <a:buNone/>
            </a:pPr>
            <a:r>
              <a:rPr lang="en-US" sz="1000" b="1" dirty="0">
                <a:solidFill>
                  <a:srgbClr val="25374F"/>
                </a:solidFill>
                <a:latin typeface="Arial" pitchFamily="34" charset="0"/>
                <a:ea typeface="Arial" pitchFamily="34" charset="-122"/>
                <a:cs typeface="Arial" pitchFamily="34" charset="-120"/>
              </a:rPr>
              <a:t>ART clinic electronic record</a:t>
            </a:r>
            <a:endParaRPr lang="en-US" sz="1000" dirty="0"/>
          </a:p>
        </p:txBody>
      </p:sp>
      <p:sp>
        <p:nvSpPr>
          <p:cNvPr id="13" name="Shape 10"/>
          <p:cNvSpPr/>
          <p:nvPr/>
        </p:nvSpPr>
        <p:spPr>
          <a:xfrm>
            <a:off x="3931920" y="1691640"/>
            <a:ext cx="777240" cy="777240"/>
          </a:xfrm>
          <a:prstGeom prst="ellipse">
            <a:avLst/>
          </a:prstGeom>
          <a:solidFill>
            <a:srgbClr val="F2A93B"/>
          </a:solidFill>
          <a:ln w="38100">
            <a:solidFill>
              <a:srgbClr val="FFFFFF"/>
            </a:solidFill>
            <a:prstDash val="solid"/>
          </a:ln>
        </p:spPr>
        <p:txBody>
          <a:bodyPr/>
          <a:lstStyle/>
          <a:p>
            <a:endParaRPr lang="en-GB"/>
          </a:p>
        </p:txBody>
      </p:sp>
      <p:sp>
        <p:nvSpPr>
          <p:cNvPr id="14" name="Text 11"/>
          <p:cNvSpPr/>
          <p:nvPr/>
        </p:nvSpPr>
        <p:spPr>
          <a:xfrm>
            <a:off x="393192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MATCH</a:t>
            </a:r>
            <a:endParaRPr lang="en-US" sz="900" dirty="0"/>
          </a:p>
        </p:txBody>
      </p:sp>
      <p:sp>
        <p:nvSpPr>
          <p:cNvPr id="15" name="Text 12"/>
          <p:cNvSpPr/>
          <p:nvPr/>
        </p:nvSpPr>
        <p:spPr>
          <a:xfrm>
            <a:off x="3108960" y="2560320"/>
            <a:ext cx="2377440" cy="457200"/>
          </a:xfrm>
          <a:prstGeom prst="rect">
            <a:avLst/>
          </a:prstGeom>
          <a:noFill/>
          <a:ln/>
        </p:spPr>
        <p:txBody>
          <a:bodyPr wrap="square" rtlCol="0" anchor="t"/>
          <a:lstStyle/>
          <a:p>
            <a:pPr marL="0" indent="0" algn="ctr">
              <a:buNone/>
            </a:pPr>
            <a:r>
              <a:rPr lang="en-US" sz="1000" b="1" dirty="0">
                <a:solidFill>
                  <a:srgbClr val="25374F"/>
                </a:solidFill>
                <a:latin typeface="Arial" pitchFamily="34" charset="0"/>
                <a:ea typeface="Arial" pitchFamily="34" charset="-122"/>
                <a:cs typeface="Arial" pitchFamily="34" charset="-120"/>
              </a:rPr>
              <a:t>Probabilistic match + clerical review</a:t>
            </a:r>
            <a:endParaRPr lang="en-US" sz="1000" dirty="0"/>
          </a:p>
        </p:txBody>
      </p:sp>
      <p:sp>
        <p:nvSpPr>
          <p:cNvPr id="16" name="Shape 13"/>
          <p:cNvSpPr/>
          <p:nvPr/>
        </p:nvSpPr>
        <p:spPr>
          <a:xfrm>
            <a:off x="6537960" y="1691640"/>
            <a:ext cx="777240" cy="777240"/>
          </a:xfrm>
          <a:prstGeom prst="ellipse">
            <a:avLst/>
          </a:prstGeom>
          <a:solidFill>
            <a:srgbClr val="5B9A56"/>
          </a:solidFill>
          <a:ln w="38100">
            <a:solidFill>
              <a:srgbClr val="FFFFFF"/>
            </a:solidFill>
            <a:prstDash val="solid"/>
          </a:ln>
        </p:spPr>
        <p:txBody>
          <a:bodyPr/>
          <a:lstStyle/>
          <a:p>
            <a:endParaRPr lang="en-GB"/>
          </a:p>
        </p:txBody>
      </p:sp>
      <p:sp>
        <p:nvSpPr>
          <p:cNvPr id="17" name="Text 14"/>
          <p:cNvSpPr/>
          <p:nvPr/>
        </p:nvSpPr>
        <p:spPr>
          <a:xfrm>
            <a:off x="653796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ZNCR</a:t>
            </a:r>
            <a:endParaRPr lang="en-US" sz="900" dirty="0"/>
          </a:p>
        </p:txBody>
      </p:sp>
      <p:sp>
        <p:nvSpPr>
          <p:cNvPr id="18" name="Text 15"/>
          <p:cNvSpPr/>
          <p:nvPr/>
        </p:nvSpPr>
        <p:spPr>
          <a:xfrm>
            <a:off x="5715000" y="2560320"/>
            <a:ext cx="2377440" cy="457200"/>
          </a:xfrm>
          <a:prstGeom prst="rect">
            <a:avLst/>
          </a:prstGeom>
          <a:noFill/>
          <a:ln/>
        </p:spPr>
        <p:txBody>
          <a:bodyPr wrap="square" rtlCol="0" anchor="t"/>
          <a:lstStyle/>
          <a:p>
            <a:pPr marL="0" indent="0" algn="ctr">
              <a:buNone/>
            </a:pPr>
            <a:r>
              <a:rPr lang="en-US" sz="1000" b="1" dirty="0">
                <a:solidFill>
                  <a:srgbClr val="25374F"/>
                </a:solidFill>
                <a:latin typeface="Arial" pitchFamily="34" charset="0"/>
                <a:ea typeface="Arial" pitchFamily="34" charset="-122"/>
                <a:cs typeface="Arial" pitchFamily="34" charset="-120"/>
              </a:rPr>
              <a:t>Cancer registry record</a:t>
            </a:r>
            <a:endParaRPr lang="en-US" sz="1000" dirty="0"/>
          </a:p>
        </p:txBody>
      </p:sp>
      <p:sp>
        <p:nvSpPr>
          <p:cNvPr id="19" name="Shape 16"/>
          <p:cNvSpPr/>
          <p:nvPr/>
        </p:nvSpPr>
        <p:spPr>
          <a:xfrm>
            <a:off x="9144000" y="1691640"/>
            <a:ext cx="777240" cy="777240"/>
          </a:xfrm>
          <a:prstGeom prst="ellipse">
            <a:avLst/>
          </a:prstGeom>
          <a:solidFill>
            <a:srgbClr val="E63425"/>
          </a:solidFill>
          <a:ln w="38100">
            <a:solidFill>
              <a:srgbClr val="FFFFFF"/>
            </a:solidFill>
            <a:prstDash val="solid"/>
          </a:ln>
        </p:spPr>
        <p:txBody>
          <a:bodyPr/>
          <a:lstStyle/>
          <a:p>
            <a:endParaRPr lang="en-GB"/>
          </a:p>
        </p:txBody>
      </p:sp>
      <p:sp>
        <p:nvSpPr>
          <p:cNvPr id="20" name="Text 17"/>
          <p:cNvSpPr/>
          <p:nvPr/>
        </p:nvSpPr>
        <p:spPr>
          <a:xfrm>
            <a:off x="9144000" y="1691640"/>
            <a:ext cx="777240" cy="777240"/>
          </a:xfrm>
          <a:prstGeom prst="rect">
            <a:avLst/>
          </a:prstGeom>
          <a:noFill/>
          <a:ln/>
        </p:spPr>
        <p:txBody>
          <a:bodyPr wrap="square" rtlCol="0" anchor="ctr"/>
          <a:lstStyle/>
          <a:p>
            <a:pPr marL="0" indent="0" algn="ctr">
              <a:buNone/>
            </a:pPr>
            <a:r>
              <a:rPr lang="en-US" sz="900" b="1" dirty="0">
                <a:solidFill>
                  <a:srgbClr val="FFFFFF"/>
                </a:solidFill>
                <a:latin typeface="Consolas" pitchFamily="34" charset="0"/>
                <a:ea typeface="Consolas" pitchFamily="34" charset="-122"/>
                <a:cs typeface="Consolas" pitchFamily="34" charset="-120"/>
              </a:rPr>
              <a:t>OUT</a:t>
            </a:r>
            <a:endParaRPr lang="en-US" sz="900" dirty="0"/>
          </a:p>
        </p:txBody>
      </p:sp>
      <p:sp>
        <p:nvSpPr>
          <p:cNvPr id="21" name="Text 18"/>
          <p:cNvSpPr/>
          <p:nvPr/>
        </p:nvSpPr>
        <p:spPr>
          <a:xfrm>
            <a:off x="8321040" y="2560320"/>
            <a:ext cx="2377440" cy="457200"/>
          </a:xfrm>
          <a:prstGeom prst="rect">
            <a:avLst/>
          </a:prstGeom>
          <a:noFill/>
          <a:ln/>
        </p:spPr>
        <p:txBody>
          <a:bodyPr wrap="square" rtlCol="0" anchor="t"/>
          <a:lstStyle/>
          <a:p>
            <a:pPr marL="0" indent="0" algn="ctr">
              <a:buNone/>
            </a:pPr>
            <a:r>
              <a:rPr lang="en-US" sz="1000" b="1" dirty="0">
                <a:solidFill>
                  <a:srgbClr val="25374F"/>
                </a:solidFill>
                <a:latin typeface="Arial" pitchFamily="34" charset="0"/>
                <a:ea typeface="Arial" pitchFamily="34" charset="-122"/>
                <a:cs typeface="Arial" pitchFamily="34" charset="-120"/>
              </a:rPr>
              <a:t>Linked cohort outcome</a:t>
            </a:r>
            <a:endParaRPr lang="en-US" sz="1000" dirty="0"/>
          </a:p>
        </p:txBody>
      </p:sp>
      <p:sp>
        <p:nvSpPr>
          <p:cNvPr id="22" name="Shape 19"/>
          <p:cNvSpPr/>
          <p:nvPr/>
        </p:nvSpPr>
        <p:spPr>
          <a:xfrm>
            <a:off x="502920" y="2926080"/>
            <a:ext cx="10607040" cy="2651760"/>
          </a:xfrm>
          <a:prstGeom prst="roundRect">
            <a:avLst>
              <a:gd name="adj" fmla="val 2759"/>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3" name="Text 20"/>
          <p:cNvSpPr/>
          <p:nvPr/>
        </p:nvSpPr>
        <p:spPr>
          <a:xfrm>
            <a:off x="777240" y="3108960"/>
            <a:ext cx="10058400" cy="274320"/>
          </a:xfrm>
          <a:prstGeom prst="rect">
            <a:avLst/>
          </a:prstGeom>
          <a:noFill/>
          <a:ln/>
        </p:spPr>
        <p:txBody>
          <a:bodyPr wrap="square" rtlCol="0" anchor="ctr"/>
          <a:lstStyle/>
          <a:p>
            <a:pPr marL="0" indent="0">
              <a:buNone/>
            </a:pPr>
            <a:r>
              <a:rPr lang="en-US" sz="1150" b="1" dirty="0">
                <a:solidFill>
                  <a:srgbClr val="E63425"/>
                </a:solidFill>
                <a:latin typeface="Arial" pitchFamily="34" charset="0"/>
                <a:ea typeface="Arial" pitchFamily="34" charset="-122"/>
                <a:cs typeface="Arial" pitchFamily="34" charset="-120"/>
              </a:rPr>
              <a:t>SHAMU ET AL., CANCER REPORTS, 2022 — HARARE, ZIMBABWE</a:t>
            </a:r>
            <a:endParaRPr lang="en-US" sz="1150" dirty="0"/>
          </a:p>
        </p:txBody>
      </p:sp>
      <p:sp>
        <p:nvSpPr>
          <p:cNvPr id="24" name="Text 21"/>
          <p:cNvSpPr/>
          <p:nvPr/>
        </p:nvSpPr>
        <p:spPr>
          <a:xfrm>
            <a:off x="777240" y="3429000"/>
            <a:ext cx="10058400" cy="1371600"/>
          </a:xfrm>
          <a:prstGeom prst="rect">
            <a:avLst/>
          </a:prstGeom>
          <a:noFill/>
          <a:ln/>
        </p:spPr>
        <p:txBody>
          <a:bodyPr wrap="square" rtlCol="0" anchor="t"/>
          <a:lstStyle/>
          <a:p>
            <a:pPr marL="0" indent="0">
              <a:buNone/>
            </a:pPr>
            <a:r>
              <a:rPr lang="en-US" sz="1150" dirty="0">
                <a:solidFill>
                  <a:srgbClr val="27313B"/>
                </a:solidFill>
                <a:latin typeface="Arial" pitchFamily="34" charset="0"/>
                <a:ea typeface="Arial" pitchFamily="34" charset="-122"/>
                <a:cs typeface="Arial" pitchFamily="34" charset="-120"/>
              </a:rPr>
              <a:t>3,442 people living with HIV who started ART at Newlands Clinic (2004–2017) had their electronic records matched against the Zimbabwe National Cancer Registry — first on demographic fields, then by manual clerical review of uncertain pairs. Across 19,346 person-years, the linkage identified 66 incident cancers (341 per 100,000 PY, 95% CI 268–434) that did not exist in the ART clinic's own records before linkage.</a:t>
            </a:r>
            <a:endParaRPr lang="en-US" sz="1150" dirty="0"/>
          </a:p>
        </p:txBody>
      </p:sp>
      <p:sp>
        <p:nvSpPr>
          <p:cNvPr id="25" name="Text 22"/>
          <p:cNvSpPr/>
          <p:nvPr/>
        </p:nvSpPr>
        <p:spPr>
          <a:xfrm>
            <a:off x="777240" y="4892040"/>
            <a:ext cx="10058400" cy="548640"/>
          </a:xfrm>
          <a:prstGeom prst="rect">
            <a:avLst/>
          </a:prstGeom>
          <a:noFill/>
          <a:ln/>
        </p:spPr>
        <p:txBody>
          <a:bodyPr wrap="square" rtlCol="0" anchor="t"/>
          <a:lstStyle/>
          <a:p>
            <a:pPr marL="0" indent="0">
              <a:buNone/>
            </a:pPr>
            <a:r>
              <a:rPr lang="en-US" sz="1000" i="1" dirty="0">
                <a:solidFill>
                  <a:srgbClr val="5B6B7C"/>
                </a:solidFill>
                <a:latin typeface="Arial" pitchFamily="34" charset="0"/>
                <a:ea typeface="Arial" pitchFamily="34" charset="-122"/>
                <a:cs typeface="Arial" pitchFamily="34" charset="-120"/>
              </a:rPr>
              <a:t>Why probabilistic, not exact, matching: misspelled names, estimated birth dates and missing ID numbers mean exact-match linkage would silently miss real matches.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855470" y="310896"/>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5 · COMBINING ROUTINE DATASETS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Record Linkage at National &amp; Regional Scale</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Shape 6"/>
          <p:cNvSpPr/>
          <p:nvPr/>
        </p:nvSpPr>
        <p:spPr>
          <a:xfrm>
            <a:off x="502920" y="1600200"/>
            <a:ext cx="5166360" cy="4023360"/>
          </a:xfrm>
          <a:prstGeom prst="roundRect">
            <a:avLst>
              <a:gd name="adj" fmla="val 1818"/>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0" name="Text 7"/>
          <p:cNvSpPr/>
          <p:nvPr/>
        </p:nvSpPr>
        <p:spPr>
          <a:xfrm>
            <a:off x="758952" y="1828800"/>
            <a:ext cx="4654296" cy="594360"/>
          </a:xfrm>
          <a:prstGeom prst="rect">
            <a:avLst/>
          </a:prstGeom>
          <a:noFill/>
          <a:ln/>
        </p:spPr>
        <p:txBody>
          <a:bodyPr wrap="square" rtlCol="0" anchor="ctr"/>
          <a:lstStyle/>
          <a:p>
            <a:pPr marL="0" indent="0">
              <a:buNone/>
            </a:pPr>
            <a:r>
              <a:rPr lang="en-US" sz="1150" b="1" dirty="0">
                <a:solidFill>
                  <a:srgbClr val="E63425"/>
                </a:solidFill>
                <a:latin typeface="Arial" pitchFamily="34" charset="0"/>
                <a:ea typeface="Arial" pitchFamily="34" charset="-122"/>
                <a:cs typeface="Arial" pitchFamily="34" charset="-120"/>
              </a:rPr>
              <a:t>SOUTH AFRICAN HIV CANCER MATCH (SAM) STUDY</a:t>
            </a:r>
            <a:endParaRPr lang="en-US" sz="1150" dirty="0"/>
          </a:p>
        </p:txBody>
      </p:sp>
      <p:sp>
        <p:nvSpPr>
          <p:cNvPr id="11" name="Text 8"/>
          <p:cNvSpPr/>
          <p:nvPr/>
        </p:nvSpPr>
        <p:spPr>
          <a:xfrm>
            <a:off x="758952" y="2468880"/>
            <a:ext cx="4654296" cy="1920240"/>
          </a:xfrm>
          <a:prstGeom prst="rect">
            <a:avLst/>
          </a:prstGeom>
          <a:noFill/>
          <a:ln/>
        </p:spPr>
        <p:txBody>
          <a:bodyPr wrap="square" rtlCol="0" anchor="t"/>
          <a:lstStyle/>
          <a:p>
            <a:pPr marL="0" indent="0">
              <a:buNone/>
            </a:pPr>
            <a:r>
              <a:rPr lang="en-US" sz="1080" dirty="0">
                <a:solidFill>
                  <a:srgbClr val="27313B"/>
                </a:solidFill>
                <a:latin typeface="Arial" pitchFamily="34" charset="0"/>
                <a:ea typeface="Arial" pitchFamily="34" charset="-122"/>
                <a:cs typeface="Arial" pitchFamily="34" charset="-120"/>
              </a:rPr>
              <a:t>Dhokotera et al. (2019, Infect Agent Cancer) linked National Health Laboratory Service HIV data to the National Cancer Registry (2004–2014). With no single shared national identifier, the team combined probabilistic matching with text-searching HIV terms in pathology reports.</a:t>
            </a:r>
            <a:endParaRPr lang="en-US" sz="1080" dirty="0"/>
          </a:p>
        </p:txBody>
      </p:sp>
      <p:sp>
        <p:nvSpPr>
          <p:cNvPr id="12" name="Text 9"/>
          <p:cNvSpPr/>
          <p:nvPr/>
        </p:nvSpPr>
        <p:spPr>
          <a:xfrm>
            <a:off x="758952" y="4572000"/>
            <a:ext cx="4654296" cy="914400"/>
          </a:xfrm>
          <a:prstGeom prst="rect">
            <a:avLst/>
          </a:prstGeom>
          <a:noFill/>
          <a:ln/>
        </p:spPr>
        <p:txBody>
          <a:bodyPr wrap="square" rtlCol="0" anchor="t"/>
          <a:lstStyle/>
          <a:p>
            <a:pPr marL="0" indent="0">
              <a:buNone/>
            </a:pPr>
            <a:r>
              <a:rPr lang="en-US" sz="950" i="1" dirty="0">
                <a:solidFill>
                  <a:srgbClr val="5B6B7C"/>
                </a:solidFill>
                <a:latin typeface="Arial" pitchFamily="34" charset="0"/>
                <a:ea typeface="Arial" pitchFamily="34" charset="-122"/>
                <a:cs typeface="Arial" pitchFamily="34" charset="-120"/>
              </a:rPr>
              <a:t>Finding: every extra site, lab or registry is another chance for a true match to be missed, or a false one made.</a:t>
            </a:r>
            <a:endParaRPr lang="en-US" sz="950" dirty="0"/>
          </a:p>
        </p:txBody>
      </p:sp>
      <p:sp>
        <p:nvSpPr>
          <p:cNvPr id="13" name="Shape 10"/>
          <p:cNvSpPr/>
          <p:nvPr/>
        </p:nvSpPr>
        <p:spPr>
          <a:xfrm>
            <a:off x="5943600" y="1600200"/>
            <a:ext cx="5166360" cy="4023360"/>
          </a:xfrm>
          <a:prstGeom prst="roundRect">
            <a:avLst>
              <a:gd name="adj" fmla="val 1818"/>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4" name="Text 11"/>
          <p:cNvSpPr/>
          <p:nvPr/>
        </p:nvSpPr>
        <p:spPr>
          <a:xfrm>
            <a:off x="6199632" y="1828800"/>
            <a:ext cx="4654296" cy="594360"/>
          </a:xfrm>
          <a:prstGeom prst="rect">
            <a:avLst/>
          </a:prstGeom>
          <a:noFill/>
          <a:ln/>
        </p:spPr>
        <p:txBody>
          <a:bodyPr wrap="square" rtlCol="0" anchor="ctr"/>
          <a:lstStyle/>
          <a:p>
            <a:pPr marL="0" indent="0">
              <a:buNone/>
            </a:pPr>
            <a:r>
              <a:rPr lang="en-US" sz="1150" b="1" dirty="0">
                <a:solidFill>
                  <a:srgbClr val="E63425"/>
                </a:solidFill>
                <a:latin typeface="Arial" pitchFamily="34" charset="0"/>
                <a:ea typeface="Arial" pitchFamily="34" charset="-122"/>
                <a:cs typeface="Arial" pitchFamily="34" charset="-120"/>
              </a:rPr>
              <a:t>IeDEA SOUTHERN AFRICA</a:t>
            </a:r>
            <a:endParaRPr lang="en-US" sz="1150" dirty="0"/>
          </a:p>
        </p:txBody>
      </p:sp>
      <p:sp>
        <p:nvSpPr>
          <p:cNvPr id="15" name="Text 12"/>
          <p:cNvSpPr/>
          <p:nvPr/>
        </p:nvSpPr>
        <p:spPr>
          <a:xfrm>
            <a:off x="6199632" y="2468880"/>
            <a:ext cx="4654296" cy="1920240"/>
          </a:xfrm>
          <a:prstGeom prst="rect">
            <a:avLst/>
          </a:prstGeom>
          <a:noFill/>
          <a:ln/>
        </p:spPr>
        <p:txBody>
          <a:bodyPr wrap="square" rtlCol="0" anchor="t"/>
          <a:lstStyle/>
          <a:p>
            <a:pPr marL="0" indent="0">
              <a:buNone/>
            </a:pPr>
            <a:r>
              <a:rPr lang="en-US" sz="1080" dirty="0">
                <a:solidFill>
                  <a:srgbClr val="27313B"/>
                </a:solidFill>
                <a:latin typeface="Arial" pitchFamily="34" charset="0"/>
                <a:ea typeface="Arial" pitchFamily="34" charset="-122"/>
                <a:cs typeface="Arial" pitchFamily="34" charset="-120"/>
              </a:rPr>
              <a:t>Routine ART-clinic records from 17 cohorts in Malawi, Zambia, South Africa, Mozambique, Lesotho and Zimbabwe are pooled into one platform of &gt;640,000 patients (Haas et al., 2018) — linkage across programmes and countries, not just within one.</a:t>
            </a:r>
            <a:endParaRPr lang="en-US" sz="1080" dirty="0"/>
          </a:p>
        </p:txBody>
      </p:sp>
      <p:sp>
        <p:nvSpPr>
          <p:cNvPr id="16" name="Text 13"/>
          <p:cNvSpPr/>
          <p:nvPr/>
        </p:nvSpPr>
        <p:spPr>
          <a:xfrm>
            <a:off x="6199632" y="4572000"/>
            <a:ext cx="4654296" cy="914400"/>
          </a:xfrm>
          <a:prstGeom prst="rect">
            <a:avLst/>
          </a:prstGeom>
          <a:noFill/>
          <a:ln/>
        </p:spPr>
        <p:txBody>
          <a:bodyPr wrap="square" rtlCol="0" anchor="t"/>
          <a:lstStyle/>
          <a:p>
            <a:pPr marL="0" indent="0">
              <a:buNone/>
            </a:pPr>
            <a:r>
              <a:rPr lang="en-US" sz="950" i="1" dirty="0">
                <a:solidFill>
                  <a:srgbClr val="5B6B7C"/>
                </a:solidFill>
                <a:latin typeface="Arial" pitchFamily="34" charset="0"/>
                <a:ea typeface="Arial" pitchFamily="34" charset="-122"/>
                <a:cs typeface="Arial" pitchFamily="34" charset="-120"/>
              </a:rPr>
              <a:t>Finding: pooling routine data at regional scale answers questions no single country's programme could answer alone.</a:t>
            </a:r>
            <a:endParaRPr lang="en-US" sz="950" dirty="0"/>
          </a:p>
        </p:txBody>
      </p:sp>
      <p:sp>
        <p:nvSpPr>
          <p:cNvPr id="17" name="Text 14"/>
          <p:cNvSpPr/>
          <p:nvPr/>
        </p:nvSpPr>
        <p:spPr>
          <a:xfrm>
            <a:off x="502920" y="5852160"/>
            <a:ext cx="10607040" cy="457200"/>
          </a:xfrm>
          <a:prstGeom prst="rect">
            <a:avLst/>
          </a:prstGeom>
          <a:noFill/>
          <a:ln/>
        </p:spPr>
        <p:txBody>
          <a:bodyPr wrap="square" rtlCol="0" anchor="t"/>
          <a:lstStyle/>
          <a:p>
            <a:pPr marL="0" indent="0">
              <a:buNone/>
            </a:pPr>
            <a:r>
              <a:rPr lang="en-US" sz="1080" dirty="0">
                <a:solidFill>
                  <a:srgbClr val="27313B"/>
                </a:solidFill>
                <a:latin typeface="Arial" pitchFamily="34" charset="0"/>
                <a:ea typeface="Arial" pitchFamily="34" charset="-122"/>
                <a:cs typeface="Arial" pitchFamily="34" charset="-120"/>
              </a:rPr>
              <a:t>Strength: linkage finds outcomes routine systems were never designed to find.   Limitation: a linked finding is only as good as the matching behind it.</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303020" y="376428"/>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6 · PUTTING IT TOGETHER</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When Should You Reach for Routine Data?</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Shape 6"/>
          <p:cNvSpPr/>
          <p:nvPr/>
        </p:nvSpPr>
        <p:spPr>
          <a:xfrm>
            <a:off x="502920" y="1600200"/>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0" name="Text 7"/>
          <p:cNvSpPr/>
          <p:nvPr/>
        </p:nvSpPr>
        <p:spPr>
          <a:xfrm>
            <a:off x="685800" y="1600200"/>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Do you need a population-wide denominator, fast?</a:t>
            </a:r>
            <a:endParaRPr lang="en-US" sz="1050" dirty="0"/>
          </a:p>
        </p:txBody>
      </p:sp>
      <p:sp>
        <p:nvSpPr>
          <p:cNvPr id="11" name="Text 8"/>
          <p:cNvSpPr/>
          <p:nvPr/>
        </p:nvSpPr>
        <p:spPr>
          <a:xfrm>
            <a:off x="7589520" y="1600200"/>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12" name="Shape 9"/>
          <p:cNvSpPr/>
          <p:nvPr/>
        </p:nvSpPr>
        <p:spPr>
          <a:xfrm>
            <a:off x="8046720" y="1600200"/>
            <a:ext cx="3108960" cy="621792"/>
          </a:xfrm>
          <a:prstGeom prst="roundRect">
            <a:avLst>
              <a:gd name="adj" fmla="val 8824"/>
            </a:avLst>
          </a:prstGeom>
          <a:solidFill>
            <a:srgbClr val="2E8B9B"/>
          </a:solidFill>
          <a:ln/>
        </p:spPr>
        <p:txBody>
          <a:bodyPr/>
          <a:lstStyle/>
          <a:p>
            <a:endParaRPr lang="en-GB"/>
          </a:p>
        </p:txBody>
      </p:sp>
      <p:sp>
        <p:nvSpPr>
          <p:cNvPr id="13" name="Text 10"/>
          <p:cNvSpPr/>
          <p:nvPr/>
        </p:nvSpPr>
        <p:spPr>
          <a:xfrm>
            <a:off x="8138160" y="1600200"/>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Census / vital registration</a:t>
            </a:r>
            <a:endParaRPr lang="en-US" sz="1000" dirty="0"/>
          </a:p>
        </p:txBody>
      </p:sp>
      <p:sp>
        <p:nvSpPr>
          <p:cNvPr id="14" name="Shape 11"/>
          <p:cNvSpPr/>
          <p:nvPr/>
        </p:nvSpPr>
        <p:spPr>
          <a:xfrm>
            <a:off x="502920" y="2322576"/>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5" name="Text 12"/>
          <p:cNvSpPr/>
          <p:nvPr/>
        </p:nvSpPr>
        <p:spPr>
          <a:xfrm>
            <a:off x="685800" y="2322576"/>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Is the outcome something every patient passes through a clinic for?</a:t>
            </a:r>
            <a:endParaRPr lang="en-US" sz="1050" dirty="0"/>
          </a:p>
        </p:txBody>
      </p:sp>
      <p:sp>
        <p:nvSpPr>
          <p:cNvPr id="16" name="Text 13"/>
          <p:cNvSpPr/>
          <p:nvPr/>
        </p:nvSpPr>
        <p:spPr>
          <a:xfrm>
            <a:off x="7589520" y="2322576"/>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17" name="Shape 14"/>
          <p:cNvSpPr/>
          <p:nvPr/>
        </p:nvSpPr>
        <p:spPr>
          <a:xfrm>
            <a:off x="8046720" y="2322576"/>
            <a:ext cx="3108960" cy="621792"/>
          </a:xfrm>
          <a:prstGeom prst="roundRect">
            <a:avLst>
              <a:gd name="adj" fmla="val 8824"/>
            </a:avLst>
          </a:prstGeom>
          <a:solidFill>
            <a:srgbClr val="F2A93B"/>
          </a:solidFill>
          <a:ln/>
        </p:spPr>
        <p:txBody>
          <a:bodyPr/>
          <a:lstStyle/>
          <a:p>
            <a:endParaRPr lang="en-GB"/>
          </a:p>
        </p:txBody>
      </p:sp>
      <p:sp>
        <p:nvSpPr>
          <p:cNvPr id="18" name="Text 15"/>
          <p:cNvSpPr/>
          <p:nvPr/>
        </p:nvSpPr>
        <p:spPr>
          <a:xfrm>
            <a:off x="8138160" y="2322576"/>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Hospital / primary-care / ART data</a:t>
            </a:r>
            <a:endParaRPr lang="en-US" sz="1000" dirty="0"/>
          </a:p>
        </p:txBody>
      </p:sp>
      <p:sp>
        <p:nvSpPr>
          <p:cNvPr id="19" name="Shape 16"/>
          <p:cNvSpPr/>
          <p:nvPr/>
        </p:nvSpPr>
        <p:spPr>
          <a:xfrm>
            <a:off x="502920" y="3044952"/>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0" name="Text 17"/>
          <p:cNvSpPr/>
          <p:nvPr/>
        </p:nvSpPr>
        <p:spPr>
          <a:xfrm>
            <a:off x="685800" y="3044952"/>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Do you need every new case of one disease, nationally?</a:t>
            </a:r>
            <a:endParaRPr lang="en-US" sz="1050" dirty="0"/>
          </a:p>
        </p:txBody>
      </p:sp>
      <p:sp>
        <p:nvSpPr>
          <p:cNvPr id="21" name="Text 18"/>
          <p:cNvSpPr/>
          <p:nvPr/>
        </p:nvSpPr>
        <p:spPr>
          <a:xfrm>
            <a:off x="7589520" y="3044952"/>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22" name="Shape 19"/>
          <p:cNvSpPr/>
          <p:nvPr/>
        </p:nvSpPr>
        <p:spPr>
          <a:xfrm>
            <a:off x="8046720" y="3044952"/>
            <a:ext cx="3108960" cy="621792"/>
          </a:xfrm>
          <a:prstGeom prst="roundRect">
            <a:avLst>
              <a:gd name="adj" fmla="val 8824"/>
            </a:avLst>
          </a:prstGeom>
          <a:solidFill>
            <a:srgbClr val="5B9A56"/>
          </a:solidFill>
          <a:ln/>
        </p:spPr>
        <p:txBody>
          <a:bodyPr/>
          <a:lstStyle/>
          <a:p>
            <a:endParaRPr lang="en-GB"/>
          </a:p>
        </p:txBody>
      </p:sp>
      <p:sp>
        <p:nvSpPr>
          <p:cNvPr id="23" name="Text 20"/>
          <p:cNvSpPr/>
          <p:nvPr/>
        </p:nvSpPr>
        <p:spPr>
          <a:xfrm>
            <a:off x="8138160" y="3044952"/>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Population-based disease registry</a:t>
            </a:r>
            <a:endParaRPr lang="en-US" sz="1000" dirty="0"/>
          </a:p>
        </p:txBody>
      </p:sp>
      <p:sp>
        <p:nvSpPr>
          <p:cNvPr id="24" name="Shape 21"/>
          <p:cNvSpPr/>
          <p:nvPr/>
        </p:nvSpPr>
        <p:spPr>
          <a:xfrm>
            <a:off x="502920" y="3767328"/>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5" name="Text 22"/>
          <p:cNvSpPr/>
          <p:nvPr/>
        </p:nvSpPr>
        <p:spPr>
          <a:xfrm>
            <a:off x="685800" y="3767328"/>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Is this an active outbreak needing an immediate count?</a:t>
            </a:r>
            <a:endParaRPr lang="en-US" sz="1050" dirty="0"/>
          </a:p>
        </p:txBody>
      </p:sp>
      <p:sp>
        <p:nvSpPr>
          <p:cNvPr id="26" name="Text 23"/>
          <p:cNvSpPr/>
          <p:nvPr/>
        </p:nvSpPr>
        <p:spPr>
          <a:xfrm>
            <a:off x="7589520" y="3767328"/>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27" name="Shape 24"/>
          <p:cNvSpPr/>
          <p:nvPr/>
        </p:nvSpPr>
        <p:spPr>
          <a:xfrm>
            <a:off x="8046720" y="3767328"/>
            <a:ext cx="3108960" cy="621792"/>
          </a:xfrm>
          <a:prstGeom prst="roundRect">
            <a:avLst>
              <a:gd name="adj" fmla="val 8824"/>
            </a:avLst>
          </a:prstGeom>
          <a:solidFill>
            <a:srgbClr val="C0392B"/>
          </a:solidFill>
          <a:ln/>
        </p:spPr>
        <p:txBody>
          <a:bodyPr/>
          <a:lstStyle/>
          <a:p>
            <a:endParaRPr lang="en-GB"/>
          </a:p>
        </p:txBody>
      </p:sp>
      <p:sp>
        <p:nvSpPr>
          <p:cNvPr id="28" name="Text 25"/>
          <p:cNvSpPr/>
          <p:nvPr/>
        </p:nvSpPr>
        <p:spPr>
          <a:xfrm>
            <a:off x="8138160" y="3767328"/>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Notifiable disease surveillance</a:t>
            </a:r>
            <a:endParaRPr lang="en-US" sz="1000" dirty="0"/>
          </a:p>
        </p:txBody>
      </p:sp>
      <p:sp>
        <p:nvSpPr>
          <p:cNvPr id="29" name="Shape 26"/>
          <p:cNvSpPr/>
          <p:nvPr/>
        </p:nvSpPr>
        <p:spPr>
          <a:xfrm>
            <a:off x="502920" y="4489704"/>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30" name="Text 27"/>
          <p:cNvSpPr/>
          <p:nvPr/>
        </p:nvSpPr>
        <p:spPr>
          <a:xfrm>
            <a:off x="685800" y="4489704"/>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Does no single routine system capture the full picture?</a:t>
            </a:r>
            <a:endParaRPr lang="en-US" sz="1050" dirty="0"/>
          </a:p>
        </p:txBody>
      </p:sp>
      <p:sp>
        <p:nvSpPr>
          <p:cNvPr id="31" name="Text 28"/>
          <p:cNvSpPr/>
          <p:nvPr/>
        </p:nvSpPr>
        <p:spPr>
          <a:xfrm>
            <a:off x="7589520" y="4489704"/>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32" name="Shape 29"/>
          <p:cNvSpPr/>
          <p:nvPr/>
        </p:nvSpPr>
        <p:spPr>
          <a:xfrm>
            <a:off x="8046720" y="4489704"/>
            <a:ext cx="3108960" cy="621792"/>
          </a:xfrm>
          <a:prstGeom prst="roundRect">
            <a:avLst>
              <a:gd name="adj" fmla="val 8824"/>
            </a:avLst>
          </a:prstGeom>
          <a:solidFill>
            <a:srgbClr val="E63425"/>
          </a:solidFill>
          <a:ln/>
        </p:spPr>
        <p:txBody>
          <a:bodyPr/>
          <a:lstStyle/>
          <a:p>
            <a:endParaRPr lang="en-GB"/>
          </a:p>
        </p:txBody>
      </p:sp>
      <p:sp>
        <p:nvSpPr>
          <p:cNvPr id="33" name="Text 30"/>
          <p:cNvSpPr/>
          <p:nvPr/>
        </p:nvSpPr>
        <p:spPr>
          <a:xfrm>
            <a:off x="8138160" y="4489704"/>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Record linkage</a:t>
            </a:r>
            <a:endParaRPr lang="en-US" sz="1000" dirty="0"/>
          </a:p>
        </p:txBody>
      </p:sp>
      <p:sp>
        <p:nvSpPr>
          <p:cNvPr id="34" name="Shape 31"/>
          <p:cNvSpPr/>
          <p:nvPr/>
        </p:nvSpPr>
        <p:spPr>
          <a:xfrm>
            <a:off x="502920" y="5212080"/>
            <a:ext cx="6949440" cy="621792"/>
          </a:xfrm>
          <a:prstGeom prst="roundRect">
            <a:avLst>
              <a:gd name="adj" fmla="val 11765"/>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35" name="Text 32"/>
          <p:cNvSpPr/>
          <p:nvPr/>
        </p:nvSpPr>
        <p:spPr>
          <a:xfrm>
            <a:off x="685800" y="5212080"/>
            <a:ext cx="6583680" cy="621792"/>
          </a:xfrm>
          <a:prstGeom prst="rect">
            <a:avLst/>
          </a:prstGeom>
          <a:noFill/>
          <a:ln/>
        </p:spPr>
        <p:txBody>
          <a:bodyPr wrap="square" rtlCol="0" anchor="ctr"/>
          <a:lstStyle/>
          <a:p>
            <a:pPr marL="0" indent="0">
              <a:buNone/>
            </a:pPr>
            <a:r>
              <a:rPr lang="en-US" sz="1050" dirty="0">
                <a:solidFill>
                  <a:srgbClr val="27313B"/>
                </a:solidFill>
                <a:latin typeface="Arial" pitchFamily="34" charset="0"/>
                <a:ea typeface="Arial" pitchFamily="34" charset="-122"/>
                <a:cs typeface="Arial" pitchFamily="34" charset="-120"/>
              </a:rPr>
              <a:t>Does your question need a variable nobody routinely measures?</a:t>
            </a:r>
            <a:endParaRPr lang="en-US" sz="1050" dirty="0"/>
          </a:p>
        </p:txBody>
      </p:sp>
      <p:sp>
        <p:nvSpPr>
          <p:cNvPr id="36" name="Text 33"/>
          <p:cNvSpPr/>
          <p:nvPr/>
        </p:nvSpPr>
        <p:spPr>
          <a:xfrm>
            <a:off x="7589520" y="5212080"/>
            <a:ext cx="365760" cy="621792"/>
          </a:xfrm>
          <a:prstGeom prst="rect">
            <a:avLst/>
          </a:prstGeom>
          <a:noFill/>
          <a:ln/>
        </p:spPr>
        <p:txBody>
          <a:bodyPr wrap="square" rtlCol="0" anchor="ctr"/>
          <a:lstStyle/>
          <a:p>
            <a:pPr marL="0" indent="0" algn="ctr">
              <a:buNone/>
            </a:pPr>
            <a:r>
              <a:rPr lang="en-US" sz="1400" dirty="0">
                <a:solidFill>
                  <a:srgbClr val="5B6B7C"/>
                </a:solidFill>
                <a:latin typeface="Arial" pitchFamily="34" charset="0"/>
                <a:ea typeface="Arial" pitchFamily="34" charset="-122"/>
                <a:cs typeface="Arial" pitchFamily="34" charset="-120"/>
              </a:rPr>
              <a:t>→</a:t>
            </a:r>
            <a:endParaRPr lang="en-US" sz="1400" dirty="0"/>
          </a:p>
        </p:txBody>
      </p:sp>
      <p:sp>
        <p:nvSpPr>
          <p:cNvPr id="37" name="Shape 34"/>
          <p:cNvSpPr/>
          <p:nvPr/>
        </p:nvSpPr>
        <p:spPr>
          <a:xfrm>
            <a:off x="8046720" y="5212080"/>
            <a:ext cx="3108960" cy="621792"/>
          </a:xfrm>
          <a:prstGeom prst="roundRect">
            <a:avLst>
              <a:gd name="adj" fmla="val 8824"/>
            </a:avLst>
          </a:prstGeom>
          <a:solidFill>
            <a:srgbClr val="25374F"/>
          </a:solidFill>
          <a:ln/>
        </p:spPr>
        <p:txBody>
          <a:bodyPr/>
          <a:lstStyle/>
          <a:p>
            <a:endParaRPr lang="en-GB"/>
          </a:p>
        </p:txBody>
      </p:sp>
      <p:sp>
        <p:nvSpPr>
          <p:cNvPr id="38" name="Text 35"/>
          <p:cNvSpPr/>
          <p:nvPr/>
        </p:nvSpPr>
        <p:spPr>
          <a:xfrm>
            <a:off x="8138160" y="5212080"/>
            <a:ext cx="2926080" cy="62179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 purpose-built study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60120" y="219456"/>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6 · PUTTING IT TOGETHER</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All Routine Data Sources, Side by Side</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55680" cy="4206240"/>
        </p:xfrm>
        <a:graphic>
          <a:graphicData uri="http://schemas.openxmlformats.org/drawingml/2006/table">
            <a:tbl>
              <a:tblPr/>
              <a:tblGrid>
                <a:gridCol w="24688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701040">
                <a:tc>
                  <a:txBody>
                    <a:bodyPr/>
                    <a:lstStyle/>
                    <a:p>
                      <a:pPr marL="0" indent="0">
                        <a:buNone/>
                      </a:pPr>
                      <a:r>
                        <a:rPr lang="en-US" sz="1050" b="1" dirty="0">
                          <a:solidFill>
                            <a:srgbClr val="FFFFFF"/>
                          </a:solidFill>
                          <a:latin typeface="Arial" pitchFamily="34" charset="0"/>
                          <a:ea typeface="Arial" pitchFamily="34" charset="-122"/>
                          <a:cs typeface="Arial" pitchFamily="34" charset="-120"/>
                        </a:rPr>
                        <a:t>Source</a:t>
                      </a:r>
                      <a:endParaRPr lang="en-US" sz="10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1B2A3D"/>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Supplies</a:t>
                      </a:r>
                      <a:endParaRPr lang="en-US" sz="10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1B2A3D"/>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Typical use</a:t>
                      </a:r>
                      <a:endParaRPr lang="en-US" sz="10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1B2A3D"/>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Regional example used today</a:t>
                      </a:r>
                      <a:endParaRPr lang="en-US" sz="10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701040">
                <a:tc>
                  <a:txBody>
                    <a:bodyPr/>
                    <a:lstStyle/>
                    <a:p>
                      <a:pPr marL="0" indent="0">
                        <a:buNone/>
                      </a:pPr>
                      <a:r>
                        <a:rPr lang="en-US" sz="950" b="1" dirty="0">
                          <a:solidFill>
                            <a:srgbClr val="25374F"/>
                          </a:solidFill>
                          <a:latin typeface="Arial" pitchFamily="34" charset="0"/>
                          <a:ea typeface="Arial" pitchFamily="34" charset="-122"/>
                          <a:cs typeface="Arial" pitchFamily="34" charset="-120"/>
                        </a:rPr>
                        <a:t>Census / vital registration</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Denominator; vital-event numerator</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Population estimates; mortality ratios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Maternal mortality surveys, Zimbabwe (Musarandega et al., 2022)</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buNone/>
                      </a:pPr>
                      <a:r>
                        <a:rPr lang="en-US" sz="950" b="1" dirty="0">
                          <a:solidFill>
                            <a:srgbClr val="25374F"/>
                          </a:solidFill>
                          <a:latin typeface="Arial" pitchFamily="34" charset="0"/>
                          <a:ea typeface="Arial" pitchFamily="34" charset="-122"/>
                          <a:cs typeface="Arial" pitchFamily="34" charset="-120"/>
                        </a:rPr>
                        <a:t>Hospital / primary care / ART data</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Morbidity numerator</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Clinical monitoring; pooled programme analysis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IeDEA-Southern Africa, 640,000+ patients (Haas et al., 2018)</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701040">
                <a:tc>
                  <a:txBody>
                    <a:bodyPr/>
                    <a:lstStyle/>
                    <a:p>
                      <a:pPr marL="0" indent="0">
                        <a:buNone/>
                      </a:pPr>
                      <a:r>
                        <a:rPr lang="en-US" sz="950" b="1" dirty="0">
                          <a:solidFill>
                            <a:srgbClr val="25374F"/>
                          </a:solidFill>
                          <a:latin typeface="Arial" pitchFamily="34" charset="0"/>
                          <a:ea typeface="Arial" pitchFamily="34" charset="-122"/>
                          <a:cs typeface="Arial" pitchFamily="34" charset="-120"/>
                        </a:rPr>
                        <a:t>Disease / cancer registry</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Numerator for one condition, population-wide</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Long-run incidence trends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Zimbabwe National Cancer Registry, since 1986 (Chokunonga et al., 2025)</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buNone/>
                      </a:pPr>
                      <a:r>
                        <a:rPr lang="en-US" sz="950" b="1" dirty="0">
                          <a:solidFill>
                            <a:srgbClr val="25374F"/>
                          </a:solidFill>
                          <a:latin typeface="Arial" pitchFamily="34" charset="0"/>
                          <a:ea typeface="Arial" pitchFamily="34" charset="-122"/>
                          <a:cs typeface="Arial" pitchFamily="34" charset="-120"/>
                        </a:rPr>
                        <a:t>Notifiable disease surveillance</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Near-real-time case counts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Outbreak detection &amp; response</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Cholera notification, Zimbabwe 2018–19 (Mashe et al., 2023)</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701040">
                <a:tc>
                  <a:txBody>
                    <a:bodyPr/>
                    <a:lstStyle/>
                    <a:p>
                      <a:pPr marL="0" indent="0">
                        <a:buNone/>
                      </a:pPr>
                      <a:r>
                        <a:rPr lang="en-US" sz="950" b="1" dirty="0">
                          <a:solidFill>
                            <a:srgbClr val="25374F"/>
                          </a:solidFill>
                          <a:latin typeface="Arial" pitchFamily="34" charset="0"/>
                          <a:ea typeface="Arial" pitchFamily="34" charset="-122"/>
                          <a:cs typeface="Arial" pitchFamily="34" charset="-120"/>
                        </a:rPr>
                        <a:t>Record linkage</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Combines two+ routine sources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Finding outcomes no single source captures</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buNone/>
                      </a:pPr>
                      <a:r>
                        <a:rPr lang="en-US" sz="950" dirty="0">
                          <a:solidFill>
                            <a:srgbClr val="27313B"/>
                          </a:solidFill>
                          <a:latin typeface="Arial" pitchFamily="34" charset="0"/>
                          <a:ea typeface="Arial" pitchFamily="34" charset="-122"/>
                          <a:cs typeface="Arial" pitchFamily="34" charset="-120"/>
                        </a:rPr>
                        <a:t>Newlands Clinic × ZNCR cancer linkage (Shamu et al., 2022)</a:t>
                      </a:r>
                      <a:endParaRPr lang="en-US" sz="950" dirty="0">
                        <a:latin typeface="Arial" charset="0"/>
                        <a:ea typeface="Arial" charset="0"/>
                        <a:cs typeface="Arial" charset="0"/>
                      </a:endParaRPr>
                    </a:p>
                  </a:txBody>
                  <a:tcPr marL="76200" marR="76200" marT="76200" marB="762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1303020" y="267843"/>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7 · READING CRITICALLY</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Six Questions to Ask Before You Trust Routine Data</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Shape 6"/>
          <p:cNvSpPr/>
          <p:nvPr/>
        </p:nvSpPr>
        <p:spPr>
          <a:xfrm>
            <a:off x="502920" y="164592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0" name="Shape 7"/>
          <p:cNvSpPr/>
          <p:nvPr/>
        </p:nvSpPr>
        <p:spPr>
          <a:xfrm>
            <a:off x="704088" y="1828800"/>
            <a:ext cx="274320" cy="274320"/>
          </a:xfrm>
          <a:prstGeom prst="ellipse">
            <a:avLst/>
          </a:prstGeom>
          <a:solidFill>
            <a:srgbClr val="E63425"/>
          </a:solidFill>
          <a:ln/>
        </p:spPr>
        <p:txBody>
          <a:bodyPr/>
          <a:lstStyle/>
          <a:p>
            <a:endParaRPr lang="en-GB"/>
          </a:p>
        </p:txBody>
      </p:sp>
      <p:sp>
        <p:nvSpPr>
          <p:cNvPr id="11" name="Text 8"/>
          <p:cNvSpPr/>
          <p:nvPr/>
        </p:nvSpPr>
        <p:spPr>
          <a:xfrm>
            <a:off x="704088" y="219456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A · CASE DEFINITION</a:t>
            </a:r>
            <a:endParaRPr lang="en-US" sz="1050" dirty="0"/>
          </a:p>
        </p:txBody>
      </p:sp>
      <p:sp>
        <p:nvSpPr>
          <p:cNvPr id="12" name="Text 9"/>
          <p:cNvSpPr/>
          <p:nvPr/>
        </p:nvSpPr>
        <p:spPr>
          <a:xfrm>
            <a:off x="704088" y="256032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Keou et al. (1992, East Afr Med J): WHO/Bangui clinical AIDS definition for settings without HIV testing — sensitivity ~60%, specificity ~90%.</a:t>
            </a:r>
            <a:endParaRPr lang="en-US" sz="930" dirty="0"/>
          </a:p>
        </p:txBody>
      </p:sp>
      <p:sp>
        <p:nvSpPr>
          <p:cNvPr id="13" name="Shape 10"/>
          <p:cNvSpPr/>
          <p:nvPr/>
        </p:nvSpPr>
        <p:spPr>
          <a:xfrm>
            <a:off x="4087368" y="164592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4" name="Shape 11"/>
          <p:cNvSpPr/>
          <p:nvPr/>
        </p:nvSpPr>
        <p:spPr>
          <a:xfrm>
            <a:off x="4288536" y="1828800"/>
            <a:ext cx="274320" cy="274320"/>
          </a:xfrm>
          <a:prstGeom prst="ellipse">
            <a:avLst/>
          </a:prstGeom>
          <a:solidFill>
            <a:srgbClr val="F2A93B"/>
          </a:solidFill>
          <a:ln/>
        </p:spPr>
        <p:txBody>
          <a:bodyPr/>
          <a:lstStyle/>
          <a:p>
            <a:endParaRPr lang="en-GB"/>
          </a:p>
        </p:txBody>
      </p:sp>
      <p:sp>
        <p:nvSpPr>
          <p:cNvPr id="15" name="Text 12"/>
          <p:cNvSpPr/>
          <p:nvPr/>
        </p:nvSpPr>
        <p:spPr>
          <a:xfrm>
            <a:off x="4288536" y="219456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B · POPULATION AT RISK</a:t>
            </a:r>
            <a:endParaRPr lang="en-US" sz="1050" dirty="0"/>
          </a:p>
        </p:txBody>
      </p:sp>
      <p:sp>
        <p:nvSpPr>
          <p:cNvPr id="16" name="Text 13"/>
          <p:cNvSpPr/>
          <p:nvPr/>
        </p:nvSpPr>
        <p:spPr>
          <a:xfrm>
            <a:off x="4288536" y="256032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Gregson et al. (2002, AIDS): antenatal-clinic HIV surveillance in Manicaland over/under-estimated general prevalence — pregnant attendees are not a random sample.</a:t>
            </a:r>
            <a:endParaRPr lang="en-US" sz="930" dirty="0"/>
          </a:p>
        </p:txBody>
      </p:sp>
      <p:sp>
        <p:nvSpPr>
          <p:cNvPr id="17" name="Shape 14"/>
          <p:cNvSpPr/>
          <p:nvPr/>
        </p:nvSpPr>
        <p:spPr>
          <a:xfrm>
            <a:off x="7671816" y="164592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18" name="Shape 15"/>
          <p:cNvSpPr/>
          <p:nvPr/>
        </p:nvSpPr>
        <p:spPr>
          <a:xfrm>
            <a:off x="7872984" y="1828800"/>
            <a:ext cx="274320" cy="274320"/>
          </a:xfrm>
          <a:prstGeom prst="ellipse">
            <a:avLst/>
          </a:prstGeom>
          <a:solidFill>
            <a:srgbClr val="2E8B9B"/>
          </a:solidFill>
          <a:ln/>
        </p:spPr>
        <p:txBody>
          <a:bodyPr/>
          <a:lstStyle/>
          <a:p>
            <a:endParaRPr lang="en-GB"/>
          </a:p>
        </p:txBody>
      </p:sp>
      <p:sp>
        <p:nvSpPr>
          <p:cNvPr id="19" name="Text 16"/>
          <p:cNvSpPr/>
          <p:nvPr/>
        </p:nvSpPr>
        <p:spPr>
          <a:xfrm>
            <a:off x="7872984" y="219456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C · COMPLETENESS</a:t>
            </a:r>
            <a:endParaRPr lang="en-US" sz="1050" dirty="0"/>
          </a:p>
        </p:txBody>
      </p:sp>
      <p:sp>
        <p:nvSpPr>
          <p:cNvPr id="20" name="Text 17"/>
          <p:cNvSpPr/>
          <p:nvPr/>
        </p:nvSpPr>
        <p:spPr>
          <a:xfrm>
            <a:off x="7872984" y="256032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Lopman et al. (2006, Bull WHO): household-census mortality (12/1,000 PY) vs cohort &amp; modelling (22–29/1,000) in Manicaland.</a:t>
            </a:r>
            <a:endParaRPr lang="en-US" sz="930" dirty="0"/>
          </a:p>
        </p:txBody>
      </p:sp>
      <p:sp>
        <p:nvSpPr>
          <p:cNvPr id="21" name="Shape 18"/>
          <p:cNvSpPr/>
          <p:nvPr/>
        </p:nvSpPr>
        <p:spPr>
          <a:xfrm>
            <a:off x="502920" y="379476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2" name="Shape 19"/>
          <p:cNvSpPr/>
          <p:nvPr/>
        </p:nvSpPr>
        <p:spPr>
          <a:xfrm>
            <a:off x="704088" y="3977640"/>
            <a:ext cx="274320" cy="274320"/>
          </a:xfrm>
          <a:prstGeom prst="ellipse">
            <a:avLst/>
          </a:prstGeom>
          <a:solidFill>
            <a:srgbClr val="5B9A56"/>
          </a:solidFill>
          <a:ln/>
        </p:spPr>
        <p:txBody>
          <a:bodyPr/>
          <a:lstStyle/>
          <a:p>
            <a:endParaRPr lang="en-GB"/>
          </a:p>
        </p:txBody>
      </p:sp>
      <p:sp>
        <p:nvSpPr>
          <p:cNvPr id="23" name="Text 20"/>
          <p:cNvSpPr/>
          <p:nvPr/>
        </p:nvSpPr>
        <p:spPr>
          <a:xfrm>
            <a:off x="704088" y="434340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D · ACCURACY</a:t>
            </a:r>
            <a:endParaRPr lang="en-US" sz="1050" dirty="0"/>
          </a:p>
        </p:txBody>
      </p:sp>
      <p:sp>
        <p:nvSpPr>
          <p:cNvPr id="24" name="Text 21"/>
          <p:cNvSpPr/>
          <p:nvPr/>
        </p:nvSpPr>
        <p:spPr>
          <a:xfrm>
            <a:off x="704088" y="470916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Even probabilistic linkage needs manual clerical review of uncertain pairs (Shamu et al., 2022) — automation alone is not enough.</a:t>
            </a:r>
            <a:endParaRPr lang="en-US" sz="930" dirty="0"/>
          </a:p>
        </p:txBody>
      </p:sp>
      <p:sp>
        <p:nvSpPr>
          <p:cNvPr id="25" name="Shape 22"/>
          <p:cNvSpPr/>
          <p:nvPr/>
        </p:nvSpPr>
        <p:spPr>
          <a:xfrm>
            <a:off x="4087368" y="379476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26" name="Shape 23"/>
          <p:cNvSpPr/>
          <p:nvPr/>
        </p:nvSpPr>
        <p:spPr>
          <a:xfrm>
            <a:off x="4288536" y="3977640"/>
            <a:ext cx="274320" cy="274320"/>
          </a:xfrm>
          <a:prstGeom prst="ellipse">
            <a:avLst/>
          </a:prstGeom>
          <a:solidFill>
            <a:srgbClr val="25374F"/>
          </a:solidFill>
          <a:ln/>
        </p:spPr>
        <p:txBody>
          <a:bodyPr/>
          <a:lstStyle/>
          <a:p>
            <a:endParaRPr lang="en-GB"/>
          </a:p>
        </p:txBody>
      </p:sp>
      <p:sp>
        <p:nvSpPr>
          <p:cNvPr id="27" name="Text 24"/>
          <p:cNvSpPr/>
          <p:nvPr/>
        </p:nvSpPr>
        <p:spPr>
          <a:xfrm>
            <a:off x="4288536" y="434340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E · CONFIDENTIALITY</a:t>
            </a:r>
            <a:endParaRPr lang="en-US" sz="1050" dirty="0"/>
          </a:p>
        </p:txBody>
      </p:sp>
      <p:sp>
        <p:nvSpPr>
          <p:cNvPr id="28" name="Text 25"/>
          <p:cNvSpPr/>
          <p:nvPr/>
        </p:nvSpPr>
        <p:spPr>
          <a:xfrm>
            <a:off x="4288536" y="470916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Groenewald et al. (2025, AIDS): most verified HIV-related deaths in South Africa were not recorded as such on death certificates — stigma-linked under-reporting.</a:t>
            </a:r>
            <a:endParaRPr lang="en-US" sz="930" dirty="0"/>
          </a:p>
        </p:txBody>
      </p:sp>
      <p:sp>
        <p:nvSpPr>
          <p:cNvPr id="29" name="Shape 26"/>
          <p:cNvSpPr/>
          <p:nvPr/>
        </p:nvSpPr>
        <p:spPr>
          <a:xfrm>
            <a:off x="7671816" y="3794760"/>
            <a:ext cx="3447288" cy="1965960"/>
          </a:xfrm>
          <a:prstGeom prst="roundRect">
            <a:avLst>
              <a:gd name="adj" fmla="val 3721"/>
            </a:avLst>
          </a:prstGeom>
          <a:solidFill>
            <a:srgbClr val="F4F5F7"/>
          </a:solidFill>
          <a:ln/>
          <a:effectLst>
            <a:outerShdw blurRad="101600" dist="38100" dir="5400000" algn="bl" rotWithShape="0">
              <a:srgbClr val="1B2A3D">
                <a:alpha val="18000"/>
              </a:srgbClr>
            </a:outerShdw>
          </a:effectLst>
        </p:spPr>
        <p:txBody>
          <a:bodyPr/>
          <a:lstStyle/>
          <a:p>
            <a:endParaRPr lang="en-GB"/>
          </a:p>
        </p:txBody>
      </p:sp>
      <p:sp>
        <p:nvSpPr>
          <p:cNvPr id="30" name="Shape 27"/>
          <p:cNvSpPr/>
          <p:nvPr/>
        </p:nvSpPr>
        <p:spPr>
          <a:xfrm>
            <a:off x="7872984" y="3977640"/>
            <a:ext cx="274320" cy="274320"/>
          </a:xfrm>
          <a:prstGeom prst="ellipse">
            <a:avLst/>
          </a:prstGeom>
          <a:solidFill>
            <a:srgbClr val="5B6B7C"/>
          </a:solidFill>
          <a:ln/>
        </p:spPr>
        <p:txBody>
          <a:bodyPr/>
          <a:lstStyle/>
          <a:p>
            <a:endParaRPr lang="en-GB"/>
          </a:p>
        </p:txBody>
      </p:sp>
      <p:sp>
        <p:nvSpPr>
          <p:cNvPr id="31" name="Text 28"/>
          <p:cNvSpPr/>
          <p:nvPr/>
        </p:nvSpPr>
        <p:spPr>
          <a:xfrm>
            <a:off x="7872984" y="4343400"/>
            <a:ext cx="3044952" cy="320040"/>
          </a:xfrm>
          <a:prstGeom prst="rect">
            <a:avLst/>
          </a:prstGeom>
          <a:noFill/>
          <a:ln/>
        </p:spPr>
        <p:txBody>
          <a:bodyPr wrap="square" rtlCol="0" anchor="ctr"/>
          <a:lstStyle/>
          <a:p>
            <a:pPr marL="0" indent="0">
              <a:buNone/>
            </a:pPr>
            <a:r>
              <a:rPr lang="en-US" sz="1050" b="1" dirty="0">
                <a:solidFill>
                  <a:srgbClr val="25374F"/>
                </a:solidFill>
                <a:latin typeface="Arial" pitchFamily="34" charset="0"/>
                <a:ea typeface="Arial" pitchFamily="34" charset="-122"/>
                <a:cs typeface="Arial" pitchFamily="34" charset="-120"/>
              </a:rPr>
              <a:t>F · HOW UP-TO-DATE</a:t>
            </a:r>
            <a:endParaRPr lang="en-US" sz="1050" dirty="0"/>
          </a:p>
        </p:txBody>
      </p:sp>
      <p:sp>
        <p:nvSpPr>
          <p:cNvPr id="32" name="Text 29"/>
          <p:cNvSpPr/>
          <p:nvPr/>
        </p:nvSpPr>
        <p:spPr>
          <a:xfrm>
            <a:off x="7872984" y="4709160"/>
            <a:ext cx="3044952" cy="960120"/>
          </a:xfrm>
          <a:prstGeom prst="rect">
            <a:avLst/>
          </a:prstGeom>
          <a:noFill/>
          <a:ln/>
        </p:spPr>
        <p:txBody>
          <a:bodyPr wrap="square" rtlCol="0" anchor="t"/>
          <a:lstStyle/>
          <a:p>
            <a:pPr marL="0" indent="0">
              <a:buNone/>
            </a:pPr>
            <a:r>
              <a:rPr lang="en-US" sz="930" dirty="0">
                <a:solidFill>
                  <a:srgbClr val="27313B"/>
                </a:solidFill>
                <a:latin typeface="Arial" pitchFamily="34" charset="0"/>
                <a:ea typeface="Arial" pitchFamily="34" charset="-122"/>
                <a:cs typeface="Arial" pitchFamily="34" charset="-120"/>
              </a:rPr>
              <a:t>A cancer registry needs decades for a trend (ZNCR); an active outbreak needs case counts within days (cholera notification).</a:t>
            </a:r>
            <a:endParaRPr lang="en-US" sz="9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5374F"/>
        </a:solidFill>
        <a:effectLst/>
      </p:bgPr>
    </p:bg>
    <p:spTree>
      <p:nvGrpSpPr>
        <p:cNvPr id="1" name=""/>
        <p:cNvGrpSpPr/>
        <p:nvPr/>
      </p:nvGrpSpPr>
      <p:grpSpPr>
        <a:xfrm>
          <a:off x="0" y="0"/>
          <a:ext cx="0" cy="0"/>
          <a:chOff x="0" y="0"/>
          <a:chExt cx="0" cy="0"/>
        </a:xfrm>
      </p:grpSpPr>
      <p:sp>
        <p:nvSpPr>
          <p:cNvPr id="2" name="Shape 0"/>
          <p:cNvSpPr/>
          <p:nvPr/>
        </p:nvSpPr>
        <p:spPr>
          <a:xfrm>
            <a:off x="-1463040" y="5394960"/>
            <a:ext cx="2926080" cy="2926080"/>
          </a:xfrm>
          <a:prstGeom prst="ellipse">
            <a:avLst/>
          </a:prstGeom>
          <a:solidFill>
            <a:srgbClr val="1B2A3D"/>
          </a:solidFill>
          <a:ln/>
        </p:spPr>
        <p:txBody>
          <a:bodyPr/>
          <a:lstStyle/>
          <a:p>
            <a:endParaRPr lang="en-GB"/>
          </a:p>
        </p:txBody>
      </p:sp>
      <p:pic>
        <p:nvPicPr>
          <p:cNvPr id="3"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4" name="Text 1"/>
          <p:cNvSpPr/>
          <p:nvPr/>
        </p:nvSpPr>
        <p:spPr>
          <a:xfrm>
            <a:off x="502920" y="384048"/>
            <a:ext cx="73152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SECTION 8 · RECAP</a:t>
            </a:r>
            <a:endParaRPr lang="en-US" sz="1150" dirty="0"/>
          </a:p>
        </p:txBody>
      </p:sp>
      <p:sp>
        <p:nvSpPr>
          <p:cNvPr id="5" name="Text 2"/>
          <p:cNvSpPr/>
          <p:nvPr/>
        </p:nvSpPr>
        <p:spPr>
          <a:xfrm>
            <a:off x="502920" y="658368"/>
            <a:ext cx="10058400" cy="64008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Key Takeaways</a:t>
            </a:r>
            <a:endParaRPr lang="en-US" sz="2500" dirty="0"/>
          </a:p>
        </p:txBody>
      </p:sp>
      <p:sp>
        <p:nvSpPr>
          <p:cNvPr id="6" name="Shape 3"/>
          <p:cNvSpPr/>
          <p:nvPr/>
        </p:nvSpPr>
        <p:spPr>
          <a:xfrm>
            <a:off x="502920" y="1508760"/>
            <a:ext cx="274320" cy="274320"/>
          </a:xfrm>
          <a:prstGeom prst="ellipse">
            <a:avLst/>
          </a:prstGeom>
          <a:solidFill>
            <a:srgbClr val="E63425"/>
          </a:solidFill>
          <a:ln/>
        </p:spPr>
        <p:txBody>
          <a:bodyPr/>
          <a:lstStyle/>
          <a:p>
            <a:endParaRPr lang="en-GB"/>
          </a:p>
        </p:txBody>
      </p:sp>
      <p:sp>
        <p:nvSpPr>
          <p:cNvPr id="7" name="Text 4"/>
          <p:cNvSpPr/>
          <p:nvPr/>
        </p:nvSpPr>
        <p:spPr>
          <a:xfrm>
            <a:off x="502920" y="150876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8" name="Text 5"/>
          <p:cNvSpPr/>
          <p:nvPr/>
        </p:nvSpPr>
        <p:spPr>
          <a:xfrm>
            <a:off x="914400" y="146304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Routine data are collected for administration or clinical care — not for your question — so case definition and completeness matter enormously.</a:t>
            </a:r>
            <a:endParaRPr lang="en-US" sz="1200" dirty="0"/>
          </a:p>
        </p:txBody>
      </p:sp>
      <p:sp>
        <p:nvSpPr>
          <p:cNvPr id="9" name="Shape 6"/>
          <p:cNvSpPr/>
          <p:nvPr/>
        </p:nvSpPr>
        <p:spPr>
          <a:xfrm>
            <a:off x="502920" y="2286000"/>
            <a:ext cx="274320" cy="274320"/>
          </a:xfrm>
          <a:prstGeom prst="ellipse">
            <a:avLst/>
          </a:prstGeom>
          <a:solidFill>
            <a:srgbClr val="E63425"/>
          </a:solidFill>
          <a:ln/>
        </p:spPr>
        <p:txBody>
          <a:bodyPr/>
          <a:lstStyle/>
          <a:p>
            <a:endParaRPr lang="en-GB"/>
          </a:p>
        </p:txBody>
      </p:sp>
      <p:sp>
        <p:nvSpPr>
          <p:cNvPr id="10" name="Text 7"/>
          <p:cNvSpPr/>
          <p:nvPr/>
        </p:nvSpPr>
        <p:spPr>
          <a:xfrm>
            <a:off x="502920" y="228600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11" name="Text 8"/>
          <p:cNvSpPr/>
          <p:nvPr/>
        </p:nvSpPr>
        <p:spPr>
          <a:xfrm>
            <a:off x="914400" y="224028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Sources include census &amp; vital registration, hospital/ART data, disease &amp; cancer registries, and notifiable disease surveillance, each supplying numerator and/or denominator data.</a:t>
            </a:r>
            <a:endParaRPr lang="en-US" sz="1200" dirty="0"/>
          </a:p>
        </p:txBody>
      </p:sp>
      <p:sp>
        <p:nvSpPr>
          <p:cNvPr id="12" name="Shape 9"/>
          <p:cNvSpPr/>
          <p:nvPr/>
        </p:nvSpPr>
        <p:spPr>
          <a:xfrm>
            <a:off x="502920" y="3063240"/>
            <a:ext cx="274320" cy="274320"/>
          </a:xfrm>
          <a:prstGeom prst="ellipse">
            <a:avLst/>
          </a:prstGeom>
          <a:solidFill>
            <a:srgbClr val="E63425"/>
          </a:solidFill>
          <a:ln/>
        </p:spPr>
        <p:txBody>
          <a:bodyPr/>
          <a:lstStyle/>
          <a:p>
            <a:endParaRPr lang="en-GB"/>
          </a:p>
        </p:txBody>
      </p:sp>
      <p:sp>
        <p:nvSpPr>
          <p:cNvPr id="13" name="Text 10"/>
          <p:cNvSpPr/>
          <p:nvPr/>
        </p:nvSpPr>
        <p:spPr>
          <a:xfrm>
            <a:off x="502920" y="306324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14" name="Text 11"/>
          <p:cNvSpPr/>
          <p:nvPr/>
        </p:nvSpPr>
        <p:spPr>
          <a:xfrm>
            <a:off x="914400" y="301752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Numerator ÷ person-time at risk gives a rate — as in the 66 ÷ 19,346 PY = 341/100,000 PY calculation from Shamu et al.</a:t>
            </a:r>
            <a:endParaRPr lang="en-US" sz="1200" dirty="0"/>
          </a:p>
        </p:txBody>
      </p:sp>
      <p:sp>
        <p:nvSpPr>
          <p:cNvPr id="15" name="Shape 12"/>
          <p:cNvSpPr/>
          <p:nvPr/>
        </p:nvSpPr>
        <p:spPr>
          <a:xfrm>
            <a:off x="502920" y="3840480"/>
            <a:ext cx="274320" cy="274320"/>
          </a:xfrm>
          <a:prstGeom prst="ellipse">
            <a:avLst/>
          </a:prstGeom>
          <a:solidFill>
            <a:srgbClr val="E63425"/>
          </a:solidFill>
          <a:ln/>
        </p:spPr>
        <p:txBody>
          <a:bodyPr/>
          <a:lstStyle/>
          <a:p>
            <a:endParaRPr lang="en-GB"/>
          </a:p>
        </p:txBody>
      </p:sp>
      <p:sp>
        <p:nvSpPr>
          <p:cNvPr id="16" name="Text 13"/>
          <p:cNvSpPr/>
          <p:nvPr/>
        </p:nvSpPr>
        <p:spPr>
          <a:xfrm>
            <a:off x="502920" y="384048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17" name="Text 14"/>
          <p:cNvSpPr/>
          <p:nvPr/>
        </p:nvSpPr>
        <p:spPr>
          <a:xfrm>
            <a:off x="914400" y="379476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Descriptive use (trends, place, exposure group, summary statistics) generates hypotheses; analytical use, as in the Tsepamo study, tests them directly.</a:t>
            </a:r>
            <a:endParaRPr lang="en-US" sz="1200" dirty="0"/>
          </a:p>
        </p:txBody>
      </p:sp>
      <p:sp>
        <p:nvSpPr>
          <p:cNvPr id="18" name="Shape 15"/>
          <p:cNvSpPr/>
          <p:nvPr/>
        </p:nvSpPr>
        <p:spPr>
          <a:xfrm>
            <a:off x="502920" y="4617720"/>
            <a:ext cx="274320" cy="274320"/>
          </a:xfrm>
          <a:prstGeom prst="ellipse">
            <a:avLst/>
          </a:prstGeom>
          <a:solidFill>
            <a:srgbClr val="E63425"/>
          </a:solidFill>
          <a:ln/>
        </p:spPr>
        <p:txBody>
          <a:bodyPr/>
          <a:lstStyle/>
          <a:p>
            <a:endParaRPr lang="en-GB"/>
          </a:p>
        </p:txBody>
      </p:sp>
      <p:sp>
        <p:nvSpPr>
          <p:cNvPr id="19" name="Text 16"/>
          <p:cNvSpPr/>
          <p:nvPr/>
        </p:nvSpPr>
        <p:spPr>
          <a:xfrm>
            <a:off x="502920" y="461772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20" name="Text 17"/>
          <p:cNvSpPr/>
          <p:nvPr/>
        </p:nvSpPr>
        <p:spPr>
          <a:xfrm>
            <a:off x="914400" y="457200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Record linkage — like the Newlands Clinic × ZNCR cancer study — finds outcomes no single routine system was built to find, but is only as good as its matching.</a:t>
            </a:r>
            <a:endParaRPr lang="en-US" sz="1200" dirty="0"/>
          </a:p>
        </p:txBody>
      </p:sp>
      <p:sp>
        <p:nvSpPr>
          <p:cNvPr id="21" name="Shape 18"/>
          <p:cNvSpPr/>
          <p:nvPr/>
        </p:nvSpPr>
        <p:spPr>
          <a:xfrm>
            <a:off x="502920" y="5394960"/>
            <a:ext cx="274320" cy="274320"/>
          </a:xfrm>
          <a:prstGeom prst="ellipse">
            <a:avLst/>
          </a:prstGeom>
          <a:solidFill>
            <a:srgbClr val="E63425"/>
          </a:solidFill>
          <a:ln/>
        </p:spPr>
        <p:txBody>
          <a:bodyPr/>
          <a:lstStyle/>
          <a:p>
            <a:endParaRPr lang="en-GB"/>
          </a:p>
        </p:txBody>
      </p:sp>
      <p:sp>
        <p:nvSpPr>
          <p:cNvPr id="22" name="Text 19"/>
          <p:cNvSpPr/>
          <p:nvPr/>
        </p:nvSpPr>
        <p:spPr>
          <a:xfrm>
            <a:off x="502920" y="5394960"/>
            <a:ext cx="274320" cy="2743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
        <p:nvSpPr>
          <p:cNvPr id="23" name="Text 20"/>
          <p:cNvSpPr/>
          <p:nvPr/>
        </p:nvSpPr>
        <p:spPr>
          <a:xfrm>
            <a:off x="914400" y="5349240"/>
            <a:ext cx="10241280" cy="685800"/>
          </a:xfrm>
          <a:prstGeom prst="rect">
            <a:avLst/>
          </a:prstGeom>
          <a:noFill/>
          <a:ln/>
        </p:spPr>
        <p:txBody>
          <a:bodyPr wrap="square" rtlCol="0" anchor="t"/>
          <a:lstStyle/>
          <a:p>
            <a:pPr marL="0" indent="0">
              <a:buNone/>
            </a:pPr>
            <a:r>
              <a:rPr lang="en-US" sz="1200" dirty="0">
                <a:solidFill>
                  <a:srgbClr val="E8ECF0"/>
                </a:solidFill>
                <a:latin typeface="Arial" pitchFamily="34" charset="0"/>
                <a:ea typeface="Arial" pitchFamily="34" charset="-122"/>
                <a:cs typeface="Arial" pitchFamily="34" charset="-120"/>
              </a:rPr>
              <a:t>Before trusting any routine source, ask about its case definition, population at risk, completeness, accuracy, confidentiality effects, and how up-to-date it is.</a:t>
            </a:r>
            <a:endParaRPr lang="en-US" sz="1200" dirty="0"/>
          </a:p>
        </p:txBody>
      </p:sp>
      <p:sp>
        <p:nvSpPr>
          <p:cNvPr id="24" name="Text 21"/>
          <p:cNvSpPr/>
          <p:nvPr/>
        </p:nvSpPr>
        <p:spPr>
          <a:xfrm>
            <a:off x="502920" y="6492240"/>
            <a:ext cx="4572000" cy="274320"/>
          </a:xfrm>
          <a:prstGeom prst="rect">
            <a:avLst/>
          </a:prstGeom>
          <a:noFill/>
          <a:ln/>
        </p:spPr>
        <p:txBody>
          <a:bodyPr wrap="square" rtlCol="0" anchor="ctr"/>
          <a:lstStyle/>
          <a:p>
            <a:pPr marL="0" indent="0">
              <a:buNone/>
            </a:pPr>
            <a:r>
              <a:rPr lang="en-US" sz="900" dirty="0">
                <a:solidFill>
                  <a:srgbClr val="9FB0C2"/>
                </a:solidFill>
                <a:latin typeface="Arial" pitchFamily="34" charset="0"/>
                <a:ea typeface="Arial" pitchFamily="34" charset="-122"/>
                <a:cs typeface="Arial" pitchFamily="34" charset="-120"/>
              </a:rPr>
              <a:t>www.newlandsclinic.org.zw</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2926080" cy="2926080"/>
          </a:xfrm>
          <a:prstGeom prst="ellipse">
            <a:avLst/>
          </a:prstGeom>
          <a:solidFill>
            <a:srgbClr val="25374F"/>
          </a:solidFill>
          <a:ln/>
        </p:spPr>
        <p:txBody>
          <a:bodyPr/>
          <a:lstStyle/>
          <a:p>
            <a:endParaRPr lang="en-GB"/>
          </a:p>
        </p:txBody>
      </p:sp>
      <p:sp>
        <p:nvSpPr>
          <p:cNvPr id="3" name="Shape 1"/>
          <p:cNvSpPr/>
          <p:nvPr/>
        </p:nvSpPr>
        <p:spPr>
          <a:xfrm>
            <a:off x="11155680" y="6035040"/>
            <a:ext cx="1920240" cy="1920240"/>
          </a:xfrm>
          <a:prstGeom prst="ellipse">
            <a:avLst/>
          </a:prstGeom>
          <a:solidFill>
            <a:srgbClr val="25374F"/>
          </a:solidFill>
          <a:ln/>
        </p:spPr>
        <p:txBody>
          <a:bodyPr/>
          <a:lstStyle/>
          <a:p>
            <a:endParaRPr lang="en-GB"/>
          </a:p>
        </p:txBody>
      </p:sp>
      <p:pic>
        <p:nvPicPr>
          <p:cNvPr id="4" name="Image 0" descr="/home/claude/proj/logo.png"/>
          <p:cNvPicPr>
            <a:picLocks noChangeAspect="1"/>
          </p:cNvPicPr>
          <p:nvPr/>
        </p:nvPicPr>
        <p:blipFill>
          <a:blip r:embed="rId3"/>
          <a:stretch>
            <a:fillRect/>
          </a:stretch>
        </p:blipFill>
        <p:spPr>
          <a:xfrm>
            <a:off x="10637215" y="320040"/>
            <a:ext cx="1051560" cy="693420"/>
          </a:xfrm>
          <a:prstGeom prst="rect">
            <a:avLst/>
          </a:prstGeom>
        </p:spPr>
      </p:pic>
      <p:sp>
        <p:nvSpPr>
          <p:cNvPr id="5" name="Text 2"/>
          <p:cNvSpPr/>
          <p:nvPr/>
        </p:nvSpPr>
        <p:spPr>
          <a:xfrm>
            <a:off x="960120" y="336042"/>
            <a:ext cx="10058400" cy="274320"/>
          </a:xfrm>
          <a:prstGeom prst="rect">
            <a:avLst/>
          </a:prstGeom>
          <a:noFill/>
          <a:ln/>
        </p:spPr>
        <p:txBody>
          <a:bodyPr wrap="square" rtlCol="0" anchor="ctr"/>
          <a:lstStyle/>
          <a:p>
            <a:pPr marL="0" indent="0">
              <a:buNone/>
            </a:pPr>
            <a:r>
              <a:rPr lang="en-US" sz="1150" b="1" kern="0" spc="120" dirty="0">
                <a:solidFill>
                  <a:srgbClr val="E63425"/>
                </a:solidFill>
                <a:latin typeface="Arial" pitchFamily="34" charset="0"/>
                <a:ea typeface="Arial" pitchFamily="34" charset="-122"/>
                <a:cs typeface="Arial" pitchFamily="34" charset="-120"/>
              </a:rPr>
              <a:t>REFERENCES</a:t>
            </a:r>
            <a:endParaRPr lang="en-US" sz="1150" dirty="0"/>
          </a:p>
        </p:txBody>
      </p:sp>
      <p:sp>
        <p:nvSpPr>
          <p:cNvPr id="6" name="Text 3"/>
          <p:cNvSpPr/>
          <p:nvPr/>
        </p:nvSpPr>
        <p:spPr>
          <a:xfrm>
            <a:off x="502920" y="658368"/>
            <a:ext cx="10607040" cy="777240"/>
          </a:xfrm>
          <a:prstGeom prst="rect">
            <a:avLst/>
          </a:prstGeom>
          <a:noFill/>
          <a:ln/>
        </p:spPr>
        <p:txBody>
          <a:bodyPr wrap="square" rtlCol="0" anchor="t"/>
          <a:lstStyle/>
          <a:p>
            <a:pPr marL="0" indent="0">
              <a:buNone/>
            </a:pPr>
            <a:r>
              <a:rPr lang="en-US" sz="2500" b="1" dirty="0">
                <a:solidFill>
                  <a:srgbClr val="25374F"/>
                </a:solidFill>
                <a:latin typeface="Arial" pitchFamily="34" charset="0"/>
                <a:ea typeface="Arial" pitchFamily="34" charset="-122"/>
                <a:cs typeface="Arial" pitchFamily="34" charset="-120"/>
              </a:rPr>
              <a:t>Peer-Reviewed Sources Used in This Session</a:t>
            </a:r>
            <a:endParaRPr lang="en-US" sz="2500" dirty="0"/>
          </a:p>
        </p:txBody>
      </p:sp>
      <p:sp>
        <p:nvSpPr>
          <p:cNvPr id="7" name="Text 4"/>
          <p:cNvSpPr/>
          <p:nvPr/>
        </p:nvSpPr>
        <p:spPr>
          <a:xfrm>
            <a:off x="502920" y="6291072"/>
            <a:ext cx="5486400" cy="228600"/>
          </a:xfrm>
          <a:prstGeom prst="rect">
            <a:avLst/>
          </a:prstGeom>
          <a:noFill/>
          <a:ln/>
        </p:spPr>
        <p:txBody>
          <a:bodyPr wrap="square" rtlCol="0" anchor="ctr"/>
          <a:lstStyle/>
          <a:p>
            <a:pPr marL="0" indent="0">
              <a:buNone/>
            </a:pPr>
            <a:r>
              <a:rPr lang="en-US" sz="900" b="1" dirty="0">
                <a:solidFill>
                  <a:srgbClr val="E63425"/>
                </a:solidFill>
                <a:latin typeface="Arial" pitchFamily="34" charset="0"/>
                <a:ea typeface="Arial" pitchFamily="34" charset="-122"/>
                <a:cs typeface="Arial" pitchFamily="34" charset="-120"/>
              </a:rPr>
              <a:t>RESEARCH MASTERCLASS FOR CLINICIANS</a:t>
            </a:r>
            <a:endParaRPr lang="en-US" sz="900" dirty="0"/>
          </a:p>
        </p:txBody>
      </p:sp>
      <p:sp>
        <p:nvSpPr>
          <p:cNvPr id="8" name="Text 5"/>
          <p:cNvSpPr/>
          <p:nvPr/>
        </p:nvSpPr>
        <p:spPr>
          <a:xfrm>
            <a:off x="502920" y="6510528"/>
            <a:ext cx="5486400" cy="228600"/>
          </a:xfrm>
          <a:prstGeom prst="rect">
            <a:avLst/>
          </a:prstGeom>
          <a:noFill/>
          <a:ln/>
        </p:spPr>
        <p:txBody>
          <a:bodyPr wrap="square" rtlCol="0" anchor="ctr"/>
          <a:lstStyle/>
          <a:p>
            <a:pPr marL="0" indent="0">
              <a:buNone/>
            </a:pPr>
            <a:r>
              <a:rPr lang="en-US" sz="800" dirty="0">
                <a:solidFill>
                  <a:srgbClr val="5B6B7C"/>
                </a:solidFill>
                <a:latin typeface="Arial" pitchFamily="34" charset="0"/>
                <a:ea typeface="Arial" pitchFamily="34" charset="-122"/>
                <a:cs typeface="Arial" pitchFamily="34" charset="-120"/>
              </a:rPr>
              <a:t>www.newlandsclinic.org.zw</a:t>
            </a:r>
            <a:endParaRPr lang="en-US" sz="800" dirty="0"/>
          </a:p>
        </p:txBody>
      </p:sp>
      <p:sp>
        <p:nvSpPr>
          <p:cNvPr id="9" name="Text 6"/>
          <p:cNvSpPr/>
          <p:nvPr/>
        </p:nvSpPr>
        <p:spPr>
          <a:xfrm>
            <a:off x="502920" y="1554480"/>
            <a:ext cx="5349240" cy="4846320"/>
          </a:xfrm>
          <a:prstGeom prst="rect">
            <a:avLst/>
          </a:prstGeom>
          <a:noFill/>
          <a:ln/>
        </p:spPr>
        <p:txBody>
          <a:bodyPr wrap="square" rtlCol="0" anchor="t"/>
          <a:lstStyle/>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Shamu T, Rohner E, Chokunonga E, et al. Cancer incidence among people living with HIV in Zimbabwe: a record linkage study. Cancer Rep (Hoboken). 2022;5(10):e1597.</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Chokunonga E, Makunike-Mutasa R, Borok M, et al. Trends in the incidence of cancers related to HIV-AIDS in Harare, Zimbabwe 1990–2019. J Natl Cancer Inst. 2025;117(10):2096–2102.</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Dhokotera T, Olago V, Singh E, et al. The burden of cancers associated with HIV in the South African public health sector, 2004–2014: a record linkage study. Infect Agent Cancer. 2019;14:12.</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Haas AD, Zaniewski E, Anderegg N, et al; IeDEA. Retention and mortality on antiretroviral therapy in sub-Saharan Africa: collaborative analyses of HIV treatment programmes. J Int AIDS Soc. 2018;21(2):e25084.</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Musarandega R, Cresswell J, Magwali T, et al. Maternal mortality decline in Zimbabwe, 2007/2008 to 2018/2019. BMJ Glob Health. 2022;7(8):e009465.</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Lopman B, Barnabas R, Hallett T, et al. Assessing adult mortality in HIV-1 afflicted Zimbabwe: Manicaland 1998–2003. Bull World Health Organ. 2006;84(3):189–197.</a:t>
            </a:r>
            <a:endParaRPr lang="en-US" sz="930" dirty="0"/>
          </a:p>
        </p:txBody>
      </p:sp>
      <p:sp>
        <p:nvSpPr>
          <p:cNvPr id="10" name="Text 7"/>
          <p:cNvSpPr/>
          <p:nvPr/>
        </p:nvSpPr>
        <p:spPr>
          <a:xfrm>
            <a:off x="5989320" y="1554480"/>
            <a:ext cx="5349240" cy="4846320"/>
          </a:xfrm>
          <a:prstGeom prst="rect">
            <a:avLst/>
          </a:prstGeom>
          <a:noFill/>
          <a:ln/>
        </p:spPr>
        <p:txBody>
          <a:bodyPr wrap="square" rtlCol="0" anchor="t"/>
          <a:lstStyle/>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Gregson S, Terceira N, Kakowa M, et al. Study of bias in antenatal clinic HIV-1 surveillance data in a high contraceptive prevalence population in sub-Saharan Africa. AIDS. 2002;16(4):643–652.</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Keou FX, Bélec L, Esunge PM, Cancre N, Gresenguet G. World Health Organization clinical case definition for AIDS in Africa: an analysis of evaluations. East Afr Med J. 1992;69(10):550–553.</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Groenewald P, Nannan N, et al. Under-reporting of HIV and AIDS as an underlying cause of death in South Africa. AIDS. 2025 (ahead of print).</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Zash R, Holmes L, Diseko M, et al. Neural-tube defects and antiretroviral treatment regimens in Botswana. N Engl J Med. 2019;381(9):827–840.</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Mashe T, Chaibva BV, Nair P, et al. Descriptive epidemiology of the cholera outbreak in Zimbabwe 2018–2019. BMJ Open. 2023;13(1):e059134.</a:t>
            </a:r>
            <a:endParaRPr lang="en-US" sz="930" dirty="0"/>
          </a:p>
          <a:p>
            <a:pPr marL="0" indent="0">
              <a:lnSpc>
                <a:spcPct val="125000"/>
              </a:lnSpc>
              <a:spcAft>
                <a:spcPts val="1000"/>
              </a:spcAft>
              <a:buNone/>
            </a:pPr>
            <a:r>
              <a:rPr lang="en-US" sz="930" dirty="0">
                <a:solidFill>
                  <a:srgbClr val="27313B"/>
                </a:solidFill>
                <a:latin typeface="Arial" pitchFamily="34" charset="0"/>
                <a:ea typeface="Arial" pitchFamily="34" charset="-122"/>
                <a:cs typeface="Arial" pitchFamily="34" charset="-120"/>
              </a:rPr>
              <a:t>Gonese E, Musuka G, Ruangtragool L, et al. Comparison of HIV incidence in the Zimbabwe Population-Based HIV Impact Assessment Survey (2015–2016) with modelled estimates. AIDS Res Hum Retroviruses. 2020.</a:t>
            </a:r>
            <a:endParaRPr lang="en-US" sz="9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2994</Words>
  <Application>Microsoft Office PowerPoint</Application>
  <PresentationFormat>Widescreen</PresentationFormat>
  <Paragraphs>276</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Ardele M Ndanga</cp:lastModifiedBy>
  <cp:revision>3</cp:revision>
  <dcterms:created xsi:type="dcterms:W3CDTF">2026-07-29T09:29:28Z</dcterms:created>
  <dcterms:modified xsi:type="dcterms:W3CDTF">2026-07-30T06:57:53Z</dcterms:modified>
</cp:coreProperties>
</file>