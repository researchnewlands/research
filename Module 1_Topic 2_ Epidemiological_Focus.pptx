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3" r:id="rId5"/>
    <p:sldId id="259" r:id="rId6"/>
    <p:sldId id="260" r:id="rId7"/>
    <p:sldId id="279" r:id="rId8"/>
    <p:sldId id="278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4" r:id="rId18"/>
    <p:sldId id="275" r:id="rId19"/>
    <p:sldId id="276" r:id="rId20"/>
    <p:sldId id="270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3" autoAdjust="0"/>
    <p:restoredTop sz="85359" autoAdjust="0"/>
  </p:normalViewPr>
  <p:slideViewPr>
    <p:cSldViewPr snapToGrid="0" snapToObjects="1">
      <p:cViewPr>
        <p:scale>
          <a:sx n="60" d="100"/>
          <a:sy n="60" d="100"/>
        </p:scale>
        <p:origin x="124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820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Who counts is the foundational question in epidemiology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Epidemiology was in very early stages the sciences of counting who had disease, this has obviously evolved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0D918-30EB-4F1B-0CEC-35F4F06A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77CD1-0833-3168-3ED4-4257F56DA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B342C-A205-F73F-B9D5-61320C08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will display on my screen, there is to answer on their screens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6E43E-6B33-F759-80BE-B3CDE756F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09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John Snow. Regarded as on of the founding fathers of epidemiology</a:t>
            </a:r>
          </a:p>
          <a:p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Miasma theory.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Diseases were caused by  “bad air”</a:t>
            </a:r>
          </a:p>
          <a:p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case definition doesn't require a lab test — it requires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applicable criteria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paired with a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defined population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 from different sources (exposures) and the outcome(mortality)</a:t>
            </a:r>
          </a:p>
          <a:p>
            <a:r>
              <a:rPr lang="en-US" dirty="0"/>
              <a:t>The example here from join snow shows a natural experiment, a form of a quasi experiment. The research no true random assignment to exposure groups(circumstances assigned). Natural random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 necessary conditions for a disease to occur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applies to most infectious diseases, </a:t>
            </a:r>
            <a:r>
              <a:rPr lang="en-US" dirty="0" err="1"/>
              <a:t>eg</a:t>
            </a:r>
            <a:r>
              <a:rPr lang="en-US" dirty="0"/>
              <a:t> malaria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definition is about </a:t>
            </a:r>
            <a:r>
              <a:rPr lang="en-US" dirty="0" err="1"/>
              <a:t>considensency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person, place and time principle applies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Population is people at risk of having the defined outcome of interest.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volunteers to identify the different parts of the PPT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Mismatch of numerator and denominator. Can lead to underestimation/overestimation of risk/prevalence of disease/event</a:t>
            </a:r>
          </a:p>
          <a:p>
            <a:r>
              <a:rPr lang="en-US" dirty="0"/>
              <a:t>q. What do you think happened here. How was the prevalence of HIV in this population STATED?</a:t>
            </a:r>
          </a:p>
          <a:p>
            <a:r>
              <a:rPr lang="en-ZW" dirty="0"/>
              <a:t>Take home. The numerator and denominator must be built from the same logic/population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58AC1-5FE1-DEFC-CCDB-716691FC9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83805-AAF9-8DA4-4D7D-FBBCFA110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EDA1E-EF9B-2478-FBFE-B9CB29D17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outbreak investigations, this is usually the case and there is need to always have the context set in writing and interpreting (usually the methods section) of most publications</a:t>
            </a:r>
          </a:p>
          <a:p>
            <a:r>
              <a:rPr lang="en-US" dirty="0"/>
              <a:t>Transparency is what matters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25184-A9A0-20F5-00CA-59015ABB3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1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A8461-A784-9930-8153-3F1942BB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C608F-EAF2-DEB5-8646-1CEDA4DC3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62886-B833-A0A1-2E2C-E357B2F89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leads to mixing of people and episodes leading to overstating of cases.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02AA0-FF77-30F4-511B-3F528F4D9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20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4ECC-DFD1-B408-F7AE-1AB7F59A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E432B-E32C-FAC4-EB8E-85F30A8C1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B3345-18D6-F261-8728-86FB3CD81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ask what is the denominator/ source population</a:t>
            </a:r>
          </a:p>
          <a:p>
            <a:r>
              <a:rPr lang="en-US" dirty="0"/>
              <a:t>Politicians are infamous for this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7AFDF-6711-EFDC-2492-962D8F099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40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480560"/>
            <a:ext cx="4206240" cy="4206240"/>
          </a:xfrm>
          <a:prstGeom prst="ellipse">
            <a:avLst/>
          </a:prstGeom>
          <a:solidFill>
            <a:srgbClr val="1B2A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982712" y="3566160"/>
            <a:ext cx="2926080" cy="2926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942832" y="5303520"/>
            <a:ext cx="457200" cy="640080"/>
          </a:xfrm>
          <a:prstGeom prst="roundRect">
            <a:avLst>
              <a:gd name="adj" fmla="val 8000"/>
            </a:avLst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509760" y="4892040"/>
            <a:ext cx="457200" cy="105156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076688" y="4526280"/>
            <a:ext cx="457200" cy="1417320"/>
          </a:xfrm>
          <a:prstGeom prst="roundRect">
            <a:avLst>
              <a:gd name="adj" fmla="val 8000"/>
            </a:avLst>
          </a:prstGeom>
          <a:solidFill>
            <a:srgbClr val="5B9A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643616" y="4160520"/>
            <a:ext cx="457200" cy="1783080"/>
          </a:xfrm>
          <a:prstGeom prst="roundRect">
            <a:avLst>
              <a:gd name="adj" fmla="val 8000"/>
            </a:avLst>
          </a:prstGeom>
          <a:solidFill>
            <a:srgbClr val="2E8B9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NEWLANDS CLINIC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MODULE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Epidemiological Focus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Cases and Populations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8096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2 · FOUNDATIONS IN EPIDEMIOLOGY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Epidemiological Focus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rate or comparison is possible, two questions must be answered: who </a:t>
            </a:r>
            <a:r>
              <a:rPr lang="en-US" sz="16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as a case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6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population 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those cases arise? This session builds that foundation.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" y="23271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WILL BE ABLE TO: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 flipV="1">
            <a:off x="457200" y="2734056"/>
            <a:ext cx="423672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93522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epidemiologists define a “case” and why this matters.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310896" cy="310896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14" name="Text 12"/>
          <p:cNvSpPr/>
          <p:nvPr/>
        </p:nvSpPr>
        <p:spPr>
          <a:xfrm>
            <a:off x="45720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Text 13"/>
          <p:cNvSpPr/>
          <p:nvPr/>
        </p:nvSpPr>
        <p:spPr>
          <a:xfrm>
            <a:off x="905256" y="35387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epidemiological meaning of “population” from the demographic one.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310896" cy="310896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17" name="Text 15"/>
          <p:cNvSpPr/>
          <p:nvPr/>
        </p:nvSpPr>
        <p:spPr>
          <a:xfrm>
            <a:off x="457200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Text 16"/>
          <p:cNvSpPr/>
          <p:nvPr/>
        </p:nvSpPr>
        <p:spPr>
          <a:xfrm>
            <a:off x="914400" y="407797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appropriate population at risk for a given case definition.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178808"/>
            <a:ext cx="310896" cy="310896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20" name="Text 18"/>
          <p:cNvSpPr/>
          <p:nvPr/>
        </p:nvSpPr>
        <p:spPr>
          <a:xfrm>
            <a:off x="457200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5948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health event using person, place and time.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764024"/>
            <a:ext cx="310896" cy="310896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23" name="Text 21"/>
          <p:cNvSpPr/>
          <p:nvPr/>
        </p:nvSpPr>
        <p:spPr>
          <a:xfrm>
            <a:off x="457200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9161" y="515061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exposures from outcomes in a research question.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46720" y="2880868"/>
            <a:ext cx="4069080" cy="2532888"/>
          </a:xfrm>
          <a:prstGeom prst="roundRect">
            <a:avLst>
              <a:gd name="adj" fmla="val 2857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26" name="Text 24"/>
          <p:cNvSpPr/>
          <p:nvPr/>
        </p:nvSpPr>
        <p:spPr>
          <a:xfrm>
            <a:off x="9189720" y="3118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380441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defined case or population invalidates every statistic built from it — no statistical fix can repair this later.</a:t>
            </a:r>
            <a:endParaRPr lang="en-US" sz="16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CB5DF91D-5627-AE29-7D9C-434D2E777FB6}"/>
              </a:ext>
            </a:extLst>
          </p:cNvPr>
          <p:cNvSpPr/>
          <p:nvPr/>
        </p:nvSpPr>
        <p:spPr>
          <a:xfrm>
            <a:off x="465836" y="5193792"/>
            <a:ext cx="310896" cy="352044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r>
              <a:rPr lang="en-GB" sz="1600" b="1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88720" y="19202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30352" y="837111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“Who Counts?” Is the First Question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11247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number can be calculated, two things must be pinned down: </a:t>
            </a:r>
            <a:r>
              <a:rPr lang="en-US" b="1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 case</a:t>
            </a:r>
            <a:r>
              <a:rPr lang="en-US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b="1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population those cases were drawn from</a:t>
            </a:r>
            <a:r>
              <a:rPr lang="en-US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72143" y="3236976"/>
            <a:ext cx="11566289" cy="1874520"/>
          </a:xfrm>
          <a:prstGeom prst="roundRect">
            <a:avLst>
              <a:gd name="adj" fmla="val 5854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Traditionally, epidemiological research focused on disease occurrence/counting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Today it studies a much wider range of health-related states — but every measurement still starts with the same two decisions: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case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population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53912" y="39319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8BEC1-8C7D-CA9C-C6B8-7D444C39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254E5F-6C23-BA1E-3AEF-67983AFAEBB2}"/>
              </a:ext>
            </a:extLst>
          </p:cNvPr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872CC8-A2D7-C6CA-76F1-86CDC17AE8D7}"/>
              </a:ext>
            </a:extLst>
          </p:cNvPr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EE4B16-5DFB-08C3-6D44-DA4F7C277049}"/>
              </a:ext>
            </a:extLst>
          </p:cNvPr>
          <p:cNvSpPr/>
          <p:nvPr/>
        </p:nvSpPr>
        <p:spPr>
          <a:xfrm>
            <a:off x="1188720" y="19202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95F5F69-4058-F655-E085-7B8B8454F7ED}"/>
              </a:ext>
            </a:extLst>
          </p:cNvPr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E668A53-416D-8FD0-0DF6-1F4A33DB1F2C}"/>
              </a:ext>
            </a:extLst>
          </p:cNvPr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1D42ADD-8D1F-685A-A54A-0AE3BBB6D019}"/>
              </a:ext>
            </a:extLst>
          </p:cNvPr>
          <p:cNvSpPr/>
          <p:nvPr/>
        </p:nvSpPr>
        <p:spPr>
          <a:xfrm>
            <a:off x="254944" y="2414233"/>
            <a:ext cx="11566289" cy="932253"/>
          </a:xfrm>
          <a:prstGeom prst="roundRect">
            <a:avLst>
              <a:gd name="adj" fmla="val 5854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KNOWLEDGE CHECK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CBF03D2-2866-4CB1-BD05-1276A661999F}"/>
              </a:ext>
            </a:extLst>
          </p:cNvPr>
          <p:cNvSpPr/>
          <p:nvPr/>
        </p:nvSpPr>
        <p:spPr>
          <a:xfrm>
            <a:off x="6153912" y="39319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9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14630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FOUNDING CASE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 Snow and the Broad Street Pump, 1854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600200" y="1792224"/>
            <a:ext cx="9052560" cy="0"/>
          </a:xfrm>
          <a:prstGeom prst="line">
            <a:avLst/>
          </a:prstGeom>
          <a:noFill/>
          <a:ln w="19050">
            <a:solidFill>
              <a:srgbClr val="D8DEE4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5B6B7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74320" y="156362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" y="218541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epidemics; miasma theory dominant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566928" cy="566928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017520" y="156362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1854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88920" y="218541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 deaths in 10 days near Broad Street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566928" cy="566928"/>
          </a:xfrm>
          <a:prstGeom prst="ellipse">
            <a:avLst/>
          </a:prstGeom>
          <a:solidFill>
            <a:srgbClr val="E6342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60720" y="156362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218541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has the pump handle removed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78240" y="1508760"/>
            <a:ext cx="566928" cy="566928"/>
          </a:xfrm>
          <a:prstGeom prst="ellipse">
            <a:avLst/>
          </a:prstGeom>
          <a:solidFill>
            <a:srgbClr val="2E8B9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503920" y="156362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75320" y="218541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 subside; confirmed by Whitehead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5486400" cy="2606040"/>
          </a:xfrm>
          <a:prstGeom prst="roundRect">
            <a:avLst>
              <a:gd name="adj" fmla="val 4211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3152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SNOW DEFINED A CASE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laboratory test existed — Koch identified </a:t>
            </a:r>
            <a:r>
              <a:rPr lang="en-US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Vibrio cholerae decades later. </a:t>
            </a:r>
            <a:r>
              <a:rPr lang="en-US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used </a:t>
            </a:r>
            <a:r>
              <a:rPr lang="en-US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</a:t>
            </a:r>
            <a:r>
              <a:rPr lang="en-US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circumstantial case definition</a:t>
            </a:r>
            <a:r>
              <a:rPr lang="en-US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death attributed to cholera, plotted by exact address, during August–September 1854.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217920" y="3246120"/>
            <a:ext cx="5513832" cy="2606040"/>
          </a:xfrm>
          <a:prstGeom prst="roundRect">
            <a:avLst>
              <a:gd name="adj" fmla="val 4211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9224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SNOW DEFINED THE POPULATION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374904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“the population of London” — but everyone who drew water from a given pump or water company. Roughly 700 deaths within a 230m radius were compared by household water source.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1249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FOUNDING CASE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Grand Experiment — and Its Modern Echo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74552" cy="1965960"/>
          </a:xfrm>
          <a:prstGeom prst="roundRect">
            <a:avLst>
              <a:gd name="adj" fmla="val 5581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“GRAND EXPERIMENT”, LONDON, 1854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identified two water companies supplying overlapping streets in South London — a natural experiment. Over seven weeks, mortality among households supplied by the sewage-contaminated Southwark &amp; Vauxhall Company was roughly fourteen times higher than among those supplied by the Lambeth Company.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11274552" cy="1965960"/>
          </a:xfrm>
          <a:prstGeom prst="roundRect">
            <a:avLst>
              <a:gd name="adj" fmla="val 5581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YEARS LATER — HARARE, 2008–09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recorded 98,592 cholera cases and 4,288 deaths over eleven months. Luque-Fernández et al. (2011, Trans R Soc Trop Med Hyg) applied Snow's exact logic at suburb level — calculating each Harare suburb's own attack rate (1.2 per 1,000 in Tynwald to 90.3 per 1,000 in Hopley) and comparing them geographically to identify high-risk areas.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investigations could only compare populations because cases and the population at risk had been defined consistently enough to count.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E634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SECTION 2  ·  THE FOUNDING CASE (CONT.)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634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Research Masterclass for Clinicians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6202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www.newlandsclinic.org.zw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epidemiological triad — why disease occurs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Snow could stop the 1854 outbreak because cholera — like all disease — results from three interacting factors, classically drawn as a triangle.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579876" y="1938528"/>
            <a:ext cx="5029200" cy="2377440"/>
          </a:xfrm>
          <a:prstGeom prst="triangle">
            <a:avLst/>
          </a:prstGeom>
          <a:solidFill>
            <a:srgbClr val="F4F5F7"/>
          </a:solidFill>
          <a:ln w="19050">
            <a:solidFill>
              <a:srgbClr val="2537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012180" y="1856232"/>
            <a:ext cx="164592" cy="164592"/>
          </a:xfrm>
          <a:prstGeom prst="ellipse">
            <a:avLst/>
          </a:prstGeom>
          <a:solidFill>
            <a:srgbClr val="E6342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97580" y="4233672"/>
            <a:ext cx="164592" cy="164592"/>
          </a:xfrm>
          <a:prstGeom prst="ellipse">
            <a:avLst/>
          </a:prstGeom>
          <a:solidFill>
            <a:srgbClr val="2E8B9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526780" y="4233672"/>
            <a:ext cx="164592" cy="16459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094476" y="1737360"/>
            <a:ext cx="0" cy="201168"/>
          </a:xfrm>
          <a:prstGeom prst="line">
            <a:avLst/>
          </a:prstGeom>
          <a:noFill/>
          <a:ln w="1270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360420" y="4315968"/>
            <a:ext cx="219456" cy="0"/>
          </a:xfrm>
          <a:prstGeom prst="line">
            <a:avLst/>
          </a:prstGeom>
          <a:noFill/>
          <a:ln w="12700">
            <a:solidFill>
              <a:srgbClr val="2E8B9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609076" y="4315968"/>
            <a:ext cx="219456" cy="0"/>
          </a:xfrm>
          <a:prstGeom prst="line">
            <a:avLst/>
          </a:prstGeom>
          <a:noFill/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22876" y="1408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634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169664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8B9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28532" y="4169664"/>
            <a:ext cx="2811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31436" y="2937053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disease occurs only where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all three sides meet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146304" cy="146304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86384" y="4581144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910328"/>
            <a:ext cx="3514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organism, chemical, or physical factor that must be present for disease to occur.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5367528"/>
            <a:ext cx="3514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Vibrio cholerae, the bacterium responsible for cholera.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36999" y="4645152"/>
            <a:ext cx="146304" cy="146304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4743" y="4581144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36999" y="4910328"/>
            <a:ext cx="3514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person or population's susceptibility — immunity, nutrition, age, prior exposure.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36999" y="5367528"/>
            <a:ext cx="3514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Malnourished, immune-naïve populations suffer more severe outcomes.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25358" y="4645152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363102" y="4581144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25358" y="4910328"/>
            <a:ext cx="3514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External conditions that bring agent and host together — water, sanitation, crowding.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25358" y="5367528"/>
            <a:ext cx="3514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contaminated Broad Street pump; inadequate WASH in Harare's suburbs.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5650992"/>
            <a:ext cx="11091672" cy="530352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31520" y="5650992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it matters: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eliminate the agent if you can remove the environmental pathway or protect the host instead.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E634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SECTION 2  ·  THE FOUNDING CASE (CONT.)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634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Research Masterclass for Clinicians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6202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www.newlandsclinic.org.zw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Breaking the triangle — from Broad Street to Harare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B6B7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Every cholera control strategy, historical or modern, works by breaking one side of the triad.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691640"/>
          <a:ext cx="11091672" cy="1493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Triad component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Intervention example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5374F"/>
                          </a:solidFill>
                        </a:rPr>
                        <a:t>Agent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</a:rPr>
                        <a:t>Chlorination, oral rehydration and antibiotics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</a:rPr>
                        <a:t>Reduces or kills the pathogen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5374F"/>
                          </a:solidFill>
                        </a:rPr>
                        <a:t>Host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</a:rPr>
                        <a:t>Oral cholera vaccine, nutrition support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</a:rPr>
                        <a:t>Builds host immunity and resilience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5374F"/>
                          </a:solidFill>
                        </a:rPr>
                        <a:t>Environment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</a:rPr>
                        <a:t>Removing the Broad Street pump handle (1854); WASH infrastructure investment (Zimbabwe, 2008–2024)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</a:rPr>
                        <a:t>Cuts the transmission pathway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Snow's intervention — removing the pump handle —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537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broke only the environmental side of the triangle.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731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He didn't need to identify the agent (Vibrio cholerae, discovered decades later by Koch) or treat any host to stop the outbreak.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05840" y="1986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FOUNDATIONS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Define Before You Count Anything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8470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mean by a case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3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standardised </a:t>
            </a: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that lets anyone, anywhere, decide whether a person or event would be counted as a case.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 </a:t>
            </a: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numerator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5468112" cy="3566160"/>
          </a:xfrm>
          <a:prstGeom prst="roundRect">
            <a:avLst>
              <a:gd name="adj" fmla="val 3077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83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18470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population the cases came from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58368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of people who could potentially have become — or could become — cases under that same definition.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 </a:t>
            </a:r>
            <a:r>
              <a:rPr lang="en-US" sz="12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denominator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 and denominator must be built from the same logic — a proportion estimate from a careful numerator divided by a careless denominator is not  meaningful 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71600" y="28448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DEFINING A CASE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Definition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standardised set of criteria used to identify cases. Not necessarily the same as the everyday clinical definition.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68112" cy="3246120"/>
          </a:xfrm>
          <a:prstGeom prst="roundRect">
            <a:avLst>
              <a:gd name="adj" fmla="val 3380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182880" cy="18288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5156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NEWLANDS CLINIC — HYPERTENSION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systolic BP &gt;140 mmHg and/or diastolic BP &gt;90 mmHg on at least two different days, or current use of antihypertensive medication.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that can be applied consistently to every patient record, regardless of who reviews the chart.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468112" cy="3246120"/>
          </a:xfrm>
          <a:prstGeom prst="roundRect">
            <a:avLst>
              <a:gd name="adj" fmla="val 3380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83680" y="2212848"/>
            <a:ext cx="182880" cy="182880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85800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— CHOLERA, 2023–24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case: acute watery diarrhoea (clinical). Confirmed case: laboratory isolation of Vibrio cholerae, or positive RDT.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2519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34,549 suspected cases, 718 deaths (CFR 2.1%) — a much smaller subset was laboratory-confirmed (Olatunji et al., 2024).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 over-counts; too narrow under-counts; inconsistent definitions prevent comparison across studies or sites.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0996" y="12801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DEFINING A CASE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a Good Case Definition Should State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557016" cy="4206240"/>
          </a:xfrm>
          <a:prstGeom prst="roundRect">
            <a:avLst>
              <a:gd name="adj" fmla="val 3085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201168" cy="201168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IDENTIFICATION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697480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a case be detected — clinical symptoms, a lab test, self-report, or a combination?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206240"/>
            <a:ext cx="3172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Snow's method was clinical and circumstantial; Zimbabwe's confirmed-case definition is laboratory-based.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3088" y="1600200"/>
            <a:ext cx="3557016" cy="4206240"/>
          </a:xfrm>
          <a:prstGeom prst="roundRect">
            <a:avLst>
              <a:gd name="adj" fmla="val 3085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407408" y="1874520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389120" y="21488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OF A CASE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0" y="2697480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thresholds, time windows, and explicit exclusions all set the boundary of what counts.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4206240"/>
            <a:ext cx="3172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excluding women already hypertensive before 20 weeks' gestation in a pre-eclampsia study.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08976" y="1600200"/>
            <a:ext cx="3557016" cy="4206240"/>
          </a:xfrm>
          <a:prstGeom prst="roundRect">
            <a:avLst>
              <a:gd name="adj" fmla="val 3085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083296" y="1874520"/>
            <a:ext cx="201168" cy="201168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065008" y="21488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65008" y="2697480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case a person, an episode, a household, a suburb, or an event?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65008" y="4206240"/>
            <a:ext cx="3172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Luque-Fernández's cholera analysis used the suburb, not the individual, as its unit.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DEFINING THE POPULATION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“Population” Means Something Different Here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Epidemiologists constantly ask: what is the denominator? — the population from which the cases arose.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2128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= the collection of units from which a sample or set of cases is drawn — people, clinics, households, or events. Defined by the research question.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468112" cy="2194560"/>
          </a:xfrm>
          <a:prstGeom prst="roundRect">
            <a:avLst>
              <a:gd name="adj" fmla="val 5000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83680" y="2194560"/>
            <a:ext cx="457200" cy="457200"/>
          </a:xfrm>
          <a:prstGeom prst="ellipse">
            <a:avLst/>
          </a:prstGeom>
          <a:solidFill>
            <a:srgbClr val="5B6B7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22128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7889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= the inhabitants of a country, district, or area — a fixed geographic and administrative concept.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1274552" cy="1600200"/>
          </a:xfrm>
          <a:prstGeom prst="roundRect">
            <a:avLst>
              <a:gd name="adj" fmla="val 6857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7240" y="4617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Newlands Clinic example: </a:t>
            </a: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IeDEA–Newlands cohort enrolled all patients aged ≥16 starting ART at the clinic, 2004–2015 — not “all Zimbabweans”. The denominator is defined by enrolment criteria, not a map.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DEFINING THE POPULATION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Population at Risk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population is often called the population at risk: everyone who could potentially become a case under the case definition in use.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POST-PARTUM HAEMORRHAGE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≥500 mL blood loss in 24 hours after birth. Population at risk: all women who gave birth at the hospital during the study period — each woman at risk only for her own first 24 hours.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468112" cy="2377440"/>
          </a:xfrm>
          <a:prstGeom prst="roundRect">
            <a:avLst>
              <a:gd name="adj" fmla="val 4615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CANCER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 a hysterectomy are not at risk, but routine statistics often cannot exclude them — so the total resident population is used as a practical, if imperfect, proxy.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DESCRIBING A HEALTH EVENT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Person, Place and Time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health event can be characterised in three dimensions — the structure of Snow's 1854 map itself.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557016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201168" cy="201168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13232" y="248716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— WHO?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" y="2926080"/>
            <a:ext cx="3172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occupation, HIV status, ART regimen, BMI — or, for Snow, which households used which pump.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33088" y="1965960"/>
            <a:ext cx="3557016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407408" y="2212848"/>
            <a:ext cx="201168" cy="201168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389120" y="248716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— WHERE?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0" y="2926080"/>
            <a:ext cx="3172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district, clinic catchment, urban vs rural — or, for Snow, the street address relative to Broad Street.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08976" y="1965960"/>
            <a:ext cx="3557016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083296" y="2212848"/>
            <a:ext cx="201168" cy="201168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065008" y="248716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WHEN?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65008" y="2926080"/>
            <a:ext cx="3172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period, secular trend, season — or, for Snow, before/after the pump handle was removed.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11274552" cy="1691640"/>
          </a:xfrm>
          <a:prstGeom prst="roundRect">
            <a:avLst>
              <a:gd name="adj" fmla="val 6486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(Newlands Clinic): </a:t>
            </a: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“Prevalence of hypertension among </a:t>
            </a: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HIV-positive adults aged ≥50 (65% women)</a:t>
            </a: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</a:t>
            </a:r>
            <a:r>
              <a:rPr lang="en-US" sz="1300" b="1" dirty="0">
                <a:solidFill>
                  <a:srgbClr val="E8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Newlands Clinic, Harare</a:t>
            </a: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41.2% as of </a:t>
            </a:r>
            <a:r>
              <a:rPr lang="en-US" sz="1300" b="1" dirty="0">
                <a:solidFill>
                  <a:srgbClr val="9BD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October 2019</a:t>
            </a: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97280" y="2722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THE FOCUS IN PRACTICE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Exposures and Outcomes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16093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factor that may influence the outcome — biological, behavioural, environmental, or structural. For Snow: which water company supplied a household.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468112" cy="1600200"/>
          </a:xfrm>
          <a:prstGeom prst="roundRect">
            <a:avLst>
              <a:gd name="adj" fmla="val 6857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583680" y="1600200"/>
            <a:ext cx="411480" cy="41148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836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6093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103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disease, event, or health-related state — defined by the case definition. Need not be a disease.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74552" cy="190195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(case definition)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Snow's Grand Experiment (1854)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company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 attributed to cholera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Cholera spatial analysis, Harare (2011)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Suburb of residence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Cholera case, per surveillance 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Dolutegravir &amp; hypertension, Newlands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 regimen (DTG vs EFV)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 (BP &gt;140/90, or treatment)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1560" y="2240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READING CRITICALLY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When Cases and Populations Are Defined Poorly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17500" y="1412748"/>
            <a:ext cx="11386820" cy="1376172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ZW" dirty="0"/>
              <a:t>South Africa, 2007: HIV prevalence in TB patients reported as 74% — but only 39% of TB patients were ever HIV  tested.</a:t>
            </a:r>
            <a:endParaRPr lang="en-GB" dirty="0"/>
          </a:p>
          <a:p>
            <a:endParaRPr lang="en-GB" dirty="0"/>
          </a:p>
        </p:txBody>
      </p:sp>
      <p:sp>
        <p:nvSpPr>
          <p:cNvPr id="9" name="Shape 7"/>
          <p:cNvSpPr/>
          <p:nvPr/>
        </p:nvSpPr>
        <p:spPr>
          <a:xfrm>
            <a:off x="777240" y="1661160"/>
            <a:ext cx="274320" cy="27432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234440" y="15499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NUMERATOR/DENOMINATOR MISMATCH</a:t>
            </a:r>
            <a:endParaRPr lang="en-US" sz="125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C014BED-8FC3-5B04-3A13-C5ACDCCC9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750598"/>
              </p:ext>
            </p:extLst>
          </p:nvPr>
        </p:nvGraphicFramePr>
        <p:xfrm>
          <a:off x="594360" y="3241548"/>
          <a:ext cx="10515600" cy="19202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257854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116232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77572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b="1" dirty="0"/>
                        <a:t>What it should 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b="1" dirty="0"/>
                        <a:t>What it actually was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b="1" dirty="0"/>
                        <a:t>Case (numerator)</a:t>
                      </a:r>
                      <a:endParaRPr lang="en-ZW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/>
                        <a:t>TB patients testing HIV-positive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dirty="0"/>
                        <a:t>HIV-positive results, but only among the 39% tested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259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b="1"/>
                        <a:t>Population at risk (denominator)</a:t>
                      </a:r>
                      <a:endParaRPr lang="en-Z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dirty="0"/>
                        <a:t>All TB patients notified that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dirty="0"/>
                        <a:t>Silently reported as if it were "all patients," but really just the tested subgroup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862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C1BFE-536F-E13F-5A29-F35EBDF2E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D211EC-0D5E-A92C-FF7E-CD4A28AF7CD9}"/>
              </a:ext>
            </a:extLst>
          </p:cNvPr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F31E02-664F-A3ED-2179-4DBA05050FFF}"/>
              </a:ext>
            </a:extLst>
          </p:cNvPr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B8578C-9D63-B576-2CE8-52A6553E0A69}"/>
              </a:ext>
            </a:extLst>
          </p:cNvPr>
          <p:cNvSpPr/>
          <p:nvPr/>
        </p:nvSpPr>
        <p:spPr>
          <a:xfrm>
            <a:off x="1051560" y="2240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READING CRITICALLY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CF2B5CB-4F61-7E23-52DE-C7735771081C}"/>
              </a:ext>
            </a:extLst>
          </p:cNvPr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9FEDFB-F1B4-E99E-DCB7-5CCA5C9980F5}"/>
              </a:ext>
            </a:extLst>
          </p:cNvPr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8BF6387-3F38-8C60-4F5E-A5A855B7CC37}"/>
              </a:ext>
            </a:extLst>
          </p:cNvPr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When Cases and Populations Are Defined Poorly</a:t>
            </a:r>
            <a:endParaRPr lang="en-US" sz="3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6B3E179-EC48-9D37-E2D9-BE16E4FB9547}"/>
              </a:ext>
            </a:extLst>
          </p:cNvPr>
          <p:cNvSpPr/>
          <p:nvPr/>
        </p:nvSpPr>
        <p:spPr>
          <a:xfrm>
            <a:off x="264668" y="1540764"/>
            <a:ext cx="11439652" cy="1060704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3EE5D10-1C1F-F9E4-D657-8B3B61637A88}"/>
              </a:ext>
            </a:extLst>
          </p:cNvPr>
          <p:cNvSpPr/>
          <p:nvPr/>
        </p:nvSpPr>
        <p:spPr>
          <a:xfrm>
            <a:off x="266954" y="164592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0047D9-6BA8-C62B-E503-D62B17AA49AE}"/>
              </a:ext>
            </a:extLst>
          </p:cNvPr>
          <p:cNvSpPr/>
          <p:nvPr/>
        </p:nvSpPr>
        <p:spPr>
          <a:xfrm>
            <a:off x="838200" y="15453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DRIFT</a:t>
            </a:r>
            <a:endParaRPr lang="en-US" sz="12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4BF82D7-5B8A-7470-5124-13799E9AA106}"/>
              </a:ext>
            </a:extLst>
          </p:cNvPr>
          <p:cNvSpPr/>
          <p:nvPr/>
        </p:nvSpPr>
        <p:spPr>
          <a:xfrm>
            <a:off x="377444" y="2153412"/>
            <a:ext cx="109494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surveillance case definition tightened or loosened mid-outbreak can make case counts move for reasons unrelated to transmission</a:t>
            </a: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4719134-408E-5F5E-5764-942380834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83596"/>
              </p:ext>
            </p:extLst>
          </p:nvPr>
        </p:nvGraphicFramePr>
        <p:xfrm>
          <a:off x="266954" y="2752344"/>
          <a:ext cx="11437366" cy="3630168"/>
        </p:xfrm>
        <a:graphic>
          <a:graphicData uri="http://schemas.openxmlformats.org/drawingml/2006/table">
            <a:tbl>
              <a:tblPr/>
              <a:tblGrid>
                <a:gridCol w="5718683">
                  <a:extLst>
                    <a:ext uri="{9D8B030D-6E8A-4147-A177-3AD203B41FA5}">
                      <a16:colId xmlns:a16="http://schemas.microsoft.com/office/drawing/2014/main" val="4161362210"/>
                    </a:ext>
                  </a:extLst>
                </a:gridCol>
                <a:gridCol w="5718683">
                  <a:extLst>
                    <a:ext uri="{9D8B030D-6E8A-4147-A177-3AD203B41FA5}">
                      <a16:colId xmlns:a16="http://schemas.microsoft.com/office/drawing/2014/main" val="1226297825"/>
                    </a:ext>
                  </a:extLst>
                </a:gridCol>
              </a:tblGrid>
              <a:tr h="392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dirty="0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/>
                        <a:t>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350593"/>
                  </a:ext>
                </a:extLst>
              </a:tr>
              <a:tr h="1569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b="1"/>
                        <a:t>Official Ministry of Health definition</a:t>
                      </a:r>
                      <a:endParaRPr lang="en-Z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/>
                        <a:t>Sudden high fever followed by a vesiculopustular rash on the face/palms/soles, OR ≥5 smallpox-type scars, OR fever &gt;38.3°C, severe headache, lymphadenopathy, back pain, myalgia, severe asthenia, followed by a progressive rash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977606"/>
                  </a:ext>
                </a:extLst>
              </a:tr>
              <a:tr h="686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b="1"/>
                        <a:t>Community-level definition</a:t>
                      </a:r>
                      <a:endParaRPr lang="en-Z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/>
                        <a:t>Any person with fever and a skin rash counted as suspected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869032"/>
                  </a:ext>
                </a:extLst>
              </a:tr>
              <a:tr h="981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b="1" dirty="0"/>
                        <a:t>Facility-level definition (e.g., </a:t>
                      </a:r>
                      <a:r>
                        <a:rPr lang="en-ZW" b="1" dirty="0" err="1"/>
                        <a:t>Uvira</a:t>
                      </a:r>
                      <a:r>
                        <a:rPr lang="en-ZW" b="1" dirty="0"/>
                        <a:t> Treatment Centre, post-outbreak confirmation)</a:t>
                      </a:r>
                      <a:endParaRPr lang="en-ZW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W" dirty="0"/>
                        <a:t>Anyone presenting with a skin rash or papulovesicular/pustular eruption — no fever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666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977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8CB89-58E3-F320-7CB9-66C31246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9FABE5-CDD8-1E9A-3145-340BCFE180A1}"/>
              </a:ext>
            </a:extLst>
          </p:cNvPr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92A537-E137-7F62-2C8C-AE870CD8A4F5}"/>
              </a:ext>
            </a:extLst>
          </p:cNvPr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D5666E-08C7-BD07-2608-6F3D07ECEB21}"/>
              </a:ext>
            </a:extLst>
          </p:cNvPr>
          <p:cNvSpPr/>
          <p:nvPr/>
        </p:nvSpPr>
        <p:spPr>
          <a:xfrm>
            <a:off x="1051560" y="2240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READING CRITICALLY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3D7499-6CF5-3A00-715D-9E41720D566D}"/>
              </a:ext>
            </a:extLst>
          </p:cNvPr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A2F04C-25C7-6CE2-B319-E58637DEEACB}"/>
              </a:ext>
            </a:extLst>
          </p:cNvPr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DF35E4-808E-9260-28CB-7F419EAE648A}"/>
              </a:ext>
            </a:extLst>
          </p:cNvPr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When Cases and Populations Are Defined Poorly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9FDF0C7-5DEF-75DF-24B8-6524D17FA670}"/>
              </a:ext>
            </a:extLst>
          </p:cNvPr>
          <p:cNvSpPr/>
          <p:nvPr/>
        </p:nvSpPr>
        <p:spPr>
          <a:xfrm>
            <a:off x="355600" y="1415288"/>
            <a:ext cx="11348720" cy="587248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F1F83C1-1C34-268D-F4B5-75A91D553D3C}"/>
              </a:ext>
            </a:extLst>
          </p:cNvPr>
          <p:cNvSpPr/>
          <p:nvPr/>
        </p:nvSpPr>
        <p:spPr>
          <a:xfrm>
            <a:off x="640080" y="1472184"/>
            <a:ext cx="274320" cy="274320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5709627-55CC-5942-1393-28CF39A295E7}"/>
              </a:ext>
            </a:extLst>
          </p:cNvPr>
          <p:cNvSpPr/>
          <p:nvPr/>
        </p:nvSpPr>
        <p:spPr>
          <a:xfrm>
            <a:off x="1005840" y="1380744"/>
            <a:ext cx="867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CONFLATING UNITS: </a:t>
            </a: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“cases” without specifying people vs episodes, for any condition that can recur in the same person</a:t>
            </a:r>
            <a:endParaRPr lang="en-US" sz="12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0D5A068-6402-2321-CE2E-F350EB95647F}"/>
              </a:ext>
            </a:extLst>
          </p:cNvPr>
          <p:cNvSpPr/>
          <p:nvPr/>
        </p:nvSpPr>
        <p:spPr>
          <a:xfrm>
            <a:off x="1097280" y="1732788"/>
            <a:ext cx="832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5750B16-C1F7-0A9A-BFA4-6E6F7C817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90" y="1945640"/>
            <a:ext cx="7200900" cy="482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04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246C4-1D31-84E7-7D75-3E0DFC9B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F154DC-25C7-2FB0-2A4C-8418409F5275}"/>
              </a:ext>
            </a:extLst>
          </p:cNvPr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6D0786-BB59-AA04-E0BA-23A2C0EF98A2}"/>
              </a:ext>
            </a:extLst>
          </p:cNvPr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76B3F7-A3FD-5FC3-2E45-6024053AF3A4}"/>
              </a:ext>
            </a:extLst>
          </p:cNvPr>
          <p:cNvSpPr/>
          <p:nvPr/>
        </p:nvSpPr>
        <p:spPr>
          <a:xfrm>
            <a:off x="1051560" y="2240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READING CRITICALLY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B34368-6183-9490-1D0C-7716A2EA05CB}"/>
              </a:ext>
            </a:extLst>
          </p:cNvPr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A1C071-48A0-1560-DBE3-9EBCFBEEFBB3}"/>
              </a:ext>
            </a:extLst>
          </p:cNvPr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093A343-2C31-D244-FAB1-117E58DC87DF}"/>
              </a:ext>
            </a:extLst>
          </p:cNvPr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When Cases and Populations Are Defined Poorly</a:t>
            </a:r>
            <a:endParaRPr lang="en-US" sz="3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9A613C2-D583-6D67-5335-1C06E09A3F7C}"/>
              </a:ext>
            </a:extLst>
          </p:cNvPr>
          <p:cNvSpPr/>
          <p:nvPr/>
        </p:nvSpPr>
        <p:spPr>
          <a:xfrm>
            <a:off x="640080" y="1572768"/>
            <a:ext cx="9900920" cy="20574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  <a:effectLst>
            <a:outerShdw blurRad="127000" dist="381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75B8F73-9AED-7BA1-400B-38B391FC31E7}"/>
              </a:ext>
            </a:extLst>
          </p:cNvPr>
          <p:cNvSpPr/>
          <p:nvPr/>
        </p:nvSpPr>
        <p:spPr>
          <a:xfrm>
            <a:off x="640080" y="1673352"/>
            <a:ext cx="274320" cy="274320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FDAE01F-56D2-A18F-0600-979EAB26FDD4}"/>
              </a:ext>
            </a:extLst>
          </p:cNvPr>
          <p:cNvSpPr/>
          <p:nvPr/>
        </p:nvSpPr>
        <p:spPr>
          <a:xfrm>
            <a:off x="1234440" y="15859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POPULATION</a:t>
            </a:r>
            <a:endParaRPr lang="en-US" sz="12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9F8C307-350D-F79C-00E3-1E81D94E2F4B}"/>
              </a:ext>
            </a:extLst>
          </p:cNvPr>
          <p:cNvSpPr/>
          <p:nvPr/>
        </p:nvSpPr>
        <p:spPr>
          <a:xfrm>
            <a:off x="640080" y="2264664"/>
            <a:ext cx="990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a rate without ever stating the denominator population leaves the reader unable to judge whether the figure is meaningful</a:t>
            </a:r>
            <a:r>
              <a:rPr lang="en-US" sz="11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3E531-C61E-AC8C-C11F-C258E1617DD2}"/>
              </a:ext>
            </a:extLst>
          </p:cNvPr>
          <p:cNvSpPr txBox="1"/>
          <p:nvPr/>
        </p:nvSpPr>
        <p:spPr>
          <a:xfrm>
            <a:off x="825500" y="4137398"/>
            <a:ext cx="8111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 1 in 3", "1 in 5", or 53%: South Africa's gender-based violence statistics </a:t>
            </a:r>
          </a:p>
        </p:txBody>
      </p:sp>
    </p:spTree>
    <p:extLst>
      <p:ext uri="{BB962C8B-B14F-4D97-AF65-F5344CB8AC3E}">
        <p14:creationId xmlns:p14="http://schemas.microsoft.com/office/powerpoint/2010/main" val="3355248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10896" cy="31089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538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definition is a standardised rule for deciding who counts — it determines the numerator.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10896" cy="31089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3113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population (population at risk) is everyone who could potentially become a case — it determines the denominator.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10896" cy="31089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epidemiology, “population” means the units a sample is drawn from, not a fixed geographic area as in demography.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10896" cy="31089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78561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health event can be described using person, place and time.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310896" cy="31089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56285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study measures an exposure and an outcome; the case definition applies to the outcome.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5394960"/>
            <a:ext cx="310896" cy="31089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5394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5340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Snow's 1854 investigation combined all of these ideas without a single laboratory test — and the same logic still drives Zimbabwe's cholera surveillance today.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638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409700" y="31089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463040" y="-1463040"/>
            <a:ext cx="2377440" cy="237744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65992" y="6035040"/>
            <a:ext cx="1554480" cy="155448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Used in This Session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J. On the Mode of Communication of Cholera. 2nd ed. London: John Churchill; 1855.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0482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Brody H, Rip MR, Vinten-Johansen P, Paneth N, Rachman S. Map-making and myth-making in Broad Street: the London cholera epidemic, 1854. Lancet. 2000;356(9223):64–68.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6334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Luque-Fernández MA, Mason PR, Gray H, et al. Descriptive spatial analysis of the cholera epidemic 2008–2009 in Harare, Zimbabwe. Trans R Soc Trop Med Hyg. 2011;105(1):38–45.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2186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Mashe T, Chaibva BV, Nair P, et al. Descriptive epidemiology of the cholera outbreak in Zimbabwe 2018–2019. BMJ Open. 2023;13(1):e059134.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8039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38039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Olatunji G, Kokori E, Moradeyo A, et al. A perspective on the 2023 cholera outbreaks in Zimbabwe. J Epidemiol Glob Health. 2024;14(1):243–248.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4389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Shamu T, Chimbetete C, Shawarira-Bote S, Mudzviti T, Luthy R. Outcomes of an HIV cohort after a decade of comprehensive care at Newlands Clinic, Harare, Zimbabwe: TENART cohort. PLoS One. 2017;12(10):e0186726.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974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49743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Chimbetete C, et al. Profile of elderly patients receiving antiretroviral therapy at Newlands Clinic in 2020: a cross-sectional study. S Afr J HIV Med. 2020;21(1).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5559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55595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M, ed. A Dictionary of Epidemiology. 6th ed. Oxford: Oxford University Press; 2014.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2993</Words>
  <Application>Microsoft Office PowerPoint</Application>
  <PresentationFormat>Widescreen</PresentationFormat>
  <Paragraphs>315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Ardele M Ndanga</cp:lastModifiedBy>
  <cp:revision>3</cp:revision>
  <dcterms:created xsi:type="dcterms:W3CDTF">2026-07-14T06:10:56Z</dcterms:created>
  <dcterms:modified xsi:type="dcterms:W3CDTF">2026-07-14T12:22:12Z</dcterms:modified>
</cp:coreProperties>
</file>