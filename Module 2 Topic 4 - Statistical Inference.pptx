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DA965-EF15-44A3-90F1-5AA98CF6172A}" v="1" dt="2026-08-18T08:20:31.4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67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dney Malunga" userId="f348baeb-1f05-486c-bbcc-2da6e207d963" providerId="ADAL" clId="{DE3B0BC8-E27C-48FE-86D3-D2EF9400FA41}"/>
    <pc:docChg chg="custSel modSld">
      <pc:chgData name="Sydney Malunga" userId="f348baeb-1f05-486c-bbcc-2da6e207d963" providerId="ADAL" clId="{DE3B0BC8-E27C-48FE-86D3-D2EF9400FA41}" dt="2026-08-18T08:25:48.199" v="113" actId="22"/>
      <pc:docMkLst>
        <pc:docMk/>
      </pc:docMkLst>
      <pc:sldChg chg="addSp delSp modSp mod">
        <pc:chgData name="Sydney Malunga" userId="f348baeb-1f05-486c-bbcc-2da6e207d963" providerId="ADAL" clId="{DE3B0BC8-E27C-48FE-86D3-D2EF9400FA41}" dt="2026-08-18T08:21:17.817" v="15" actId="22"/>
        <pc:sldMkLst>
          <pc:docMk/>
          <pc:sldMk cId="0" sldId="256"/>
        </pc:sldMkLst>
        <pc:spChg chg="mod">
          <ac:chgData name="Sydney Malunga" userId="f348baeb-1f05-486c-bbcc-2da6e207d963" providerId="ADAL" clId="{DE3B0BC8-E27C-48FE-86D3-D2EF9400FA41}" dt="2026-08-18T08:20:54.821" v="8" actId="404"/>
          <ac:spMkLst>
            <pc:docMk/>
            <pc:sldMk cId="0" sldId="256"/>
            <ac:spMk id="3" creationId="{00000000-0000-0000-0000-000000000000}"/>
          </ac:spMkLst>
        </pc:spChg>
        <pc:spChg chg="del">
          <ac:chgData name="Sydney Malunga" userId="f348baeb-1f05-486c-bbcc-2da6e207d963" providerId="ADAL" clId="{DE3B0BC8-E27C-48FE-86D3-D2EF9400FA41}" dt="2026-08-18T08:20:59.269" v="9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Sydney Malunga" userId="f348baeb-1f05-486c-bbcc-2da6e207d963" providerId="ADAL" clId="{DE3B0BC8-E27C-48FE-86D3-D2EF9400FA41}" dt="2026-08-18T08:21:00.268" v="10" actId="478"/>
          <ac:spMkLst>
            <pc:docMk/>
            <pc:sldMk cId="0" sldId="256"/>
            <ac:spMk id="8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1:17.817" v="15" actId="22"/>
          <ac:spMkLst>
            <pc:docMk/>
            <pc:sldMk cId="0" sldId="256"/>
            <ac:spMk id="13" creationId="{C21351F2-AE6B-39BA-9C34-CEF8BB730BCC}"/>
          </ac:spMkLst>
        </pc:spChg>
        <pc:spChg chg="add">
          <ac:chgData name="Sydney Malunga" userId="f348baeb-1f05-486c-bbcc-2da6e207d963" providerId="ADAL" clId="{DE3B0BC8-E27C-48FE-86D3-D2EF9400FA41}" dt="2026-08-18T08:21:17.817" v="15" actId="22"/>
          <ac:spMkLst>
            <pc:docMk/>
            <pc:sldMk cId="0" sldId="256"/>
            <ac:spMk id="15" creationId="{F95A7406-6E0E-93B6-FA9E-A99C7BC2E3B2}"/>
          </ac:spMkLst>
        </pc:spChg>
        <pc:spChg chg="add">
          <ac:chgData name="Sydney Malunga" userId="f348baeb-1f05-486c-bbcc-2da6e207d963" providerId="ADAL" clId="{DE3B0BC8-E27C-48FE-86D3-D2EF9400FA41}" dt="2026-08-18T08:21:17.817" v="15" actId="22"/>
          <ac:spMkLst>
            <pc:docMk/>
            <pc:sldMk cId="0" sldId="256"/>
            <ac:spMk id="17" creationId="{D541B553-93C4-AFF1-6B81-C42C2186351B}"/>
          </ac:spMkLst>
        </pc:spChg>
        <pc:spChg chg="add">
          <ac:chgData name="Sydney Malunga" userId="f348baeb-1f05-486c-bbcc-2da6e207d963" providerId="ADAL" clId="{DE3B0BC8-E27C-48FE-86D3-D2EF9400FA41}" dt="2026-08-18T08:21:17.817" v="15" actId="22"/>
          <ac:spMkLst>
            <pc:docMk/>
            <pc:sldMk cId="0" sldId="256"/>
            <ac:spMk id="19" creationId="{142B29DE-940B-78AC-3198-2D90E4CC1673}"/>
          </ac:spMkLst>
        </pc:spChg>
        <pc:spChg chg="add">
          <ac:chgData name="Sydney Malunga" userId="f348baeb-1f05-486c-bbcc-2da6e207d963" providerId="ADAL" clId="{DE3B0BC8-E27C-48FE-86D3-D2EF9400FA41}" dt="2026-08-18T08:21:17.817" v="15" actId="22"/>
          <ac:spMkLst>
            <pc:docMk/>
            <pc:sldMk cId="0" sldId="256"/>
            <ac:spMk id="21" creationId="{924E5CF0-9AEA-D1EE-1CCC-29E98551C6F9}"/>
          </ac:spMkLst>
        </pc:spChg>
        <pc:picChg chg="del">
          <ac:chgData name="Sydney Malunga" userId="f348baeb-1f05-486c-bbcc-2da6e207d963" providerId="ADAL" clId="{DE3B0BC8-E27C-48FE-86D3-D2EF9400FA41}" dt="2026-08-18T08:21:01.834" v="11" actId="478"/>
          <ac:picMkLst>
            <pc:docMk/>
            <pc:sldMk cId="0" sldId="256"/>
            <ac:picMk id="9" creationId="{00000000-0000-0000-0000-000000000000}"/>
          </ac:picMkLst>
        </pc:picChg>
        <pc:picChg chg="add mod">
          <ac:chgData name="Sydney Malunga" userId="f348baeb-1f05-486c-bbcc-2da6e207d963" providerId="ADAL" clId="{DE3B0BC8-E27C-48FE-86D3-D2EF9400FA41}" dt="2026-08-18T08:21:06.872" v="14" actId="1076"/>
          <ac:picMkLst>
            <pc:docMk/>
            <pc:sldMk cId="0" sldId="256"/>
            <ac:picMk id="11" creationId="{AEAC053C-8E65-2D63-D76B-97D3E9B147D8}"/>
          </ac:picMkLst>
        </pc:picChg>
      </pc:sldChg>
      <pc:sldChg chg="addSp delSp modSp mod">
        <pc:chgData name="Sydney Malunga" userId="f348baeb-1f05-486c-bbcc-2da6e207d963" providerId="ADAL" clId="{DE3B0BC8-E27C-48FE-86D3-D2EF9400FA41}" dt="2026-08-18T08:25:48.199" v="113" actId="22"/>
        <pc:sldMkLst>
          <pc:docMk/>
          <pc:sldMk cId="0" sldId="257"/>
        </pc:sldMkLst>
        <pc:spChg chg="del">
          <ac:chgData name="Sydney Malunga" userId="f348baeb-1f05-486c-bbcc-2da6e207d963" providerId="ADAL" clId="{DE3B0BC8-E27C-48FE-86D3-D2EF9400FA41}" dt="2026-08-18T08:22:20.674" v="25" actId="478"/>
          <ac:spMkLst>
            <pc:docMk/>
            <pc:sldMk cId="0" sldId="257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48.199" v="113" actId="22"/>
          <ac:spMkLst>
            <pc:docMk/>
            <pc:sldMk cId="0" sldId="257"/>
            <ac:spMk id="12" creationId="{90C09B60-7A0F-8587-9B3B-9E80E16D4B55}"/>
          </ac:spMkLst>
        </pc:spChg>
        <pc:picChg chg="del">
          <ac:chgData name="Sydney Malunga" userId="f348baeb-1f05-486c-bbcc-2da6e207d963" providerId="ADAL" clId="{DE3B0BC8-E27C-48FE-86D3-D2EF9400FA41}" dt="2026-08-18T08:21:35.359" v="16" actId="478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Sydney Malunga" userId="f348baeb-1f05-486c-bbcc-2da6e207d963" providerId="ADAL" clId="{DE3B0BC8-E27C-48FE-86D3-D2EF9400FA41}" dt="2026-08-18T08:22:17.614" v="24" actId="1076"/>
          <ac:picMkLst>
            <pc:docMk/>
            <pc:sldMk cId="0" sldId="257"/>
            <ac:picMk id="10" creationId="{C2DB925A-1D34-2598-6095-4660E851120F}"/>
          </ac:picMkLst>
        </pc:picChg>
      </pc:sldChg>
      <pc:sldChg chg="addSp delSp modSp mod">
        <pc:chgData name="Sydney Malunga" userId="f348baeb-1f05-486c-bbcc-2da6e207d963" providerId="ADAL" clId="{DE3B0BC8-E27C-48FE-86D3-D2EF9400FA41}" dt="2026-08-18T08:25:47.381" v="112" actId="22"/>
        <pc:sldMkLst>
          <pc:docMk/>
          <pc:sldMk cId="0" sldId="258"/>
        </pc:sldMkLst>
        <pc:spChg chg="del mod">
          <ac:chgData name="Sydney Malunga" userId="f348baeb-1f05-486c-bbcc-2da6e207d963" providerId="ADAL" clId="{DE3B0BC8-E27C-48FE-86D3-D2EF9400FA41}" dt="2026-08-18T08:22:06.666" v="20" actId="478"/>
          <ac:spMkLst>
            <pc:docMk/>
            <pc:sldMk cId="0" sldId="258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47.381" v="112" actId="22"/>
          <ac:spMkLst>
            <pc:docMk/>
            <pc:sldMk cId="0" sldId="258"/>
            <ac:spMk id="22" creationId="{1A85602E-8C45-0225-25F3-482EE7B6E83F}"/>
          </ac:spMkLst>
        </pc:spChg>
        <pc:picChg chg="del">
          <ac:chgData name="Sydney Malunga" userId="f348baeb-1f05-486c-bbcc-2da6e207d963" providerId="ADAL" clId="{DE3B0BC8-E27C-48FE-86D3-D2EF9400FA41}" dt="2026-08-18T08:22:02.448" v="18" actId="478"/>
          <ac:picMkLst>
            <pc:docMk/>
            <pc:sldMk cId="0" sldId="258"/>
            <ac:picMk id="2" creationId="{00000000-0000-0000-0000-000000000000}"/>
          </ac:picMkLst>
        </pc:picChg>
        <pc:picChg chg="add mod">
          <ac:chgData name="Sydney Malunga" userId="f348baeb-1f05-486c-bbcc-2da6e207d963" providerId="ADAL" clId="{DE3B0BC8-E27C-48FE-86D3-D2EF9400FA41}" dt="2026-08-18T08:22:32.051" v="26" actId="1076"/>
          <ac:picMkLst>
            <pc:docMk/>
            <pc:sldMk cId="0" sldId="258"/>
            <ac:picMk id="20" creationId="{B9534035-1DEC-0526-11C8-1A23EDEF43F6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46.316" v="111" actId="22"/>
        <pc:sldMkLst>
          <pc:docMk/>
          <pc:sldMk cId="0" sldId="259"/>
        </pc:sldMkLst>
        <pc:spChg chg="del">
          <ac:chgData name="Sydney Malunga" userId="f348baeb-1f05-486c-bbcc-2da6e207d963" providerId="ADAL" clId="{DE3B0BC8-E27C-48FE-86D3-D2EF9400FA41}" dt="2026-08-18T08:22:37.205" v="27" actId="478"/>
          <ac:spMkLst>
            <pc:docMk/>
            <pc:sldMk cId="0" sldId="259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46.316" v="111" actId="22"/>
          <ac:spMkLst>
            <pc:docMk/>
            <pc:sldMk cId="0" sldId="259"/>
            <ac:spMk id="21" creationId="{8598B740-BA5B-37E3-D344-E288732CB621}"/>
          </ac:spMkLst>
        </pc:spChg>
        <pc:picChg chg="del">
          <ac:chgData name="Sydney Malunga" userId="f348baeb-1f05-486c-bbcc-2da6e207d963" providerId="ADAL" clId="{DE3B0BC8-E27C-48FE-86D3-D2EF9400FA41}" dt="2026-08-18T08:22:38.053" v="28" actId="478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2:39.006" v="29" actId="22"/>
          <ac:picMkLst>
            <pc:docMk/>
            <pc:sldMk cId="0" sldId="259"/>
            <ac:picMk id="19" creationId="{6B3364A5-D876-B105-B620-B5C4EDF20129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44.538" v="110" actId="22"/>
        <pc:sldMkLst>
          <pc:docMk/>
          <pc:sldMk cId="0" sldId="260"/>
        </pc:sldMkLst>
        <pc:spChg chg="del">
          <ac:chgData name="Sydney Malunga" userId="f348baeb-1f05-486c-bbcc-2da6e207d963" providerId="ADAL" clId="{DE3B0BC8-E27C-48FE-86D3-D2EF9400FA41}" dt="2026-08-18T08:22:42.138" v="31" actId="478"/>
          <ac:spMkLst>
            <pc:docMk/>
            <pc:sldMk cId="0" sldId="260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44.538" v="110" actId="22"/>
          <ac:spMkLst>
            <pc:docMk/>
            <pc:sldMk cId="0" sldId="260"/>
            <ac:spMk id="25" creationId="{5A9624E1-95A6-5EB3-7771-6CC85309D50D}"/>
          </ac:spMkLst>
        </pc:spChg>
        <pc:picChg chg="del">
          <ac:chgData name="Sydney Malunga" userId="f348baeb-1f05-486c-bbcc-2da6e207d963" providerId="ADAL" clId="{DE3B0BC8-E27C-48FE-86D3-D2EF9400FA41}" dt="2026-08-18T08:22:41.599" v="30" actId="478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2:43.051" v="32" actId="22"/>
          <ac:picMkLst>
            <pc:docMk/>
            <pc:sldMk cId="0" sldId="260"/>
            <ac:picMk id="23" creationId="{7FA5A05A-7B37-DB1B-51C8-A52A44395595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43.738" v="109" actId="22"/>
        <pc:sldMkLst>
          <pc:docMk/>
          <pc:sldMk cId="0" sldId="261"/>
        </pc:sldMkLst>
        <pc:spChg chg="del">
          <ac:chgData name="Sydney Malunga" userId="f348baeb-1f05-486c-bbcc-2da6e207d963" providerId="ADAL" clId="{DE3B0BC8-E27C-48FE-86D3-D2EF9400FA41}" dt="2026-08-18T08:22:47.293" v="34" actId="478"/>
          <ac:spMkLst>
            <pc:docMk/>
            <pc:sldMk cId="0" sldId="261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43.738" v="109" actId="22"/>
          <ac:spMkLst>
            <pc:docMk/>
            <pc:sldMk cId="0" sldId="261"/>
            <ac:spMk id="12" creationId="{9A1FB391-F900-1667-806A-1AEE3EA8F6AD}"/>
          </ac:spMkLst>
        </pc:spChg>
        <pc:picChg chg="del">
          <ac:chgData name="Sydney Malunga" userId="f348baeb-1f05-486c-bbcc-2da6e207d963" providerId="ADAL" clId="{DE3B0BC8-E27C-48FE-86D3-D2EF9400FA41}" dt="2026-08-18T08:22:45.946" v="33" actId="478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2:48.231" v="35" actId="22"/>
          <ac:picMkLst>
            <pc:docMk/>
            <pc:sldMk cId="0" sldId="261"/>
            <ac:picMk id="10" creationId="{88E30AC4-F478-C57F-C839-92AC91B0CABD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43.080" v="108" actId="22"/>
        <pc:sldMkLst>
          <pc:docMk/>
          <pc:sldMk cId="0" sldId="262"/>
        </pc:sldMkLst>
        <pc:spChg chg="del">
          <ac:chgData name="Sydney Malunga" userId="f348baeb-1f05-486c-bbcc-2da6e207d963" providerId="ADAL" clId="{DE3B0BC8-E27C-48FE-86D3-D2EF9400FA41}" dt="2026-08-18T08:22:51.288" v="36" actId="478"/>
          <ac:spMkLst>
            <pc:docMk/>
            <pc:sldMk cId="0" sldId="262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43.080" v="108" actId="22"/>
          <ac:spMkLst>
            <pc:docMk/>
            <pc:sldMk cId="0" sldId="262"/>
            <ac:spMk id="20" creationId="{08C9EEFD-6C45-4FD8-6193-8957F91613B6}"/>
          </ac:spMkLst>
        </pc:spChg>
        <pc:picChg chg="del">
          <ac:chgData name="Sydney Malunga" userId="f348baeb-1f05-486c-bbcc-2da6e207d963" providerId="ADAL" clId="{DE3B0BC8-E27C-48FE-86D3-D2EF9400FA41}" dt="2026-08-18T08:22:51.886" v="37" actId="478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2:52.642" v="38" actId="22"/>
          <ac:picMkLst>
            <pc:docMk/>
            <pc:sldMk cId="0" sldId="262"/>
            <ac:picMk id="18" creationId="{BD97E71E-D0FC-BE8B-63F8-3BD89F25739D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41.922" v="107" actId="22"/>
        <pc:sldMkLst>
          <pc:docMk/>
          <pc:sldMk cId="0" sldId="263"/>
        </pc:sldMkLst>
        <pc:spChg chg="del">
          <ac:chgData name="Sydney Malunga" userId="f348baeb-1f05-486c-bbcc-2da6e207d963" providerId="ADAL" clId="{DE3B0BC8-E27C-48FE-86D3-D2EF9400FA41}" dt="2026-08-18T08:22:57.223" v="40" actId="478"/>
          <ac:spMkLst>
            <pc:docMk/>
            <pc:sldMk cId="0" sldId="263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41.922" v="107" actId="22"/>
          <ac:spMkLst>
            <pc:docMk/>
            <pc:sldMk cId="0" sldId="263"/>
            <ac:spMk id="21" creationId="{E1BCA803-940B-7C76-CAE7-51480727835C}"/>
          </ac:spMkLst>
        </pc:spChg>
        <pc:picChg chg="del">
          <ac:chgData name="Sydney Malunga" userId="f348baeb-1f05-486c-bbcc-2da6e207d963" providerId="ADAL" clId="{DE3B0BC8-E27C-48FE-86D3-D2EF9400FA41}" dt="2026-08-18T08:22:55.733" v="39" actId="478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2:58.056" v="41" actId="22"/>
          <ac:picMkLst>
            <pc:docMk/>
            <pc:sldMk cId="0" sldId="263"/>
            <ac:picMk id="19" creationId="{2F1E60D2-6AE5-F5C7-C009-DA9B55ADD8BF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40.509" v="106" actId="22"/>
        <pc:sldMkLst>
          <pc:docMk/>
          <pc:sldMk cId="0" sldId="264"/>
        </pc:sldMkLst>
        <pc:spChg chg="del">
          <ac:chgData name="Sydney Malunga" userId="f348baeb-1f05-486c-bbcc-2da6e207d963" providerId="ADAL" clId="{DE3B0BC8-E27C-48FE-86D3-D2EF9400FA41}" dt="2026-08-18T08:23:02.880" v="43" actId="478"/>
          <ac:spMkLst>
            <pc:docMk/>
            <pc:sldMk cId="0" sldId="264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40.509" v="106" actId="22"/>
          <ac:spMkLst>
            <pc:docMk/>
            <pc:sldMk cId="0" sldId="264"/>
            <ac:spMk id="11" creationId="{BCC0269A-9A68-C8DF-C93B-80F91E93807F}"/>
          </ac:spMkLst>
        </pc:spChg>
        <pc:picChg chg="del">
          <ac:chgData name="Sydney Malunga" userId="f348baeb-1f05-486c-bbcc-2da6e207d963" providerId="ADAL" clId="{DE3B0BC8-E27C-48FE-86D3-D2EF9400FA41}" dt="2026-08-18T08:23:01.836" v="42" actId="478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3:03.585" v="44" actId="22"/>
          <ac:picMkLst>
            <pc:docMk/>
            <pc:sldMk cId="0" sldId="264"/>
            <ac:picMk id="8" creationId="{B4EE5BEB-9107-088C-3D52-9635A9BAC300}"/>
          </ac:picMkLst>
        </pc:picChg>
      </pc:sldChg>
      <pc:sldChg chg="addSp delSp modSp mod">
        <pc:chgData name="Sydney Malunga" userId="f348baeb-1f05-486c-bbcc-2da6e207d963" providerId="ADAL" clId="{DE3B0BC8-E27C-48FE-86D3-D2EF9400FA41}" dt="2026-08-18T08:25:38.100" v="105" actId="22"/>
        <pc:sldMkLst>
          <pc:docMk/>
          <pc:sldMk cId="0" sldId="265"/>
        </pc:sldMkLst>
        <pc:spChg chg="del mod">
          <ac:chgData name="Sydney Malunga" userId="f348baeb-1f05-486c-bbcc-2da6e207d963" providerId="ADAL" clId="{DE3B0BC8-E27C-48FE-86D3-D2EF9400FA41}" dt="2026-08-18T08:23:11.620" v="47" actId="478"/>
          <ac:spMkLst>
            <pc:docMk/>
            <pc:sldMk cId="0" sldId="265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38.100" v="105" actId="22"/>
          <ac:spMkLst>
            <pc:docMk/>
            <pc:sldMk cId="0" sldId="265"/>
            <ac:spMk id="28" creationId="{0857DB44-6426-00BE-8E18-C69A82F5A152}"/>
          </ac:spMkLst>
        </pc:spChg>
        <pc:picChg chg="del">
          <ac:chgData name="Sydney Malunga" userId="f348baeb-1f05-486c-bbcc-2da6e207d963" providerId="ADAL" clId="{DE3B0BC8-E27C-48FE-86D3-D2EF9400FA41}" dt="2026-08-18T08:23:09.954" v="45" actId="478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3:12.884" v="48" actId="22"/>
          <ac:picMkLst>
            <pc:docMk/>
            <pc:sldMk cId="0" sldId="265"/>
            <ac:picMk id="26" creationId="{090BDD2C-E504-D796-CF90-B350683FDC27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36.496" v="104" actId="22"/>
        <pc:sldMkLst>
          <pc:docMk/>
          <pc:sldMk cId="0" sldId="266"/>
        </pc:sldMkLst>
        <pc:spChg chg="del">
          <ac:chgData name="Sydney Malunga" userId="f348baeb-1f05-486c-bbcc-2da6e207d963" providerId="ADAL" clId="{DE3B0BC8-E27C-48FE-86D3-D2EF9400FA41}" dt="2026-08-18T08:23:16.929" v="50" actId="478"/>
          <ac:spMkLst>
            <pc:docMk/>
            <pc:sldMk cId="0" sldId="266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36.496" v="104" actId="22"/>
          <ac:spMkLst>
            <pc:docMk/>
            <pc:sldMk cId="0" sldId="266"/>
            <ac:spMk id="14" creationId="{B9C135B9-4A22-6E56-1FB6-F43EE99AC75D}"/>
          </ac:spMkLst>
        </pc:spChg>
        <pc:picChg chg="del">
          <ac:chgData name="Sydney Malunga" userId="f348baeb-1f05-486c-bbcc-2da6e207d963" providerId="ADAL" clId="{DE3B0BC8-E27C-48FE-86D3-D2EF9400FA41}" dt="2026-08-18T08:23:15.517" v="49" actId="478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3:18.135" v="51" actId="22"/>
          <ac:picMkLst>
            <pc:docMk/>
            <pc:sldMk cId="0" sldId="266"/>
            <ac:picMk id="12" creationId="{F1033B6C-F573-9D5F-3487-722C9B613522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35.260" v="103" actId="22"/>
        <pc:sldMkLst>
          <pc:docMk/>
          <pc:sldMk cId="0" sldId="267"/>
        </pc:sldMkLst>
        <pc:spChg chg="del">
          <ac:chgData name="Sydney Malunga" userId="f348baeb-1f05-486c-bbcc-2da6e207d963" providerId="ADAL" clId="{DE3B0BC8-E27C-48FE-86D3-D2EF9400FA41}" dt="2026-08-18T08:23:22.518" v="53" actId="478"/>
          <ac:spMkLst>
            <pc:docMk/>
            <pc:sldMk cId="0" sldId="267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35.260" v="103" actId="22"/>
          <ac:spMkLst>
            <pc:docMk/>
            <pc:sldMk cId="0" sldId="267"/>
            <ac:spMk id="15" creationId="{F4C22D6D-A789-4FF3-E1D8-E70B7880FAB9}"/>
          </ac:spMkLst>
        </pc:spChg>
        <pc:picChg chg="del">
          <ac:chgData name="Sydney Malunga" userId="f348baeb-1f05-486c-bbcc-2da6e207d963" providerId="ADAL" clId="{DE3B0BC8-E27C-48FE-86D3-D2EF9400FA41}" dt="2026-08-18T08:23:21.451" v="52" actId="478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3:23.632" v="54" actId="22"/>
          <ac:picMkLst>
            <pc:docMk/>
            <pc:sldMk cId="0" sldId="267"/>
            <ac:picMk id="13" creationId="{16850A52-69F7-945E-62A5-254AE3666CAD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33.689" v="102" actId="22"/>
        <pc:sldMkLst>
          <pc:docMk/>
          <pc:sldMk cId="0" sldId="268"/>
        </pc:sldMkLst>
        <pc:spChg chg="del">
          <ac:chgData name="Sydney Malunga" userId="f348baeb-1f05-486c-bbcc-2da6e207d963" providerId="ADAL" clId="{DE3B0BC8-E27C-48FE-86D3-D2EF9400FA41}" dt="2026-08-18T08:23:31.573" v="56" actId="478"/>
          <ac:spMkLst>
            <pc:docMk/>
            <pc:sldMk cId="0" sldId="268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33.689" v="102" actId="22"/>
          <ac:spMkLst>
            <pc:docMk/>
            <pc:sldMk cId="0" sldId="268"/>
            <ac:spMk id="18" creationId="{75C05CCF-BBD0-3BE4-2B9F-3EA79011D07F}"/>
          </ac:spMkLst>
        </pc:spChg>
        <pc:picChg chg="del">
          <ac:chgData name="Sydney Malunga" userId="f348baeb-1f05-486c-bbcc-2da6e207d963" providerId="ADAL" clId="{DE3B0BC8-E27C-48FE-86D3-D2EF9400FA41}" dt="2026-08-18T08:23:30.170" v="55" actId="478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3:32.619" v="57" actId="22"/>
          <ac:picMkLst>
            <pc:docMk/>
            <pc:sldMk cId="0" sldId="268"/>
            <ac:picMk id="16" creationId="{B5CC29CD-E4AC-9A92-5FC1-24E36C754AA5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28.065" v="101" actId="22"/>
        <pc:sldMkLst>
          <pc:docMk/>
          <pc:sldMk cId="0" sldId="269"/>
        </pc:sldMkLst>
        <pc:spChg chg="del">
          <ac:chgData name="Sydney Malunga" userId="f348baeb-1f05-486c-bbcc-2da6e207d963" providerId="ADAL" clId="{DE3B0BC8-E27C-48FE-86D3-D2EF9400FA41}" dt="2026-08-18T08:23:37.126" v="59" actId="478"/>
          <ac:spMkLst>
            <pc:docMk/>
            <pc:sldMk cId="0" sldId="269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28.065" v="101" actId="22"/>
          <ac:spMkLst>
            <pc:docMk/>
            <pc:sldMk cId="0" sldId="269"/>
            <ac:spMk id="17" creationId="{4EFF1050-F105-F8FF-14C4-601B0EA16F2F}"/>
          </ac:spMkLst>
        </pc:spChg>
        <pc:picChg chg="del">
          <ac:chgData name="Sydney Malunga" userId="f348baeb-1f05-486c-bbcc-2da6e207d963" providerId="ADAL" clId="{DE3B0BC8-E27C-48FE-86D3-D2EF9400FA41}" dt="2026-08-18T08:23:35.903" v="58" actId="478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3:37.993" v="60" actId="22"/>
          <ac:picMkLst>
            <pc:docMk/>
            <pc:sldMk cId="0" sldId="269"/>
            <ac:picMk id="15" creationId="{8FF8FD75-4910-0BEF-3085-D86E43583829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26.804" v="100" actId="22"/>
        <pc:sldMkLst>
          <pc:docMk/>
          <pc:sldMk cId="0" sldId="270"/>
        </pc:sldMkLst>
        <pc:spChg chg="del">
          <ac:chgData name="Sydney Malunga" userId="f348baeb-1f05-486c-bbcc-2da6e207d963" providerId="ADAL" clId="{DE3B0BC8-E27C-48FE-86D3-D2EF9400FA41}" dt="2026-08-18T08:23:44.231" v="62" actId="478"/>
          <ac:spMkLst>
            <pc:docMk/>
            <pc:sldMk cId="0" sldId="270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26.804" v="100" actId="22"/>
          <ac:spMkLst>
            <pc:docMk/>
            <pc:sldMk cId="0" sldId="270"/>
            <ac:spMk id="11" creationId="{0C74F7B8-5020-7B70-CA6B-C13493C72317}"/>
          </ac:spMkLst>
        </pc:spChg>
        <pc:picChg chg="del">
          <ac:chgData name="Sydney Malunga" userId="f348baeb-1f05-486c-bbcc-2da6e207d963" providerId="ADAL" clId="{DE3B0BC8-E27C-48FE-86D3-D2EF9400FA41}" dt="2026-08-18T08:23:43.134" v="61" actId="478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3:45.201" v="63" actId="22"/>
          <ac:picMkLst>
            <pc:docMk/>
            <pc:sldMk cId="0" sldId="270"/>
            <ac:picMk id="9" creationId="{24ED0AD5-50D0-4290-E6AC-6893C24BC6E2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25.425" v="99" actId="22"/>
        <pc:sldMkLst>
          <pc:docMk/>
          <pc:sldMk cId="0" sldId="271"/>
        </pc:sldMkLst>
        <pc:spChg chg="del">
          <ac:chgData name="Sydney Malunga" userId="f348baeb-1f05-486c-bbcc-2da6e207d963" providerId="ADAL" clId="{DE3B0BC8-E27C-48FE-86D3-D2EF9400FA41}" dt="2026-08-18T08:23:50.070" v="65" actId="478"/>
          <ac:spMkLst>
            <pc:docMk/>
            <pc:sldMk cId="0" sldId="271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25.425" v="99" actId="22"/>
          <ac:spMkLst>
            <pc:docMk/>
            <pc:sldMk cId="0" sldId="271"/>
            <ac:spMk id="17" creationId="{798EF9F3-56E4-4724-103A-7708219DFF0A}"/>
          </ac:spMkLst>
        </pc:spChg>
        <pc:picChg chg="del">
          <ac:chgData name="Sydney Malunga" userId="f348baeb-1f05-486c-bbcc-2da6e207d963" providerId="ADAL" clId="{DE3B0BC8-E27C-48FE-86D3-D2EF9400FA41}" dt="2026-08-18T08:23:48.249" v="64" actId="478"/>
          <ac:picMkLst>
            <pc:docMk/>
            <pc:sldMk cId="0" sldId="271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3:51.195" v="66" actId="22"/>
          <ac:picMkLst>
            <pc:docMk/>
            <pc:sldMk cId="0" sldId="271"/>
            <ac:picMk id="15" creationId="{840FAB1E-471C-87CE-B84C-9ACA05C91591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22.896" v="98" actId="22"/>
        <pc:sldMkLst>
          <pc:docMk/>
          <pc:sldMk cId="0" sldId="272"/>
        </pc:sldMkLst>
        <pc:spChg chg="del">
          <ac:chgData name="Sydney Malunga" userId="f348baeb-1f05-486c-bbcc-2da6e207d963" providerId="ADAL" clId="{DE3B0BC8-E27C-48FE-86D3-D2EF9400FA41}" dt="2026-08-18T08:23:55.627" v="68" actId="478"/>
          <ac:spMkLst>
            <pc:docMk/>
            <pc:sldMk cId="0" sldId="272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22.896" v="98" actId="22"/>
          <ac:spMkLst>
            <pc:docMk/>
            <pc:sldMk cId="0" sldId="272"/>
            <ac:spMk id="15" creationId="{4500A0B7-357C-6062-FA96-A968E9C86FCF}"/>
          </ac:spMkLst>
        </pc:spChg>
        <pc:picChg chg="del">
          <ac:chgData name="Sydney Malunga" userId="f348baeb-1f05-486c-bbcc-2da6e207d963" providerId="ADAL" clId="{DE3B0BC8-E27C-48FE-86D3-D2EF9400FA41}" dt="2026-08-18T08:23:54.557" v="67" actId="478"/>
          <ac:picMkLst>
            <pc:docMk/>
            <pc:sldMk cId="0" sldId="272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3:56.441" v="69" actId="22"/>
          <ac:picMkLst>
            <pc:docMk/>
            <pc:sldMk cId="0" sldId="272"/>
            <ac:picMk id="13" creationId="{8D760B57-8F8C-461C-FBA2-F05DA4D97F35}"/>
          </ac:picMkLst>
        </pc:picChg>
      </pc:sldChg>
      <pc:sldChg chg="addSp delSp modSp mod">
        <pc:chgData name="Sydney Malunga" userId="f348baeb-1f05-486c-bbcc-2da6e207d963" providerId="ADAL" clId="{DE3B0BC8-E27C-48FE-86D3-D2EF9400FA41}" dt="2026-08-18T08:25:21.716" v="97" actId="22"/>
        <pc:sldMkLst>
          <pc:docMk/>
          <pc:sldMk cId="0" sldId="273"/>
        </pc:sldMkLst>
        <pc:spChg chg="del mod">
          <ac:chgData name="Sydney Malunga" userId="f348baeb-1f05-486c-bbcc-2da6e207d963" providerId="ADAL" clId="{DE3B0BC8-E27C-48FE-86D3-D2EF9400FA41}" dt="2026-08-18T08:24:00.833" v="72" actId="478"/>
          <ac:spMkLst>
            <pc:docMk/>
            <pc:sldMk cId="0" sldId="273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21.716" v="97" actId="22"/>
          <ac:spMkLst>
            <pc:docMk/>
            <pc:sldMk cId="0" sldId="273"/>
            <ac:spMk id="18" creationId="{15B35B75-432E-0C3A-8EBA-D7A91FFC2350}"/>
          </ac:spMkLst>
        </pc:spChg>
        <pc:picChg chg="del">
          <ac:chgData name="Sydney Malunga" userId="f348baeb-1f05-486c-bbcc-2da6e207d963" providerId="ADAL" clId="{DE3B0BC8-E27C-48FE-86D3-D2EF9400FA41}" dt="2026-08-18T08:23:59.341" v="70" actId="478"/>
          <ac:picMkLst>
            <pc:docMk/>
            <pc:sldMk cId="0" sldId="273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4:01.783" v="73" actId="22"/>
          <ac:picMkLst>
            <pc:docMk/>
            <pc:sldMk cId="0" sldId="273"/>
            <ac:picMk id="16" creationId="{31D8B23D-9FDE-DE06-E110-0B4DBF37C8DB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20.645" v="96" actId="22"/>
        <pc:sldMkLst>
          <pc:docMk/>
          <pc:sldMk cId="0" sldId="274"/>
        </pc:sldMkLst>
        <pc:spChg chg="del">
          <ac:chgData name="Sydney Malunga" userId="f348baeb-1f05-486c-bbcc-2da6e207d963" providerId="ADAL" clId="{DE3B0BC8-E27C-48FE-86D3-D2EF9400FA41}" dt="2026-08-18T08:24:06.409" v="75" actId="478"/>
          <ac:spMkLst>
            <pc:docMk/>
            <pc:sldMk cId="0" sldId="274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20.645" v="96" actId="22"/>
          <ac:spMkLst>
            <pc:docMk/>
            <pc:sldMk cId="0" sldId="274"/>
            <ac:spMk id="22" creationId="{70EE47E2-08ED-CE6B-379D-C742B076C50E}"/>
          </ac:spMkLst>
        </pc:spChg>
        <pc:picChg chg="del">
          <ac:chgData name="Sydney Malunga" userId="f348baeb-1f05-486c-bbcc-2da6e207d963" providerId="ADAL" clId="{DE3B0BC8-E27C-48FE-86D3-D2EF9400FA41}" dt="2026-08-18T08:24:04.805" v="74" actId="478"/>
          <ac:picMkLst>
            <pc:docMk/>
            <pc:sldMk cId="0" sldId="274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4:07.308" v="76" actId="22"/>
          <ac:picMkLst>
            <pc:docMk/>
            <pc:sldMk cId="0" sldId="274"/>
            <ac:picMk id="20" creationId="{D0FCB7A1-06ED-E56D-C131-73D0C393A739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19.199" v="95" actId="22"/>
        <pc:sldMkLst>
          <pc:docMk/>
          <pc:sldMk cId="0" sldId="275"/>
        </pc:sldMkLst>
        <pc:spChg chg="del">
          <ac:chgData name="Sydney Malunga" userId="f348baeb-1f05-486c-bbcc-2da6e207d963" providerId="ADAL" clId="{DE3B0BC8-E27C-48FE-86D3-D2EF9400FA41}" dt="2026-08-18T08:24:11.303" v="78" actId="478"/>
          <ac:spMkLst>
            <pc:docMk/>
            <pc:sldMk cId="0" sldId="275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19.199" v="95" actId="22"/>
          <ac:spMkLst>
            <pc:docMk/>
            <pc:sldMk cId="0" sldId="275"/>
            <ac:spMk id="20" creationId="{0AB998E3-8181-8021-2BCC-07B1D88D5885}"/>
          </ac:spMkLst>
        </pc:spChg>
        <pc:picChg chg="del">
          <ac:chgData name="Sydney Malunga" userId="f348baeb-1f05-486c-bbcc-2da6e207d963" providerId="ADAL" clId="{DE3B0BC8-E27C-48FE-86D3-D2EF9400FA41}" dt="2026-08-18T08:24:10.150" v="77" actId="478"/>
          <ac:picMkLst>
            <pc:docMk/>
            <pc:sldMk cId="0" sldId="275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4:12.126" v="79" actId="22"/>
          <ac:picMkLst>
            <pc:docMk/>
            <pc:sldMk cId="0" sldId="275"/>
            <ac:picMk id="18" creationId="{0B3B9DC0-9A38-F344-F7A3-2B35A557939A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17.241" v="94" actId="22"/>
        <pc:sldMkLst>
          <pc:docMk/>
          <pc:sldMk cId="0" sldId="276"/>
        </pc:sldMkLst>
        <pc:spChg chg="del">
          <ac:chgData name="Sydney Malunga" userId="f348baeb-1f05-486c-bbcc-2da6e207d963" providerId="ADAL" clId="{DE3B0BC8-E27C-48FE-86D3-D2EF9400FA41}" dt="2026-08-18T08:24:17.707" v="81" actId="478"/>
          <ac:spMkLst>
            <pc:docMk/>
            <pc:sldMk cId="0" sldId="276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17.241" v="94" actId="22"/>
          <ac:spMkLst>
            <pc:docMk/>
            <pc:sldMk cId="0" sldId="276"/>
            <ac:spMk id="19" creationId="{38EADFDE-6D90-A6B0-0A2C-F4CF4BC28A94}"/>
          </ac:spMkLst>
        </pc:spChg>
        <pc:picChg chg="del">
          <ac:chgData name="Sydney Malunga" userId="f348baeb-1f05-486c-bbcc-2da6e207d963" providerId="ADAL" clId="{DE3B0BC8-E27C-48FE-86D3-D2EF9400FA41}" dt="2026-08-18T08:24:15.961" v="80" actId="478"/>
          <ac:picMkLst>
            <pc:docMk/>
            <pc:sldMk cId="0" sldId="276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4:18.506" v="82" actId="22"/>
          <ac:picMkLst>
            <pc:docMk/>
            <pc:sldMk cId="0" sldId="276"/>
            <ac:picMk id="17" creationId="{317FA9D6-7092-2896-2B3C-3997D1B8A012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13.933" v="93" actId="22"/>
        <pc:sldMkLst>
          <pc:docMk/>
          <pc:sldMk cId="0" sldId="277"/>
        </pc:sldMkLst>
        <pc:spChg chg="del">
          <ac:chgData name="Sydney Malunga" userId="f348baeb-1f05-486c-bbcc-2da6e207d963" providerId="ADAL" clId="{DE3B0BC8-E27C-48FE-86D3-D2EF9400FA41}" dt="2026-08-18T08:24:24.170" v="84" actId="478"/>
          <ac:spMkLst>
            <pc:docMk/>
            <pc:sldMk cId="0" sldId="277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13.933" v="93" actId="22"/>
          <ac:spMkLst>
            <pc:docMk/>
            <pc:sldMk cId="0" sldId="277"/>
            <ac:spMk id="26" creationId="{C59A5837-FD3D-E53D-5E32-E6323B2FFFBB}"/>
          </ac:spMkLst>
        </pc:spChg>
        <pc:picChg chg="del">
          <ac:chgData name="Sydney Malunga" userId="f348baeb-1f05-486c-bbcc-2da6e207d963" providerId="ADAL" clId="{DE3B0BC8-E27C-48FE-86D3-D2EF9400FA41}" dt="2026-08-18T08:24:22.554" v="83" actId="478"/>
          <ac:picMkLst>
            <pc:docMk/>
            <pc:sldMk cId="0" sldId="277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4:24.976" v="85" actId="22"/>
          <ac:picMkLst>
            <pc:docMk/>
            <pc:sldMk cId="0" sldId="277"/>
            <ac:picMk id="24" creationId="{E2A864D8-3F5D-FEB6-49E6-A8BA0A9AD210}"/>
          </ac:picMkLst>
        </pc:picChg>
      </pc:sldChg>
      <pc:sldChg chg="addSp delSp mod">
        <pc:chgData name="Sydney Malunga" userId="f348baeb-1f05-486c-bbcc-2da6e207d963" providerId="ADAL" clId="{DE3B0BC8-E27C-48FE-86D3-D2EF9400FA41}" dt="2026-08-18T08:25:11.048" v="92" actId="22"/>
        <pc:sldMkLst>
          <pc:docMk/>
          <pc:sldMk cId="0" sldId="278"/>
        </pc:sldMkLst>
        <pc:spChg chg="del">
          <ac:chgData name="Sydney Malunga" userId="f348baeb-1f05-486c-bbcc-2da6e207d963" providerId="ADAL" clId="{DE3B0BC8-E27C-48FE-86D3-D2EF9400FA41}" dt="2026-08-18T08:24:29.333" v="87" actId="478"/>
          <ac:spMkLst>
            <pc:docMk/>
            <pc:sldMk cId="0" sldId="278"/>
            <ac:spMk id="3" creationId="{00000000-0000-0000-0000-000000000000}"/>
          </ac:spMkLst>
        </pc:spChg>
        <pc:spChg chg="add">
          <ac:chgData name="Sydney Malunga" userId="f348baeb-1f05-486c-bbcc-2da6e207d963" providerId="ADAL" clId="{DE3B0BC8-E27C-48FE-86D3-D2EF9400FA41}" dt="2026-08-18T08:25:11.048" v="92" actId="22"/>
          <ac:spMkLst>
            <pc:docMk/>
            <pc:sldMk cId="0" sldId="278"/>
            <ac:spMk id="17" creationId="{33E83823-0CFA-5576-1F35-98587E7E5E7C}"/>
          </ac:spMkLst>
        </pc:spChg>
        <pc:picChg chg="del">
          <ac:chgData name="Sydney Malunga" userId="f348baeb-1f05-486c-bbcc-2da6e207d963" providerId="ADAL" clId="{DE3B0BC8-E27C-48FE-86D3-D2EF9400FA41}" dt="2026-08-18T08:24:28.028" v="86" actId="478"/>
          <ac:picMkLst>
            <pc:docMk/>
            <pc:sldMk cId="0" sldId="278"/>
            <ac:picMk id="2" creationId="{00000000-0000-0000-0000-000000000000}"/>
          </ac:picMkLst>
        </pc:picChg>
        <pc:picChg chg="add">
          <ac:chgData name="Sydney Malunga" userId="f348baeb-1f05-486c-bbcc-2da6e207d963" providerId="ADAL" clId="{DE3B0BC8-E27C-48FE-86D3-D2EF9400FA41}" dt="2026-08-18T08:24:30.316" v="88" actId="22"/>
          <ac:picMkLst>
            <pc:docMk/>
            <pc:sldMk cId="0" sldId="278"/>
            <ac:picMk id="15" creationId="{7B186120-B1EF-B4B4-BD7D-6F588BF7001D}"/>
          </ac:picMkLst>
        </pc:picChg>
      </pc:sldChg>
      <pc:sldChg chg="delSp modSp mod">
        <pc:chgData name="Sydney Malunga" userId="f348baeb-1f05-486c-bbcc-2da6e207d963" providerId="ADAL" clId="{DE3B0BC8-E27C-48FE-86D3-D2EF9400FA41}" dt="2026-08-18T08:25:06.932" v="91" actId="20577"/>
        <pc:sldMkLst>
          <pc:docMk/>
          <pc:sldMk cId="0" sldId="279"/>
        </pc:sldMkLst>
        <pc:spChg chg="del">
          <ac:chgData name="Sydney Malunga" userId="f348baeb-1f05-486c-bbcc-2da6e207d963" providerId="ADAL" clId="{DE3B0BC8-E27C-48FE-86D3-D2EF9400FA41}" dt="2026-08-18T08:24:50.115" v="89" actId="478"/>
          <ac:spMkLst>
            <pc:docMk/>
            <pc:sldMk cId="0" sldId="279"/>
            <ac:spMk id="5" creationId="{00000000-0000-0000-0000-000000000000}"/>
          </ac:spMkLst>
        </pc:spChg>
        <pc:spChg chg="mod">
          <ac:chgData name="Sydney Malunga" userId="f348baeb-1f05-486c-bbcc-2da6e207d963" providerId="ADAL" clId="{DE3B0BC8-E27C-48FE-86D3-D2EF9400FA41}" dt="2026-08-18T08:25:06.932" v="91" actId="20577"/>
          <ac:spMkLst>
            <pc:docMk/>
            <pc:sldMk cId="0" sldId="279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9201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75645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TOPIC 4  ·  STATISTICS FOR EPIDEMIOLOGY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0574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of Statistical Inference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Hypothesis Testing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sample of patients to a trustworthy statement about all patients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worked examples from published Zimbabwean and Southern African research</a:t>
            </a:r>
            <a:endParaRPr lang="en-US" sz="1200" dirty="0"/>
          </a:p>
        </p:txBody>
      </p:sp>
      <p:pic>
        <p:nvPicPr>
          <p:cNvPr id="11" name="Image 0" descr="/home/claude/build/logo.png">
            <a:extLst>
              <a:ext uri="{FF2B5EF4-FFF2-40B4-BE49-F238E27FC236}">
                <a16:creationId xmlns:a16="http://schemas.microsoft.com/office/drawing/2014/main" id="{AEAC053C-8E65-2D63-D76B-97D3E9B14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1416"/>
            <a:ext cx="1748524" cy="1156716"/>
          </a:xfrm>
          <a:prstGeom prst="rect">
            <a:avLst/>
          </a:prstGeom>
        </p:spPr>
      </p:pic>
      <p:sp>
        <p:nvSpPr>
          <p:cNvPr id="13" name="Shape 1">
            <a:extLst>
              <a:ext uri="{FF2B5EF4-FFF2-40B4-BE49-F238E27FC236}">
                <a16:creationId xmlns:a16="http://schemas.microsoft.com/office/drawing/2014/main" id="{C21351F2-AE6B-39BA-9C34-CEF8BB730BCC}"/>
              </a:ext>
            </a:extLst>
          </p:cNvPr>
          <p:cNvSpPr/>
          <p:nvPr/>
        </p:nvSpPr>
        <p:spPr>
          <a:xfrm>
            <a:off x="7985455" y="2834640"/>
            <a:ext cx="4206240" cy="4206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F95A7406-6E0E-93B6-FA9E-A99C7BC2E3B2}"/>
              </a:ext>
            </a:extLst>
          </p:cNvPr>
          <p:cNvSpPr/>
          <p:nvPr/>
        </p:nvSpPr>
        <p:spPr>
          <a:xfrm>
            <a:off x="8945575" y="5394960"/>
            <a:ext cx="384048" cy="640080"/>
          </a:xfrm>
          <a:prstGeom prst="rect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D541B553-93C4-AFF1-6B81-C42C2186351B}"/>
              </a:ext>
            </a:extLst>
          </p:cNvPr>
          <p:cNvSpPr/>
          <p:nvPr/>
        </p:nvSpPr>
        <p:spPr>
          <a:xfrm>
            <a:off x="9448495" y="4617720"/>
            <a:ext cx="384048" cy="1417320"/>
          </a:xfrm>
          <a:prstGeom prst="rect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142B29DE-940B-78AC-3198-2D90E4CC1673}"/>
              </a:ext>
            </a:extLst>
          </p:cNvPr>
          <p:cNvSpPr/>
          <p:nvPr/>
        </p:nvSpPr>
        <p:spPr>
          <a:xfrm>
            <a:off x="9951415" y="5074920"/>
            <a:ext cx="384048" cy="96012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924E5CF0-9AEA-D1EE-1CCC-29E98551C6F9}"/>
              </a:ext>
            </a:extLst>
          </p:cNvPr>
          <p:cNvSpPr/>
          <p:nvPr/>
        </p:nvSpPr>
        <p:spPr>
          <a:xfrm>
            <a:off x="10454335" y="4800600"/>
            <a:ext cx="384048" cy="1234440"/>
          </a:xfrm>
          <a:prstGeom prst="rect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Z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will be able to…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10881360" cy="3977640"/>
          </a:xfrm>
          <a:prstGeom prst="roundRect">
            <a:avLst>
              <a:gd name="adj" fmla="val 2759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1005840" y="2606040"/>
            <a:ext cx="10149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in plain language, what statistical inference is and why we need it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apart a population from a sample, and a parameter from a statistic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null hypothesis (H0) and alternative hypothesis (H1) for a clinical question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p-value really measures — and two things it does not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Type I and Type II errors, and what α and power (1−β) control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a 95% confidence interval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apart statistical significance from clinical significance</a:t>
            </a:r>
            <a:endParaRPr lang="en-US" sz="1600" dirty="0"/>
          </a:p>
        </p:txBody>
      </p:sp>
      <p:pic>
        <p:nvPicPr>
          <p:cNvPr id="10" name="Image 0" descr="/home/claude/build/logo.png">
            <a:extLst>
              <a:ext uri="{FF2B5EF4-FFF2-40B4-BE49-F238E27FC236}">
                <a16:creationId xmlns:a16="http://schemas.microsoft.com/office/drawing/2014/main" id="{C2DB925A-1D34-2598-6095-4660E8511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90C09B60-7A0F-8587-9B3B-9E80E16D4B55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FOUNDATIONS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statistical inference?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ever measures every patient who has, or will have, a condition. Instead, we measure a </a:t>
            </a:r>
            <a:r>
              <a:rPr lang="en-US" sz="16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use statistics to make an honest, quantified guess about everyone else — the </a:t>
            </a:r>
            <a:r>
              <a:rPr lang="en-US" sz="16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9" name="Shape 6"/>
          <p:cNvSpPr/>
          <p:nvPr/>
        </p:nvSpPr>
        <p:spPr>
          <a:xfrm>
            <a:off x="868680" y="3218688"/>
            <a:ext cx="1581912" cy="292608"/>
          </a:xfrm>
          <a:prstGeom prst="roundRect">
            <a:avLst>
              <a:gd name="adj" fmla="val 50000"/>
            </a:avLst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0" name="Text 7"/>
          <p:cNvSpPr/>
          <p:nvPr/>
        </p:nvSpPr>
        <p:spPr>
          <a:xfrm>
            <a:off x="868680" y="3218688"/>
            <a:ext cx="1581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HARARE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" y="358444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344 patients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4005072"/>
            <a:ext cx="48006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outpatients sampled to estimate nephropathy risk for diabetic patients across Zimbabwe (Machingura et al., 2017).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301752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4" name="Shape 11"/>
          <p:cNvSpPr/>
          <p:nvPr/>
        </p:nvSpPr>
        <p:spPr>
          <a:xfrm>
            <a:off x="6492240" y="3218688"/>
            <a:ext cx="2235708" cy="29260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5" name="Text 12"/>
          <p:cNvSpPr/>
          <p:nvPr/>
        </p:nvSpPr>
        <p:spPr>
          <a:xfrm>
            <a:off x="6492240" y="3218688"/>
            <a:ext cx="22357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BEITBRIDGE &amp; LUPANE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92240" y="358444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2,414 people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4005072"/>
            <a:ext cx="48006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to estimate malaria severity risk for the wider population of Zimbabwe's malaria-elimination districts (Betera et al., 2024).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“OR 2.80, 95% CI 1.64–4.97” or “p = 0.008” in a paper is the output of this leap from sample to population.</a:t>
            </a:r>
            <a:endParaRPr lang="en-US" sz="1200" dirty="0"/>
          </a:p>
        </p:txBody>
      </p:sp>
      <p:pic>
        <p:nvPicPr>
          <p:cNvPr id="20" name="Image 0" descr="/home/claude/build/logo.png">
            <a:extLst>
              <a:ext uri="{FF2B5EF4-FFF2-40B4-BE49-F238E27FC236}">
                <a16:creationId xmlns:a16="http://schemas.microsoft.com/office/drawing/2014/main" id="{B9534035-1DEC-0526-11C8-1A23EDEF4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265176"/>
            <a:ext cx="1188720" cy="786384"/>
          </a:xfrm>
          <a:prstGeom prst="rect">
            <a:avLst/>
          </a:prstGeom>
        </p:spPr>
      </p:pic>
      <p:sp>
        <p:nvSpPr>
          <p:cNvPr id="22" name="Text 4">
            <a:extLst>
              <a:ext uri="{FF2B5EF4-FFF2-40B4-BE49-F238E27FC236}">
                <a16:creationId xmlns:a16="http://schemas.microsoft.com/office/drawing/2014/main" id="{1A85602E-8C45-0225-25F3-482EE7B6E83F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BASIC VOCABULARY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vs Sample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5257800" cy="2834640"/>
          </a:xfrm>
          <a:prstGeom prst="roundRect">
            <a:avLst>
              <a:gd name="adj" fmla="val 3871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Shape 5"/>
          <p:cNvSpPr/>
          <p:nvPr/>
        </p:nvSpPr>
        <p:spPr>
          <a:xfrm>
            <a:off x="868680" y="2487168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868680" y="248716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285292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we want to know about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3273552"/>
            <a:ext cx="480060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true value is unknown — called a parameter. Example: all diabetic patients attending public clinics in Harare.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2286000"/>
            <a:ext cx="5257800" cy="2834640"/>
          </a:xfrm>
          <a:prstGeom prst="roundRect">
            <a:avLst>
              <a:gd name="adj" fmla="val 3871"/>
            </a:avLst>
          </a:prstGeom>
          <a:solidFill>
            <a:srgbClr val="25374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3" name="Shape 10"/>
          <p:cNvSpPr/>
          <p:nvPr/>
        </p:nvSpPr>
        <p:spPr>
          <a:xfrm>
            <a:off x="6492240" y="2487168"/>
            <a:ext cx="1581912" cy="292608"/>
          </a:xfrm>
          <a:prstGeom prst="roundRect">
            <a:avLst>
              <a:gd name="adj" fmla="val 50000"/>
            </a:avLst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4" name="Text 11"/>
          <p:cNvSpPr/>
          <p:nvPr/>
        </p:nvSpPr>
        <p:spPr>
          <a:xfrm>
            <a:off x="6492240" y="2487168"/>
            <a:ext cx="1581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92240" y="285292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actually measured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92240" y="3273552"/>
            <a:ext cx="480060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calculated value is called a statistic, used to estimate the parameter. Example: the 344 patients enrolled in the study.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Greek letter = truth about the population (unknown). Latin letter = what we measured in our sample (known).</a:t>
            </a:r>
            <a:endParaRPr lang="en-US" sz="1200" dirty="0"/>
          </a:p>
        </p:txBody>
      </p:sp>
      <p:pic>
        <p:nvPicPr>
          <p:cNvPr id="19" name="Image 0" descr="/home/claude/build/logo.png">
            <a:extLst>
              <a:ext uri="{FF2B5EF4-FFF2-40B4-BE49-F238E27FC236}">
                <a16:creationId xmlns:a16="http://schemas.microsoft.com/office/drawing/2014/main" id="{6B3364A5-D876-B105-B620-B5C4EDF20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21" name="Text 4">
            <a:extLst>
              <a:ext uri="{FF2B5EF4-FFF2-40B4-BE49-F238E27FC236}">
                <a16:creationId xmlns:a16="http://schemas.microsoft.com/office/drawing/2014/main" id="{8598B740-BA5B-37E3-D344-E288732CB621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SYMBOLS, EXPLAINED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symbols you will see in every paper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914400" y="214884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3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286000" y="2148840"/>
            <a:ext cx="8961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 — the TRUE population mean (unknown)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914400" y="297180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3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x̄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286000" y="2971800"/>
            <a:ext cx="8961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x-bar — the mean we calculated from our SAMPLE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4" name="Text 11"/>
          <p:cNvSpPr/>
          <p:nvPr/>
        </p:nvSpPr>
        <p:spPr>
          <a:xfrm>
            <a:off x="914400" y="379476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3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2286000" y="3794760"/>
            <a:ext cx="8961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population proportion (unknown)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0080" y="461772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7" name="Text 14"/>
          <p:cNvSpPr/>
          <p:nvPr/>
        </p:nvSpPr>
        <p:spPr>
          <a:xfrm>
            <a:off x="914400" y="461772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3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p̂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286000" y="4617720"/>
            <a:ext cx="8961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p-hat — the proportion we calculated from our SAMPLE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0080" y="544068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0" name="Text 17"/>
          <p:cNvSpPr/>
          <p:nvPr/>
        </p:nvSpPr>
        <p:spPr>
          <a:xfrm>
            <a:off x="914400" y="544068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3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2286000" y="5440680"/>
            <a:ext cx="8961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people in our SAMPLE</a:t>
            </a:r>
            <a:endParaRPr lang="en-US" sz="1600" dirty="0"/>
          </a:p>
        </p:txBody>
      </p:sp>
      <p:pic>
        <p:nvPicPr>
          <p:cNvPr id="23" name="Image 0" descr="/home/claude/build/logo.png">
            <a:extLst>
              <a:ext uri="{FF2B5EF4-FFF2-40B4-BE49-F238E27FC236}">
                <a16:creationId xmlns:a16="http://schemas.microsoft.com/office/drawing/2014/main" id="{7FA5A05A-7B37-DB1B-51C8-A52A44395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25" name="Text 4">
            <a:extLst>
              <a:ext uri="{FF2B5EF4-FFF2-40B4-BE49-F238E27FC236}">
                <a16:creationId xmlns:a16="http://schemas.microsoft.com/office/drawing/2014/main" id="{5A9624E1-95A6-5EB3-7771-6CC85309D50D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WHY NUMBERS WOBBLE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variability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repeated the Harare nephropathy study a thousand times, drawing a fresh 344 patients each time, we would </a:t>
            </a:r>
            <a:r>
              <a:rPr lang="en-US" sz="1900" b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9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get exactly 44.8% prevalence every time — maybe 42% one time, 47% the next. This natural wobble is called </a:t>
            </a:r>
            <a:r>
              <a:rPr lang="en-US" sz="19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variability</a:t>
            </a:r>
            <a:r>
              <a:rPr lang="en-US" sz="19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happens purely because different patients happen to be selected each time — not because anything is wrong with the study.</a:t>
            </a:r>
            <a:endParaRPr lang="en-US" sz="1900" dirty="0"/>
          </a:p>
        </p:txBody>
      </p:sp>
      <p:pic>
        <p:nvPicPr>
          <p:cNvPr id="10" name="Image 0" descr="/home/claude/build/logo.png">
            <a:extLst>
              <a:ext uri="{FF2B5EF4-FFF2-40B4-BE49-F238E27FC236}">
                <a16:creationId xmlns:a16="http://schemas.microsoft.com/office/drawing/2014/main" id="{88E30AC4-F478-C57F-C839-92AC91B0C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9A1FB391-F900-1667-806A-1AEE3EA8F6AD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THE STANDARD ERROR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error, in one picture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error (SE) measures how much our sample statistic would typically wobble from one sample to the next.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(n=40) — wide, wobbly spread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463040" y="3063240"/>
            <a:ext cx="4206240" cy="1234440"/>
          </a:xfrm>
          <a:prstGeom prst="ellipse">
            <a:avLst/>
          </a:prstGeom>
          <a:solidFill>
            <a:srgbClr val="F2A93B">
              <a:alpha val="32000"/>
            </a:srgbClr>
          </a:solidFill>
          <a:ln w="254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0" name="Shape 7"/>
          <p:cNvSpPr/>
          <p:nvPr/>
        </p:nvSpPr>
        <p:spPr>
          <a:xfrm>
            <a:off x="3566160" y="3017520"/>
            <a:ext cx="0" cy="1298448"/>
          </a:xfrm>
          <a:prstGeom prst="line">
            <a:avLst/>
          </a:prstGeom>
          <a:noFill/>
          <a:ln w="15875">
            <a:solidFill>
              <a:srgbClr val="F2A93B"/>
            </a:solidFill>
            <a:prstDash val="dash"/>
          </a:ln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5943600" y="33832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SE → less precise estimate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sample (n=2,414) — narrow, stable spread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834640" y="4983480"/>
            <a:ext cx="1463040" cy="1005840"/>
          </a:xfrm>
          <a:prstGeom prst="ellipse">
            <a:avLst/>
          </a:prstGeom>
          <a:solidFill>
            <a:srgbClr val="5B9A56">
              <a:alpha val="32000"/>
            </a:srgbClr>
          </a:solidFill>
          <a:ln w="25400">
            <a:solidFill>
              <a:srgbClr val="5B9A56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4" name="Shape 11"/>
          <p:cNvSpPr/>
          <p:nvPr/>
        </p:nvSpPr>
        <p:spPr>
          <a:xfrm>
            <a:off x="3566160" y="4937760"/>
            <a:ext cx="0" cy="1115568"/>
          </a:xfrm>
          <a:prstGeom prst="line">
            <a:avLst/>
          </a:prstGeom>
          <a:noFill/>
          <a:ln w="15875">
            <a:solidFill>
              <a:srgbClr val="5B9A56"/>
            </a:solidFill>
            <a:prstDash val="dash"/>
          </a:ln>
        </p:spPr>
        <p:txBody>
          <a:bodyPr/>
          <a:lstStyle/>
          <a:p>
            <a:endParaRPr lang="en-ZW"/>
          </a:p>
        </p:txBody>
      </p:sp>
      <p:sp>
        <p:nvSpPr>
          <p:cNvPr id="15" name="Text 12"/>
          <p:cNvSpPr/>
          <p:nvPr/>
        </p:nvSpPr>
        <p:spPr>
          <a:xfrm>
            <a:off x="5943600" y="52120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 → more precise estimate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6263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shrink the SE: a BIGGER sample (n), and LESS variability in the thing being measured.</a:t>
            </a:r>
            <a:endParaRPr lang="en-US" sz="1200" dirty="0"/>
          </a:p>
        </p:txBody>
      </p:sp>
      <p:pic>
        <p:nvPicPr>
          <p:cNvPr id="18" name="Image 0" descr="/home/claude/build/logo.png">
            <a:extLst>
              <a:ext uri="{FF2B5EF4-FFF2-40B4-BE49-F238E27FC236}">
                <a16:creationId xmlns:a16="http://schemas.microsoft.com/office/drawing/2014/main" id="{BD97E71E-D0FC-BE8B-63F8-3BD89F257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20" name="Text 4">
            <a:extLst>
              <a:ext uri="{FF2B5EF4-FFF2-40B4-BE49-F238E27FC236}">
                <a16:creationId xmlns:a16="http://schemas.microsoft.com/office/drawing/2014/main" id="{08C9EEFD-6C45-4FD8-6193-8957F91613B6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FRAMING THE QUESTION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H0 and H1 — the courtroom analogy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5257800" cy="27432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Shape 5"/>
          <p:cNvSpPr/>
          <p:nvPr/>
        </p:nvSpPr>
        <p:spPr>
          <a:xfrm>
            <a:off x="868680" y="2487168"/>
            <a:ext cx="1380744" cy="292608"/>
          </a:xfrm>
          <a:prstGeom prst="roundRect">
            <a:avLst>
              <a:gd name="adj" fmla="val 50000"/>
            </a:avLst>
          </a:prstGeom>
          <a:solidFill>
            <a:srgbClr val="5B6B7C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868680" y="2487168"/>
            <a:ext cx="1380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285292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hypothesis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3273552"/>
            <a:ext cx="480060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accused is “not guilty” — NO true difference or association in the population. Assumed correct until the evidence says otherwise.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263640" y="2286000"/>
            <a:ext cx="5257800" cy="27432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3" name="Shape 10"/>
          <p:cNvSpPr/>
          <p:nvPr/>
        </p:nvSpPr>
        <p:spPr>
          <a:xfrm>
            <a:off x="6492240" y="2487168"/>
            <a:ext cx="1380744" cy="292608"/>
          </a:xfrm>
          <a:prstGeom prst="roundRect">
            <a:avLst>
              <a:gd name="adj" fmla="val 50000"/>
            </a:avLst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4" name="Text 11"/>
          <p:cNvSpPr/>
          <p:nvPr/>
        </p:nvSpPr>
        <p:spPr>
          <a:xfrm>
            <a:off x="6492240" y="2487168"/>
            <a:ext cx="1380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92240" y="285292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 hypothesis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92240" y="3273552"/>
            <a:ext cx="480060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true difference or association — what the researcher usually suspects and hopes to demonstrate.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never “proves H1”. It only asks: is our data surprising enough, if H0 were true, to abandon H0?</a:t>
            </a:r>
            <a:endParaRPr lang="en-US" sz="1200" dirty="0"/>
          </a:p>
        </p:txBody>
      </p:sp>
      <p:pic>
        <p:nvPicPr>
          <p:cNvPr id="19" name="Image 0" descr="/home/claude/build/logo.png">
            <a:extLst>
              <a:ext uri="{FF2B5EF4-FFF2-40B4-BE49-F238E27FC236}">
                <a16:creationId xmlns:a16="http://schemas.microsoft.com/office/drawing/2014/main" id="{2F1E60D2-6AE5-F5C7-C009-DA9B55ADD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21" name="Text 4">
            <a:extLst>
              <a:ext uri="{FF2B5EF4-FFF2-40B4-BE49-F238E27FC236}">
                <a16:creationId xmlns:a16="http://schemas.microsoft.com/office/drawing/2014/main" id="{E1BCA803-940B-7C76-CAE7-51480727835C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WORKED EXAMPLES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H0 and H1 for real questions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10881360" cy="2926080"/>
        </p:xfrm>
        <a:graphic>
          <a:graphicData uri="http://schemas.openxmlformats.org/drawingml/2006/table">
            <a:tbl>
              <a:tblPr/>
              <a:tblGrid>
                <a:gridCol w="362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question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retinopathy predict nephropathy?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associated (OR =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Associated (OR ≠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adults and children differ in severe malaria risk?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van vs door-to-door TB case-finding?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difference in cases found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731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difference exists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Image 0" descr="/home/claude/build/logo.png">
            <a:extLst>
              <a:ext uri="{FF2B5EF4-FFF2-40B4-BE49-F238E27FC236}">
                <a16:creationId xmlns:a16="http://schemas.microsoft.com/office/drawing/2014/main" id="{B4EE5BEB-9107-088C-3D52-9635A9BAC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BCC0269A-9A68-C8DF-C93B-80F91E93807F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THE RECIPE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five-step hypothesis testing framework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371600" y="3017520"/>
            <a:ext cx="7863840" cy="0"/>
          </a:xfrm>
          <a:prstGeom prst="line">
            <a:avLst/>
          </a:prstGeom>
          <a:noFill/>
          <a:ln w="25400">
            <a:solidFill>
              <a:srgbClr val="E3E7EB"/>
            </a:solidFill>
            <a:prstDash val="dash"/>
          </a:ln>
        </p:spPr>
        <p:txBody>
          <a:bodyPr/>
          <a:lstStyle/>
          <a:p>
            <a:endParaRPr lang="en-ZW"/>
          </a:p>
        </p:txBody>
      </p:sp>
      <p:sp>
        <p:nvSpPr>
          <p:cNvPr id="8" name="Shape 5"/>
          <p:cNvSpPr/>
          <p:nvPr/>
        </p:nvSpPr>
        <p:spPr>
          <a:xfrm>
            <a:off x="914400" y="2560320"/>
            <a:ext cx="914400" cy="914400"/>
          </a:xfrm>
          <a:prstGeom prst="ellipse">
            <a:avLst/>
          </a:prstGeom>
          <a:solidFill>
            <a:srgbClr val="5B9A5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91440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20040" y="3611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H0 &amp; H1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108960" y="2560320"/>
            <a:ext cx="914400" cy="914400"/>
          </a:xfrm>
          <a:prstGeom prst="ellipse">
            <a:avLst/>
          </a:prstGeom>
          <a:solidFill>
            <a:srgbClr val="F2A93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2" name="Text 9"/>
          <p:cNvSpPr/>
          <p:nvPr/>
        </p:nvSpPr>
        <p:spPr>
          <a:xfrm>
            <a:off x="310896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514600" y="3611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α (e.g. 0.05)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03520" y="2560320"/>
            <a:ext cx="914400" cy="914400"/>
          </a:xfrm>
          <a:prstGeom prst="ellipse">
            <a:avLst/>
          </a:prstGeom>
          <a:solidFill>
            <a:srgbClr val="2E8B9B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5" name="Text 12"/>
          <p:cNvSpPr/>
          <p:nvPr/>
        </p:nvSpPr>
        <p:spPr>
          <a:xfrm>
            <a:off x="530352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709160" y="3611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test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498080" y="2560320"/>
            <a:ext cx="914400" cy="914400"/>
          </a:xfrm>
          <a:prstGeom prst="ellipse">
            <a:avLst/>
          </a:prstGeom>
          <a:solidFill>
            <a:srgbClr val="25374F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8" name="Text 15"/>
          <p:cNvSpPr/>
          <p:nvPr/>
        </p:nvSpPr>
        <p:spPr>
          <a:xfrm>
            <a:off x="749808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903720" y="3611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p-value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692640" y="2560320"/>
            <a:ext cx="914400" cy="914400"/>
          </a:xfrm>
          <a:prstGeom prst="ellipse">
            <a:avLst/>
          </a:prstGeom>
          <a:solidFill>
            <a:srgbClr val="E63425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21" name="Text 18"/>
          <p:cNvSpPr/>
          <p:nvPr/>
        </p:nvSpPr>
        <p:spPr>
          <a:xfrm>
            <a:off x="9692640" y="2560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098280" y="3611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" y="4754880"/>
            <a:ext cx="10881360" cy="150876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24" name="Text 21"/>
          <p:cNvSpPr/>
          <p:nvPr/>
        </p:nvSpPr>
        <p:spPr>
          <a:xfrm>
            <a:off x="868680" y="489204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rule: </a:t>
            </a: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 &lt; α → reject H0 (“significant”). If p ≥ α → fail to reject H0 (“not significant”) — this is </a:t>
            </a:r>
            <a:r>
              <a:rPr lang="en-US" sz="1500" b="1" i="1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proof that H0 is true.</a:t>
            </a:r>
            <a:endParaRPr lang="en-US" sz="1500" dirty="0"/>
          </a:p>
        </p:txBody>
      </p:sp>
      <p:pic>
        <p:nvPicPr>
          <p:cNvPr id="26" name="Image 0" descr="/home/claude/build/logo.png">
            <a:extLst>
              <a:ext uri="{FF2B5EF4-FFF2-40B4-BE49-F238E27FC236}">
                <a16:creationId xmlns:a16="http://schemas.microsoft.com/office/drawing/2014/main" id="{090BDD2C-E504-D796-CF90-B350683FD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28" name="Text 4">
            <a:extLst>
              <a:ext uri="{FF2B5EF4-FFF2-40B4-BE49-F238E27FC236}">
                <a16:creationId xmlns:a16="http://schemas.microsoft.com/office/drawing/2014/main" id="{0857DB44-6426-00BE-8E18-C69A82F5A152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APPLIED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framework in action — Mazowe District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Mungati et al. (2014) asked whether the number of drug types was linked to missed doses.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560320"/>
            <a:ext cx="10881360" cy="2468880"/>
          </a:xfrm>
          <a:prstGeom prst="roundRect">
            <a:avLst>
              <a:gd name="adj" fmla="val 4444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914400" y="278892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●"/>
            </a:pPr>
            <a:r>
              <a:rPr lang="en-US" sz="16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H0: </a:t>
            </a: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association between drug count and missed doses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</a:t>
            </a: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— Result: chi-square = 0.85, P = 0.65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 ≥ 0.05 → fail to reject H0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paper, different question: poor BP control vs complications gave POR 7.71 (95% CI 1.78–33.4) — here H0 WAS rejected.</a:t>
            </a:r>
            <a:endParaRPr lang="en-US" sz="1200" dirty="0"/>
          </a:p>
        </p:txBody>
      </p:sp>
      <p:pic>
        <p:nvPicPr>
          <p:cNvPr id="12" name="Image 0" descr="/home/claude/build/logo.png">
            <a:extLst>
              <a:ext uri="{FF2B5EF4-FFF2-40B4-BE49-F238E27FC236}">
                <a16:creationId xmlns:a16="http://schemas.microsoft.com/office/drawing/2014/main" id="{F1033B6C-F573-9D5F-3487-722C9B613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B9C135B9-4A22-6E56-1FB6-F43EE99AC75D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THE MOST MISUNDERSTOOD NUMBER IN MEDICINE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p-value, really?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10881360" cy="2103120"/>
          </a:xfrm>
          <a:prstGeom prst="roundRect">
            <a:avLst>
              <a:gd name="adj" fmla="val 5217"/>
            </a:avLst>
          </a:prstGeom>
          <a:solidFill>
            <a:srgbClr val="25374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Shape 5"/>
          <p:cNvSpPr/>
          <p:nvPr/>
        </p:nvSpPr>
        <p:spPr>
          <a:xfrm>
            <a:off x="868680" y="2578608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868680" y="257860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2944368"/>
            <a:ext cx="1042416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seeing a result at least as extreme as ours, IF H0 were actually true.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" y="47548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words: </a:t>
            </a:r>
            <a:r>
              <a:rPr lang="en-US" sz="1800" i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surprising is our result, assuming nothing interesting is really happening?”</a:t>
            </a:r>
            <a:endParaRPr lang="en-US" sz="1800" dirty="0"/>
          </a:p>
        </p:txBody>
      </p:sp>
      <p:pic>
        <p:nvPicPr>
          <p:cNvPr id="13" name="Image 0" descr="/home/claude/build/logo.png">
            <a:extLst>
              <a:ext uri="{FF2B5EF4-FFF2-40B4-BE49-F238E27FC236}">
                <a16:creationId xmlns:a16="http://schemas.microsoft.com/office/drawing/2014/main" id="{16850A52-69F7-945E-62A5-254AE3666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F4C22D6D-A789-4FF3-E1D8-E70B7880FAB9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TWO COMMON MISTAKES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p-value does NOT tell you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5257800" cy="2926080"/>
          </a:xfrm>
          <a:prstGeom prst="roundRect">
            <a:avLst>
              <a:gd name="adj" fmla="val 375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868680" y="254203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not the probability H0 is true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68680" y="2962656"/>
            <a:ext cx="480060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0.03 does NOT mean “3% chance of no real effect.”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2286000"/>
            <a:ext cx="73152" cy="2926080"/>
          </a:xfrm>
          <a:prstGeom prst="rect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1" name="Shape 8"/>
          <p:cNvSpPr/>
          <p:nvPr/>
        </p:nvSpPr>
        <p:spPr>
          <a:xfrm>
            <a:off x="6263640" y="2286000"/>
            <a:ext cx="5257800" cy="2926080"/>
          </a:xfrm>
          <a:prstGeom prst="roundRect">
            <a:avLst>
              <a:gd name="adj" fmla="val 375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2" name="Text 9"/>
          <p:cNvSpPr/>
          <p:nvPr/>
        </p:nvSpPr>
        <p:spPr>
          <a:xfrm>
            <a:off x="6492240" y="254203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 not measure the SIZE of an effect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492240" y="2962656"/>
            <a:ext cx="480060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trivial difference can be “significant” in a huge sample; a big difference can be “non-significant” in a small one.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63640" y="2286000"/>
            <a:ext cx="73152" cy="2926080"/>
          </a:xfrm>
          <a:prstGeom prst="rect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pic>
        <p:nvPicPr>
          <p:cNvPr id="16" name="Image 0" descr="/home/claude/build/logo.png">
            <a:extLst>
              <a:ext uri="{FF2B5EF4-FFF2-40B4-BE49-F238E27FC236}">
                <a16:creationId xmlns:a16="http://schemas.microsoft.com/office/drawing/2014/main" id="{B5CC29CD-E4AC-9A92-5FC1-24E36C754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18" name="Text 4">
            <a:extLst>
              <a:ext uri="{FF2B5EF4-FFF2-40B4-BE49-F238E27FC236}">
                <a16:creationId xmlns:a16="http://schemas.microsoft.com/office/drawing/2014/main" id="{75C05CCF-BBD0-3BE4-2B9F-3EA79011D07F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WORKED EXAMPLE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real p-value correctly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Machingura et al. (2017), Harare: </a:t>
            </a:r>
            <a:r>
              <a:rPr lang="en-US" sz="16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severe nephropathy between type 1 and type 2 diabetes, p = 0.866.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880360"/>
            <a:ext cx="5257800" cy="2651760"/>
          </a:xfrm>
          <a:prstGeom prst="roundRect">
            <a:avLst>
              <a:gd name="adj" fmla="val 4138"/>
            </a:avLst>
          </a:prstGeom>
          <a:solidFill>
            <a:srgbClr val="EAF5EA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868680" y="31363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reading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3557016"/>
            <a:ext cx="480060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truly no difference existed, data this different would occur 86.6% of the time by chance — no good reason to doubt H0.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63640" y="2880360"/>
            <a:ext cx="5257800" cy="2651760"/>
          </a:xfrm>
          <a:prstGeom prst="roundRect">
            <a:avLst>
              <a:gd name="adj" fmla="val 4138"/>
            </a:avLst>
          </a:prstGeom>
          <a:solidFill>
            <a:srgbClr val="FCEAE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2" name="Text 9"/>
          <p:cNvSpPr/>
          <p:nvPr/>
        </p:nvSpPr>
        <p:spPr>
          <a:xfrm>
            <a:off x="6492240" y="31363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Incorrect reading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92240" y="3557016"/>
            <a:ext cx="4800600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“86.6% chance the two groups are the same” — a p-value can never tell us that.</a:t>
            </a:r>
            <a:endParaRPr lang="en-US" sz="1500" dirty="0"/>
          </a:p>
        </p:txBody>
      </p:sp>
      <p:pic>
        <p:nvPicPr>
          <p:cNvPr id="15" name="Image 0" descr="/home/claude/build/logo.png">
            <a:extLst>
              <a:ext uri="{FF2B5EF4-FFF2-40B4-BE49-F238E27FC236}">
                <a16:creationId xmlns:a16="http://schemas.microsoft.com/office/drawing/2014/main" id="{8FF8FD75-4910-0BEF-3085-D86E43583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17" name="Text 4">
            <a:extLst>
              <a:ext uri="{FF2B5EF4-FFF2-40B4-BE49-F238E27FC236}">
                <a16:creationId xmlns:a16="http://schemas.microsoft.com/office/drawing/2014/main" id="{4EFF1050-F105-F8FF-14C4-601B0EA16F2F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TWO WAYS TO BE WRONG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I and Type II errors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194560"/>
          <a:ext cx="9601200" cy="26060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 actually TRUE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H0 actually FALSE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53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reject H0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C3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 error (α)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C3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5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— true positive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53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fail to reject H0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1E5C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— true negative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C3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II error (β)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C32A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negative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Courtroom analogy: Type I = convicting an innocent person. Type II = letting a guilty person go free.</a:t>
            </a:r>
            <a:endParaRPr lang="en-US" sz="1200" dirty="0"/>
          </a:p>
        </p:txBody>
      </p:sp>
      <p:pic>
        <p:nvPicPr>
          <p:cNvPr id="9" name="Image 0" descr="/home/claude/build/logo.png">
            <a:extLst>
              <a:ext uri="{FF2B5EF4-FFF2-40B4-BE49-F238E27FC236}">
                <a16:creationId xmlns:a16="http://schemas.microsoft.com/office/drawing/2014/main" id="{24ED0AD5-50D0-4290-E6AC-6893C24BC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0C74F7B8-5020-7B70-CA6B-C13493C72317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CONTROLLING THE ERRORS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and Power (1−β)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5257800" cy="27432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34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level. </a:t>
            </a: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acceptable Type I error rate, set BEFORE the study (usually 5%).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63640" y="2286000"/>
            <a:ext cx="5257800" cy="27432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6537960" y="24688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E8B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1−β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6537960" y="32918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5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Power. </a:t>
            </a: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correctly detecting a real effect. Rises with bigger n, bigger true effect, less measurement noise.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Southern African pilot studies (often n&lt;200) commonly have low power — real effects can be missed (Type II error).</a:t>
            </a:r>
            <a:endParaRPr lang="en-US" sz="1200" dirty="0"/>
          </a:p>
        </p:txBody>
      </p:sp>
      <p:pic>
        <p:nvPicPr>
          <p:cNvPr id="15" name="Image 0" descr="/home/claude/build/logo.png">
            <a:extLst>
              <a:ext uri="{FF2B5EF4-FFF2-40B4-BE49-F238E27FC236}">
                <a16:creationId xmlns:a16="http://schemas.microsoft.com/office/drawing/2014/main" id="{840FAB1E-471C-87CE-B84C-9ACA05C91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17" name="Text 4">
            <a:extLst>
              <a:ext uri="{FF2B5EF4-FFF2-40B4-BE49-F238E27FC236}">
                <a16:creationId xmlns:a16="http://schemas.microsoft.com/office/drawing/2014/main" id="{798EF9F3-56E4-4724-103A-7708219DFF0A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THE PRACTICAL PARTNER TO THE P-VALUE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intervals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10881360" cy="2286000"/>
          </a:xfrm>
          <a:prstGeom prst="roundRect">
            <a:avLst>
              <a:gd name="adj" fmla="val 480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Shape 5"/>
          <p:cNvSpPr/>
          <p:nvPr/>
        </p:nvSpPr>
        <p:spPr>
          <a:xfrm>
            <a:off x="868680" y="2578608"/>
            <a:ext cx="2436876" cy="292608"/>
          </a:xfrm>
          <a:prstGeom prst="roundRect">
            <a:avLst>
              <a:gd name="adj" fmla="val 50000"/>
            </a:avLst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868680" y="2578608"/>
            <a:ext cx="24368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2944368"/>
            <a:ext cx="1042416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 of plausible values for the TRUE population parameter. If we repeated the study 100 times, about 95 of the 100 calculated intervals would contain the truth.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interval = less precise. Narrower interval = more precise.</a:t>
            </a:r>
            <a:endParaRPr lang="en-US" sz="1200" dirty="0"/>
          </a:p>
        </p:txBody>
      </p:sp>
      <p:pic>
        <p:nvPicPr>
          <p:cNvPr id="13" name="Image 0" descr="/home/claude/build/logo.png">
            <a:extLst>
              <a:ext uri="{FF2B5EF4-FFF2-40B4-BE49-F238E27FC236}">
                <a16:creationId xmlns:a16="http://schemas.microsoft.com/office/drawing/2014/main" id="{8D760B57-8F8C-461C-FBA2-F05DA4D97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4500A0B7-357C-6062-FA96-A968E9C86FCF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A FAST SHORTCUT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significance straight off a CI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5257800" cy="2560320"/>
          </a:xfrm>
          <a:prstGeom prst="roundRect">
            <a:avLst>
              <a:gd name="adj" fmla="val 4286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868680" y="263347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 measures (OR, RR, HR)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054096"/>
            <a:ext cx="480060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effect” = 1. If the 95% CI does NOT cross 1 → statistically significant.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2377440"/>
            <a:ext cx="73152" cy="2560320"/>
          </a:xfrm>
          <a:prstGeom prst="rect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1" name="Shape 8"/>
          <p:cNvSpPr/>
          <p:nvPr/>
        </p:nvSpPr>
        <p:spPr>
          <a:xfrm>
            <a:off x="6263640" y="2377440"/>
            <a:ext cx="5257800" cy="2560320"/>
          </a:xfrm>
          <a:prstGeom prst="roundRect">
            <a:avLst>
              <a:gd name="adj" fmla="val 4286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2" name="Text 9"/>
          <p:cNvSpPr/>
          <p:nvPr/>
        </p:nvSpPr>
        <p:spPr>
          <a:xfrm>
            <a:off x="6492240" y="263347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 measures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92240" y="3054096"/>
            <a:ext cx="480060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effect” = 0. If the 95% CI does NOT cross 0 → statistically significant.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63640" y="2377440"/>
            <a:ext cx="73152" cy="2560320"/>
          </a:xfrm>
          <a:prstGeom prst="rect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pic>
        <p:nvPicPr>
          <p:cNvPr id="16" name="Image 0" descr="/home/claude/build/logo.png">
            <a:extLst>
              <a:ext uri="{FF2B5EF4-FFF2-40B4-BE49-F238E27FC236}">
                <a16:creationId xmlns:a16="http://schemas.microsoft.com/office/drawing/2014/main" id="{31D8B23D-9FDE-DE06-E110-0B4DBF37C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18" name="Text 4">
            <a:extLst>
              <a:ext uri="{FF2B5EF4-FFF2-40B4-BE49-F238E27FC236}">
                <a16:creationId xmlns:a16="http://schemas.microsoft.com/office/drawing/2014/main" id="{15B35B75-432E-0C3A-8EBA-D7A91FFC2350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THREE REAL CONFIDENCE INTERVALS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number line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011680" y="2148840"/>
            <a:ext cx="0" cy="4160520"/>
          </a:xfrm>
          <a:prstGeom prst="line">
            <a:avLst/>
          </a:prstGeom>
          <a:noFill/>
          <a:ln w="15875">
            <a:solidFill>
              <a:srgbClr val="C9D3DD"/>
            </a:solidFill>
            <a:prstDash val="dash"/>
          </a:ln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132588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OR/RR = 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effect)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66160" y="2606040"/>
            <a:ext cx="2743200" cy="0"/>
          </a:xfrm>
          <a:prstGeom prst="line">
            <a:avLst/>
          </a:prstGeom>
          <a:noFill/>
          <a:ln w="63500">
            <a:solidFill>
              <a:srgbClr val="5B9A56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0" name="Shape 7"/>
          <p:cNvSpPr/>
          <p:nvPr/>
        </p:nvSpPr>
        <p:spPr>
          <a:xfrm>
            <a:off x="4864608" y="2532888"/>
            <a:ext cx="146304" cy="146304"/>
          </a:xfrm>
          <a:prstGeom prst="ellipse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2011680" y="2807208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Retinopathy → nephropathy: OR 2.80 (1.64–4.97) — </a:t>
            </a:r>
            <a:r>
              <a:rPr lang="en-US" sz="1300" b="1" dirty="0">
                <a:solidFill>
                  <a:srgbClr val="1E5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651760" y="3977640"/>
            <a:ext cx="2286000" cy="0"/>
          </a:xfrm>
          <a:prstGeom prst="line">
            <a:avLst/>
          </a:prstGeom>
          <a:noFill/>
          <a:ln w="635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3" name="Shape 10"/>
          <p:cNvSpPr/>
          <p:nvPr/>
        </p:nvSpPr>
        <p:spPr>
          <a:xfrm>
            <a:off x="3721608" y="3904488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4" name="Text 11"/>
          <p:cNvSpPr/>
          <p:nvPr/>
        </p:nvSpPr>
        <p:spPr>
          <a:xfrm>
            <a:off x="2011680" y="4178808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count → missed doses: not significant (P=0.65) 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880360" y="5349240"/>
            <a:ext cx="6812280" cy="0"/>
          </a:xfrm>
          <a:prstGeom prst="line">
            <a:avLst/>
          </a:prstGeom>
          <a:noFill/>
          <a:ln w="63500">
            <a:solidFill>
              <a:srgbClr val="E63425"/>
            </a:solidFill>
            <a:prstDash val="solid"/>
          </a:ln>
        </p:spPr>
        <p:txBody>
          <a:bodyPr/>
          <a:lstStyle/>
          <a:p>
            <a:endParaRPr lang="en-ZW"/>
          </a:p>
        </p:txBody>
      </p:sp>
      <p:sp>
        <p:nvSpPr>
          <p:cNvPr id="16" name="Shape 13"/>
          <p:cNvSpPr/>
          <p:nvPr/>
        </p:nvSpPr>
        <p:spPr>
          <a:xfrm>
            <a:off x="4864608" y="5276088"/>
            <a:ext cx="146304" cy="146304"/>
          </a:xfrm>
          <a:prstGeom prst="ellipse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7" name="Text 14"/>
          <p:cNvSpPr/>
          <p:nvPr/>
        </p:nvSpPr>
        <p:spPr>
          <a:xfrm>
            <a:off x="2011680" y="5550408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BP control → complications: POR 7.71 (1.78–33.4) — </a:t>
            </a:r>
            <a:r>
              <a:rPr lang="en-US" sz="1300" b="1" dirty="0">
                <a:solidFill>
                  <a:srgbClr val="C3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SIGNIFICANT, but wide (less precise)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6263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dashed line marks “no effect.” Green and red intervals sit fully right of it; the orange interval straddles it.</a:t>
            </a:r>
            <a:endParaRPr lang="en-US" sz="1200" dirty="0"/>
          </a:p>
        </p:txBody>
      </p:sp>
      <p:pic>
        <p:nvPicPr>
          <p:cNvPr id="20" name="Image 0" descr="/home/claude/build/logo.png">
            <a:extLst>
              <a:ext uri="{FF2B5EF4-FFF2-40B4-BE49-F238E27FC236}">
                <a16:creationId xmlns:a16="http://schemas.microsoft.com/office/drawing/2014/main" id="{D0FCB7A1-06ED-E56D-C131-73D0C393A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22" name="Text 4">
            <a:extLst>
              <a:ext uri="{FF2B5EF4-FFF2-40B4-BE49-F238E27FC236}">
                <a16:creationId xmlns:a16="http://schemas.microsoft.com/office/drawing/2014/main" id="{70EE47E2-08ED-CE6B-379D-C742B076C50E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· A QUICK DISTINCTION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One-tailed vs two-tailed tests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5257800" cy="27432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Shape 5"/>
          <p:cNvSpPr/>
          <p:nvPr/>
        </p:nvSpPr>
        <p:spPr>
          <a:xfrm>
            <a:off x="868680" y="2578608"/>
            <a:ext cx="1682496" cy="292608"/>
          </a:xfrm>
          <a:prstGeom prst="roundRect">
            <a:avLst>
              <a:gd name="adj" fmla="val 50000"/>
            </a:avLst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9" name="Text 6"/>
          <p:cNvSpPr/>
          <p:nvPr/>
        </p:nvSpPr>
        <p:spPr>
          <a:xfrm>
            <a:off x="868680" y="257860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2-TAILED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294436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Either direction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3364992"/>
            <a:ext cx="480060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allows “different from” — the default, more conservative, and almost always correct choice in clinical research.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63640" y="2377440"/>
            <a:ext cx="5257800" cy="27432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3" name="Shape 10"/>
          <p:cNvSpPr/>
          <p:nvPr/>
        </p:nvSpPr>
        <p:spPr>
          <a:xfrm>
            <a:off x="6492240" y="2578608"/>
            <a:ext cx="1682496" cy="29260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4" name="Text 11"/>
          <p:cNvSpPr/>
          <p:nvPr/>
        </p:nvSpPr>
        <p:spPr>
          <a:xfrm>
            <a:off x="6492240" y="2578608"/>
            <a:ext cx="1682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1-TAILED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92240" y="294436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direction only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92240" y="3364992"/>
            <a:ext cx="480060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specifies only “bigger than” or “smaller than”. Rarely justified — be sceptical if chosen only after seeing the result.</a:t>
            </a:r>
            <a:endParaRPr lang="en-US" sz="1500" dirty="0"/>
          </a:p>
        </p:txBody>
      </p:sp>
      <p:pic>
        <p:nvPicPr>
          <p:cNvPr id="18" name="Image 0" descr="/home/claude/build/logo.png">
            <a:extLst>
              <a:ext uri="{FF2B5EF4-FFF2-40B4-BE49-F238E27FC236}">
                <a16:creationId xmlns:a16="http://schemas.microsoft.com/office/drawing/2014/main" id="{0B3B9DC0-9A38-F344-F7A3-2B35A5579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20" name="Text 4">
            <a:extLst>
              <a:ext uri="{FF2B5EF4-FFF2-40B4-BE49-F238E27FC236}">
                <a16:creationId xmlns:a16="http://schemas.microsoft.com/office/drawing/2014/main" id="{0AB998E3-8181-8021-2BCC-07B1D88D5885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THE QUESTION THAT MATTERS MOST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vs clinical significance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5257800" cy="233172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868680" y="24505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significance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68680" y="2871216"/>
            <a:ext cx="4800600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α, or CI excludes “no effect”. Tells you the result is unlikely pure chance — strongly influenced by sample size.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194560"/>
            <a:ext cx="73152" cy="2331720"/>
          </a:xfrm>
          <a:prstGeom prst="rect">
            <a:avLst/>
          </a:prstGeom>
          <a:solidFill>
            <a:srgbClr val="25374F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1" name="Shape 8"/>
          <p:cNvSpPr/>
          <p:nvPr/>
        </p:nvSpPr>
        <p:spPr>
          <a:xfrm>
            <a:off x="6263640" y="2194560"/>
            <a:ext cx="5257800" cy="233172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2" name="Text 9"/>
          <p:cNvSpPr/>
          <p:nvPr/>
        </p:nvSpPr>
        <p:spPr>
          <a:xfrm>
            <a:off x="6492240" y="24505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significance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492240" y="2871216"/>
            <a:ext cx="4800600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SIZE of the effect big enough to change how we care for a patient? A matter of judgement — not decided by p alone.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63640" y="2194560"/>
            <a:ext cx="73152" cy="2331720"/>
          </a:xfrm>
          <a:prstGeom prst="rect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15" name="Text 12"/>
          <p:cNvSpPr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Fructosamine: OR 1.00 (95% CI 1.00–1.01) — significant, tiny effect. Retinopathy: OR 2.80 (1.64–4.97) — significant AND large. Both “p&lt;0.05”, very different clinical weight.</a:t>
            </a:r>
            <a:endParaRPr lang="en-US" sz="1200" dirty="0"/>
          </a:p>
        </p:txBody>
      </p:sp>
      <p:pic>
        <p:nvPicPr>
          <p:cNvPr id="17" name="Image 0" descr="/home/claude/build/logo.png">
            <a:extLst>
              <a:ext uri="{FF2B5EF4-FFF2-40B4-BE49-F238E27FC236}">
                <a16:creationId xmlns:a16="http://schemas.microsoft.com/office/drawing/2014/main" id="{317FA9D6-7092-2896-2B3C-3997D1B8A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38EADFDE-6D90-A6B0-0A2C-F4CF4BC28A94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· READING PAPERS CRITICALLY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pitfalls to watch for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868680" y="254203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“Trending toward significance”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2962656"/>
            <a:ext cx="480060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0.07 is simply NOT significant at α=0.05 — not “almost.”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22860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1" name="Text 8"/>
          <p:cNvSpPr/>
          <p:nvPr/>
        </p:nvSpPr>
        <p:spPr>
          <a:xfrm>
            <a:off x="6492240" y="254203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testing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92240" y="2962656"/>
            <a:ext cx="480060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20 things at α=0.05 and ~1 will look “significant” by chance alone.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42519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4" name="Text 11"/>
          <p:cNvSpPr/>
          <p:nvPr/>
        </p:nvSpPr>
        <p:spPr>
          <a:xfrm>
            <a:off x="868680" y="45079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Absence of evidence ≠ evidence of absence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68680" y="4928616"/>
            <a:ext cx="480060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study finding “no significance” may just be underpowered (Type II error).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425196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17" name="Text 14"/>
          <p:cNvSpPr/>
          <p:nvPr/>
        </p:nvSpPr>
        <p:spPr>
          <a:xfrm>
            <a:off x="6492240" y="450799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 ≠ causation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492240" y="4928616"/>
            <a:ext cx="480060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tight, significant CI shows association — not proof of cause.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" y="2286000"/>
            <a:ext cx="73152" cy="1783080"/>
          </a:xfrm>
          <a:prstGeom prst="rect">
            <a:avLst/>
          </a:prstGeom>
          <a:solidFill>
            <a:srgbClr val="E63425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0" name="Shape 17"/>
          <p:cNvSpPr/>
          <p:nvPr/>
        </p:nvSpPr>
        <p:spPr>
          <a:xfrm>
            <a:off x="6263640" y="2286000"/>
            <a:ext cx="73152" cy="1783080"/>
          </a:xfrm>
          <a:prstGeom prst="rect">
            <a:avLst/>
          </a:prstGeom>
          <a:solidFill>
            <a:srgbClr val="2E8B9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1" name="Shape 18"/>
          <p:cNvSpPr/>
          <p:nvPr/>
        </p:nvSpPr>
        <p:spPr>
          <a:xfrm>
            <a:off x="640080" y="4251960"/>
            <a:ext cx="73152" cy="178308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W"/>
          </a:p>
        </p:txBody>
      </p:sp>
      <p:sp>
        <p:nvSpPr>
          <p:cNvPr id="22" name="Shape 19"/>
          <p:cNvSpPr/>
          <p:nvPr/>
        </p:nvSpPr>
        <p:spPr>
          <a:xfrm>
            <a:off x="6263640" y="4251960"/>
            <a:ext cx="73152" cy="1783080"/>
          </a:xfrm>
          <a:prstGeom prst="rect">
            <a:avLst/>
          </a:prstGeom>
          <a:solidFill>
            <a:srgbClr val="5B9A56"/>
          </a:solidFill>
          <a:ln/>
        </p:spPr>
        <p:txBody>
          <a:bodyPr/>
          <a:lstStyle/>
          <a:p>
            <a:endParaRPr lang="en-ZW"/>
          </a:p>
        </p:txBody>
      </p:sp>
      <p:pic>
        <p:nvPicPr>
          <p:cNvPr id="24" name="Image 0" descr="/home/claude/build/logo.png">
            <a:extLst>
              <a:ext uri="{FF2B5EF4-FFF2-40B4-BE49-F238E27FC236}">
                <a16:creationId xmlns:a16="http://schemas.microsoft.com/office/drawing/2014/main" id="{E2A864D8-3F5D-FEB6-49E6-A8BA0A9AD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26" name="Text 4">
            <a:extLst>
              <a:ext uri="{FF2B5EF4-FFF2-40B4-BE49-F238E27FC236}">
                <a16:creationId xmlns:a16="http://schemas.microsoft.com/office/drawing/2014/main" id="{C59A5837-FD3D-E53D-5E32-E6323B2FFFBB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· RECAP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53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0881360" cy="4023360"/>
          </a:xfrm>
          <a:prstGeom prst="roundRect">
            <a:avLst>
              <a:gd name="adj" fmla="val 2727"/>
            </a:avLst>
          </a:prstGeom>
          <a:solidFill>
            <a:srgbClr val="F4F5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W"/>
          </a:p>
        </p:txBody>
      </p:sp>
      <p:sp>
        <p:nvSpPr>
          <p:cNvPr id="8" name="Text 5"/>
          <p:cNvSpPr/>
          <p:nvPr/>
        </p:nvSpPr>
        <p:spPr>
          <a:xfrm>
            <a:off x="960120" y="251460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infer from a </a:t>
            </a:r>
            <a:r>
              <a:rPr lang="en-US" sz="15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 </a:t>
            </a:r>
            <a:r>
              <a:rPr lang="en-US" sz="15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we can never measure everyone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09067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5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</a:t>
            </a: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no effect; </a:t>
            </a:r>
            <a:r>
              <a:rPr lang="en-US" sz="15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an effect exists. A test never “proves” H1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3666744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tells us how surprising our data is under H0 — not the probability H0 is true, and not the size of the effect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0120" y="4242816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5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</a:t>
            </a: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(α) = false positive; </a:t>
            </a:r>
            <a:r>
              <a:rPr lang="en-US" sz="15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</a:t>
            </a: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(β) = false negative; </a:t>
            </a:r>
            <a:r>
              <a:rPr lang="en-US" sz="15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1−β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0120" y="481888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a plausible range and a fast significance check (does it cross 1, or 0?)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60120" y="539496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5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significance ≠ </a:t>
            </a:r>
            <a:r>
              <a:rPr lang="en-US" sz="1500" b="1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r>
              <a:rPr lang="en-US" sz="1500" dirty="0">
                <a:solidFill>
                  <a:srgbClr val="273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significance — always look at the size of the effect too</a:t>
            </a:r>
            <a:endParaRPr lang="en-US" sz="1500" dirty="0"/>
          </a:p>
        </p:txBody>
      </p:sp>
      <p:pic>
        <p:nvPicPr>
          <p:cNvPr id="15" name="Image 0" descr="/home/claude/build/logo.png">
            <a:extLst>
              <a:ext uri="{FF2B5EF4-FFF2-40B4-BE49-F238E27FC236}">
                <a16:creationId xmlns:a16="http://schemas.microsoft.com/office/drawing/2014/main" id="{7B186120-B1EF-B4B4-BD7D-6F588BF70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655" y="283464"/>
            <a:ext cx="1188720" cy="786384"/>
          </a:xfrm>
          <a:prstGeom prst="rect">
            <a:avLst/>
          </a:prstGeom>
        </p:spPr>
      </p:pic>
      <p:sp>
        <p:nvSpPr>
          <p:cNvPr id="17" name="Text 4">
            <a:extLst>
              <a:ext uri="{FF2B5EF4-FFF2-40B4-BE49-F238E27FC236}">
                <a16:creationId xmlns:a16="http://schemas.microsoft.com/office/drawing/2014/main" id="{33E83823-0CFA-5576-1F35-98587E7E5E7C}"/>
              </a:ext>
            </a:extLst>
          </p:cNvPr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53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63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TOPIC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Masterclass for Clinicians  ·  Newlands Clinic, Harare  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61320" y="457200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ZW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2" y="713232"/>
            <a:ext cx="950976" cy="6766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2183</Words>
  <Application>Microsoft Office PowerPoint</Application>
  <PresentationFormat>Widescreen</PresentationFormat>
  <Paragraphs>264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Sydney Malunga</cp:lastModifiedBy>
  <cp:revision>1</cp:revision>
  <dcterms:created xsi:type="dcterms:W3CDTF">2026-08-18T07:06:30Z</dcterms:created>
  <dcterms:modified xsi:type="dcterms:W3CDTF">2026-08-18T08:25:54Z</dcterms:modified>
</cp:coreProperties>
</file>