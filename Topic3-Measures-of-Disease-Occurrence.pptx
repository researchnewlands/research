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74" r:id="rId2"/>
    <p:sldId id="275" r:id="rId3"/>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56" r:id="rId19"/>
    <p:sldId id="257" r:id="rId20"/>
    <p:sldId id="273"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6A0357-BFD4-42BD-8D5C-31FB7E6C640D}" v="22" dt="2026-07-22T10:56:32.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ei Shamu" userId="c7ae0ef3-e853-4c1c-b687-0477acaea96d" providerId="ADAL" clId="{A5E2BB11-133E-48CE-B77D-B7079A585A51}"/>
    <pc:docChg chg="custSel addSld delSld modSld">
      <pc:chgData name="Tinei Shamu" userId="c7ae0ef3-e853-4c1c-b687-0477acaea96d" providerId="ADAL" clId="{A5E2BB11-133E-48CE-B77D-B7079A585A51}" dt="2026-07-22T10:56:32.951" v="154"/>
      <pc:docMkLst>
        <pc:docMk/>
      </pc:docMkLst>
      <pc:sldChg chg="modSp mod">
        <pc:chgData name="Tinei Shamu" userId="c7ae0ef3-e853-4c1c-b687-0477acaea96d" providerId="ADAL" clId="{A5E2BB11-133E-48CE-B77D-B7079A585A51}" dt="2026-07-21T05:47:58.367" v="2" actId="1076"/>
        <pc:sldMkLst>
          <pc:docMk/>
          <pc:sldMk cId="0" sldId="256"/>
        </pc:sldMkLst>
        <pc:spChg chg="mod">
          <ac:chgData name="Tinei Shamu" userId="c7ae0ef3-e853-4c1c-b687-0477acaea96d" providerId="ADAL" clId="{A5E2BB11-133E-48CE-B77D-B7079A585A51}" dt="2026-07-21T05:47:58.367" v="2" actId="1076"/>
          <ac:spMkLst>
            <pc:docMk/>
            <pc:sldMk cId="0" sldId="256"/>
            <ac:spMk id="3" creationId="{00000000-0000-0000-0000-000000000000}"/>
          </ac:spMkLst>
        </pc:spChg>
      </pc:sldChg>
      <pc:sldChg chg="modSp mod">
        <pc:chgData name="Tinei Shamu" userId="c7ae0ef3-e853-4c1c-b687-0477acaea96d" providerId="ADAL" clId="{A5E2BB11-133E-48CE-B77D-B7079A585A51}" dt="2026-07-22T08:01:14.570" v="17" actId="1035"/>
        <pc:sldMkLst>
          <pc:docMk/>
          <pc:sldMk cId="0" sldId="257"/>
        </pc:sldMkLst>
        <pc:spChg chg="mod">
          <ac:chgData name="Tinei Shamu" userId="c7ae0ef3-e853-4c1c-b687-0477acaea96d" providerId="ADAL" clId="{A5E2BB11-133E-48CE-B77D-B7079A585A51}" dt="2026-07-22T08:01:06.322" v="9" actId="1035"/>
          <ac:spMkLst>
            <pc:docMk/>
            <pc:sldMk cId="0" sldId="257"/>
            <ac:spMk id="12" creationId="{00000000-0000-0000-0000-000000000000}"/>
          </ac:spMkLst>
        </pc:spChg>
        <pc:spChg chg="mod">
          <ac:chgData name="Tinei Shamu" userId="c7ae0ef3-e853-4c1c-b687-0477acaea96d" providerId="ADAL" clId="{A5E2BB11-133E-48CE-B77D-B7079A585A51}" dt="2026-07-22T08:01:10.154" v="11" actId="1035"/>
          <ac:spMkLst>
            <pc:docMk/>
            <pc:sldMk cId="0" sldId="257"/>
            <ac:spMk id="15" creationId="{00000000-0000-0000-0000-000000000000}"/>
          </ac:spMkLst>
        </pc:spChg>
        <pc:spChg chg="mod">
          <ac:chgData name="Tinei Shamu" userId="c7ae0ef3-e853-4c1c-b687-0477acaea96d" providerId="ADAL" clId="{A5E2BB11-133E-48CE-B77D-B7079A585A51}" dt="2026-07-22T08:01:14.570" v="17" actId="1035"/>
          <ac:spMkLst>
            <pc:docMk/>
            <pc:sldMk cId="0" sldId="257"/>
            <ac:spMk id="18" creationId="{00000000-0000-0000-0000-000000000000}"/>
          </ac:spMkLst>
        </pc:spChg>
        <pc:spChg chg="mod">
          <ac:chgData name="Tinei Shamu" userId="c7ae0ef3-e853-4c1c-b687-0477acaea96d" providerId="ADAL" clId="{A5E2BB11-133E-48CE-B77D-B7079A585A51}" dt="2026-07-22T08:00:53.366" v="3" actId="108"/>
          <ac:spMkLst>
            <pc:docMk/>
            <pc:sldMk cId="0" sldId="257"/>
            <ac:spMk id="24" creationId="{00000000-0000-0000-0000-000000000000}"/>
          </ac:spMkLst>
        </pc:spChg>
      </pc:sldChg>
      <pc:sldChg chg="delSp modSp mod">
        <pc:chgData name="Tinei Shamu" userId="c7ae0ef3-e853-4c1c-b687-0477acaea96d" providerId="ADAL" clId="{A5E2BB11-133E-48CE-B77D-B7079A585A51}" dt="2026-07-22T08:17:47.112" v="73" actId="14100"/>
        <pc:sldMkLst>
          <pc:docMk/>
          <pc:sldMk cId="0" sldId="258"/>
        </pc:sldMkLst>
        <pc:spChg chg="mod">
          <ac:chgData name="Tinei Shamu" userId="c7ae0ef3-e853-4c1c-b687-0477acaea96d" providerId="ADAL" clId="{A5E2BB11-133E-48CE-B77D-B7079A585A51}" dt="2026-07-22T08:16:05.984" v="43" actId="21"/>
          <ac:spMkLst>
            <pc:docMk/>
            <pc:sldMk cId="0" sldId="258"/>
            <ac:spMk id="9" creationId="{00000000-0000-0000-0000-000000000000}"/>
          </ac:spMkLst>
        </pc:spChg>
        <pc:spChg chg="mod">
          <ac:chgData name="Tinei Shamu" userId="c7ae0ef3-e853-4c1c-b687-0477acaea96d" providerId="ADAL" clId="{A5E2BB11-133E-48CE-B77D-B7079A585A51}" dt="2026-07-22T08:16:45.248" v="62" actId="20577"/>
          <ac:spMkLst>
            <pc:docMk/>
            <pc:sldMk cId="0" sldId="258"/>
            <ac:spMk id="10" creationId="{00000000-0000-0000-0000-000000000000}"/>
          </ac:spMkLst>
        </pc:spChg>
        <pc:spChg chg="del mod">
          <ac:chgData name="Tinei Shamu" userId="c7ae0ef3-e853-4c1c-b687-0477acaea96d" providerId="ADAL" clId="{A5E2BB11-133E-48CE-B77D-B7079A585A51}" dt="2026-07-22T08:16:56.939" v="64" actId="478"/>
          <ac:spMkLst>
            <pc:docMk/>
            <pc:sldMk cId="0" sldId="258"/>
            <ac:spMk id="11" creationId="{00000000-0000-0000-0000-000000000000}"/>
          </ac:spMkLst>
        </pc:spChg>
        <pc:spChg chg="mod">
          <ac:chgData name="Tinei Shamu" userId="c7ae0ef3-e853-4c1c-b687-0477acaea96d" providerId="ADAL" clId="{A5E2BB11-133E-48CE-B77D-B7079A585A51}" dt="2026-07-22T08:17:47.112" v="73" actId="14100"/>
          <ac:spMkLst>
            <pc:docMk/>
            <pc:sldMk cId="0" sldId="258"/>
            <ac:spMk id="12" creationId="{00000000-0000-0000-0000-000000000000}"/>
          </ac:spMkLst>
        </pc:spChg>
      </pc:sldChg>
      <pc:sldChg chg="modSp mod">
        <pc:chgData name="Tinei Shamu" userId="c7ae0ef3-e853-4c1c-b687-0477acaea96d" providerId="ADAL" clId="{A5E2BB11-133E-48CE-B77D-B7079A585A51}" dt="2026-07-22T08:25:30.385" v="92" actId="20577"/>
        <pc:sldMkLst>
          <pc:docMk/>
          <pc:sldMk cId="0" sldId="259"/>
        </pc:sldMkLst>
        <pc:spChg chg="mod">
          <ac:chgData name="Tinei Shamu" userId="c7ae0ef3-e853-4c1c-b687-0477acaea96d" providerId="ADAL" clId="{A5E2BB11-133E-48CE-B77D-B7079A585A51}" dt="2026-07-22T08:25:30.385" v="92" actId="20577"/>
          <ac:spMkLst>
            <pc:docMk/>
            <pc:sldMk cId="0" sldId="259"/>
            <ac:spMk id="17" creationId="{00000000-0000-0000-0000-000000000000}"/>
          </ac:spMkLst>
        </pc:spChg>
      </pc:sldChg>
      <pc:sldChg chg="modSp mod">
        <pc:chgData name="Tinei Shamu" userId="c7ae0ef3-e853-4c1c-b687-0477acaea96d" providerId="ADAL" clId="{A5E2BB11-133E-48CE-B77D-B7079A585A51}" dt="2026-07-22T08:27:02.406" v="120" actId="1036"/>
        <pc:sldMkLst>
          <pc:docMk/>
          <pc:sldMk cId="0" sldId="260"/>
        </pc:sldMkLst>
        <pc:spChg chg="mod">
          <ac:chgData name="Tinei Shamu" userId="c7ae0ef3-e853-4c1c-b687-0477acaea96d" providerId="ADAL" clId="{A5E2BB11-133E-48CE-B77D-B7079A585A51}" dt="2026-07-22T08:27:02.406" v="120" actId="1036"/>
          <ac:spMkLst>
            <pc:docMk/>
            <pc:sldMk cId="0" sldId="260"/>
            <ac:spMk id="11" creationId="{00000000-0000-0000-0000-000000000000}"/>
          </ac:spMkLst>
        </pc:spChg>
        <pc:spChg chg="mod">
          <ac:chgData name="Tinei Shamu" userId="c7ae0ef3-e853-4c1c-b687-0477acaea96d" providerId="ADAL" clId="{A5E2BB11-133E-48CE-B77D-B7079A585A51}" dt="2026-07-22T08:27:02.406" v="120" actId="1036"/>
          <ac:spMkLst>
            <pc:docMk/>
            <pc:sldMk cId="0" sldId="260"/>
            <ac:spMk id="12" creationId="{00000000-0000-0000-0000-000000000000}"/>
          </ac:spMkLst>
        </pc:spChg>
        <pc:spChg chg="mod">
          <ac:chgData name="Tinei Shamu" userId="c7ae0ef3-e853-4c1c-b687-0477acaea96d" providerId="ADAL" clId="{A5E2BB11-133E-48CE-B77D-B7079A585A51}" dt="2026-07-22T08:27:02.406" v="120" actId="1036"/>
          <ac:spMkLst>
            <pc:docMk/>
            <pc:sldMk cId="0" sldId="260"/>
            <ac:spMk id="13" creationId="{00000000-0000-0000-0000-000000000000}"/>
          </ac:spMkLst>
        </pc:spChg>
        <pc:spChg chg="mod">
          <ac:chgData name="Tinei Shamu" userId="c7ae0ef3-e853-4c1c-b687-0477acaea96d" providerId="ADAL" clId="{A5E2BB11-133E-48CE-B77D-B7079A585A51}" dt="2026-07-22T08:27:02.406" v="120" actId="1036"/>
          <ac:spMkLst>
            <pc:docMk/>
            <pc:sldMk cId="0" sldId="260"/>
            <ac:spMk id="14" creationId="{00000000-0000-0000-0000-000000000000}"/>
          </ac:spMkLst>
        </pc:spChg>
      </pc:sldChg>
      <pc:sldChg chg="modAnim">
        <pc:chgData name="Tinei Shamu" userId="c7ae0ef3-e853-4c1c-b687-0477acaea96d" providerId="ADAL" clId="{A5E2BB11-133E-48CE-B77D-B7079A585A51}" dt="2026-07-22T08:47:46.927" v="130"/>
        <pc:sldMkLst>
          <pc:docMk/>
          <pc:sldMk cId="0" sldId="262"/>
        </pc:sldMkLst>
      </pc:sldChg>
      <pc:sldChg chg="addSp delSp modSp mod">
        <pc:chgData name="Tinei Shamu" userId="c7ae0ef3-e853-4c1c-b687-0477acaea96d" providerId="ADAL" clId="{A5E2BB11-133E-48CE-B77D-B7079A585A51}" dt="2026-07-22T08:53:20.325" v="145" actId="14100"/>
        <pc:sldMkLst>
          <pc:docMk/>
          <pc:sldMk cId="0" sldId="263"/>
        </pc:sldMkLst>
        <pc:spChg chg="mod">
          <ac:chgData name="Tinei Shamu" userId="c7ae0ef3-e853-4c1c-b687-0477acaea96d" providerId="ADAL" clId="{A5E2BB11-133E-48CE-B77D-B7079A585A51}" dt="2026-07-22T08:53:20.325" v="145" actId="14100"/>
          <ac:spMkLst>
            <pc:docMk/>
            <pc:sldMk cId="0" sldId="263"/>
            <ac:spMk id="18" creationId="{00000000-0000-0000-0000-000000000000}"/>
          </ac:spMkLst>
        </pc:spChg>
        <pc:picChg chg="add mod">
          <ac:chgData name="Tinei Shamu" userId="c7ae0ef3-e853-4c1c-b687-0477acaea96d" providerId="ADAL" clId="{A5E2BB11-133E-48CE-B77D-B7079A585A51}" dt="2026-07-22T08:53:01.190" v="141" actId="1076"/>
          <ac:picMkLst>
            <pc:docMk/>
            <pc:sldMk cId="0" sldId="263"/>
            <ac:picMk id="3" creationId="{9E0FE6EE-E1F4-EBF3-1438-FE2364FAD90B}"/>
          </ac:picMkLst>
        </pc:picChg>
        <pc:picChg chg="del">
          <ac:chgData name="Tinei Shamu" userId="c7ae0ef3-e853-4c1c-b687-0477acaea96d" providerId="ADAL" clId="{A5E2BB11-133E-48CE-B77D-B7079A585A51}" dt="2026-07-22T08:52:16.821" v="131" actId="478"/>
          <ac:picMkLst>
            <pc:docMk/>
            <pc:sldMk cId="0" sldId="263"/>
            <ac:picMk id="30" creationId="{00000000-0000-0000-0000-000000000000}"/>
          </ac:picMkLst>
        </pc:picChg>
      </pc:sldChg>
      <pc:sldChg chg="addSp modSp mod">
        <pc:chgData name="Tinei Shamu" userId="c7ae0ef3-e853-4c1c-b687-0477acaea96d" providerId="ADAL" clId="{A5E2BB11-133E-48CE-B77D-B7079A585A51}" dt="2026-07-22T09:11:41.832" v="149" actId="14100"/>
        <pc:sldMkLst>
          <pc:docMk/>
          <pc:sldMk cId="0" sldId="266"/>
        </pc:sldMkLst>
        <pc:picChg chg="add mod">
          <ac:chgData name="Tinei Shamu" userId="c7ae0ef3-e853-4c1c-b687-0477acaea96d" providerId="ADAL" clId="{A5E2BB11-133E-48CE-B77D-B7079A585A51}" dt="2026-07-22T09:11:41.832" v="149" actId="14100"/>
          <ac:picMkLst>
            <pc:docMk/>
            <pc:sldMk cId="0" sldId="266"/>
            <ac:picMk id="3" creationId="{83885285-5BE3-427D-D254-6F7316E958B6}"/>
          </ac:picMkLst>
        </pc:picChg>
      </pc:sldChg>
      <pc:sldChg chg="modAnim">
        <pc:chgData name="Tinei Shamu" userId="c7ae0ef3-e853-4c1c-b687-0477acaea96d" providerId="ADAL" clId="{A5E2BB11-133E-48CE-B77D-B7079A585A51}" dt="2026-07-22T09:13:39.868" v="151"/>
        <pc:sldMkLst>
          <pc:docMk/>
          <pc:sldMk cId="0" sldId="267"/>
        </pc:sldMkLst>
      </pc:sldChg>
      <pc:sldChg chg="addSp modSp new mod">
        <pc:chgData name="Tinei Shamu" userId="c7ae0ef3-e853-4c1c-b687-0477acaea96d" providerId="ADAL" clId="{A5E2BB11-133E-48CE-B77D-B7079A585A51}" dt="2026-07-22T08:14:32.112" v="42" actId="22"/>
        <pc:sldMkLst>
          <pc:docMk/>
          <pc:sldMk cId="4286887286" sldId="273"/>
        </pc:sldMkLst>
        <pc:spChg chg="add">
          <ac:chgData name="Tinei Shamu" userId="c7ae0ef3-e853-4c1c-b687-0477acaea96d" providerId="ADAL" clId="{A5E2BB11-133E-48CE-B77D-B7079A585A51}" dt="2026-07-22T08:10:31.538" v="20" actId="22"/>
          <ac:spMkLst>
            <pc:docMk/>
            <pc:sldMk cId="4286887286" sldId="273"/>
            <ac:spMk id="5" creationId="{AC496189-DFAC-E107-A0DE-4A39D5EEA8E7}"/>
          </ac:spMkLst>
        </pc:spChg>
        <pc:spChg chg="add">
          <ac:chgData name="Tinei Shamu" userId="c7ae0ef3-e853-4c1c-b687-0477acaea96d" providerId="ADAL" clId="{A5E2BB11-133E-48CE-B77D-B7079A585A51}" dt="2026-07-22T08:10:31.538" v="20" actId="22"/>
          <ac:spMkLst>
            <pc:docMk/>
            <pc:sldMk cId="4286887286" sldId="273"/>
            <ac:spMk id="7" creationId="{8E9B8174-AA0B-0072-463F-86EC27A19396}"/>
          </ac:spMkLst>
        </pc:spChg>
        <pc:spChg chg="add mod">
          <ac:chgData name="Tinei Shamu" userId="c7ae0ef3-e853-4c1c-b687-0477acaea96d" providerId="ADAL" clId="{A5E2BB11-133E-48CE-B77D-B7079A585A51}" dt="2026-07-22T08:13:38.495" v="36" actId="14100"/>
          <ac:spMkLst>
            <pc:docMk/>
            <pc:sldMk cId="4286887286" sldId="273"/>
            <ac:spMk id="11" creationId="{6E6E8FBF-5AA1-9FFC-F9C3-BAAF196FE5EC}"/>
          </ac:spMkLst>
        </pc:spChg>
        <pc:spChg chg="add mod">
          <ac:chgData name="Tinei Shamu" userId="c7ae0ef3-e853-4c1c-b687-0477acaea96d" providerId="ADAL" clId="{A5E2BB11-133E-48CE-B77D-B7079A585A51}" dt="2026-07-22T08:14:05.141" v="41"/>
          <ac:spMkLst>
            <pc:docMk/>
            <pc:sldMk cId="4286887286" sldId="273"/>
            <ac:spMk id="15" creationId="{1DD1B30E-3337-A19A-5402-C7D11CA29185}"/>
          </ac:spMkLst>
        </pc:spChg>
        <pc:spChg chg="add">
          <ac:chgData name="Tinei Shamu" userId="c7ae0ef3-e853-4c1c-b687-0477acaea96d" providerId="ADAL" clId="{A5E2BB11-133E-48CE-B77D-B7079A585A51}" dt="2026-07-22T08:14:32.112" v="42" actId="22"/>
          <ac:spMkLst>
            <pc:docMk/>
            <pc:sldMk cId="4286887286" sldId="273"/>
            <ac:spMk id="17" creationId="{F6053E41-B8C1-AB96-AFA2-44C3FEE4DF44}"/>
          </ac:spMkLst>
        </pc:spChg>
        <pc:spChg chg="add">
          <ac:chgData name="Tinei Shamu" userId="c7ae0ef3-e853-4c1c-b687-0477acaea96d" providerId="ADAL" clId="{A5E2BB11-133E-48CE-B77D-B7079A585A51}" dt="2026-07-22T08:14:32.112" v="42" actId="22"/>
          <ac:spMkLst>
            <pc:docMk/>
            <pc:sldMk cId="4286887286" sldId="273"/>
            <ac:spMk id="19" creationId="{CC1855CC-4015-3646-B8BF-20ABAEABFF71}"/>
          </ac:spMkLst>
        </pc:spChg>
        <pc:picChg chg="add">
          <ac:chgData name="Tinei Shamu" userId="c7ae0ef3-e853-4c1c-b687-0477acaea96d" providerId="ADAL" clId="{A5E2BB11-133E-48CE-B77D-B7079A585A51}" dt="2026-07-22T08:10:19.428" v="19" actId="22"/>
          <ac:picMkLst>
            <pc:docMk/>
            <pc:sldMk cId="4286887286" sldId="273"/>
            <ac:picMk id="3" creationId="{D8791FC7-8C16-C157-3BC6-D93364BB91D9}"/>
          </ac:picMkLst>
        </pc:picChg>
        <pc:picChg chg="add mod">
          <ac:chgData name="Tinei Shamu" userId="c7ae0ef3-e853-4c1c-b687-0477acaea96d" providerId="ADAL" clId="{A5E2BB11-133E-48CE-B77D-B7079A585A51}" dt="2026-07-22T08:13:46.055" v="38" actId="1076"/>
          <ac:picMkLst>
            <pc:docMk/>
            <pc:sldMk cId="4286887286" sldId="273"/>
            <ac:picMk id="9" creationId="{6A916E54-FD5F-C91A-9828-C2C2AFF367A6}"/>
          </ac:picMkLst>
        </pc:picChg>
        <pc:picChg chg="add mod">
          <ac:chgData name="Tinei Shamu" userId="c7ae0ef3-e853-4c1c-b687-0477acaea96d" providerId="ADAL" clId="{A5E2BB11-133E-48CE-B77D-B7079A585A51}" dt="2026-07-22T08:13:41.575" v="37" actId="1076"/>
          <ac:picMkLst>
            <pc:docMk/>
            <pc:sldMk cId="4286887286" sldId="273"/>
            <ac:picMk id="13" creationId="{EF02CDBC-2A48-A2E7-1DB0-052CF86E1DC7}"/>
          </ac:picMkLst>
        </pc:picChg>
      </pc:sldChg>
      <pc:sldChg chg="add del setBg">
        <pc:chgData name="Tinei Shamu" userId="c7ae0ef3-e853-4c1c-b687-0477acaea96d" providerId="ADAL" clId="{A5E2BB11-133E-48CE-B77D-B7079A585A51}" dt="2026-07-22T10:56:32.951" v="154"/>
        <pc:sldMkLst>
          <pc:docMk/>
          <pc:sldMk cId="0" sldId="274"/>
        </pc:sldMkLst>
      </pc:sldChg>
      <pc:sldChg chg="add del setBg">
        <pc:chgData name="Tinei Shamu" userId="c7ae0ef3-e853-4c1c-b687-0477acaea96d" providerId="ADAL" clId="{A5E2BB11-133E-48CE-B77D-B7079A585A51}" dt="2026-07-22T10:56:32.951" v="154"/>
        <pc:sldMkLst>
          <pc:docMk/>
          <pc:sldMk cId="0" sldId="275"/>
        </pc:sldMkLst>
      </pc:sldChg>
      <pc:sldChg chg="add del setBg">
        <pc:chgData name="Tinei Shamu" userId="c7ae0ef3-e853-4c1c-b687-0477acaea96d" providerId="ADAL" clId="{A5E2BB11-133E-48CE-B77D-B7079A585A51}" dt="2026-07-22T10:56:32.951" v="154"/>
        <pc:sldMkLst>
          <pc:docMk/>
          <pc:sldMk cId="0" sldId="276"/>
        </pc:sldMkLst>
      </pc:sldChg>
      <pc:sldChg chg="add del setBg">
        <pc:chgData name="Tinei Shamu" userId="c7ae0ef3-e853-4c1c-b687-0477acaea96d" providerId="ADAL" clId="{A5E2BB11-133E-48CE-B77D-B7079A585A51}" dt="2026-07-22T10:56:32.951" v="154"/>
        <pc:sldMkLst>
          <pc:docMk/>
          <pc:sldMk cId="0" sldId="277"/>
        </pc:sldMkLst>
      </pc:sldChg>
      <pc:sldChg chg="add del setBg">
        <pc:chgData name="Tinei Shamu" userId="c7ae0ef3-e853-4c1c-b687-0477acaea96d" providerId="ADAL" clId="{A5E2BB11-133E-48CE-B77D-B7079A585A51}" dt="2026-07-22T10:56:32.951" v="154"/>
        <pc:sldMkLst>
          <pc:docMk/>
          <pc:sldMk cId="0" sldId="278"/>
        </pc:sldMkLst>
      </pc:sldChg>
      <pc:sldChg chg="add del setBg">
        <pc:chgData name="Tinei Shamu" userId="c7ae0ef3-e853-4c1c-b687-0477acaea96d" providerId="ADAL" clId="{A5E2BB11-133E-48CE-B77D-B7079A585A51}" dt="2026-07-22T10:56:32.951" v="154"/>
        <pc:sldMkLst>
          <pc:docMk/>
          <pc:sldMk cId="0" sldId="279"/>
        </pc:sldMkLst>
      </pc:sldChg>
      <pc:sldChg chg="add del setBg">
        <pc:chgData name="Tinei Shamu" userId="c7ae0ef3-e853-4c1c-b687-0477acaea96d" providerId="ADAL" clId="{A5E2BB11-133E-48CE-B77D-B7079A585A51}" dt="2026-07-22T10:56:32.951" v="154"/>
        <pc:sldMkLst>
          <pc:docMk/>
          <pc:sldMk cId="0" sldId="280"/>
        </pc:sldMkLst>
      </pc:sldChg>
      <pc:sldChg chg="add del setBg">
        <pc:chgData name="Tinei Shamu" userId="c7ae0ef3-e853-4c1c-b687-0477acaea96d" providerId="ADAL" clId="{A5E2BB11-133E-48CE-B77D-B7079A585A51}" dt="2026-07-22T10:56:32.951" v="154"/>
        <pc:sldMkLst>
          <pc:docMk/>
          <pc:sldMk cId="0" sldId="281"/>
        </pc:sldMkLst>
      </pc:sldChg>
      <pc:sldChg chg="add del setBg">
        <pc:chgData name="Tinei Shamu" userId="c7ae0ef3-e853-4c1c-b687-0477acaea96d" providerId="ADAL" clId="{A5E2BB11-133E-48CE-B77D-B7079A585A51}" dt="2026-07-22T10:56:32.951" v="154"/>
        <pc:sldMkLst>
          <pc:docMk/>
          <pc:sldMk cId="0" sldId="282"/>
        </pc:sldMkLst>
      </pc:sldChg>
      <pc:sldChg chg="add del setBg">
        <pc:chgData name="Tinei Shamu" userId="c7ae0ef3-e853-4c1c-b687-0477acaea96d" providerId="ADAL" clId="{A5E2BB11-133E-48CE-B77D-B7079A585A51}" dt="2026-07-22T10:56:32.951" v="154"/>
        <pc:sldMkLst>
          <pc:docMk/>
          <pc:sldMk cId="0" sldId="283"/>
        </pc:sldMkLst>
      </pc:sldChg>
      <pc:sldChg chg="add del setBg">
        <pc:chgData name="Tinei Shamu" userId="c7ae0ef3-e853-4c1c-b687-0477acaea96d" providerId="ADAL" clId="{A5E2BB11-133E-48CE-B77D-B7079A585A51}" dt="2026-07-22T10:56:32.951" v="154"/>
        <pc:sldMkLst>
          <pc:docMk/>
          <pc:sldMk cId="0" sldId="284"/>
        </pc:sldMkLst>
      </pc:sldChg>
      <pc:sldChg chg="add del setBg">
        <pc:chgData name="Tinei Shamu" userId="c7ae0ef3-e853-4c1c-b687-0477acaea96d" providerId="ADAL" clId="{A5E2BB11-133E-48CE-B77D-B7079A585A51}" dt="2026-07-22T10:56:32.951" v="154"/>
        <pc:sldMkLst>
          <pc:docMk/>
          <pc:sldMk cId="0" sldId="285"/>
        </pc:sldMkLst>
      </pc:sldChg>
      <pc:sldChg chg="add del setBg">
        <pc:chgData name="Tinei Shamu" userId="c7ae0ef3-e853-4c1c-b687-0477acaea96d" providerId="ADAL" clId="{A5E2BB11-133E-48CE-B77D-B7079A585A51}" dt="2026-07-22T10:56:32.951" v="154"/>
        <pc:sldMkLst>
          <pc:docMk/>
          <pc:sldMk cId="0" sldId="286"/>
        </pc:sldMkLst>
      </pc:sldChg>
      <pc:sldChg chg="add del setBg">
        <pc:chgData name="Tinei Shamu" userId="c7ae0ef3-e853-4c1c-b687-0477acaea96d" providerId="ADAL" clId="{A5E2BB11-133E-48CE-B77D-B7079A585A51}" dt="2026-07-22T10:56:32.951" v="154"/>
        <pc:sldMkLst>
          <pc:docMk/>
          <pc:sldMk cId="0" sldId="287"/>
        </pc:sldMkLst>
      </pc:sldChg>
      <pc:sldChg chg="add del setBg">
        <pc:chgData name="Tinei Shamu" userId="c7ae0ef3-e853-4c1c-b687-0477acaea96d" providerId="ADAL" clId="{A5E2BB11-133E-48CE-B77D-B7079A585A51}" dt="2026-07-22T10:56:32.951" v="154"/>
        <pc:sldMkLst>
          <pc:docMk/>
          <pc:sldMk cId="0" sldId="288"/>
        </pc:sldMkLst>
      </pc:sldChg>
      <pc:sldChg chg="add del setBg">
        <pc:chgData name="Tinei Shamu" userId="c7ae0ef3-e853-4c1c-b687-0477acaea96d" providerId="ADAL" clId="{A5E2BB11-133E-48CE-B77D-B7079A585A51}" dt="2026-07-22T10:56:32.951" v="154"/>
        <pc:sldMkLst>
          <pc:docMk/>
          <pc:sldMk cId="0" sldId="289"/>
        </pc:sldMkLst>
      </pc:sldChg>
      <pc:sldChg chg="add del setBg">
        <pc:chgData name="Tinei Shamu" userId="c7ae0ef3-e853-4c1c-b687-0477acaea96d" providerId="ADAL" clId="{A5E2BB11-133E-48CE-B77D-B7079A585A51}" dt="2026-07-22T10:56:32.951" v="154"/>
        <pc:sldMkLst>
          <pc:docMk/>
          <pc:sldMk cId="0"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363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5374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411480" y="365760"/>
            <a:ext cx="1088136" cy="590702"/>
          </a:xfrm>
          <a:prstGeom prst="rect">
            <a:avLst/>
          </a:prstGeom>
        </p:spPr>
      </p:pic>
      <p:sp>
        <p:nvSpPr>
          <p:cNvPr id="3" name="Text 0"/>
          <p:cNvSpPr/>
          <p:nvPr/>
        </p:nvSpPr>
        <p:spPr>
          <a:xfrm>
            <a:off x="640080" y="1508760"/>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RESEARCH MASTERCLASS FOR CLINICIANS · MODULE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640080" y="1828800"/>
            <a:ext cx="786384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Poppins" pitchFamily="34" charset="0"/>
                <a:ea typeface="Poppins" pitchFamily="34" charset="-122"/>
                <a:cs typeface="Poppins" pitchFamily="34" charset="-120"/>
              </a:rPr>
              <a:t>Foundations Recap Game</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40080" y="2834640"/>
            <a:ext cx="78638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E63425"/>
                </a:solidFill>
                <a:effectLst/>
                <a:uLnTx/>
                <a:uFillTx/>
                <a:latin typeface="Poppins" pitchFamily="34" charset="0"/>
                <a:ea typeface="Poppins" pitchFamily="34" charset="-122"/>
                <a:cs typeface="Poppins" pitchFamily="34" charset="-120"/>
              </a:rPr>
              <a:t>Twos, Threes and Fours — Before We Open Topic 3</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640080" y="3337560"/>
            <a:ext cx="5989320" cy="100584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A quick recap of the frameworks from Topics 1 and 2 — person, place, time; case definitions; the role of epidemiology — each held inside a shape, one part per point. Guess before you reveal.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640080" y="4572000"/>
            <a:ext cx="3657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www.newlandsclinic.org.zw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903720" y="3246120"/>
            <a:ext cx="1051560" cy="914400"/>
          </a:xfrm>
          <a:prstGeom prst="triangle">
            <a:avLst/>
          </a:prstGeom>
          <a:solidFill>
            <a:srgbClr val="25374F"/>
          </a:solidFill>
          <a:ln w="31750">
            <a:solidFill>
              <a:srgbClr val="E634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7818120" y="3063240"/>
            <a:ext cx="960120" cy="960120"/>
          </a:xfrm>
          <a:prstGeom prst="diamond">
            <a:avLst/>
          </a:prstGeom>
          <a:solidFill>
            <a:srgbClr val="25374F"/>
          </a:solidFill>
          <a:ln w="31750">
            <a:solidFill>
              <a:srgbClr val="2E8B9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6995160" y="4343400"/>
            <a:ext cx="256032" cy="256032"/>
          </a:xfrm>
          <a:prstGeom prst="ellipse">
            <a:avLst/>
          </a:prstGeom>
          <a:solidFill>
            <a:srgbClr val="25374F"/>
          </a:solidFill>
          <a:ln w="31750">
            <a:solidFill>
              <a:srgbClr val="F2A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7360920" y="4343400"/>
            <a:ext cx="256032" cy="256032"/>
          </a:xfrm>
          <a:prstGeom prst="ellipse">
            <a:avLst/>
          </a:prstGeom>
          <a:solidFill>
            <a:srgbClr val="25374F"/>
          </a:solidFill>
          <a:ln w="31750">
            <a:solidFill>
              <a:srgbClr val="F2A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7251192" y="4471416"/>
            <a:ext cx="109728" cy="0"/>
          </a:xfrm>
          <a:prstGeom prst="line">
            <a:avLst/>
          </a:prstGeom>
          <a:noFill/>
          <a:ln w="25400">
            <a:solidFill>
              <a:srgbClr val="F2A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HOW TO PLAY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Shapes Hold the Ideas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1234440"/>
            <a:ext cx="8229600" cy="73152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Every idea below already appeared in Topic 1 or 2 — this just re-shapes it.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Triangles hold ideas with three parts. Squares on point hold ideas with four. The connector holds an idea with two.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502920" y="2148840"/>
            <a:ext cx="365760" cy="365760"/>
          </a:xfrm>
          <a:prstGeom prst="ellipse">
            <a:avLst/>
          </a:prstGeom>
          <a:solidFill>
            <a:srgbClr val="E6342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502920" y="2148840"/>
            <a:ext cx="36576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1051560" y="2130552"/>
            <a:ext cx="7315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Read the principle inside the shape.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502920" y="2807208"/>
            <a:ext cx="365760" cy="365760"/>
          </a:xfrm>
          <a:prstGeom prst="ellipse">
            <a:avLst/>
          </a:prstGeom>
          <a:solidFill>
            <a:srgbClr val="2E8B9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502920" y="2807208"/>
            <a:ext cx="36576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1051560" y="2788920"/>
            <a:ext cx="7315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Call out what belongs on each numbered point — before you turn the page.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502920" y="3465576"/>
            <a:ext cx="365760" cy="365760"/>
          </a:xfrm>
          <a:prstGeom prst="ellipse">
            <a:avLst/>
          </a:prstGeom>
          <a:solidFill>
            <a:srgbClr val="F2A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02920" y="3465576"/>
            <a:ext cx="36576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1051560" y="3447288"/>
            <a:ext cx="73152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Reveal: check your answers against the labelled points and the regional example.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428854" y="4343400"/>
            <a:ext cx="8284464" cy="457200"/>
          </a:xfrm>
          <a:prstGeom prst="roundRect">
            <a:avLst>
              <a:gd name="adj" fmla="val 12000"/>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594360" y="4343400"/>
            <a:ext cx="79552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Skipped on purpose: </a:t>
            </a:r>
            <a:r>
              <a:rPr kumimoji="0" lang="en-US" sz="105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Farr, Semmelweis and Snow (Topic 1) — a great trio of examples, but not a conceptual framework.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TRIANGLE 1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Three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880360" y="1783080"/>
            <a:ext cx="3383280" cy="1920240"/>
          </a:xfrm>
          <a:prstGeom prst="triangle">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656686" y="2850605"/>
            <a:ext cx="1828800" cy="77724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PPP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Describes any health event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9976" y="1591056"/>
            <a:ext cx="384048" cy="384048"/>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79976" y="15910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688336" y="3511296"/>
            <a:ext cx="384048" cy="384048"/>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68833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071616" y="3511296"/>
            <a:ext cx="384048" cy="384048"/>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07161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3383280" y="1069848"/>
            <a:ext cx="237744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16916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3492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TRIANGLE 1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Person, Place, Time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880360" y="1783080"/>
            <a:ext cx="3383280" cy="1920240"/>
          </a:xfrm>
          <a:prstGeom prst="triangle">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650343" y="2881087"/>
            <a:ext cx="1828800" cy="77724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PPP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Describes any health event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9976" y="1591056"/>
            <a:ext cx="384048" cy="384048"/>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79976" y="15910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688336" y="3511296"/>
            <a:ext cx="384048" cy="384048"/>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68833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071616" y="3511296"/>
            <a:ext cx="384048" cy="384048"/>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07161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3383280" y="1069848"/>
            <a:ext cx="2377440" cy="457200"/>
          </a:xfrm>
          <a:prstGeom prst="rect">
            <a:avLst/>
          </a:prstGeom>
          <a:noFill/>
          <a:ln/>
        </p:spPr>
        <p:txBody>
          <a:bodyPr wrap="square" lIns="0" tIns="0" rIns="0" bIns="0" rtlCol="0" anchor="b"/>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PERSON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who — age, sex, HIV status, ART regimen…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16916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PLACE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where — country, district, clinic, urban/rural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3492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TIME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when — calendar period, season, trend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Hypertension in HIV-positive adults ≥50 · Harare, Zimbabwe · Feb 2004 – Mar 2020 (Shamu et al., 2021).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TRIANGLE 2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Three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880360" y="1783080"/>
            <a:ext cx="3383280" cy="1920240"/>
          </a:xfrm>
          <a:prstGeom prst="triangle">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657600" y="3017520"/>
            <a:ext cx="1828800" cy="77724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Elements: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a case definition needs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9976" y="1591056"/>
            <a:ext cx="384048" cy="384048"/>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79976" y="15910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688336" y="3511296"/>
            <a:ext cx="384048" cy="384048"/>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68833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071616" y="3511296"/>
            <a:ext cx="384048" cy="384048"/>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07161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3383280" y="1069848"/>
            <a:ext cx="237744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16916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3492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TRIANGLE 2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A Good Case Definition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880360" y="1783080"/>
            <a:ext cx="3383280" cy="1920240"/>
          </a:xfrm>
          <a:prstGeom prst="triangle">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657600" y="3017520"/>
            <a:ext cx="1828800" cy="77724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Elements: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a case definition needs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9976" y="1591056"/>
            <a:ext cx="384048" cy="384048"/>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79976" y="15910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688336" y="3511296"/>
            <a:ext cx="384048" cy="384048"/>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68833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071616" y="3511296"/>
            <a:ext cx="384048" cy="384048"/>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07161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3383280" y="1069848"/>
            <a:ext cx="2377440" cy="457200"/>
          </a:xfrm>
          <a:prstGeom prst="rect">
            <a:avLst/>
          </a:prstGeom>
          <a:noFill/>
          <a:ln/>
        </p:spPr>
        <p:txBody>
          <a:bodyPr wrap="square" lIns="0" tIns="0" rIns="0" bIns="0" rtlCol="0" anchor="b"/>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METHOD OF ID.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how a case is detected — symptoms, lab test, self-report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16916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BOUNDARIES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severity thresholds, time windows, exclusions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3492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UNIT OF ANALYSIS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person, episode, household, suburb, event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Newlands hypertension case: BP &gt;140/90 on two separate days (method + boundary), counted per person (unit).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TRIANGLE 3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Three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880360" y="1783080"/>
            <a:ext cx="3383280" cy="1920240"/>
          </a:xfrm>
          <a:prstGeom prst="triangle">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657600" y="3017520"/>
            <a:ext cx="1828800" cy="77724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you need to calculate any rate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9976" y="1591056"/>
            <a:ext cx="384048" cy="384048"/>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79976" y="15910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688336" y="3511296"/>
            <a:ext cx="384048" cy="384048"/>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68833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071616" y="3511296"/>
            <a:ext cx="384048" cy="384048"/>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07161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3383280" y="1069848"/>
            <a:ext cx="237744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16916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3492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TRIANGLE 3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Before You Can Count Anything</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880360" y="1783080"/>
            <a:ext cx="3383280" cy="1920240"/>
          </a:xfrm>
          <a:prstGeom prst="triangle">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657600" y="3017520"/>
            <a:ext cx="1828800" cy="77724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you need to calculate any rate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79976" y="1591056"/>
            <a:ext cx="384048" cy="384048"/>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79976" y="15910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688336" y="3511296"/>
            <a:ext cx="384048" cy="384048"/>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68833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6071616" y="3511296"/>
            <a:ext cx="384048" cy="384048"/>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071616" y="35112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3383280" y="1069848"/>
            <a:ext cx="2377440" cy="457200"/>
          </a:xfrm>
          <a:prstGeom prst="rect">
            <a:avLst/>
          </a:prstGeom>
          <a:noFill/>
          <a:ln/>
        </p:spPr>
        <p:txBody>
          <a:bodyPr wrap="square" lIns="0" tIns="0" rIns="0" bIns="0" rtlCol="0" anchor="b"/>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DEFINED POPULATION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the exact denominator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16916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CASE DEFINITION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the exact numerator rule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349240" y="3950208"/>
            <a:ext cx="2103120" cy="4572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COUNT OVER TIME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a stated period or moment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TENART cohort: an exact enrolment list, an ART-start rule, deaths counted across 27,527 person-years (Shamu et al., 2017).</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SQUARE 1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Four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3520440" y="1783080"/>
            <a:ext cx="2103120" cy="2103120"/>
          </a:xfrm>
          <a:prstGeom prst="diamond">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794760" y="2450592"/>
            <a:ext cx="1554480" cy="768096"/>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questions inside one definition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98264" y="1609344"/>
            <a:ext cx="347472" cy="347472"/>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98264" y="16093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5449824" y="2660904"/>
            <a:ext cx="347472" cy="347472"/>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44982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98264" y="3712464"/>
            <a:ext cx="347472" cy="347472"/>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398264" y="37124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346704" y="2660904"/>
            <a:ext cx="347472" cy="347472"/>
          </a:xfrm>
          <a:prstGeom prst="ellipse">
            <a:avLst/>
          </a:prstGeom>
          <a:solidFill>
            <a:srgbClr val="6B8F71"/>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34670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383280" y="1133856"/>
            <a:ext cx="2377440" cy="420624"/>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80644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3383280" y="4105656"/>
            <a:ext cx="2377440" cy="402336"/>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0292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0EF03D18-070D-9C48-A705-17967685476F}"/>
              </a:ext>
            </a:extLst>
          </p:cNvPr>
          <p:cNvSpPr txBox="1"/>
          <p:nvPr/>
        </p:nvSpPr>
        <p:spPr>
          <a:xfrm>
            <a:off x="645885" y="4426857"/>
            <a:ext cx="7765143" cy="430887"/>
          </a:xfrm>
          <a:prstGeom prst="rect">
            <a:avLst/>
          </a:prstGeom>
          <a:noFill/>
          <a:ln>
            <a:solidFill>
              <a:schemeClr val="tx1">
                <a:lumMod val="65000"/>
                <a:lumOff val="35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Hint: </a:t>
            </a:r>
            <a:r>
              <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rPr>
              <a:t>“The study of the occurrence and distribution of health-related states or events in specified populations, including the study of determinants influencing such states, and the application of this study to control the health problems.”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SQUARE 1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What Is Epidemiology?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3520440" y="1783080"/>
            <a:ext cx="2103120" cy="2103120"/>
          </a:xfrm>
          <a:prstGeom prst="diamond">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794760" y="2450592"/>
            <a:ext cx="1554480" cy="768096"/>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questions inside one definition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98264" y="1609344"/>
            <a:ext cx="347472" cy="347472"/>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98264" y="16093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5449824" y="2660904"/>
            <a:ext cx="347472" cy="347472"/>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44982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98264" y="3712464"/>
            <a:ext cx="347472" cy="347472"/>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398264" y="37124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346704" y="2660904"/>
            <a:ext cx="347472" cy="347472"/>
          </a:xfrm>
          <a:prstGeom prst="ellipse">
            <a:avLst/>
          </a:prstGeom>
          <a:solidFill>
            <a:srgbClr val="6B8F71"/>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34670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383280" y="1133856"/>
            <a:ext cx="2377440" cy="420624"/>
          </a:xfrm>
          <a:prstGeom prst="rect">
            <a:avLst/>
          </a:prstGeom>
          <a:noFill/>
          <a:ln/>
        </p:spPr>
        <p:txBody>
          <a:bodyPr wrap="square" lIns="0" tIns="0" rIns="0" bIns="0" rtlCol="0" anchor="b"/>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FREQUENCY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how often?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80644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DISTRIBUTION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in whom, where, when?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3383280" y="4105656"/>
            <a:ext cx="2377440" cy="402336"/>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APPLICATION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so what?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0292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6B8F71"/>
                </a:solidFill>
                <a:effectLst/>
                <a:uLnTx/>
                <a:uFillTx/>
                <a:latin typeface="Calibri" pitchFamily="34" charset="0"/>
                <a:ea typeface="Calibri" pitchFamily="34" charset="-122"/>
                <a:cs typeface="Calibri" pitchFamily="34" charset="-120"/>
              </a:rPr>
              <a:t>DETERMINANTS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why?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Porta, Greenland &amp; Last, A Dictionary of Epidemiology, 5th ed., 2008 — the definition opening Topic 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SQUARE 2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Four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3520440" y="1783080"/>
            <a:ext cx="2103120" cy="2103120"/>
          </a:xfrm>
          <a:prstGeom prst="diamond">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794760" y="2450592"/>
            <a:ext cx="1554480" cy="768096"/>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functions, usually in sequence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98264" y="1609344"/>
            <a:ext cx="347472" cy="347472"/>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98264" y="16093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5449824" y="2660904"/>
            <a:ext cx="347472" cy="347472"/>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44982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98264" y="3712464"/>
            <a:ext cx="347472" cy="347472"/>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398264" y="37124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346704" y="2660904"/>
            <a:ext cx="347472" cy="347472"/>
          </a:xfrm>
          <a:prstGeom prst="ellipse">
            <a:avLst/>
          </a:prstGeom>
          <a:solidFill>
            <a:srgbClr val="6B8F71"/>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34670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383280" y="1133856"/>
            <a:ext cx="2377440" cy="420624"/>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80644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3383280" y="4105656"/>
            <a:ext cx="2377440" cy="402336"/>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0292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
            <a:extLst>
              <a:ext uri="{FF2B5EF4-FFF2-40B4-BE49-F238E27FC236}">
                <a16:creationId xmlns:a16="http://schemas.microsoft.com/office/drawing/2014/main" id="{C6AD9540-BBE6-55E5-8862-45D5002C351F}"/>
              </a:ext>
            </a:extLst>
          </p:cNvPr>
          <p:cNvSpPr/>
          <p:nvPr/>
        </p:nvSpPr>
        <p:spPr>
          <a:xfrm>
            <a:off x="502920" y="4507992"/>
            <a:ext cx="828446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Poppins" pitchFamily="34" charset="-122"/>
                <a:cs typeface="Poppins" pitchFamily="34" charset="-120"/>
              </a:rPr>
              <a:t>Hint: </a:t>
            </a:r>
            <a:r>
              <a:rPr kumimoji="0" lang="en-US" sz="1200" b="0" i="1" u="none" strike="noStrike" kern="1200" cap="none" spc="0" normalizeH="0" baseline="0" noProof="0" dirty="0">
                <a:ln>
                  <a:noFill/>
                </a:ln>
                <a:solidFill>
                  <a:prstClr val="black"/>
                </a:solidFill>
                <a:effectLst/>
                <a:uLnTx/>
                <a:uFillTx/>
                <a:latin typeface="Calibri" panose="020F0502020204030204"/>
                <a:ea typeface="Poppins" pitchFamily="34" charset="-122"/>
                <a:cs typeface="Poppins" pitchFamily="34" charset="-120"/>
              </a:rPr>
              <a:t>The Role of Epidemiology</a:t>
            </a:r>
            <a:endPar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SQUARE 2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The Role of Epidemiology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3520440" y="1783080"/>
            <a:ext cx="2103120" cy="2103120"/>
          </a:xfrm>
          <a:prstGeom prst="diamond">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794760" y="2450592"/>
            <a:ext cx="1554480" cy="768096"/>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functions, usually in sequence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98264" y="1609344"/>
            <a:ext cx="347472" cy="347472"/>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98264" y="16093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5449824" y="2660904"/>
            <a:ext cx="347472" cy="347472"/>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44982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98264" y="3712464"/>
            <a:ext cx="347472" cy="347472"/>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398264" y="37124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346704" y="2660904"/>
            <a:ext cx="347472" cy="347472"/>
          </a:xfrm>
          <a:prstGeom prst="ellipse">
            <a:avLst/>
          </a:prstGeom>
          <a:solidFill>
            <a:srgbClr val="6B8F71"/>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34670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383280" y="1133856"/>
            <a:ext cx="2377440" cy="420624"/>
          </a:xfrm>
          <a:prstGeom prst="rect">
            <a:avLst/>
          </a:prstGeom>
          <a:noFill/>
          <a:ln/>
        </p:spPr>
        <p:txBody>
          <a:bodyPr wrap="square" lIns="0" tIns="0" rIns="0" bIns="0" rtlCol="0" anchor="b"/>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DESCRIBE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what's happening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80644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INTERPRET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why it's happening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3383280" y="4105656"/>
            <a:ext cx="2377440" cy="402336"/>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EVALUATE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is the response working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0292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6B8F71"/>
                </a:solidFill>
                <a:effectLst/>
                <a:uLnTx/>
                <a:uFillTx/>
                <a:latin typeface="Calibri" pitchFamily="34" charset="0"/>
                <a:ea typeface="Calibri" pitchFamily="34" charset="-122"/>
                <a:cs typeface="Calibri" pitchFamily="34" charset="-120"/>
              </a:rPr>
              <a:t>APPLY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act on the finding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Dolutegravir roll-out, Newlands Clinic: weight gain described → tested → screening protocols applied → cohort follow-up evaluates them.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SQUARE 3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Four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3520440" y="1783080"/>
            <a:ext cx="2103120" cy="2103120"/>
          </a:xfrm>
          <a:prstGeom prst="diamond">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794760" y="2450592"/>
            <a:ext cx="1554480" cy="768096"/>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ways cases &amp; populations go wrong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98264" y="1609344"/>
            <a:ext cx="347472" cy="347472"/>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98264" y="16093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5449824" y="2660904"/>
            <a:ext cx="347472" cy="347472"/>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44982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98264" y="3712464"/>
            <a:ext cx="347472" cy="347472"/>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398264" y="37124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346704" y="2660904"/>
            <a:ext cx="347472" cy="347472"/>
          </a:xfrm>
          <a:prstGeom prst="ellipse">
            <a:avLst/>
          </a:prstGeom>
          <a:solidFill>
            <a:srgbClr val="6B8F71"/>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34670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383280" y="1133856"/>
            <a:ext cx="2377440" cy="420624"/>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80644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3383280" y="4105656"/>
            <a:ext cx="2377440" cy="402336"/>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0292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SQUARE 3 OF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Common Pitfalls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3520440" y="1783080"/>
            <a:ext cx="2103120" cy="2103120"/>
          </a:xfrm>
          <a:prstGeom prst="diamond">
            <a:avLst/>
          </a:prstGeom>
          <a:solidFill>
            <a:srgbClr val="25374F"/>
          </a:solidFill>
          <a:ln w="25400">
            <a:solidFill>
              <a:srgbClr val="FFFFFF"/>
            </a:solidFill>
            <a:prstDash val="solid"/>
          </a:ln>
          <a:effectLst>
            <a:outerShdw blurRad="101600" dist="38100" dir="5400000" algn="bl" rotWithShape="0">
              <a:srgbClr val="1B2A3D">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794760" y="2450592"/>
            <a:ext cx="1554480" cy="768096"/>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ways cases &amp; populations go wrong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98264" y="1609344"/>
            <a:ext cx="347472" cy="347472"/>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398264" y="160934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5449824" y="2660904"/>
            <a:ext cx="347472" cy="347472"/>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44982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98264" y="3712464"/>
            <a:ext cx="347472" cy="347472"/>
          </a:xfrm>
          <a:prstGeom prst="ellipse">
            <a:avLst/>
          </a:prstGeom>
          <a:solidFill>
            <a:srgbClr val="F2A93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398264" y="371246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346704" y="2660904"/>
            <a:ext cx="347472" cy="347472"/>
          </a:xfrm>
          <a:prstGeom prst="ellipse">
            <a:avLst/>
          </a:prstGeom>
          <a:solidFill>
            <a:srgbClr val="6B8F71"/>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346704" y="2660904"/>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383280" y="1133856"/>
            <a:ext cx="2377440" cy="420624"/>
          </a:xfrm>
          <a:prstGeom prst="rect">
            <a:avLst/>
          </a:prstGeom>
          <a:noFill/>
          <a:ln/>
        </p:spPr>
        <p:txBody>
          <a:bodyPr wrap="square" lIns="0" tIns="0" rIns="0" bIns="0" rtlCol="0" anchor="b"/>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NUM./DENOM. MISMATCH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wrong denominator for the numerator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80644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CONFLATING UNITS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people vs. episodes, uncounted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3383280" y="4105656"/>
            <a:ext cx="2377440" cy="402336"/>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IMPLICIT POPULATION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a rate with no stated denominator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502920" y="2514600"/>
            <a:ext cx="28346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6B8F71"/>
                </a:solidFill>
                <a:effectLst/>
                <a:uLnTx/>
                <a:uFillTx/>
                <a:latin typeface="Calibri" pitchFamily="34" charset="0"/>
                <a:ea typeface="Calibri" pitchFamily="34" charset="-122"/>
                <a:cs typeface="Calibri" pitchFamily="34" charset="-120"/>
              </a:rPr>
              <a:t>DEFINITION DRIFT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the case rule shifts mid-study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Quoting a rate without ever stating the denominator population leaves the reader unable to judge whether it's meaningful.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THE PAIR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Guess the Two Parts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148840" y="2788920"/>
            <a:ext cx="4846320" cy="0"/>
          </a:xfrm>
          <a:prstGeom prst="line">
            <a:avLst/>
          </a:prstGeom>
          <a:noFill/>
          <a:ln w="50800">
            <a:solidFill>
              <a:srgbClr val="25374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2148840" y="2011680"/>
            <a:ext cx="4846320" cy="45720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25374F"/>
                </a:solidFill>
                <a:effectLst/>
                <a:uLnTx/>
                <a:uFillTx/>
                <a:latin typeface="Calibri" pitchFamily="34" charset="0"/>
                <a:ea typeface="Calibri" pitchFamily="34" charset="-122"/>
                <a:cs typeface="Calibri" pitchFamily="34" charset="-120"/>
              </a:rPr>
              <a:t>Numerator, meet denominator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1920240" y="2560320"/>
            <a:ext cx="457200" cy="457200"/>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1920240" y="25603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766560" y="2560320"/>
            <a:ext cx="457200" cy="457200"/>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6766560" y="25603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868680" y="3223260"/>
            <a:ext cx="256032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715000" y="3223260"/>
            <a:ext cx="256032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7CFD8"/>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
            <a:extLst>
              <a:ext uri="{FF2B5EF4-FFF2-40B4-BE49-F238E27FC236}">
                <a16:creationId xmlns:a16="http://schemas.microsoft.com/office/drawing/2014/main" id="{0AFB3333-2D93-1994-5EA9-C37D0817A536}"/>
              </a:ext>
            </a:extLst>
          </p:cNvPr>
          <p:cNvSpPr/>
          <p:nvPr/>
        </p:nvSpPr>
        <p:spPr>
          <a:xfrm>
            <a:off x="428854" y="4092012"/>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a:ea typeface="Poppins" pitchFamily="34" charset="-122"/>
                <a:cs typeface="Poppins" pitchFamily="34" charset="-120"/>
              </a:rPr>
              <a:t>Hint: Two Things to Define Before You Count in Epidemiology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newlands_logo.png"/>
          <p:cNvPicPr>
            <a:picLocks noChangeAspect="1"/>
          </p:cNvPicPr>
          <p:nvPr/>
        </p:nvPicPr>
        <p:blipFill>
          <a:blip r:embed="rId3"/>
          <a:stretch>
            <a:fillRect/>
          </a:stretch>
        </p:blipFill>
        <p:spPr>
          <a:xfrm>
            <a:off x="7726680" y="292608"/>
            <a:ext cx="1088136" cy="590702"/>
          </a:xfrm>
          <a:prstGeom prst="rect">
            <a:avLst/>
          </a:prstGeom>
        </p:spPr>
      </p:pic>
      <p:sp>
        <p:nvSpPr>
          <p:cNvPr id="3"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RECAP GAME · THE PAIR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5374F"/>
                </a:solidFill>
                <a:effectLst/>
                <a:uLnTx/>
                <a:uFillTx/>
                <a:latin typeface="Poppins" pitchFamily="34" charset="0"/>
                <a:ea typeface="Poppins" pitchFamily="34" charset="-122"/>
                <a:cs typeface="Poppins" pitchFamily="34" charset="-120"/>
              </a:rPr>
              <a:t>Two Things to Define Before You Count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6309360" y="365760"/>
            <a:ext cx="2404872"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B6B7C"/>
                </a:solidFill>
                <a:effectLst/>
                <a:uLnTx/>
                <a:uFillTx/>
                <a:latin typeface="Calibri" pitchFamily="34" charset="0"/>
                <a:ea typeface="Calibri" pitchFamily="34" charset="-122"/>
                <a:cs typeface="Calibri" pitchFamily="34" charset="-120"/>
              </a:rPr>
              <a:t>REVEALED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428854" y="4882896"/>
            <a:ext cx="73152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Research Masterclass for Clinicians · Foundations Recap Game · www.newlandsclinic.org.zw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2148840" y="2788920"/>
            <a:ext cx="4846320" cy="0"/>
          </a:xfrm>
          <a:prstGeom prst="line">
            <a:avLst/>
          </a:prstGeom>
          <a:noFill/>
          <a:ln w="50800">
            <a:solidFill>
              <a:srgbClr val="25374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2148840" y="2011680"/>
            <a:ext cx="4846320" cy="457200"/>
          </a:xfrm>
          <a:prstGeom prst="rect">
            <a:avLst/>
          </a:prstGeom>
          <a:no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25374F"/>
                </a:solidFill>
                <a:effectLst/>
                <a:uLnTx/>
                <a:uFillTx/>
                <a:latin typeface="Calibri" pitchFamily="34" charset="0"/>
                <a:ea typeface="Calibri" pitchFamily="34" charset="-122"/>
                <a:cs typeface="Calibri" pitchFamily="34" charset="-120"/>
              </a:rPr>
              <a:t>Numerator, meet denominator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1920240" y="2560320"/>
            <a:ext cx="457200" cy="457200"/>
          </a:xfrm>
          <a:prstGeom prst="ellipse">
            <a:avLst/>
          </a:prstGeom>
          <a:solidFill>
            <a:srgbClr val="E63425"/>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1920240" y="25603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766560" y="2560320"/>
            <a:ext cx="457200" cy="457200"/>
          </a:xfrm>
          <a:prstGeom prst="ellipse">
            <a:avLst/>
          </a:prstGeom>
          <a:solidFill>
            <a:srgbClr val="2E8B9B"/>
          </a:solidFill>
          <a:ln w="254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6766560" y="2560320"/>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868680" y="3223260"/>
            <a:ext cx="2560320"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CASE DEFINITION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 determines the numerator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715000" y="3223260"/>
            <a:ext cx="2560320" cy="6858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E8B9B"/>
                </a:solidFill>
                <a:effectLst/>
                <a:uLnTx/>
                <a:uFillTx/>
                <a:latin typeface="Calibri" pitchFamily="34" charset="0"/>
                <a:ea typeface="Calibri" pitchFamily="34" charset="-122"/>
                <a:cs typeface="Calibri" pitchFamily="34" charset="-120"/>
              </a:rPr>
              <a:t>POPULATION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7C"/>
                </a:solidFill>
                <a:effectLst/>
                <a:uLnTx/>
                <a:uFillTx/>
                <a:latin typeface="Calibri" pitchFamily="34" charset="0"/>
                <a:ea typeface="Calibri" pitchFamily="34" charset="-122"/>
                <a:cs typeface="Calibri" pitchFamily="34" charset="-120"/>
              </a:rPr>
              <a:t>→ determines the denominator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640080" y="4553712"/>
            <a:ext cx="7863840" cy="329184"/>
          </a:xfrm>
          <a:prstGeom prst="roundRect">
            <a:avLst>
              <a:gd name="adj" fmla="val 16667"/>
            </a:avLst>
          </a:prstGeom>
          <a:solidFill>
            <a:srgbClr val="F4F5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777240" y="4553712"/>
            <a:ext cx="75895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63425"/>
                </a:solidFill>
                <a:effectLst/>
                <a:uLnTx/>
                <a:uFillTx/>
                <a:latin typeface="Calibri" pitchFamily="34" charset="0"/>
                <a:ea typeface="Calibri" pitchFamily="34" charset="-122"/>
                <a:cs typeface="Calibri" pitchFamily="34" charset="-120"/>
              </a:rPr>
              <a:t>REGIONAL EXAMPLE  </a:t>
            </a:r>
            <a:r>
              <a:rPr kumimoji="0" lang="en-US" sz="950" b="0" i="0" u="none" strike="noStrike" kern="1200" cap="none" spc="0" normalizeH="0" baseline="0" noProof="0" dirty="0">
                <a:ln>
                  <a:noFill/>
                </a:ln>
                <a:solidFill>
                  <a:srgbClr val="27313B"/>
                </a:solidFill>
                <a:effectLst/>
                <a:uLnTx/>
                <a:uFillTx/>
                <a:latin typeface="Calibri" pitchFamily="34" charset="0"/>
                <a:ea typeface="Calibri" pitchFamily="34" charset="-122"/>
                <a:cs typeface="Calibri" pitchFamily="34" charset="-120"/>
              </a:rPr>
              <a:t>IeDEA–Newlands cohort: all patients ≥16 starting ART, 2004–2015 — not “all Zimbabweans.” The denominator is enrolment criteria, not a map.</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5374F"/>
        </a:solidFill>
        <a:effectLst/>
      </p:bgPr>
    </p:bg>
    <p:spTree>
      <p:nvGrpSpPr>
        <p:cNvPr id="1" name=""/>
        <p:cNvGrpSpPr/>
        <p:nvPr/>
      </p:nvGrpSpPr>
      <p:grpSpPr>
        <a:xfrm>
          <a:off x="0" y="0"/>
          <a:ext cx="0" cy="0"/>
          <a:chOff x="0" y="0"/>
          <a:chExt cx="0" cy="0"/>
        </a:xfrm>
      </p:grpSpPr>
      <p:sp>
        <p:nvSpPr>
          <p:cNvPr id="2" name="Text 0"/>
          <p:cNvSpPr/>
          <p:nvPr/>
        </p:nvSpPr>
        <p:spPr>
          <a:xfrm>
            <a:off x="428854" y="365760"/>
            <a:ext cx="7680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dirty="0">
                <a:ln>
                  <a:noFill/>
                </a:ln>
                <a:solidFill>
                  <a:srgbClr val="E63425"/>
                </a:solidFill>
                <a:effectLst/>
                <a:uLnTx/>
                <a:uFillTx/>
                <a:latin typeface="Calibri" pitchFamily="34" charset="0"/>
                <a:ea typeface="Calibri" pitchFamily="34" charset="-122"/>
                <a:cs typeface="Calibri" pitchFamily="34" charset="-120"/>
              </a:rPr>
              <a:t>SECTION · WRAP-UP</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28854" y="566928"/>
            <a:ext cx="828446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Poppins" pitchFamily="34" charset="0"/>
                <a:ea typeface="Poppins" pitchFamily="34" charset="-122"/>
                <a:cs typeface="Poppins" pitchFamily="34" charset="-120"/>
              </a:rPr>
              <a:t>The Foundations, All at Once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261872"/>
            <a:ext cx="310896" cy="274320"/>
          </a:xfrm>
          <a:prstGeom prst="triangle">
            <a:avLst/>
          </a:prstGeom>
          <a:solidFill>
            <a:srgbClr val="E6342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960120" y="1179576"/>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Person, Place, Time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who, where, when — describes any health event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705356"/>
            <a:ext cx="310896" cy="274320"/>
          </a:xfrm>
          <a:prstGeom prst="triangle">
            <a:avLst/>
          </a:prstGeom>
          <a:solidFill>
            <a:srgbClr val="2E8B9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960120" y="1623060"/>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Good Case Definition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method of identification, boundaries, unit of analysis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02920" y="2148840"/>
            <a:ext cx="310896" cy="274320"/>
          </a:xfrm>
          <a:prstGeom prst="triangle">
            <a:avLst/>
          </a:prstGeom>
          <a:solidFill>
            <a:srgbClr val="F2A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960120" y="2066544"/>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Before You Can Count Anything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population, case definition, count over time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02920" y="2574036"/>
            <a:ext cx="310896" cy="310896"/>
          </a:xfrm>
          <a:prstGeom prst="diamond">
            <a:avLst/>
          </a:prstGeom>
          <a:solidFill>
            <a:srgbClr val="E6342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960120" y="2510028"/>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Is Epidemiology?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frequency, distribution, determinants, application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3017520"/>
            <a:ext cx="310896" cy="310896"/>
          </a:xfrm>
          <a:prstGeom prst="diamond">
            <a:avLst/>
          </a:prstGeom>
          <a:solidFill>
            <a:srgbClr val="2E8B9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960120" y="2953512"/>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Role of Epidemiology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describe, interpret, apply, evaluate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02920" y="3461004"/>
            <a:ext cx="310896" cy="310896"/>
          </a:xfrm>
          <a:prstGeom prst="diamond">
            <a:avLst/>
          </a:prstGeom>
          <a:solidFill>
            <a:srgbClr val="F2A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960120" y="3396996"/>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Common Pitfalls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mismatch, drift, conflated units, implicit population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977640"/>
            <a:ext cx="146304" cy="146304"/>
          </a:xfrm>
          <a:prstGeom prst="ellipse">
            <a:avLst/>
          </a:prstGeom>
          <a:solidFill>
            <a:srgbClr val="E6342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85800" y="3977640"/>
            <a:ext cx="146304" cy="146304"/>
          </a:xfrm>
          <a:prstGeom prst="ellipse">
            <a:avLst/>
          </a:prstGeom>
          <a:solidFill>
            <a:srgbClr val="2E8B9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960120" y="3840480"/>
            <a:ext cx="7772400" cy="4434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Two Things to Define Before You Count  </a:t>
            </a:r>
            <a:r>
              <a:rPr kumimoji="0" lang="en-US" sz="1050" b="0" i="1" u="none" strike="noStrike" kern="1200" cap="none" spc="0" normalizeH="0" baseline="0" noProof="0" dirty="0">
                <a:ln>
                  <a:noFill/>
                </a:ln>
                <a:solidFill>
                  <a:srgbClr val="DCE3EA"/>
                </a:solidFill>
                <a:effectLst/>
                <a:uLnTx/>
                <a:uFillTx/>
                <a:latin typeface="Calibri" pitchFamily="34" charset="0"/>
                <a:ea typeface="Calibri" pitchFamily="34" charset="-122"/>
                <a:cs typeface="Calibri" pitchFamily="34" charset="-120"/>
              </a:rPr>
              <a:t>case definition → numerator · population → denominator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28854" y="4430268"/>
            <a:ext cx="8284464" cy="594360"/>
          </a:xfrm>
          <a:prstGeom prst="roundRect">
            <a:avLst>
              <a:gd name="adj" fmla="val 10769"/>
            </a:avLst>
          </a:prstGeom>
          <a:solidFill>
            <a:srgbClr val="1B2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40080" y="4430268"/>
            <a:ext cx="78638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93B"/>
                </a:solidFill>
                <a:effectLst/>
                <a:uLnTx/>
                <a:uFillTx/>
                <a:latin typeface="Calibri" pitchFamily="34" charset="0"/>
                <a:ea typeface="Calibri" pitchFamily="34" charset="-122"/>
                <a:cs typeface="Calibri" pitchFamily="34" charset="-120"/>
              </a:rPr>
              <a:t>Next — Topic 3: </a:t>
            </a: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these building blocks turn into actual numbers — prevalence, incidence risk, incidence rate, and odds.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solidFill>
          <a:srgbClr val="25374F"/>
        </a:solidFill>
        <a:effectLst/>
      </p:bgPr>
    </p:bg>
    <p:spTree>
      <p:nvGrpSpPr>
        <p:cNvPr id="1" name=""/>
        <p:cNvGrpSpPr/>
        <p:nvPr/>
      </p:nvGrpSpPr>
      <p:grpSpPr>
        <a:xfrm>
          <a:off x="0" y="0"/>
          <a:ext cx="0" cy="0"/>
          <a:chOff x="0" y="0"/>
          <a:chExt cx="0" cy="0"/>
        </a:xfrm>
      </p:grpSpPr>
      <p:sp>
        <p:nvSpPr>
          <p:cNvPr id="3" name="Shape 1"/>
          <p:cNvSpPr/>
          <p:nvPr/>
        </p:nvSpPr>
        <p:spPr>
          <a:xfrm>
            <a:off x="7013448" y="3063240"/>
            <a:ext cx="1783080" cy="1783080"/>
          </a:xfrm>
          <a:prstGeom prst="ellipse">
            <a:avLst/>
          </a:prstGeom>
          <a:solidFill>
            <a:srgbClr val="FFFFFF"/>
          </a:solidFill>
          <a:ln/>
        </p:spPr>
        <p:txBody>
          <a:bodyPr/>
          <a:lstStyle/>
          <a:p>
            <a:endParaRPr lang="en-ZW"/>
          </a:p>
        </p:txBody>
      </p:sp>
      <p:sp>
        <p:nvSpPr>
          <p:cNvPr id="4" name="Shape 2"/>
          <p:cNvSpPr/>
          <p:nvPr/>
        </p:nvSpPr>
        <p:spPr>
          <a:xfrm>
            <a:off x="7178040" y="4000500"/>
            <a:ext cx="246888" cy="502920"/>
          </a:xfrm>
          <a:prstGeom prst="roundRect">
            <a:avLst>
              <a:gd name="adj" fmla="val 7407"/>
            </a:avLst>
          </a:prstGeom>
          <a:solidFill>
            <a:srgbClr val="E63425"/>
          </a:solidFill>
          <a:ln/>
        </p:spPr>
        <p:txBody>
          <a:bodyPr/>
          <a:lstStyle/>
          <a:p>
            <a:endParaRPr lang="en-ZW"/>
          </a:p>
        </p:txBody>
      </p:sp>
      <p:sp>
        <p:nvSpPr>
          <p:cNvPr id="5" name="Shape 3"/>
          <p:cNvSpPr/>
          <p:nvPr/>
        </p:nvSpPr>
        <p:spPr>
          <a:xfrm>
            <a:off x="7479792" y="3680460"/>
            <a:ext cx="246888" cy="822960"/>
          </a:xfrm>
          <a:prstGeom prst="roundRect">
            <a:avLst>
              <a:gd name="adj" fmla="val 7407"/>
            </a:avLst>
          </a:prstGeom>
          <a:solidFill>
            <a:srgbClr val="F2A93B"/>
          </a:solidFill>
          <a:ln/>
        </p:spPr>
        <p:txBody>
          <a:bodyPr/>
          <a:lstStyle/>
          <a:p>
            <a:endParaRPr lang="en-ZW"/>
          </a:p>
        </p:txBody>
      </p:sp>
      <p:sp>
        <p:nvSpPr>
          <p:cNvPr id="6" name="Shape 4"/>
          <p:cNvSpPr/>
          <p:nvPr/>
        </p:nvSpPr>
        <p:spPr>
          <a:xfrm>
            <a:off x="7781544" y="3406140"/>
            <a:ext cx="246888" cy="1097280"/>
          </a:xfrm>
          <a:prstGeom prst="roundRect">
            <a:avLst>
              <a:gd name="adj" fmla="val 7407"/>
            </a:avLst>
          </a:prstGeom>
          <a:solidFill>
            <a:srgbClr val="5B9A56"/>
          </a:solidFill>
          <a:ln/>
        </p:spPr>
        <p:txBody>
          <a:bodyPr/>
          <a:lstStyle/>
          <a:p>
            <a:endParaRPr lang="en-ZW"/>
          </a:p>
        </p:txBody>
      </p:sp>
      <p:sp>
        <p:nvSpPr>
          <p:cNvPr id="7" name="Shape 5"/>
          <p:cNvSpPr/>
          <p:nvPr/>
        </p:nvSpPr>
        <p:spPr>
          <a:xfrm>
            <a:off x="8083296" y="3131820"/>
            <a:ext cx="246888" cy="1371600"/>
          </a:xfrm>
          <a:prstGeom prst="roundRect">
            <a:avLst>
              <a:gd name="adj" fmla="val 7407"/>
            </a:avLst>
          </a:prstGeom>
          <a:solidFill>
            <a:srgbClr val="2E8B9B"/>
          </a:solidFill>
          <a:ln/>
        </p:spPr>
        <p:txBody>
          <a:bodyPr/>
          <a:lstStyle/>
          <a:p>
            <a:endParaRPr lang="en-ZW"/>
          </a:p>
        </p:txBody>
      </p:sp>
      <p:sp>
        <p:nvSpPr>
          <p:cNvPr id="9" name="Text 7"/>
          <p:cNvSpPr/>
          <p:nvPr/>
        </p:nvSpPr>
        <p:spPr>
          <a:xfrm>
            <a:off x="548640" y="1417320"/>
            <a:ext cx="6217920" cy="228600"/>
          </a:xfrm>
          <a:prstGeom prst="rect">
            <a:avLst/>
          </a:prstGeom>
          <a:noFill/>
          <a:ln/>
        </p:spPr>
        <p:txBody>
          <a:bodyPr wrap="square" rtlCol="0" anchor="ctr"/>
          <a:lstStyle/>
          <a:p>
            <a:pPr marL="0" indent="0">
              <a:buNone/>
            </a:pPr>
            <a:r>
              <a:rPr lang="en-US" sz="1100" b="1" kern="0" spc="120" dirty="0">
                <a:solidFill>
                  <a:srgbClr val="E63425"/>
                </a:solidFill>
                <a:latin typeface="Calibri" pitchFamily="34" charset="0"/>
                <a:ea typeface="Calibri" pitchFamily="34" charset="-122"/>
                <a:cs typeface="Calibri" pitchFamily="34" charset="-120"/>
              </a:rPr>
              <a:t>RESEARCH MASTERCLASS FOR CLINICIANS · MODULE 1</a:t>
            </a:r>
            <a:endParaRPr lang="en-US" sz="1100" dirty="0"/>
          </a:p>
        </p:txBody>
      </p:sp>
      <p:sp>
        <p:nvSpPr>
          <p:cNvPr id="10" name="Text 8"/>
          <p:cNvSpPr/>
          <p:nvPr/>
        </p:nvSpPr>
        <p:spPr>
          <a:xfrm>
            <a:off x="548640" y="1801368"/>
            <a:ext cx="6217920" cy="1092708"/>
          </a:xfrm>
          <a:prstGeom prst="rect">
            <a:avLst/>
          </a:prstGeom>
          <a:noFill/>
          <a:ln/>
        </p:spPr>
        <p:txBody>
          <a:bodyPr wrap="square" rtlCol="0" anchor="t"/>
          <a:lstStyle/>
          <a:p>
            <a:pPr marL="0" indent="0">
              <a:buNone/>
            </a:pPr>
            <a:r>
              <a:rPr lang="en-US" sz="3000" b="1" dirty="0">
                <a:solidFill>
                  <a:srgbClr val="FFFFFF"/>
                </a:solidFill>
                <a:latin typeface="Poppins" pitchFamily="34" charset="0"/>
                <a:ea typeface="Poppins" pitchFamily="34" charset="-122"/>
                <a:cs typeface="Poppins" pitchFamily="34" charset="-120"/>
              </a:rPr>
              <a:t>Measures of Disease Occurrence</a:t>
            </a:r>
            <a:endParaRPr lang="en-US" sz="3000" dirty="0"/>
          </a:p>
        </p:txBody>
      </p:sp>
      <p:sp>
        <p:nvSpPr>
          <p:cNvPr id="11" name="Text 9"/>
          <p:cNvSpPr/>
          <p:nvPr/>
        </p:nvSpPr>
        <p:spPr>
          <a:xfrm>
            <a:off x="548640" y="3122676"/>
            <a:ext cx="6217920" cy="320040"/>
          </a:xfrm>
          <a:prstGeom prst="rect">
            <a:avLst/>
          </a:prstGeom>
          <a:noFill/>
          <a:ln/>
        </p:spPr>
        <p:txBody>
          <a:bodyPr wrap="square" rtlCol="0" anchor="ctr"/>
          <a:lstStyle/>
          <a:p>
            <a:pPr marL="0" indent="0">
              <a:buNone/>
            </a:pPr>
            <a:r>
              <a:rPr lang="en-US" sz="1600" b="1" dirty="0">
                <a:solidFill>
                  <a:srgbClr val="E63425"/>
                </a:solidFill>
                <a:latin typeface="Poppins" pitchFamily="34" charset="0"/>
                <a:ea typeface="Poppins" pitchFamily="34" charset="-122"/>
                <a:cs typeface="Poppins" pitchFamily="34" charset="-120"/>
              </a:rPr>
              <a:t>Prevalence, Incidence Risk, Incidence Rate &amp; Odds</a:t>
            </a:r>
            <a:endParaRPr lang="en-US" sz="1600" dirty="0"/>
          </a:p>
        </p:txBody>
      </p:sp>
      <p:sp>
        <p:nvSpPr>
          <p:cNvPr id="12" name="Text 10"/>
          <p:cNvSpPr/>
          <p:nvPr/>
        </p:nvSpPr>
        <p:spPr>
          <a:xfrm>
            <a:off x="548640" y="3579876"/>
            <a:ext cx="4206240" cy="584073"/>
          </a:xfrm>
          <a:prstGeom prst="rect">
            <a:avLst/>
          </a:prstGeom>
          <a:noFill/>
          <a:ln/>
        </p:spPr>
        <p:txBody>
          <a:bodyPr wrap="square" rtlCol="0" anchor="t"/>
          <a:lstStyle/>
          <a:p>
            <a:pPr marL="0" indent="0">
              <a:buNone/>
            </a:pPr>
            <a:r>
              <a:rPr lang="en-US" sz="1100" i="1" dirty="0">
                <a:solidFill>
                  <a:srgbClr val="C9D3DD"/>
                </a:solidFill>
                <a:latin typeface="Calibri" pitchFamily="34" charset="0"/>
                <a:ea typeface="Calibri" pitchFamily="34" charset="-122"/>
                <a:cs typeface="Calibri" pitchFamily="34" charset="-120"/>
              </a:rPr>
              <a:t>Built around peer-reviewed evidence from Zimbabwe, Zambia and Southern Africa — HIV, metabolic syndrome, cholera and non-communicable diseases.</a:t>
            </a:r>
            <a:endParaRPr lang="en-US" sz="1100" dirty="0"/>
          </a:p>
        </p:txBody>
      </p:sp>
      <p:sp>
        <p:nvSpPr>
          <p:cNvPr id="13" name="Text 11"/>
          <p:cNvSpPr/>
          <p:nvPr/>
        </p:nvSpPr>
        <p:spPr>
          <a:xfrm>
            <a:off x="548640" y="4823460"/>
            <a:ext cx="3657600" cy="182880"/>
          </a:xfrm>
          <a:prstGeom prst="rect">
            <a:avLst/>
          </a:prstGeom>
          <a:noFill/>
          <a:ln/>
        </p:spPr>
        <p:txBody>
          <a:bodyPr wrap="square" rtlCol="0" anchor="ctr"/>
          <a:lstStyle/>
          <a:p>
            <a:pPr marL="0" indent="0">
              <a:buNone/>
            </a:pPr>
            <a:r>
              <a:rPr lang="en-US" sz="900" dirty="0">
                <a:solidFill>
                  <a:srgbClr val="C9D3DD"/>
                </a:solidFill>
                <a:latin typeface="Calibri" pitchFamily="34" charset="0"/>
                <a:ea typeface="Calibri" pitchFamily="34" charset="-122"/>
                <a:cs typeface="Calibri" pitchFamily="34" charset="-120"/>
              </a:rPr>
              <a:t>www.newlandsclinic.org.zw</a:t>
            </a:r>
            <a:endParaRPr lang="en-US" sz="900" dirty="0"/>
          </a:p>
        </p:txBody>
      </p:sp>
      <p:pic>
        <p:nvPicPr>
          <p:cNvPr id="14" name="Picture 13">
            <a:extLst>
              <a:ext uri="{FF2B5EF4-FFF2-40B4-BE49-F238E27FC236}">
                <a16:creationId xmlns:a16="http://schemas.microsoft.com/office/drawing/2014/main" id="{3B26AB5C-5117-45F8-1528-51707F9C8920}"/>
              </a:ext>
            </a:extLst>
          </p:cNvPr>
          <p:cNvPicPr>
            <a:picLocks noChangeAspect="1"/>
          </p:cNvPicPr>
          <p:nvPr/>
        </p:nvPicPr>
        <p:blipFill>
          <a:blip r:embed="rId3"/>
          <a:stretch>
            <a:fillRect/>
          </a:stretch>
        </p:blipFill>
        <p:spPr>
          <a:xfrm>
            <a:off x="290171" y="133434"/>
            <a:ext cx="1085760" cy="59038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MODULE 1 · TOPIC 3 · FOUNDATIONS IN EPIDEMIOLOGY</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Measures of Disease Occurrence</a:t>
            </a:r>
            <a:endParaRPr lang="en-US" sz="2200" dirty="0"/>
          </a:p>
        </p:txBody>
      </p:sp>
      <p:sp>
        <p:nvSpPr>
          <p:cNvPr id="8" name="Text 6"/>
          <p:cNvSpPr/>
          <p:nvPr/>
        </p:nvSpPr>
        <p:spPr>
          <a:xfrm>
            <a:off x="428625" y="1138428"/>
            <a:ext cx="4000500" cy="558356"/>
          </a:xfrm>
          <a:prstGeom prst="rect">
            <a:avLst/>
          </a:prstGeom>
          <a:noFill/>
          <a:ln/>
        </p:spPr>
        <p:txBody>
          <a:bodyPr wrap="square" rtlCol="0" anchor="t"/>
          <a:lstStyle/>
          <a:p>
            <a:pPr marL="0" indent="0">
              <a:buNone/>
            </a:pPr>
            <a:r>
              <a:rPr lang="en-US" sz="1050" dirty="0">
                <a:solidFill>
                  <a:srgbClr val="27313B"/>
                </a:solidFill>
                <a:latin typeface="Calibri" pitchFamily="34" charset="0"/>
                <a:ea typeface="Calibri" pitchFamily="34" charset="-122"/>
                <a:cs typeface="Calibri" pitchFamily="34" charset="-120"/>
              </a:rPr>
              <a:t>Every clinical research question depends on quantifying how much disease exists and how fast new cases arise. This session builds that quantitative toolkit.</a:t>
            </a:r>
            <a:endParaRPr lang="en-US" sz="1050" dirty="0"/>
          </a:p>
        </p:txBody>
      </p:sp>
      <p:sp>
        <p:nvSpPr>
          <p:cNvPr id="9" name="Text 7"/>
          <p:cNvSpPr/>
          <p:nvPr/>
        </p:nvSpPr>
        <p:spPr>
          <a:xfrm>
            <a:off x="428625" y="1753934"/>
            <a:ext cx="3937635" cy="391192"/>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By the end of this session, you will be able to:</a:t>
            </a:r>
            <a:endParaRPr lang="en-US" sz="1100" dirty="0"/>
          </a:p>
        </p:txBody>
      </p:sp>
      <p:sp>
        <p:nvSpPr>
          <p:cNvPr id="10" name="Shape 8"/>
          <p:cNvSpPr/>
          <p:nvPr/>
        </p:nvSpPr>
        <p:spPr>
          <a:xfrm>
            <a:off x="428625" y="2202275"/>
            <a:ext cx="171450" cy="171450"/>
          </a:xfrm>
          <a:prstGeom prst="ellipse">
            <a:avLst/>
          </a:prstGeom>
          <a:solidFill>
            <a:srgbClr val="25374F"/>
          </a:solidFill>
          <a:ln/>
        </p:spPr>
        <p:txBody>
          <a:bodyPr/>
          <a:lstStyle/>
          <a:p>
            <a:endParaRPr lang="en-ZW" sz="1100"/>
          </a:p>
        </p:txBody>
      </p:sp>
      <p:sp>
        <p:nvSpPr>
          <p:cNvPr id="11" name="Text 9"/>
          <p:cNvSpPr/>
          <p:nvPr/>
        </p:nvSpPr>
        <p:spPr>
          <a:xfrm>
            <a:off x="428625" y="2202275"/>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1</a:t>
            </a:r>
            <a:endParaRPr lang="en-US" sz="1100" dirty="0"/>
          </a:p>
        </p:txBody>
      </p:sp>
      <p:sp>
        <p:nvSpPr>
          <p:cNvPr id="12" name="Text 10"/>
          <p:cNvSpPr/>
          <p:nvPr/>
        </p:nvSpPr>
        <p:spPr>
          <a:xfrm>
            <a:off x="671513" y="2144446"/>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Distinguish a ratio, proportion and true epidemiological rate.</a:t>
            </a:r>
            <a:endParaRPr lang="en-US" sz="1100" dirty="0"/>
          </a:p>
        </p:txBody>
      </p:sp>
      <p:sp>
        <p:nvSpPr>
          <p:cNvPr id="13" name="Shape 11"/>
          <p:cNvSpPr/>
          <p:nvPr/>
        </p:nvSpPr>
        <p:spPr>
          <a:xfrm>
            <a:off x="428625" y="2763488"/>
            <a:ext cx="171450" cy="171450"/>
          </a:xfrm>
          <a:prstGeom prst="ellipse">
            <a:avLst/>
          </a:prstGeom>
          <a:solidFill>
            <a:srgbClr val="25374F"/>
          </a:solidFill>
          <a:ln/>
        </p:spPr>
        <p:txBody>
          <a:bodyPr/>
          <a:lstStyle/>
          <a:p>
            <a:endParaRPr lang="en-ZW" sz="1100"/>
          </a:p>
        </p:txBody>
      </p:sp>
      <p:sp>
        <p:nvSpPr>
          <p:cNvPr id="14" name="Text 12"/>
          <p:cNvSpPr/>
          <p:nvPr/>
        </p:nvSpPr>
        <p:spPr>
          <a:xfrm>
            <a:off x="428625" y="2763488"/>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2</a:t>
            </a:r>
            <a:endParaRPr lang="en-US" sz="1100" dirty="0"/>
          </a:p>
        </p:txBody>
      </p:sp>
      <p:sp>
        <p:nvSpPr>
          <p:cNvPr id="15" name="Text 13"/>
          <p:cNvSpPr/>
          <p:nvPr/>
        </p:nvSpPr>
        <p:spPr>
          <a:xfrm>
            <a:off x="671513" y="2663250"/>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Calculate point prevalence, period prevalence, incidence risk and incidence rate.</a:t>
            </a:r>
            <a:endParaRPr lang="en-US" sz="1100" dirty="0"/>
          </a:p>
        </p:txBody>
      </p:sp>
      <p:sp>
        <p:nvSpPr>
          <p:cNvPr id="16" name="Shape 14"/>
          <p:cNvSpPr/>
          <p:nvPr/>
        </p:nvSpPr>
        <p:spPr>
          <a:xfrm>
            <a:off x="428625" y="3324701"/>
            <a:ext cx="171450" cy="171450"/>
          </a:xfrm>
          <a:prstGeom prst="ellipse">
            <a:avLst/>
          </a:prstGeom>
          <a:solidFill>
            <a:srgbClr val="25374F"/>
          </a:solidFill>
          <a:ln/>
        </p:spPr>
        <p:txBody>
          <a:bodyPr/>
          <a:lstStyle/>
          <a:p>
            <a:endParaRPr lang="en-ZW" sz="1100"/>
          </a:p>
        </p:txBody>
      </p:sp>
      <p:sp>
        <p:nvSpPr>
          <p:cNvPr id="17" name="Text 15"/>
          <p:cNvSpPr/>
          <p:nvPr/>
        </p:nvSpPr>
        <p:spPr>
          <a:xfrm>
            <a:off x="428625" y="3324701"/>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3</a:t>
            </a:r>
            <a:endParaRPr lang="en-US" sz="1100" dirty="0"/>
          </a:p>
        </p:txBody>
      </p:sp>
      <p:sp>
        <p:nvSpPr>
          <p:cNvPr id="18" name="Text 16"/>
          <p:cNvSpPr/>
          <p:nvPr/>
        </p:nvSpPr>
        <p:spPr>
          <a:xfrm>
            <a:off x="671513" y="3231153"/>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Build a person-time denominator and compute an incidence rate.</a:t>
            </a:r>
            <a:endParaRPr lang="en-US" sz="1100" dirty="0"/>
          </a:p>
        </p:txBody>
      </p:sp>
      <p:sp>
        <p:nvSpPr>
          <p:cNvPr id="19" name="Shape 17"/>
          <p:cNvSpPr/>
          <p:nvPr/>
        </p:nvSpPr>
        <p:spPr>
          <a:xfrm>
            <a:off x="428625" y="3885914"/>
            <a:ext cx="171450" cy="171450"/>
          </a:xfrm>
          <a:prstGeom prst="ellipse">
            <a:avLst/>
          </a:prstGeom>
          <a:solidFill>
            <a:srgbClr val="25374F"/>
          </a:solidFill>
          <a:ln/>
        </p:spPr>
        <p:txBody>
          <a:bodyPr/>
          <a:lstStyle/>
          <a:p>
            <a:endParaRPr lang="en-ZW" sz="1100"/>
          </a:p>
        </p:txBody>
      </p:sp>
      <p:sp>
        <p:nvSpPr>
          <p:cNvPr id="20" name="Text 18"/>
          <p:cNvSpPr/>
          <p:nvPr/>
        </p:nvSpPr>
        <p:spPr>
          <a:xfrm>
            <a:off x="428625" y="3885914"/>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4</a:t>
            </a:r>
            <a:endParaRPr lang="en-US" sz="1100" dirty="0"/>
          </a:p>
        </p:txBody>
      </p:sp>
      <p:sp>
        <p:nvSpPr>
          <p:cNvPr id="21" name="Text 19"/>
          <p:cNvSpPr/>
          <p:nvPr/>
        </p:nvSpPr>
        <p:spPr>
          <a:xfrm>
            <a:off x="671513" y="3813333"/>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Define odds and explain when it is the appropriate metric.</a:t>
            </a:r>
            <a:endParaRPr lang="en-US" sz="1100" dirty="0"/>
          </a:p>
        </p:txBody>
      </p:sp>
      <p:sp>
        <p:nvSpPr>
          <p:cNvPr id="22" name="Shape 20"/>
          <p:cNvSpPr/>
          <p:nvPr/>
        </p:nvSpPr>
        <p:spPr>
          <a:xfrm>
            <a:off x="428625" y="4447127"/>
            <a:ext cx="171450" cy="171450"/>
          </a:xfrm>
          <a:prstGeom prst="ellipse">
            <a:avLst/>
          </a:prstGeom>
          <a:solidFill>
            <a:srgbClr val="25374F"/>
          </a:solidFill>
          <a:ln/>
        </p:spPr>
        <p:txBody>
          <a:bodyPr/>
          <a:lstStyle/>
          <a:p>
            <a:endParaRPr lang="en-ZW" sz="1100"/>
          </a:p>
        </p:txBody>
      </p:sp>
      <p:sp>
        <p:nvSpPr>
          <p:cNvPr id="23" name="Text 21"/>
          <p:cNvSpPr/>
          <p:nvPr/>
        </p:nvSpPr>
        <p:spPr>
          <a:xfrm>
            <a:off x="428625" y="4447127"/>
            <a:ext cx="171450" cy="171450"/>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5</a:t>
            </a:r>
            <a:endParaRPr lang="en-US" sz="1100" dirty="0"/>
          </a:p>
        </p:txBody>
      </p:sp>
      <p:sp>
        <p:nvSpPr>
          <p:cNvPr id="24" name="Text 22"/>
          <p:cNvSpPr/>
          <p:nvPr/>
        </p:nvSpPr>
        <p:spPr>
          <a:xfrm>
            <a:off x="671513" y="4351972"/>
            <a:ext cx="3694748" cy="48977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Select the right measure of occurrence for a given clinical scenario.</a:t>
            </a:r>
          </a:p>
        </p:txBody>
      </p:sp>
      <p:sp>
        <p:nvSpPr>
          <p:cNvPr id="25" name="Shape 23"/>
          <p:cNvSpPr/>
          <p:nvPr/>
        </p:nvSpPr>
        <p:spPr>
          <a:xfrm>
            <a:off x="4537710" y="1753934"/>
            <a:ext cx="3937635" cy="1588199"/>
          </a:xfrm>
          <a:prstGeom prst="roundRect">
            <a:avLst>
              <a:gd name="adj" fmla="val 3454"/>
            </a:avLst>
          </a:prstGeom>
          <a:solidFill>
            <a:srgbClr val="25374F"/>
          </a:solidFill>
          <a:ln/>
        </p:spPr>
        <p:txBody>
          <a:bodyPr/>
          <a:lstStyle/>
          <a:p>
            <a:endParaRPr lang="en-ZW" sz="1100"/>
          </a:p>
        </p:txBody>
      </p:sp>
      <p:sp>
        <p:nvSpPr>
          <p:cNvPr id="26" name="Text 24"/>
          <p:cNvSpPr/>
          <p:nvPr/>
        </p:nvSpPr>
        <p:spPr>
          <a:xfrm>
            <a:off x="4652010" y="1853946"/>
            <a:ext cx="3709035" cy="114300"/>
          </a:xfrm>
          <a:prstGeom prst="rect">
            <a:avLst/>
          </a:prstGeom>
          <a:noFill/>
          <a:ln/>
        </p:spPr>
        <p:txBody>
          <a:bodyPr wrap="square" rtlCol="0" anchor="ctr"/>
          <a:lstStyle/>
          <a:p>
            <a:pPr marL="0" indent="0">
              <a:buNone/>
            </a:pPr>
            <a:r>
              <a:rPr lang="en-US" sz="1100" b="1" kern="0" spc="50" dirty="0">
                <a:solidFill>
                  <a:srgbClr val="E63425"/>
                </a:solidFill>
                <a:latin typeface="Calibri" pitchFamily="34" charset="0"/>
                <a:ea typeface="Calibri" pitchFamily="34" charset="-122"/>
                <a:cs typeface="Calibri" pitchFamily="34" charset="-120"/>
              </a:rPr>
              <a:t>WHY IT MATTERS</a:t>
            </a:r>
            <a:endParaRPr lang="en-US" sz="1100" dirty="0"/>
          </a:p>
        </p:txBody>
      </p:sp>
      <p:sp>
        <p:nvSpPr>
          <p:cNvPr id="27" name="Text 25"/>
          <p:cNvSpPr/>
          <p:nvPr/>
        </p:nvSpPr>
        <p:spPr>
          <a:xfrm>
            <a:off x="4652010" y="2011109"/>
            <a:ext cx="3709035" cy="558356"/>
          </a:xfrm>
          <a:prstGeom prst="rect">
            <a:avLst/>
          </a:prstGeom>
          <a:noFill/>
          <a:ln/>
        </p:spPr>
        <p:txBody>
          <a:bodyPr wrap="square" rtlCol="0" anchor="t"/>
          <a:lstStyle/>
          <a:p>
            <a:pPr marL="0" indent="0">
              <a:buNone/>
            </a:pPr>
            <a:r>
              <a:rPr lang="en-US" sz="1100" i="1" dirty="0">
                <a:solidFill>
                  <a:srgbClr val="DCE3EA"/>
                </a:solidFill>
                <a:latin typeface="Calibri" pitchFamily="34" charset="0"/>
                <a:ea typeface="Calibri" pitchFamily="34" charset="-122"/>
                <a:cs typeface="Calibri" pitchFamily="34" charset="-120"/>
              </a:rPr>
              <a:t>Without a well-chosen denominator, any count of cases is meaningless as a guide to planning, resource allocation or evaluating interventions.</a:t>
            </a:r>
            <a:endParaRPr lang="en-US" sz="1100" dirty="0"/>
          </a:p>
        </p:txBody>
      </p:sp>
      <p:sp>
        <p:nvSpPr>
          <p:cNvPr id="28" name="Text 26"/>
          <p:cNvSpPr/>
          <p:nvPr/>
        </p:nvSpPr>
        <p:spPr>
          <a:xfrm>
            <a:off x="4652010" y="2640902"/>
            <a:ext cx="3709035" cy="558356"/>
          </a:xfrm>
          <a:prstGeom prst="rect">
            <a:avLst/>
          </a:prstGeom>
          <a:noFill/>
          <a:ln/>
        </p:spPr>
        <p:txBody>
          <a:bodyPr wrap="square" rtlCol="0" anchor="t"/>
          <a:lstStyle/>
          <a:p>
            <a:pPr marL="0" indent="0">
              <a:buNone/>
            </a:pPr>
            <a:r>
              <a:rPr lang="en-US" sz="1100" i="1" dirty="0">
                <a:solidFill>
                  <a:srgbClr val="DCE3EA"/>
                </a:solidFill>
                <a:latin typeface="Calibri" pitchFamily="34" charset="0"/>
                <a:ea typeface="Calibri" pitchFamily="34" charset="-122"/>
                <a:cs typeface="Calibri" pitchFamily="34" charset="-120"/>
              </a:rPr>
              <a:t>These concepts underpin every measure of effect you will calculate in Topic 4 (Rate Ratios, Risk Ratios, Odds Ratios).</a:t>
            </a:r>
            <a:endParaRPr lang="en-US" sz="1100" dirty="0"/>
          </a:p>
        </p:txBody>
      </p:sp>
      <p:pic>
        <p:nvPicPr>
          <p:cNvPr id="29" name="Picture 28">
            <a:extLst>
              <a:ext uri="{FF2B5EF4-FFF2-40B4-BE49-F238E27FC236}">
                <a16:creationId xmlns:a16="http://schemas.microsoft.com/office/drawing/2014/main" id="{36476B9B-D932-F5F0-9BD1-2DC28F475863}"/>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791FC7-8C16-C157-3BC6-D93364BB91D9}"/>
              </a:ext>
            </a:extLst>
          </p:cNvPr>
          <p:cNvPicPr>
            <a:picLocks noChangeAspect="1"/>
          </p:cNvPicPr>
          <p:nvPr/>
        </p:nvPicPr>
        <p:blipFill>
          <a:blip r:embed="rId2"/>
          <a:stretch>
            <a:fillRect/>
          </a:stretch>
        </p:blipFill>
        <p:spPr>
          <a:xfrm>
            <a:off x="7965371" y="133434"/>
            <a:ext cx="1085760" cy="590382"/>
          </a:xfrm>
          <a:prstGeom prst="rect">
            <a:avLst/>
          </a:prstGeom>
        </p:spPr>
      </p:pic>
      <p:sp>
        <p:nvSpPr>
          <p:cNvPr id="5" name="Text 4">
            <a:extLst>
              <a:ext uri="{FF2B5EF4-FFF2-40B4-BE49-F238E27FC236}">
                <a16:creationId xmlns:a16="http://schemas.microsoft.com/office/drawing/2014/main" id="{AC496189-DFAC-E107-A0DE-4A39D5EEA8E7}"/>
              </a:ext>
            </a:extLst>
          </p:cNvPr>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MODULE 1 · TOPIC 3 · FOUNDATIONS IN EPIDEMIOLOGY</a:t>
            </a:r>
            <a:endParaRPr lang="en-US" sz="1050" dirty="0"/>
          </a:p>
        </p:txBody>
      </p:sp>
      <p:sp>
        <p:nvSpPr>
          <p:cNvPr id="7" name="Text 5">
            <a:extLst>
              <a:ext uri="{FF2B5EF4-FFF2-40B4-BE49-F238E27FC236}">
                <a16:creationId xmlns:a16="http://schemas.microsoft.com/office/drawing/2014/main" id="{8E9B8174-AA0B-0072-463F-86EC27A19396}"/>
              </a:ext>
            </a:extLst>
          </p:cNvPr>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Measures of Disease Occurrence</a:t>
            </a:r>
            <a:endParaRPr lang="en-US" sz="2200" dirty="0"/>
          </a:p>
        </p:txBody>
      </p:sp>
      <p:pic>
        <p:nvPicPr>
          <p:cNvPr id="9" name="Picture 8">
            <a:extLst>
              <a:ext uri="{FF2B5EF4-FFF2-40B4-BE49-F238E27FC236}">
                <a16:creationId xmlns:a16="http://schemas.microsoft.com/office/drawing/2014/main" id="{6A916E54-FD5F-C91A-9828-C2C2AFF367A6}"/>
              </a:ext>
            </a:extLst>
          </p:cNvPr>
          <p:cNvPicPr>
            <a:picLocks noChangeAspect="1"/>
          </p:cNvPicPr>
          <p:nvPr/>
        </p:nvPicPr>
        <p:blipFill>
          <a:blip r:embed="rId3"/>
          <a:stretch>
            <a:fillRect/>
          </a:stretch>
        </p:blipFill>
        <p:spPr>
          <a:xfrm>
            <a:off x="494079" y="1224153"/>
            <a:ext cx="3934207" cy="2391550"/>
          </a:xfrm>
          <a:prstGeom prst="rect">
            <a:avLst/>
          </a:prstGeom>
        </p:spPr>
      </p:pic>
      <p:sp>
        <p:nvSpPr>
          <p:cNvPr id="11" name="Text 5">
            <a:extLst>
              <a:ext uri="{FF2B5EF4-FFF2-40B4-BE49-F238E27FC236}">
                <a16:creationId xmlns:a16="http://schemas.microsoft.com/office/drawing/2014/main" id="{6E6E8FBF-5AA1-9FFC-F9C3-BAAF196FE5EC}"/>
              </a:ext>
            </a:extLst>
          </p:cNvPr>
          <p:cNvSpPr/>
          <p:nvPr/>
        </p:nvSpPr>
        <p:spPr>
          <a:xfrm>
            <a:off x="494079" y="3981450"/>
            <a:ext cx="3934207" cy="395478"/>
          </a:xfrm>
          <a:prstGeom prst="rect">
            <a:avLst/>
          </a:prstGeom>
          <a:noFill/>
          <a:ln/>
        </p:spPr>
        <p:txBody>
          <a:bodyPr wrap="square" rtlCol="0" anchor="t"/>
          <a:lstStyle/>
          <a:p>
            <a:r>
              <a:rPr lang="en-US" sz="1200" dirty="0">
                <a:solidFill>
                  <a:srgbClr val="25374F"/>
                </a:solidFill>
                <a:ea typeface="Poppins" pitchFamily="34" charset="-122"/>
                <a:cs typeface="Poppins" pitchFamily="34" charset="-120"/>
              </a:rPr>
              <a:t>https://www.muhealth.org/our-stories/scary-reports-deaths-following-covid-19-vaccination-arent-what-they-seem</a:t>
            </a:r>
            <a:endParaRPr lang="en-US" sz="1200" dirty="0"/>
          </a:p>
        </p:txBody>
      </p:sp>
      <p:pic>
        <p:nvPicPr>
          <p:cNvPr id="13" name="Picture 12">
            <a:extLst>
              <a:ext uri="{FF2B5EF4-FFF2-40B4-BE49-F238E27FC236}">
                <a16:creationId xmlns:a16="http://schemas.microsoft.com/office/drawing/2014/main" id="{EF02CDBC-2A48-A2E7-1DB0-052CF86E1DC7}"/>
              </a:ext>
            </a:extLst>
          </p:cNvPr>
          <p:cNvPicPr>
            <a:picLocks noChangeAspect="1"/>
          </p:cNvPicPr>
          <p:nvPr/>
        </p:nvPicPr>
        <p:blipFill>
          <a:blip r:embed="rId4"/>
          <a:stretch>
            <a:fillRect/>
          </a:stretch>
        </p:blipFill>
        <p:spPr>
          <a:xfrm>
            <a:off x="4572000" y="1129614"/>
            <a:ext cx="4221635" cy="2145726"/>
          </a:xfrm>
          <a:prstGeom prst="rect">
            <a:avLst/>
          </a:prstGeom>
        </p:spPr>
      </p:pic>
      <p:sp>
        <p:nvSpPr>
          <p:cNvPr id="15" name="Text 5">
            <a:extLst>
              <a:ext uri="{FF2B5EF4-FFF2-40B4-BE49-F238E27FC236}">
                <a16:creationId xmlns:a16="http://schemas.microsoft.com/office/drawing/2014/main" id="{1DD1B30E-3337-A19A-5402-C7D11CA29185}"/>
              </a:ext>
            </a:extLst>
          </p:cNvPr>
          <p:cNvSpPr/>
          <p:nvPr/>
        </p:nvSpPr>
        <p:spPr>
          <a:xfrm>
            <a:off x="4580686" y="3879850"/>
            <a:ext cx="3934207" cy="395478"/>
          </a:xfrm>
          <a:prstGeom prst="rect">
            <a:avLst/>
          </a:prstGeom>
          <a:noFill/>
          <a:ln/>
        </p:spPr>
        <p:txBody>
          <a:bodyPr wrap="square" rtlCol="0" anchor="t"/>
          <a:lstStyle/>
          <a:p>
            <a:r>
              <a:rPr lang="en-US" sz="1200" dirty="0">
                <a:solidFill>
                  <a:srgbClr val="25374F"/>
                </a:solidFill>
                <a:ea typeface="Poppins" pitchFamily="34" charset="-122"/>
                <a:cs typeface="Poppins" pitchFamily="34" charset="-120"/>
              </a:rPr>
              <a:t>https://www.consumerreports.org/misinformation/government-data-misused-to-question-covid-19-vaccine-safety-a1167679946/</a:t>
            </a:r>
            <a:endParaRPr lang="en-US" sz="1200" dirty="0"/>
          </a:p>
        </p:txBody>
      </p:sp>
      <p:sp>
        <p:nvSpPr>
          <p:cNvPr id="17" name="Text 2">
            <a:extLst>
              <a:ext uri="{FF2B5EF4-FFF2-40B4-BE49-F238E27FC236}">
                <a16:creationId xmlns:a16="http://schemas.microsoft.com/office/drawing/2014/main" id="{F6053E41-B8C1-AB96-AFA2-44C3FEE4DF44}"/>
              </a:ext>
            </a:extLst>
          </p:cNvPr>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19" name="Text 3">
            <a:extLst>
              <a:ext uri="{FF2B5EF4-FFF2-40B4-BE49-F238E27FC236}">
                <a16:creationId xmlns:a16="http://schemas.microsoft.com/office/drawing/2014/main" id="{CC1855CC-4015-3646-B8BF-20ABAEABFF71}"/>
              </a:ext>
            </a:extLst>
          </p:cNvPr>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Tree>
    <p:extLst>
      <p:ext uri="{BB962C8B-B14F-4D97-AF65-F5344CB8AC3E}">
        <p14:creationId xmlns:p14="http://schemas.microsoft.com/office/powerpoint/2010/main" val="4286887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1 · FOUNDATIONS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Why Quantify? Raw Counts Are Not Enough</a:t>
            </a:r>
            <a:endParaRPr lang="en-US" sz="2200" dirty="0"/>
          </a:p>
        </p:txBody>
      </p:sp>
      <p:sp>
        <p:nvSpPr>
          <p:cNvPr id="8" name="Text 6"/>
          <p:cNvSpPr/>
          <p:nvPr/>
        </p:nvSpPr>
        <p:spPr>
          <a:xfrm>
            <a:off x="428625" y="1138428"/>
            <a:ext cx="3937635" cy="51977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506 deaths. Is that a lot or a little? Without a denominator, you cannot know. Measures of occurrence anchor a count to the population and time over which it was observed.</a:t>
            </a:r>
            <a:endParaRPr lang="en-US" sz="1100" dirty="0"/>
          </a:p>
        </p:txBody>
      </p:sp>
      <p:sp>
        <p:nvSpPr>
          <p:cNvPr id="9" name="Text 7"/>
          <p:cNvSpPr/>
          <p:nvPr/>
        </p:nvSpPr>
        <p:spPr>
          <a:xfrm>
            <a:off x="428625" y="1715357"/>
            <a:ext cx="3937635" cy="224028"/>
          </a:xfrm>
          <a:prstGeom prst="rect">
            <a:avLst/>
          </a:prstGeom>
          <a:noFill/>
          <a:ln/>
        </p:spPr>
        <p:txBody>
          <a:bodyPr wrap="square" rtlCol="0" anchor="t"/>
          <a:lstStyle/>
          <a:p>
            <a:pPr marL="0" indent="0">
              <a:buNone/>
            </a:pPr>
            <a:endParaRPr lang="en-US" sz="1100" b="1" dirty="0"/>
          </a:p>
        </p:txBody>
      </p:sp>
      <p:sp>
        <p:nvSpPr>
          <p:cNvPr id="10" name="Text 8"/>
          <p:cNvSpPr/>
          <p:nvPr/>
        </p:nvSpPr>
        <p:spPr>
          <a:xfrm>
            <a:off x="428625" y="1996535"/>
            <a:ext cx="3937635" cy="1046988"/>
          </a:xfrm>
          <a:prstGeom prst="rect">
            <a:avLst/>
          </a:prstGeom>
          <a:noFill/>
          <a:ln/>
        </p:spPr>
        <p:txBody>
          <a:bodyPr wrap="square" rtlCol="0" anchor="t"/>
          <a:lstStyle/>
          <a:p>
            <a:r>
              <a:rPr lang="en-US" sz="1100" dirty="0">
                <a:solidFill>
                  <a:srgbClr val="27313B"/>
                </a:solidFill>
                <a:latin typeface="Calibri" pitchFamily="34" charset="0"/>
                <a:ea typeface="Calibri" pitchFamily="34" charset="-122"/>
                <a:cs typeface="Calibri" pitchFamily="34" charset="-120"/>
              </a:rPr>
              <a:t>Point prevalence of metabolic syndrome among 901 treatment-naïve adults attending primary care clinics in Zambia &amp; Zimbabwe at enrolment (Chihota BV et al., J Int AIDS Soc, 2022). </a:t>
            </a:r>
          </a:p>
          <a:p>
            <a:r>
              <a:rPr lang="en-US" sz="1100" dirty="0">
                <a:solidFill>
                  <a:srgbClr val="27313B"/>
                </a:solidFill>
                <a:latin typeface="Calibri" pitchFamily="34" charset="0"/>
                <a:ea typeface="Calibri" pitchFamily="34" charset="-122"/>
                <a:cs typeface="Calibri" pitchFamily="34" charset="-120"/>
              </a:rPr>
              <a:t>Overall: </a:t>
            </a:r>
            <a:r>
              <a:rPr lang="en-US" sz="1100" b="1" dirty="0">
                <a:solidFill>
                  <a:srgbClr val="27313B"/>
                </a:solidFill>
                <a:latin typeface="Calibri" pitchFamily="34" charset="0"/>
                <a:ea typeface="Calibri" pitchFamily="34" charset="-122"/>
                <a:cs typeface="Calibri" pitchFamily="34" charset="-120"/>
              </a:rPr>
              <a:t>19%</a:t>
            </a:r>
            <a:endParaRPr lang="en-US" sz="1100" dirty="0">
              <a:solidFill>
                <a:srgbClr val="27313B"/>
              </a:solidFill>
              <a:latin typeface="Calibri" pitchFamily="34" charset="0"/>
              <a:ea typeface="Calibri" pitchFamily="34" charset="-122"/>
              <a:cs typeface="Calibri" pitchFamily="34" charset="-120"/>
            </a:endParaRPr>
          </a:p>
          <a:p>
            <a:r>
              <a:rPr lang="en-US" sz="1100" dirty="0">
                <a:solidFill>
                  <a:srgbClr val="27313B"/>
                </a:solidFill>
                <a:latin typeface="Calibri" pitchFamily="34" charset="0"/>
                <a:ea typeface="Calibri" pitchFamily="34" charset="-122"/>
                <a:cs typeface="Calibri" pitchFamily="34" charset="-120"/>
              </a:rPr>
              <a:t>Zimbabwe sites: </a:t>
            </a:r>
            <a:r>
              <a:rPr lang="en-US" sz="1100" b="1" dirty="0">
                <a:solidFill>
                  <a:srgbClr val="27313B"/>
                </a:solidFill>
                <a:latin typeface="Calibri" pitchFamily="34" charset="0"/>
                <a:ea typeface="Calibri" pitchFamily="34" charset="-122"/>
                <a:cs typeface="Calibri" pitchFamily="34" charset="-120"/>
              </a:rPr>
              <a:t>22%.</a:t>
            </a:r>
            <a:endParaRPr lang="en-US" sz="1100" b="1" dirty="0"/>
          </a:p>
        </p:txBody>
      </p:sp>
      <p:sp>
        <p:nvSpPr>
          <p:cNvPr id="12" name="Text 10"/>
          <p:cNvSpPr/>
          <p:nvPr/>
        </p:nvSpPr>
        <p:spPr>
          <a:xfrm>
            <a:off x="428625" y="3381851"/>
            <a:ext cx="3937635" cy="623221"/>
          </a:xfrm>
          <a:prstGeom prst="rect">
            <a:avLst/>
          </a:prstGeom>
          <a:noFill/>
          <a:ln/>
        </p:spPr>
        <p:txBody>
          <a:bodyPr wrap="square" rtlCol="0" anchor="t"/>
          <a:lstStyle/>
          <a:p>
            <a:r>
              <a:rPr lang="en-US" sz="1100" dirty="0">
                <a:solidFill>
                  <a:srgbClr val="27313B"/>
                </a:solidFill>
                <a:latin typeface="Calibri" pitchFamily="34" charset="0"/>
                <a:ea typeface="Calibri" pitchFamily="34" charset="-122"/>
                <a:cs typeface="Calibri" pitchFamily="34" charset="-120"/>
              </a:rPr>
              <a:t>All-cause mortality rate: </a:t>
            </a:r>
            <a:r>
              <a:rPr lang="en-US" sz="1100" b="1" dirty="0">
                <a:solidFill>
                  <a:srgbClr val="27313B"/>
                </a:solidFill>
                <a:latin typeface="Calibri" pitchFamily="34" charset="0"/>
                <a:ea typeface="Calibri" pitchFamily="34" charset="-122"/>
                <a:cs typeface="Calibri" pitchFamily="34" charset="-120"/>
              </a:rPr>
              <a:t>18.4</a:t>
            </a:r>
            <a:r>
              <a:rPr lang="en-US" sz="1100" dirty="0">
                <a:solidFill>
                  <a:srgbClr val="27313B"/>
                </a:solidFill>
                <a:latin typeface="Calibri" pitchFamily="34" charset="0"/>
                <a:ea typeface="Calibri" pitchFamily="34" charset="-122"/>
                <a:cs typeface="Calibri" pitchFamily="34" charset="-120"/>
              </a:rPr>
              <a:t> per 1,000 person-years in the Newlands Clinic HIV cohort: 506 deaths across 27,527 person-years (Chimbetete C et al., PLoS One, 2020).</a:t>
            </a:r>
          </a:p>
        </p:txBody>
      </p:sp>
      <p:sp>
        <p:nvSpPr>
          <p:cNvPr id="13" name="Shape 11"/>
          <p:cNvSpPr/>
          <p:nvPr/>
        </p:nvSpPr>
        <p:spPr>
          <a:xfrm>
            <a:off x="4537710" y="1138428"/>
            <a:ext cx="3937635" cy="2563320"/>
          </a:xfrm>
          <a:prstGeom prst="roundRect">
            <a:avLst>
              <a:gd name="adj" fmla="val 1784"/>
            </a:avLst>
          </a:prstGeom>
          <a:solidFill>
            <a:srgbClr val="25374F"/>
          </a:solidFill>
          <a:ln/>
          <a:effectLst>
            <a:outerShdw blurRad="76200" dist="25400" dir="2700000" algn="bl" rotWithShape="0">
              <a:srgbClr val="1B2A3D">
                <a:alpha val="8000"/>
              </a:srgbClr>
            </a:outerShdw>
          </a:effectLst>
        </p:spPr>
        <p:txBody>
          <a:bodyPr/>
          <a:lstStyle/>
          <a:p>
            <a:endParaRPr lang="en-ZW"/>
          </a:p>
        </p:txBody>
      </p:sp>
      <p:sp>
        <p:nvSpPr>
          <p:cNvPr id="14" name="Text 12"/>
          <p:cNvSpPr/>
          <p:nvPr/>
        </p:nvSpPr>
        <p:spPr>
          <a:xfrm>
            <a:off x="4666298" y="1252728"/>
            <a:ext cx="3680460" cy="16616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THREE ESSENTIAL ELEMENTS</a:t>
            </a:r>
            <a:endParaRPr lang="en-US" sz="1100" dirty="0"/>
          </a:p>
        </p:txBody>
      </p:sp>
      <p:sp>
        <p:nvSpPr>
          <p:cNvPr id="15" name="Text 13"/>
          <p:cNvSpPr/>
          <p:nvPr/>
        </p:nvSpPr>
        <p:spPr>
          <a:xfrm>
            <a:off x="4666298" y="1476042"/>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Case definition</a:t>
            </a:r>
            <a:endParaRPr lang="en-US" sz="1100" dirty="0"/>
          </a:p>
        </p:txBody>
      </p:sp>
      <p:sp>
        <p:nvSpPr>
          <p:cNvPr id="16" name="Text 14"/>
          <p:cNvSpPr/>
          <p:nvPr/>
        </p:nvSpPr>
        <p:spPr>
          <a:xfrm>
            <a:off x="4666298" y="1692926"/>
            <a:ext cx="3680460" cy="481203"/>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Standardised criteria separating cases from non-cases (e.g. IDF criteria for MetS). Change the threshold → change the numerator.</a:t>
            </a:r>
            <a:endParaRPr lang="en-US" sz="1100" dirty="0"/>
          </a:p>
        </p:txBody>
      </p:sp>
      <p:sp>
        <p:nvSpPr>
          <p:cNvPr id="17" name="Text 15"/>
          <p:cNvSpPr/>
          <p:nvPr/>
        </p:nvSpPr>
        <p:spPr>
          <a:xfrm>
            <a:off x="4666298" y="2231279"/>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Population boundary</a:t>
            </a:r>
            <a:endParaRPr lang="en-US" sz="1100" dirty="0"/>
          </a:p>
        </p:txBody>
      </p:sp>
      <p:sp>
        <p:nvSpPr>
          <p:cNvPr id="18" name="Text 16"/>
          <p:cNvSpPr/>
          <p:nvPr/>
        </p:nvSpPr>
        <p:spPr>
          <a:xfrm>
            <a:off x="4666298" y="2448163"/>
            <a:ext cx="3680460" cy="326898"/>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The denominator: the precisely bounded group from which cases come (not just “everyone”).</a:t>
            </a:r>
            <a:endParaRPr lang="en-US" sz="1100" dirty="0"/>
          </a:p>
        </p:txBody>
      </p:sp>
      <p:sp>
        <p:nvSpPr>
          <p:cNvPr id="19" name="Text 17"/>
          <p:cNvSpPr/>
          <p:nvPr/>
        </p:nvSpPr>
        <p:spPr>
          <a:xfrm>
            <a:off x="4666298" y="2832211"/>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Time reference</a:t>
            </a:r>
            <a:endParaRPr lang="en-US" sz="1100" dirty="0"/>
          </a:p>
        </p:txBody>
      </p:sp>
      <p:sp>
        <p:nvSpPr>
          <p:cNvPr id="20" name="Text 18"/>
          <p:cNvSpPr/>
          <p:nvPr/>
        </p:nvSpPr>
        <p:spPr>
          <a:xfrm>
            <a:off x="4666298" y="3049095"/>
            <a:ext cx="3680460" cy="481203"/>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A stated moment or period. Prevalence on a single day vs prevalence over an outbreak season are fundamentally different numbers.</a:t>
            </a:r>
            <a:endParaRPr lang="en-US" sz="1100" dirty="0"/>
          </a:p>
        </p:txBody>
      </p:sp>
      <p:pic>
        <p:nvPicPr>
          <p:cNvPr id="21" name="Picture 20">
            <a:extLst>
              <a:ext uri="{FF2B5EF4-FFF2-40B4-BE49-F238E27FC236}">
                <a16:creationId xmlns:a16="http://schemas.microsoft.com/office/drawing/2014/main" id="{C9A80E19-29E7-2FDE-1417-4BC04A139446}"/>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0053" y="4567086"/>
            <a:ext cx="4572000" cy="201168"/>
          </a:xfrm>
          <a:prstGeom prst="rect">
            <a:avLst/>
          </a:prstGeom>
          <a:noFill/>
          <a:ln/>
        </p:spPr>
        <p:txBody>
          <a:bodyPr wrap="square" rtlCol="0" anchor="ctr"/>
          <a:lstStyle/>
          <a:p>
            <a:pPr marL="0" indent="0">
              <a:buNone/>
            </a:pPr>
            <a:r>
              <a:rPr lang="en-US" sz="1100" b="1" dirty="0">
                <a:solidFill>
                  <a:srgbClr val="E63425"/>
                </a:solidFill>
                <a:latin typeface="Calibri" pitchFamily="34" charset="0"/>
                <a:ea typeface="Calibri" pitchFamily="34" charset="-122"/>
                <a:cs typeface="Calibri" pitchFamily="34" charset="-120"/>
              </a:rPr>
              <a:t>Research Masterclass for Clinicians</a:t>
            </a:r>
            <a:endParaRPr lang="en-US" sz="1100" dirty="0"/>
          </a:p>
        </p:txBody>
      </p:sp>
      <p:sp>
        <p:nvSpPr>
          <p:cNvPr id="5" name="Text 3"/>
          <p:cNvSpPr/>
          <p:nvPr/>
        </p:nvSpPr>
        <p:spPr>
          <a:xfrm>
            <a:off x="420053" y="4731678"/>
            <a:ext cx="4572000" cy="182880"/>
          </a:xfrm>
          <a:prstGeom prst="rect">
            <a:avLst/>
          </a:prstGeom>
          <a:noFill/>
          <a:ln/>
        </p:spPr>
        <p:txBody>
          <a:bodyPr wrap="square" rtlCol="0" anchor="ctr"/>
          <a:lstStyle/>
          <a:p>
            <a:pPr marL="0" indent="0">
              <a:buNone/>
            </a:pPr>
            <a:r>
              <a:rPr lang="en-US" sz="1100" dirty="0">
                <a:solidFill>
                  <a:srgbClr val="5B6B7C"/>
                </a:solidFill>
                <a:latin typeface="Calibri" pitchFamily="34" charset="0"/>
                <a:ea typeface="Calibri" pitchFamily="34" charset="-122"/>
                <a:cs typeface="Calibri" pitchFamily="34" charset="-120"/>
              </a:rPr>
              <a:t>www.newlandsclinic.org.zw</a:t>
            </a:r>
            <a:endParaRPr lang="en-US" sz="11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1 · FOUNDATIONS</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Ratios, Proportions &amp; Rates: Getting the Terms Right</a:t>
            </a:r>
            <a:endParaRPr lang="en-US" sz="2200" dirty="0"/>
          </a:p>
        </p:txBody>
      </p:sp>
      <p:sp>
        <p:nvSpPr>
          <p:cNvPr id="8" name="Text 6"/>
          <p:cNvSpPr/>
          <p:nvPr/>
        </p:nvSpPr>
        <p:spPr>
          <a:xfrm>
            <a:off x="420053" y="1093795"/>
            <a:ext cx="8046720"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“Rate” is often used loosely in clinical conversation for any frequency measure. Epidemiology uses the term precisely.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985766079"/>
              </p:ext>
            </p:extLst>
          </p:nvPr>
        </p:nvGraphicFramePr>
        <p:xfrm>
          <a:off x="420053" y="1433325"/>
          <a:ext cx="8046720" cy="1024128"/>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5603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Structure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Time in denominator?</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Bounded?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Ratio</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X / Y (X not part of 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Unbounded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Proportion</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X / (X + Y) = X / total</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No (usually)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0 – 1</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True rate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Events / person-time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Yes — always</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Unbounded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Shape 7"/>
          <p:cNvSpPr/>
          <p:nvPr/>
        </p:nvSpPr>
        <p:spPr>
          <a:xfrm>
            <a:off x="428625" y="2575776"/>
            <a:ext cx="8046720" cy="855250"/>
          </a:xfrm>
          <a:prstGeom prst="roundRect">
            <a:avLst>
              <a:gd name="adj" fmla="val 5346"/>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1" name="Text 8"/>
          <p:cNvSpPr/>
          <p:nvPr/>
        </p:nvSpPr>
        <p:spPr>
          <a:xfrm>
            <a:off x="557213" y="2690076"/>
            <a:ext cx="7789545"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KEY IMPLICATION</a:t>
            </a:r>
            <a:endParaRPr lang="en-US" sz="1100" dirty="0"/>
          </a:p>
        </p:txBody>
      </p:sp>
      <p:sp>
        <p:nvSpPr>
          <p:cNvPr id="12" name="Text 9"/>
          <p:cNvSpPr/>
          <p:nvPr/>
        </p:nvSpPr>
        <p:spPr>
          <a:xfrm>
            <a:off x="557213" y="2906960"/>
            <a:ext cx="7789545" cy="352616"/>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Prevalence and cumulative incidence (incidence risk) are proportions, bounded 0–1. Incidence rate is a true rate, unbounded, because it uses person-time. Calling 19% a “prevalence rate” is common but mathematically imprecise.</a:t>
            </a:r>
            <a:endParaRPr lang="en-US" sz="1100" dirty="0"/>
          </a:p>
        </p:txBody>
      </p:sp>
      <p:sp>
        <p:nvSpPr>
          <p:cNvPr id="14" name="Shape 14"/>
          <p:cNvSpPr/>
          <p:nvPr/>
        </p:nvSpPr>
        <p:spPr>
          <a:xfrm>
            <a:off x="428625" y="3531026"/>
            <a:ext cx="2590800" cy="850000"/>
          </a:xfrm>
          <a:prstGeom prst="roundRect">
            <a:avLst>
              <a:gd name="adj" fmla="val 6000"/>
            </a:avLst>
          </a:prstGeom>
          <a:solidFill>
            <a:srgbClr val="F4F5F7"/>
          </a:solidFill>
          <a:ln/>
        </p:spPr>
        <p:txBody>
          <a:bodyPr/>
          <a:lstStyle/>
          <a:p>
            <a:endParaRPr lang="en-ZW" sz="1100"/>
          </a:p>
        </p:txBody>
      </p:sp>
      <p:sp>
        <p:nvSpPr>
          <p:cNvPr id="15" name="Shape 15"/>
          <p:cNvSpPr/>
          <p:nvPr/>
        </p:nvSpPr>
        <p:spPr>
          <a:xfrm>
            <a:off x="520065" y="3622466"/>
            <a:ext cx="78581" cy="78581"/>
          </a:xfrm>
          <a:prstGeom prst="ellipse">
            <a:avLst/>
          </a:prstGeom>
          <a:solidFill>
            <a:srgbClr val="2E8B9B"/>
          </a:solidFill>
          <a:ln/>
        </p:spPr>
        <p:txBody>
          <a:bodyPr/>
          <a:lstStyle/>
          <a:p>
            <a:endParaRPr lang="en-ZW" sz="1100"/>
          </a:p>
        </p:txBody>
      </p:sp>
      <p:sp>
        <p:nvSpPr>
          <p:cNvPr id="16" name="Text 16"/>
          <p:cNvSpPr/>
          <p:nvPr/>
        </p:nvSpPr>
        <p:spPr>
          <a:xfrm>
            <a:off x="690086" y="3627026"/>
            <a:ext cx="2237899" cy="200000"/>
          </a:xfrm>
          <a:prstGeom prst="rect">
            <a:avLst/>
          </a:prstGeom>
          <a:noFill/>
          <a:ln/>
        </p:spPr>
        <p:txBody>
          <a:bodyPr wrap="square" rtlCol="0" anchor="t"/>
          <a:lstStyle/>
          <a:p>
            <a:pPr marL="0" indent="0">
              <a:buNone/>
            </a:pPr>
            <a:r>
              <a:rPr lang="en-US" sz="850" b="1" kern="0" spc="50" dirty="0">
                <a:solidFill>
                  <a:srgbClr val="25374F"/>
                </a:solidFill>
                <a:latin typeface="Calibri" pitchFamily="34" charset="0"/>
                <a:ea typeface="Calibri" pitchFamily="34" charset="-122"/>
                <a:cs typeface="Calibri" pitchFamily="34" charset="-120"/>
              </a:rPr>
              <a:t>EXAMPLE RATIO</a:t>
            </a:r>
            <a:endParaRPr lang="en-US" sz="850" dirty="0"/>
          </a:p>
        </p:txBody>
      </p:sp>
      <p:sp>
        <p:nvSpPr>
          <p:cNvPr id="17" name="Text 17"/>
          <p:cNvSpPr/>
          <p:nvPr/>
        </p:nvSpPr>
        <p:spPr>
          <a:xfrm>
            <a:off x="520065" y="3761047"/>
            <a:ext cx="2407920" cy="539979"/>
          </a:xfrm>
          <a:prstGeom prst="rect">
            <a:avLst/>
          </a:prstGeom>
          <a:noFill/>
          <a:ln/>
        </p:spPr>
        <p:txBody>
          <a:bodyPr wrap="square" rtlCol="0" anchor="t"/>
          <a:lstStyle/>
          <a:p>
            <a:pPr marL="0" indent="0">
              <a:buNone/>
            </a:pPr>
            <a:r>
              <a:rPr lang="en-US" sz="950" dirty="0">
                <a:solidFill>
                  <a:srgbClr val="5B6B7C"/>
                </a:solidFill>
                <a:latin typeface="Calibri" pitchFamily="34" charset="0"/>
                <a:ea typeface="Calibri" pitchFamily="34" charset="-122"/>
                <a:cs typeface="Calibri" pitchFamily="34" charset="-120"/>
              </a:rPr>
              <a:t>Male : female = 378:523 at Chihota et al. sites</a:t>
            </a:r>
          </a:p>
          <a:p>
            <a:r>
              <a:rPr lang="en-US" sz="1000" dirty="0"/>
              <a:t>≈ </a:t>
            </a:r>
            <a:r>
              <a:rPr lang="en-US" sz="950" dirty="0">
                <a:solidFill>
                  <a:srgbClr val="5B6B7C"/>
                </a:solidFill>
                <a:latin typeface="Calibri" pitchFamily="34" charset="0"/>
                <a:ea typeface="Calibri" pitchFamily="34" charset="-122"/>
                <a:cs typeface="Calibri" pitchFamily="34" charset="-120"/>
              </a:rPr>
              <a:t>72:100 or 3:4</a:t>
            </a:r>
          </a:p>
        </p:txBody>
      </p:sp>
      <p:sp>
        <p:nvSpPr>
          <p:cNvPr id="18" name="Shape 18"/>
          <p:cNvSpPr/>
          <p:nvPr/>
        </p:nvSpPr>
        <p:spPr>
          <a:xfrm>
            <a:off x="3156585" y="3531026"/>
            <a:ext cx="2590800" cy="850000"/>
          </a:xfrm>
          <a:prstGeom prst="roundRect">
            <a:avLst>
              <a:gd name="adj" fmla="val 6000"/>
            </a:avLst>
          </a:prstGeom>
          <a:solidFill>
            <a:srgbClr val="F4F5F7"/>
          </a:solidFill>
          <a:ln/>
        </p:spPr>
        <p:txBody>
          <a:bodyPr/>
          <a:lstStyle/>
          <a:p>
            <a:endParaRPr lang="en-ZW" sz="1100"/>
          </a:p>
        </p:txBody>
      </p:sp>
      <p:sp>
        <p:nvSpPr>
          <p:cNvPr id="19" name="Shape 19"/>
          <p:cNvSpPr/>
          <p:nvPr/>
        </p:nvSpPr>
        <p:spPr>
          <a:xfrm>
            <a:off x="3248025" y="3622466"/>
            <a:ext cx="78581" cy="78581"/>
          </a:xfrm>
          <a:prstGeom prst="ellipse">
            <a:avLst/>
          </a:prstGeom>
          <a:solidFill>
            <a:srgbClr val="E63425"/>
          </a:solidFill>
          <a:ln/>
        </p:spPr>
        <p:txBody>
          <a:bodyPr/>
          <a:lstStyle/>
          <a:p>
            <a:endParaRPr lang="en-ZW" sz="1100"/>
          </a:p>
        </p:txBody>
      </p:sp>
      <p:sp>
        <p:nvSpPr>
          <p:cNvPr id="20" name="Text 20"/>
          <p:cNvSpPr/>
          <p:nvPr/>
        </p:nvSpPr>
        <p:spPr>
          <a:xfrm>
            <a:off x="3418046" y="3627026"/>
            <a:ext cx="2237899" cy="200000"/>
          </a:xfrm>
          <a:prstGeom prst="rect">
            <a:avLst/>
          </a:prstGeom>
          <a:noFill/>
          <a:ln/>
        </p:spPr>
        <p:txBody>
          <a:bodyPr wrap="square" rtlCol="0" anchor="t"/>
          <a:lstStyle/>
          <a:p>
            <a:pPr marL="0" indent="0">
              <a:buNone/>
            </a:pPr>
            <a:r>
              <a:rPr lang="en-US" sz="850" b="1" kern="0" spc="50" dirty="0">
                <a:solidFill>
                  <a:srgbClr val="25374F"/>
                </a:solidFill>
                <a:latin typeface="Calibri" pitchFamily="34" charset="0"/>
                <a:ea typeface="Calibri" pitchFamily="34" charset="-122"/>
                <a:cs typeface="Calibri" pitchFamily="34" charset="-120"/>
              </a:rPr>
              <a:t>EXAMPLE PROPORTION</a:t>
            </a:r>
            <a:endParaRPr lang="en-US" sz="850" dirty="0"/>
          </a:p>
        </p:txBody>
      </p:sp>
      <p:sp>
        <p:nvSpPr>
          <p:cNvPr id="21" name="Text 21"/>
          <p:cNvSpPr/>
          <p:nvPr/>
        </p:nvSpPr>
        <p:spPr>
          <a:xfrm>
            <a:off x="3248025" y="3761047"/>
            <a:ext cx="2407920" cy="539979"/>
          </a:xfrm>
          <a:prstGeom prst="rect">
            <a:avLst/>
          </a:prstGeom>
          <a:noFill/>
          <a:ln/>
        </p:spPr>
        <p:txBody>
          <a:bodyPr wrap="square" rtlCol="0" anchor="t"/>
          <a:lstStyle/>
          <a:p>
            <a:pPr marL="0" indent="0">
              <a:buNone/>
            </a:pPr>
            <a:r>
              <a:rPr lang="en-US" sz="950" dirty="0">
                <a:solidFill>
                  <a:srgbClr val="5B6B7C"/>
                </a:solidFill>
                <a:latin typeface="Calibri" pitchFamily="34" charset="0"/>
                <a:ea typeface="Calibri" pitchFamily="34" charset="-122"/>
                <a:cs typeface="Calibri" pitchFamily="34" charset="-120"/>
              </a:rPr>
              <a:t>MetS prevalence = 172/901 = 19.1%</a:t>
            </a:r>
            <a:endParaRPr lang="en-US" sz="950" dirty="0"/>
          </a:p>
        </p:txBody>
      </p:sp>
      <p:sp>
        <p:nvSpPr>
          <p:cNvPr id="22" name="Shape 22"/>
          <p:cNvSpPr/>
          <p:nvPr/>
        </p:nvSpPr>
        <p:spPr>
          <a:xfrm>
            <a:off x="5884545" y="3531026"/>
            <a:ext cx="2590800" cy="850000"/>
          </a:xfrm>
          <a:prstGeom prst="roundRect">
            <a:avLst>
              <a:gd name="adj" fmla="val 6000"/>
            </a:avLst>
          </a:prstGeom>
          <a:solidFill>
            <a:srgbClr val="F4F5F7"/>
          </a:solidFill>
          <a:ln/>
        </p:spPr>
        <p:txBody>
          <a:bodyPr/>
          <a:lstStyle/>
          <a:p>
            <a:endParaRPr lang="en-ZW" sz="1100"/>
          </a:p>
        </p:txBody>
      </p:sp>
      <p:sp>
        <p:nvSpPr>
          <p:cNvPr id="23" name="Shape 23"/>
          <p:cNvSpPr/>
          <p:nvPr/>
        </p:nvSpPr>
        <p:spPr>
          <a:xfrm>
            <a:off x="5975985" y="3622466"/>
            <a:ext cx="78581" cy="78581"/>
          </a:xfrm>
          <a:prstGeom prst="ellipse">
            <a:avLst/>
          </a:prstGeom>
          <a:solidFill>
            <a:srgbClr val="F2A93B"/>
          </a:solidFill>
          <a:ln/>
        </p:spPr>
        <p:txBody>
          <a:bodyPr/>
          <a:lstStyle/>
          <a:p>
            <a:endParaRPr lang="en-ZW" sz="1100"/>
          </a:p>
        </p:txBody>
      </p:sp>
      <p:sp>
        <p:nvSpPr>
          <p:cNvPr id="24" name="Text 24"/>
          <p:cNvSpPr/>
          <p:nvPr/>
        </p:nvSpPr>
        <p:spPr>
          <a:xfrm>
            <a:off x="6146006" y="3627026"/>
            <a:ext cx="2237899" cy="200000"/>
          </a:xfrm>
          <a:prstGeom prst="rect">
            <a:avLst/>
          </a:prstGeom>
          <a:noFill/>
          <a:ln/>
        </p:spPr>
        <p:txBody>
          <a:bodyPr wrap="square" rtlCol="0" anchor="t"/>
          <a:lstStyle/>
          <a:p>
            <a:pPr marL="0" indent="0">
              <a:buNone/>
            </a:pPr>
            <a:r>
              <a:rPr lang="en-US" sz="850" b="1" kern="0" spc="50" dirty="0">
                <a:solidFill>
                  <a:srgbClr val="25374F"/>
                </a:solidFill>
                <a:latin typeface="Calibri" pitchFamily="34" charset="0"/>
                <a:ea typeface="Calibri" pitchFamily="34" charset="-122"/>
                <a:cs typeface="Calibri" pitchFamily="34" charset="-120"/>
              </a:rPr>
              <a:t>EXAMPLE TRUE RATE</a:t>
            </a:r>
            <a:endParaRPr lang="en-US" sz="850" dirty="0"/>
          </a:p>
        </p:txBody>
      </p:sp>
      <p:sp>
        <p:nvSpPr>
          <p:cNvPr id="25" name="Text 25"/>
          <p:cNvSpPr/>
          <p:nvPr/>
        </p:nvSpPr>
        <p:spPr>
          <a:xfrm>
            <a:off x="5975985" y="3761047"/>
            <a:ext cx="2407920" cy="539979"/>
          </a:xfrm>
          <a:prstGeom prst="rect">
            <a:avLst/>
          </a:prstGeom>
          <a:noFill/>
          <a:ln/>
        </p:spPr>
        <p:txBody>
          <a:bodyPr wrap="square" rtlCol="0" anchor="t"/>
          <a:lstStyle/>
          <a:p>
            <a:pPr marL="0" indent="0">
              <a:buNone/>
            </a:pPr>
            <a:r>
              <a:rPr lang="en-US" sz="950" dirty="0">
                <a:solidFill>
                  <a:srgbClr val="5B6B7C"/>
                </a:solidFill>
                <a:latin typeface="Calibri" pitchFamily="34" charset="0"/>
                <a:ea typeface="Calibri" pitchFamily="34" charset="-122"/>
                <a:cs typeface="Calibri" pitchFamily="34" charset="-120"/>
              </a:rPr>
              <a:t>Mortality = 506/27,527 PY = 18.4 per 1,000 PY</a:t>
            </a:r>
            <a:endParaRPr lang="en-US" sz="950" dirty="0"/>
          </a:p>
        </p:txBody>
      </p:sp>
      <p:pic>
        <p:nvPicPr>
          <p:cNvPr id="2" name="Picture 24">
            <a:extLst>
              <a:ext uri="{FF2B5EF4-FFF2-40B4-BE49-F238E27FC236}">
                <a16:creationId xmlns:a16="http://schemas.microsoft.com/office/drawing/2014/main" id="{4AEAA18C-5591-17A0-92B2-AC8505FDCF69}"/>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2 · PREVALENCE</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Prevalence: Counting Existing Cases</a:t>
            </a:r>
            <a:endParaRPr lang="en-US" sz="2200" dirty="0"/>
          </a:p>
        </p:txBody>
      </p:sp>
      <p:sp>
        <p:nvSpPr>
          <p:cNvPr id="8" name="Text 6"/>
          <p:cNvSpPr/>
          <p:nvPr/>
        </p:nvSpPr>
        <p:spPr>
          <a:xfrm>
            <a:off x="428625" y="1138428"/>
            <a:ext cx="3937635" cy="22402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Point Prevalence</a:t>
            </a:r>
            <a:endParaRPr lang="en-US" sz="1100" b="1" dirty="0"/>
          </a:p>
        </p:txBody>
      </p:sp>
      <p:sp>
        <p:nvSpPr>
          <p:cNvPr id="9" name="Text 7"/>
          <p:cNvSpPr/>
          <p:nvPr/>
        </p:nvSpPr>
        <p:spPr>
          <a:xfrm>
            <a:off x="428625" y="1419606"/>
            <a:ext cx="3937635"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The proportion of a defined population with a condition at a single exact moment.</a:t>
            </a:r>
            <a:endParaRPr lang="en-US" sz="1100" dirty="0"/>
          </a:p>
        </p:txBody>
      </p:sp>
      <p:sp>
        <p:nvSpPr>
          <p:cNvPr id="10" name="Text 8"/>
          <p:cNvSpPr/>
          <p:nvPr/>
        </p:nvSpPr>
        <p:spPr>
          <a:xfrm>
            <a:off x="428625" y="1906524"/>
            <a:ext cx="3937635" cy="166164"/>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Point prev</a:t>
            </a:r>
            <a:r>
              <a:rPr lang="en-US" sz="1100" dirty="0">
                <a:solidFill>
                  <a:srgbClr val="27313B"/>
                </a:solidFill>
                <a:latin typeface="Calibri" pitchFamily="34" charset="0"/>
                <a:ea typeface="Calibri" pitchFamily="34" charset="-122"/>
                <a:cs typeface="Calibri" pitchFamily="34" charset="-120"/>
              </a:rPr>
              <a:t>. = Existing cases at T ÷ Total pop. at T</a:t>
            </a:r>
            <a:endParaRPr lang="en-US" sz="1100" dirty="0"/>
          </a:p>
        </p:txBody>
      </p:sp>
      <p:sp>
        <p:nvSpPr>
          <p:cNvPr id="11" name="Text 9"/>
          <p:cNvSpPr/>
          <p:nvPr/>
        </p:nvSpPr>
        <p:spPr>
          <a:xfrm>
            <a:off x="428625" y="2463663"/>
            <a:ext cx="3937635" cy="22402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Period Prevalence</a:t>
            </a:r>
            <a:endParaRPr lang="en-US" sz="1100" b="1" dirty="0"/>
          </a:p>
        </p:txBody>
      </p:sp>
      <p:sp>
        <p:nvSpPr>
          <p:cNvPr id="12" name="Text 10"/>
          <p:cNvSpPr/>
          <p:nvPr/>
        </p:nvSpPr>
        <p:spPr>
          <a:xfrm>
            <a:off x="428625" y="2744841"/>
            <a:ext cx="3937635" cy="63550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The proportion with the condition at any point during a defined window. </a:t>
            </a:r>
            <a:r>
              <a:rPr lang="en-US" sz="1100" b="1" dirty="0">
                <a:solidFill>
                  <a:srgbClr val="27313B"/>
                </a:solidFill>
                <a:latin typeface="Calibri" pitchFamily="34" charset="0"/>
                <a:ea typeface="Calibri" pitchFamily="34" charset="-122"/>
                <a:cs typeface="Calibri" pitchFamily="34" charset="-120"/>
              </a:rPr>
              <a:t>Numerator</a:t>
            </a:r>
            <a:r>
              <a:rPr lang="en-US" sz="1100" dirty="0">
                <a:solidFill>
                  <a:srgbClr val="27313B"/>
                </a:solidFill>
                <a:latin typeface="Calibri" pitchFamily="34" charset="0"/>
                <a:ea typeface="Calibri" pitchFamily="34" charset="-122"/>
                <a:cs typeface="Calibri" pitchFamily="34" charset="-120"/>
              </a:rPr>
              <a:t> = baseline cases + new cases in window.</a:t>
            </a:r>
            <a:endParaRPr lang="en-US" sz="1100" dirty="0"/>
          </a:p>
        </p:txBody>
      </p:sp>
      <p:sp>
        <p:nvSpPr>
          <p:cNvPr id="13" name="Text 11"/>
          <p:cNvSpPr/>
          <p:nvPr/>
        </p:nvSpPr>
        <p:spPr>
          <a:xfrm>
            <a:off x="428625" y="3437499"/>
            <a:ext cx="3937635" cy="166164"/>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Period prev. = (Start cases + New cases) ÷ Start pop.</a:t>
            </a:r>
            <a:endParaRPr lang="en-US" sz="1100" b="1" dirty="0"/>
          </a:p>
        </p:txBody>
      </p:sp>
      <p:sp>
        <p:nvSpPr>
          <p:cNvPr id="14" name="Text 12"/>
          <p:cNvSpPr/>
          <p:nvPr/>
        </p:nvSpPr>
        <p:spPr>
          <a:xfrm>
            <a:off x="428625" y="3660812"/>
            <a:ext cx="3937635" cy="481203"/>
          </a:xfrm>
          <a:prstGeom prst="rect">
            <a:avLst/>
          </a:prstGeom>
          <a:noFill/>
          <a:ln/>
        </p:spPr>
        <p:txBody>
          <a:bodyPr wrap="square" rtlCol="0" anchor="t"/>
          <a:lstStyle/>
          <a:p>
            <a:pPr marL="0" indent="0">
              <a:buNone/>
            </a:pPr>
            <a:r>
              <a:rPr lang="en-US" sz="1100" dirty="0">
                <a:solidFill>
                  <a:srgbClr val="5B6B7C"/>
                </a:solidFill>
                <a:latin typeface="Calibri" pitchFamily="34" charset="0"/>
                <a:ea typeface="Calibri" pitchFamily="34" charset="-122"/>
                <a:cs typeface="Calibri" pitchFamily="34" charset="-120"/>
              </a:rPr>
              <a:t>Key: Prevalence is a proportion (bounded 0–1), not a true rate. It is a cross-sectional snapshot — a photograph of the pool, not a measurement of the tap flowing in.</a:t>
            </a:r>
            <a:endParaRPr lang="en-US" sz="1100" dirty="0"/>
          </a:p>
        </p:txBody>
      </p:sp>
      <p:sp>
        <p:nvSpPr>
          <p:cNvPr id="15" name="Shape 13"/>
          <p:cNvSpPr/>
          <p:nvPr/>
        </p:nvSpPr>
        <p:spPr>
          <a:xfrm>
            <a:off x="4537710" y="1138428"/>
            <a:ext cx="3937635" cy="1647349"/>
          </a:xfrm>
          <a:prstGeom prst="roundRect">
            <a:avLst>
              <a:gd name="adj" fmla="val 2775"/>
            </a:avLst>
          </a:prstGeom>
          <a:solidFill>
            <a:srgbClr val="F4F5F7"/>
          </a:solidFill>
          <a:ln/>
          <a:effectLst>
            <a:outerShdw blurRad="76200" dist="25400" dir="2700000" algn="bl" rotWithShape="0">
              <a:srgbClr val="1B2A3D">
                <a:alpha val="8000"/>
              </a:srgbClr>
            </a:outerShdw>
          </a:effectLst>
        </p:spPr>
        <p:txBody>
          <a:bodyPr/>
          <a:lstStyle/>
          <a:p>
            <a:endParaRPr lang="en-ZW"/>
          </a:p>
        </p:txBody>
      </p:sp>
      <p:sp>
        <p:nvSpPr>
          <p:cNvPr id="16" name="Text 14"/>
          <p:cNvSpPr/>
          <p:nvPr/>
        </p:nvSpPr>
        <p:spPr>
          <a:xfrm>
            <a:off x="4666298" y="1252728"/>
            <a:ext cx="3680460" cy="172593"/>
          </a:xfrm>
          <a:prstGeom prst="rect">
            <a:avLst/>
          </a:prstGeom>
          <a:noFill/>
          <a:ln/>
        </p:spPr>
        <p:txBody>
          <a:bodyPr wrap="square" rtlCol="0" anchor="t"/>
          <a:lstStyle/>
          <a:p>
            <a:pPr marL="0" indent="0">
              <a:buNone/>
            </a:pPr>
            <a:r>
              <a:rPr lang="en-US" sz="1100" b="1" dirty="0">
                <a:solidFill>
                  <a:srgbClr val="25374F"/>
                </a:solidFill>
                <a:latin typeface="Calibri" pitchFamily="34" charset="0"/>
                <a:ea typeface="Calibri" pitchFamily="34" charset="-122"/>
                <a:cs typeface="Calibri" pitchFamily="34" charset="-120"/>
              </a:rPr>
              <a:t>WHEN TO USE PREVALENCE</a:t>
            </a:r>
            <a:endParaRPr lang="en-US" sz="1100" dirty="0"/>
          </a:p>
        </p:txBody>
      </p:sp>
      <p:sp>
        <p:nvSpPr>
          <p:cNvPr id="17" name="Text 15"/>
          <p:cNvSpPr/>
          <p:nvPr/>
        </p:nvSpPr>
        <p:spPr>
          <a:xfrm>
            <a:off x="4666298" y="1482471"/>
            <a:ext cx="3680460" cy="31403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Estimating health-service needs (how many patients need drug X today?)</a:t>
            </a:r>
            <a:endParaRPr lang="en-US" sz="1100" dirty="0"/>
          </a:p>
        </p:txBody>
      </p:sp>
      <p:sp>
        <p:nvSpPr>
          <p:cNvPr id="18" name="Text 16"/>
          <p:cNvSpPr/>
          <p:nvPr/>
        </p:nvSpPr>
        <p:spPr>
          <a:xfrm>
            <a:off x="4666298" y="1853660"/>
            <a:ext cx="3680460" cy="16616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National burden profiling (ZIMPHIA HIV prevalence surveys)</a:t>
            </a:r>
            <a:endParaRPr lang="en-US" sz="1100" dirty="0"/>
          </a:p>
        </p:txBody>
      </p:sp>
      <p:sp>
        <p:nvSpPr>
          <p:cNvPr id="19" name="Text 17"/>
          <p:cNvSpPr/>
          <p:nvPr/>
        </p:nvSpPr>
        <p:spPr>
          <a:xfrm>
            <a:off x="4666298" y="2076974"/>
            <a:ext cx="3680460" cy="31403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Outbreak situation reports (cholera period prevalence / attack rate)</a:t>
            </a:r>
            <a:endParaRPr lang="en-US" sz="1100" dirty="0"/>
          </a:p>
        </p:txBody>
      </p:sp>
      <p:sp>
        <p:nvSpPr>
          <p:cNvPr id="20" name="Text 18"/>
          <p:cNvSpPr/>
          <p:nvPr/>
        </p:nvSpPr>
        <p:spPr>
          <a:xfrm>
            <a:off x="4666298" y="2448163"/>
            <a:ext cx="3680460" cy="16616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Identifying priorities for screening programme design</a:t>
            </a:r>
            <a:endParaRPr lang="en-US" sz="1100" dirty="0"/>
          </a:p>
        </p:txBody>
      </p:sp>
      <p:pic>
        <p:nvPicPr>
          <p:cNvPr id="21" name="Picture 20">
            <a:extLst>
              <a:ext uri="{FF2B5EF4-FFF2-40B4-BE49-F238E27FC236}">
                <a16:creationId xmlns:a16="http://schemas.microsoft.com/office/drawing/2014/main" id="{DD8F5BE4-81F5-9396-C0F6-AE02878AEA5B}"/>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2 · PREVALENCE — REGIONAL EVIDENCE</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Point Prevalence: Metabolic Syndrome in Southern Africa</a:t>
            </a:r>
            <a:endParaRPr lang="en-US" sz="2200" dirty="0"/>
          </a:p>
        </p:txBody>
      </p:sp>
      <p:sp>
        <p:nvSpPr>
          <p:cNvPr id="8" name="Text 6"/>
          <p:cNvSpPr/>
          <p:nvPr/>
        </p:nvSpPr>
        <p:spPr>
          <a:xfrm>
            <a:off x="428625" y="1515618"/>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Chihota BV et al. J Int AIDS Soc. 2022;25(12):e26047 — IeDEA Southern Africa</a:t>
            </a:r>
            <a:endParaRPr lang="en-US" sz="1100" dirty="0"/>
          </a:p>
        </p:txBody>
      </p:sp>
      <p:sp>
        <p:nvSpPr>
          <p:cNvPr id="9" name="Shape 7"/>
          <p:cNvSpPr/>
          <p:nvPr/>
        </p:nvSpPr>
        <p:spPr>
          <a:xfrm>
            <a:off x="428625" y="1796796"/>
            <a:ext cx="3937635" cy="2009108"/>
          </a:xfrm>
          <a:prstGeom prst="roundRect">
            <a:avLst>
              <a:gd name="adj" fmla="val 2639"/>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0" name="Text 8"/>
          <p:cNvSpPr/>
          <p:nvPr/>
        </p:nvSpPr>
        <p:spPr>
          <a:xfrm>
            <a:off x="557213" y="1911096"/>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STUDY DESIGN &amp; POPULATION</a:t>
            </a:r>
            <a:endParaRPr lang="en-US" sz="1100" dirty="0"/>
          </a:p>
        </p:txBody>
      </p:sp>
      <p:sp>
        <p:nvSpPr>
          <p:cNvPr id="11" name="Text 9"/>
          <p:cNvSpPr/>
          <p:nvPr/>
        </p:nvSpPr>
        <p:spPr>
          <a:xfrm>
            <a:off x="557213" y="2127980"/>
            <a:ext cx="3680460" cy="78981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901 treatment-naïve adults (≥30 years) consecutively enrolled at primary care clinics in Zambia (481) and Zimbabwe (420) between August 2019 and March 2022. MetS defined by IDF criteria: central obesity + any 2 of raised BP, impaired fasting glucose, low HDL-C, raised triglycerides.</a:t>
            </a:r>
            <a:endParaRPr lang="en-US" sz="1100" dirty="0"/>
          </a:p>
        </p:txBody>
      </p:sp>
      <p:sp>
        <p:nvSpPr>
          <p:cNvPr id="12" name="Text 10"/>
          <p:cNvSpPr/>
          <p:nvPr/>
        </p:nvSpPr>
        <p:spPr>
          <a:xfrm>
            <a:off x="557213" y="2974943"/>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POINT PREVALENCE CALCULATION</a:t>
            </a:r>
            <a:endParaRPr lang="en-US" sz="1100" dirty="0"/>
          </a:p>
        </p:txBody>
      </p:sp>
      <p:sp>
        <p:nvSpPr>
          <p:cNvPr id="13" name="Text 11"/>
          <p:cNvSpPr/>
          <p:nvPr/>
        </p:nvSpPr>
        <p:spPr>
          <a:xfrm>
            <a:off x="557213" y="3191828"/>
            <a:ext cx="3680460" cy="16616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172 / 901 = 0.191 = 19.1% (95% CI 17–22%)</a:t>
            </a:r>
            <a:endParaRPr lang="en-US" sz="1100" dirty="0"/>
          </a:p>
        </p:txBody>
      </p:sp>
      <p:sp>
        <p:nvSpPr>
          <p:cNvPr id="14" name="Shape 12"/>
          <p:cNvSpPr/>
          <p:nvPr/>
        </p:nvSpPr>
        <p:spPr>
          <a:xfrm>
            <a:off x="4537710" y="1796796"/>
            <a:ext cx="3937635" cy="3188970"/>
          </a:xfrm>
          <a:prstGeom prst="roundRect">
            <a:avLst>
              <a:gd name="adj" fmla="val 2421"/>
            </a:avLst>
          </a:prstGeom>
          <a:solidFill>
            <a:srgbClr val="25374F"/>
          </a:solidFill>
          <a:ln/>
          <a:effectLst>
            <a:outerShdw blurRad="76200" dist="25400" dir="2700000" algn="bl" rotWithShape="0">
              <a:srgbClr val="1B2A3D">
                <a:alpha val="8000"/>
              </a:srgbClr>
            </a:outerShdw>
          </a:effectLst>
        </p:spPr>
        <p:txBody>
          <a:bodyPr/>
          <a:lstStyle/>
          <a:p>
            <a:endParaRPr lang="en-ZW" sz="1100"/>
          </a:p>
        </p:txBody>
      </p:sp>
      <p:sp>
        <p:nvSpPr>
          <p:cNvPr id="15" name="Text 13"/>
          <p:cNvSpPr/>
          <p:nvPr/>
        </p:nvSpPr>
        <p:spPr>
          <a:xfrm>
            <a:off x="4666298" y="1911096"/>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KEY STRATIFIED FINDINGS</a:t>
            </a:r>
            <a:endParaRPr lang="en-US" sz="1100" dirty="0"/>
          </a:p>
        </p:txBody>
      </p:sp>
      <p:sp>
        <p:nvSpPr>
          <p:cNvPr id="16" name="Text 14"/>
          <p:cNvSpPr/>
          <p:nvPr/>
        </p:nvSpPr>
        <p:spPr>
          <a:xfrm>
            <a:off x="4666298" y="2127980"/>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Zimbabwe sites</a:t>
            </a:r>
            <a:endParaRPr lang="en-US" sz="1100" dirty="0"/>
          </a:p>
        </p:txBody>
      </p:sp>
      <p:sp>
        <p:nvSpPr>
          <p:cNvPr id="17" name="Text 15"/>
          <p:cNvSpPr/>
          <p:nvPr/>
        </p:nvSpPr>
        <p:spPr>
          <a:xfrm>
            <a:off x="4666298" y="2344865"/>
            <a:ext cx="3680460" cy="159734"/>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22% (95% CI 18–26%)</a:t>
            </a:r>
            <a:endParaRPr lang="en-US" sz="1100" dirty="0"/>
          </a:p>
        </p:txBody>
      </p:sp>
      <p:sp>
        <p:nvSpPr>
          <p:cNvPr id="18" name="Text 16"/>
          <p:cNvSpPr/>
          <p:nvPr/>
        </p:nvSpPr>
        <p:spPr>
          <a:xfrm>
            <a:off x="4666298" y="2561749"/>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Zambia sites</a:t>
            </a:r>
            <a:endParaRPr lang="en-US" sz="1100" dirty="0"/>
          </a:p>
        </p:txBody>
      </p:sp>
      <p:sp>
        <p:nvSpPr>
          <p:cNvPr id="19" name="Text 17"/>
          <p:cNvSpPr/>
          <p:nvPr/>
        </p:nvSpPr>
        <p:spPr>
          <a:xfrm>
            <a:off x="4666298" y="2778633"/>
            <a:ext cx="3680460" cy="159734"/>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16% (95% CI 13–20%)</a:t>
            </a:r>
            <a:endParaRPr lang="en-US" sz="1100" dirty="0"/>
          </a:p>
        </p:txBody>
      </p:sp>
      <p:sp>
        <p:nvSpPr>
          <p:cNvPr id="20" name="Text 18"/>
          <p:cNvSpPr/>
          <p:nvPr/>
        </p:nvSpPr>
        <p:spPr>
          <a:xfrm>
            <a:off x="4666298" y="2995517"/>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Prevalence in women</a:t>
            </a:r>
            <a:endParaRPr lang="en-US" sz="1100" dirty="0"/>
          </a:p>
        </p:txBody>
      </p:sp>
      <p:sp>
        <p:nvSpPr>
          <p:cNvPr id="21" name="Text 19"/>
          <p:cNvSpPr/>
          <p:nvPr/>
        </p:nvSpPr>
        <p:spPr>
          <a:xfrm>
            <a:off x="4666298" y="3212402"/>
            <a:ext cx="3680460" cy="159734"/>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27% vs. 9% in men</a:t>
            </a:r>
            <a:endParaRPr lang="en-US" sz="1100" dirty="0"/>
          </a:p>
        </p:txBody>
      </p:sp>
      <p:sp>
        <p:nvSpPr>
          <p:cNvPr id="22" name="Text 20"/>
          <p:cNvSpPr/>
          <p:nvPr/>
        </p:nvSpPr>
        <p:spPr>
          <a:xfrm>
            <a:off x="4666298" y="3429286"/>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Central obesity (women)</a:t>
            </a:r>
            <a:endParaRPr lang="en-US" sz="1100" dirty="0"/>
          </a:p>
        </p:txBody>
      </p:sp>
      <p:sp>
        <p:nvSpPr>
          <p:cNvPr id="23" name="Text 21"/>
          <p:cNvSpPr/>
          <p:nvPr/>
        </p:nvSpPr>
        <p:spPr>
          <a:xfrm>
            <a:off x="4666298" y="3646170"/>
            <a:ext cx="3680460" cy="159734"/>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70% vs. 15% in men</a:t>
            </a:r>
            <a:endParaRPr lang="en-US" sz="1100" dirty="0"/>
          </a:p>
        </p:txBody>
      </p:sp>
      <p:sp>
        <p:nvSpPr>
          <p:cNvPr id="24" name="Text 22"/>
          <p:cNvSpPr/>
          <p:nvPr/>
        </p:nvSpPr>
        <p:spPr>
          <a:xfrm>
            <a:off x="4666298" y="3863054"/>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HIV status and MetS</a:t>
            </a:r>
            <a:endParaRPr lang="en-US" sz="1100" dirty="0"/>
          </a:p>
        </p:txBody>
      </p:sp>
      <p:sp>
        <p:nvSpPr>
          <p:cNvPr id="25" name="Text 23"/>
          <p:cNvSpPr/>
          <p:nvPr/>
        </p:nvSpPr>
        <p:spPr>
          <a:xfrm>
            <a:off x="4666298" y="4079939"/>
            <a:ext cx="3680460" cy="159734"/>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aOR 1.05 (0.74–1.51) — NS</a:t>
            </a:r>
            <a:endParaRPr lang="en-US" sz="1100" dirty="0"/>
          </a:p>
        </p:txBody>
      </p:sp>
      <p:sp>
        <p:nvSpPr>
          <p:cNvPr id="26" name="Text 24"/>
          <p:cNvSpPr/>
          <p:nvPr/>
        </p:nvSpPr>
        <p:spPr>
          <a:xfrm>
            <a:off x="4666298" y="4296823"/>
            <a:ext cx="3680460" cy="301181"/>
          </a:xfrm>
          <a:prstGeom prst="rect">
            <a:avLst/>
          </a:prstGeom>
          <a:noFill/>
          <a:ln/>
        </p:spPr>
        <p:txBody>
          <a:bodyPr wrap="square" rtlCol="0" anchor="t"/>
          <a:lstStyle/>
          <a:p>
            <a:pPr marL="0" indent="0">
              <a:buNone/>
            </a:pPr>
            <a:r>
              <a:rPr lang="en-US" sz="1100" i="1" dirty="0">
                <a:solidFill>
                  <a:srgbClr val="9FB0C2"/>
                </a:solidFill>
                <a:latin typeface="Calibri" pitchFamily="34" charset="0"/>
                <a:ea typeface="Calibri" pitchFamily="34" charset="-122"/>
                <a:cs typeface="Calibri" pitchFamily="34" charset="-120"/>
              </a:rPr>
              <a:t>HIV status was NOT independently associated with MetS — lifestyle factors, income and age were the stronger predictors.</a:t>
            </a:r>
            <a:endParaRPr lang="en-US" sz="1100" dirty="0"/>
          </a:p>
        </p:txBody>
      </p:sp>
      <p:pic>
        <p:nvPicPr>
          <p:cNvPr id="27" name="Picture 26">
            <a:extLst>
              <a:ext uri="{FF2B5EF4-FFF2-40B4-BE49-F238E27FC236}">
                <a16:creationId xmlns:a16="http://schemas.microsoft.com/office/drawing/2014/main" id="{EEC9A715-AE08-890F-1176-96E72896F9CA}"/>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2 — CHECK YOUR UNDERSTANDING</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Prevalence vs Incidence: Which Is Which?</a:t>
            </a:r>
            <a:endParaRPr lang="en-US" sz="2200" dirty="0"/>
          </a:p>
        </p:txBody>
      </p:sp>
      <p:sp>
        <p:nvSpPr>
          <p:cNvPr id="8" name="Text 6"/>
          <p:cNvSpPr/>
          <p:nvPr/>
        </p:nvSpPr>
        <p:spPr>
          <a:xfrm>
            <a:off x="428625" y="1138428"/>
            <a:ext cx="8046720" cy="37833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On 15 January 2024, a clinician reviews 480 patient records at a Harare clinic. She finds 108 patients currently have uncontrolled hypertension. During the following 6 months, 24 new hypertension diagnoses are made.</a:t>
            </a:r>
            <a:endParaRPr lang="en-US" sz="1100" dirty="0"/>
          </a:p>
        </p:txBody>
      </p:sp>
      <p:sp>
        <p:nvSpPr>
          <p:cNvPr id="9" name="Text 7"/>
          <p:cNvSpPr/>
          <p:nvPr/>
        </p:nvSpPr>
        <p:spPr>
          <a:xfrm>
            <a:off x="428625" y="1573911"/>
            <a:ext cx="8046720" cy="185452"/>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What is 108/480 = 22.5%?</a:t>
            </a:r>
            <a:endParaRPr lang="en-US" sz="1100" dirty="0"/>
          </a:p>
        </p:txBody>
      </p:sp>
      <p:sp>
        <p:nvSpPr>
          <p:cNvPr id="101" name="Card101"/>
          <p:cNvSpPr/>
          <p:nvPr/>
        </p:nvSpPr>
        <p:spPr>
          <a:xfrm>
            <a:off x="428625" y="1816513"/>
            <a:ext cx="8046720" cy="820000"/>
          </a:xfrm>
          <a:prstGeom prst="roundRect">
            <a:avLst>
              <a:gd name="adj" fmla="val 4500"/>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02" name="Icon102"/>
          <p:cNvSpPr/>
          <p:nvPr/>
        </p:nvSpPr>
        <p:spPr>
          <a:xfrm>
            <a:off x="520065" y="1907953"/>
            <a:ext cx="158750" cy="158750"/>
          </a:xfrm>
          <a:prstGeom prst="ellipse">
            <a:avLst/>
          </a:prstGeom>
          <a:solidFill>
            <a:srgbClr val="E63425"/>
          </a:solidFill>
          <a:ln/>
        </p:spPr>
        <p:txBody>
          <a:bodyPr/>
          <a:lstStyle/>
          <a:p>
            <a:endParaRPr lang="en-ZW" sz="1100"/>
          </a:p>
        </p:txBody>
      </p:sp>
      <p:sp>
        <p:nvSpPr>
          <p:cNvPr id="202" name="IconTxt202"/>
          <p:cNvSpPr/>
          <p:nvPr/>
        </p:nvSpPr>
        <p:spPr>
          <a:xfrm>
            <a:off x="520065" y="1907953"/>
            <a:ext cx="158750" cy="15875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03" name="Label103"/>
          <p:cNvSpPr/>
          <p:nvPr/>
        </p:nvSpPr>
        <p:spPr>
          <a:xfrm>
            <a:off x="770255" y="1927328"/>
            <a:ext cx="7613650" cy="200000"/>
          </a:xfrm>
          <a:prstGeom prst="rect">
            <a:avLst/>
          </a:prstGeom>
          <a:noFill/>
          <a:ln/>
        </p:spPr>
        <p:txBody>
          <a:bodyPr wrap="square" rtlCol="0" anchor="ctr"/>
          <a:lstStyle/>
          <a:p>
            <a:pPr marL="0" indent="0">
              <a:buNone/>
            </a:pPr>
            <a:r>
              <a:rPr lang="en-US" sz="1050" b="1" kern="0" spc="75" dirty="0">
                <a:solidFill>
                  <a:srgbClr val="E63425"/>
                </a:solidFill>
                <a:latin typeface="Calibri" pitchFamily="34" charset="0"/>
                <a:ea typeface="Calibri" pitchFamily="34" charset="-122"/>
                <a:cs typeface="Calibri" pitchFamily="34" charset="-120"/>
              </a:rPr>
              <a:t>THE ANSWER</a:t>
            </a:r>
            <a:endParaRPr lang="en-US" sz="1050" dirty="0"/>
          </a:p>
        </p:txBody>
      </p:sp>
      <p:sp>
        <p:nvSpPr>
          <p:cNvPr id="104" name="Body104"/>
          <p:cNvSpPr/>
          <p:nvPr/>
        </p:nvSpPr>
        <p:spPr>
          <a:xfrm>
            <a:off x="520065" y="2146703"/>
            <a:ext cx="7863840" cy="398370"/>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108/480 = 22.5% is a point prevalence: existing cases at a single exact moment (15 January 2024), divided by the population at that same moment.</a:t>
            </a:r>
            <a:endParaRPr lang="en-US" sz="1100" dirty="0"/>
          </a:p>
        </p:txBody>
      </p:sp>
      <p:sp>
        <p:nvSpPr>
          <p:cNvPr id="201" name="Card201"/>
          <p:cNvSpPr/>
          <p:nvPr/>
        </p:nvSpPr>
        <p:spPr>
          <a:xfrm>
            <a:off x="428625" y="2826513"/>
            <a:ext cx="8046720" cy="950000"/>
          </a:xfrm>
          <a:prstGeom prst="roundRect">
            <a:avLst>
              <a:gd name="adj" fmla="val 4500"/>
            </a:avLst>
          </a:prstGeom>
          <a:solidFill>
            <a:srgbClr val="25374F"/>
          </a:solidFill>
          <a:ln/>
          <a:effectLst>
            <a:outerShdw blurRad="76200" dist="25400" dir="2700000" algn="bl" rotWithShape="0">
              <a:srgbClr val="1B2A3D">
                <a:alpha val="8000"/>
              </a:srgbClr>
            </a:outerShdw>
          </a:effectLst>
        </p:spPr>
        <p:txBody>
          <a:bodyPr/>
          <a:lstStyle/>
          <a:p>
            <a:endParaRPr lang="en-ZW" sz="1100"/>
          </a:p>
        </p:txBody>
      </p:sp>
      <p:sp>
        <p:nvSpPr>
          <p:cNvPr id="2" name="Icon202"/>
          <p:cNvSpPr/>
          <p:nvPr/>
        </p:nvSpPr>
        <p:spPr>
          <a:xfrm>
            <a:off x="520065" y="2917953"/>
            <a:ext cx="158750" cy="158750"/>
          </a:xfrm>
          <a:prstGeom prst="ellipse">
            <a:avLst/>
          </a:prstGeom>
          <a:solidFill>
            <a:srgbClr val="F2A93B"/>
          </a:solidFill>
          <a:ln/>
        </p:spPr>
        <p:txBody>
          <a:bodyPr/>
          <a:lstStyle/>
          <a:p>
            <a:endParaRPr lang="en-ZW" sz="1100"/>
          </a:p>
        </p:txBody>
      </p:sp>
      <p:sp>
        <p:nvSpPr>
          <p:cNvPr id="302" name="IconTxt302"/>
          <p:cNvSpPr/>
          <p:nvPr/>
        </p:nvSpPr>
        <p:spPr>
          <a:xfrm>
            <a:off x="520065" y="2917953"/>
            <a:ext cx="158750" cy="15875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03" name="Label203"/>
          <p:cNvSpPr/>
          <p:nvPr/>
        </p:nvSpPr>
        <p:spPr>
          <a:xfrm>
            <a:off x="770255" y="2937328"/>
            <a:ext cx="7613650" cy="200000"/>
          </a:xfrm>
          <a:prstGeom prst="rect">
            <a:avLst/>
          </a:prstGeom>
          <a:noFill/>
          <a:ln/>
        </p:spPr>
        <p:txBody>
          <a:bodyPr wrap="square" rtlCol="0" anchor="ctr"/>
          <a:lstStyle/>
          <a:p>
            <a:pPr marL="0" indent="0">
              <a:buNone/>
            </a:pPr>
            <a:r>
              <a:rPr lang="en-US" sz="1050" b="1" kern="0" spc="75" dirty="0">
                <a:solidFill>
                  <a:srgbClr val="F2A93B"/>
                </a:solidFill>
                <a:latin typeface="Calibri" pitchFamily="34" charset="0"/>
                <a:ea typeface="Calibri" pitchFamily="34" charset="-122"/>
                <a:cs typeface="Calibri" pitchFamily="34" charset="-120"/>
              </a:rPr>
              <a:t>COMMON MISTAKE TO AVOID</a:t>
            </a:r>
            <a:endParaRPr lang="en-US" sz="1050" dirty="0"/>
          </a:p>
        </p:txBody>
      </p:sp>
      <p:sp>
        <p:nvSpPr>
          <p:cNvPr id="204" name="Body204"/>
          <p:cNvSpPr/>
          <p:nvPr/>
        </p:nvSpPr>
        <p:spPr>
          <a:xfrm>
            <a:off x="520065" y="3156703"/>
            <a:ext cx="7863840" cy="528370"/>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Don’t fold the 24 new diagnoses into this figure — they occurred after 15 Jan and belong to a period prevalence or incidence measure for that following window, not to this single-day snapshot.</a:t>
            </a:r>
            <a:endParaRPr lang="en-US" sz="1100" dirty="0"/>
          </a:p>
        </p:txBody>
      </p:sp>
      <p:pic>
        <p:nvPicPr>
          <p:cNvPr id="12" name="Picture 11">
            <a:extLst>
              <a:ext uri="{FF2B5EF4-FFF2-40B4-BE49-F238E27FC236}">
                <a16:creationId xmlns:a16="http://schemas.microsoft.com/office/drawing/2014/main" id="{2DB1C585-CAE2-2354-26FF-0BED750EA602}"/>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fade">
                                      <p:cBhvr>
                                        <p:cTn id="10" dur="500"/>
                                        <p:tgtEl>
                                          <p:spTgt spid="1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500"/>
                                        <p:tgtEl>
                                          <p:spTgt spid="10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500"/>
                                        <p:tgtEl>
                                          <p:spTgt spid="10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3"/>
                                        </p:tgtEl>
                                        <p:attrNameLst>
                                          <p:attrName>style.visibility</p:attrName>
                                        </p:attrNameLst>
                                      </p:cBhvr>
                                      <p:to>
                                        <p:strVal val="visible"/>
                                      </p:to>
                                    </p:set>
                                    <p:animEffect transition="in" filter="fade">
                                      <p:cBhvr>
                                        <p:cTn id="24" dur="500"/>
                                        <p:tgtEl>
                                          <p:spTgt spid="20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1"/>
                                        </p:tgtEl>
                                        <p:attrNameLst>
                                          <p:attrName>style.visibility</p:attrName>
                                        </p:attrNameLst>
                                      </p:cBhvr>
                                      <p:to>
                                        <p:strVal val="visible"/>
                                      </p:to>
                                    </p:set>
                                    <p:animEffect transition="in" filter="fade">
                                      <p:cBhvr>
                                        <p:cTn id="27" dur="500"/>
                                        <p:tgtEl>
                                          <p:spTgt spid="20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4"/>
                                        </p:tgtEl>
                                        <p:attrNameLst>
                                          <p:attrName>style.visibility</p:attrName>
                                        </p:attrNameLst>
                                      </p:cBhvr>
                                      <p:to>
                                        <p:strVal val="visible"/>
                                      </p:to>
                                    </p:set>
                                    <p:animEffect transition="in" filter="fade">
                                      <p:cBhvr>
                                        <p:cTn id="30"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202" grpId="0" animBg="1"/>
      <p:bldP spid="103" grpId="0" animBg="1"/>
      <p:bldP spid="104" grpId="0" animBg="1"/>
      <p:bldP spid="201" grpId="0" animBg="1"/>
      <p:bldP spid="2" grpId="0" animBg="1"/>
      <p:bldP spid="203" grpId="0" animBg="1"/>
      <p:bldP spid="20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2 · PREVALENCE</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Period Prevalence, Attack Rates &amp; the Bathtub Principle</a:t>
            </a:r>
            <a:endParaRPr lang="en-US" sz="2200" dirty="0"/>
          </a:p>
        </p:txBody>
      </p:sp>
      <p:sp>
        <p:nvSpPr>
          <p:cNvPr id="8" name="Shape 6"/>
          <p:cNvSpPr/>
          <p:nvPr/>
        </p:nvSpPr>
        <p:spPr>
          <a:xfrm>
            <a:off x="428625" y="1789652"/>
            <a:ext cx="3937635" cy="2500000"/>
          </a:xfrm>
          <a:prstGeom prst="roundRect">
            <a:avLst>
              <a:gd name="adj" fmla="val 2689"/>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9" name="Text 7"/>
          <p:cNvSpPr/>
          <p:nvPr/>
        </p:nvSpPr>
        <p:spPr>
          <a:xfrm>
            <a:off x="557213" y="1903953"/>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ZIMBABWE CHOLERA OUTBREAK 2023–2024</a:t>
            </a:r>
            <a:endParaRPr lang="en-US" sz="1100" dirty="0"/>
          </a:p>
        </p:txBody>
      </p:sp>
      <p:sp>
        <p:nvSpPr>
          <p:cNvPr id="10" name="Text 8"/>
          <p:cNvSpPr/>
          <p:nvPr/>
        </p:nvSpPr>
        <p:spPr>
          <a:xfrm>
            <a:off x="557213" y="2120837"/>
            <a:ext cx="3680460" cy="32689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34,549 suspected cases over ~17 months · Population 15.18 million (2022 census) · All 10 provinces · 62 districts affected</a:t>
            </a:r>
            <a:endParaRPr lang="en-US" sz="1100" dirty="0"/>
          </a:p>
        </p:txBody>
      </p:sp>
      <p:sp>
        <p:nvSpPr>
          <p:cNvPr id="11" name="Text 9"/>
          <p:cNvSpPr/>
          <p:nvPr/>
        </p:nvSpPr>
        <p:spPr>
          <a:xfrm>
            <a:off x="557213" y="2504885"/>
            <a:ext cx="3680460" cy="314039"/>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17-month attack rate = 34,549/15,178,979= 0.23% = 228 per 100,000</a:t>
            </a:r>
            <a:endParaRPr lang="en-US" sz="1100" dirty="0"/>
          </a:p>
        </p:txBody>
      </p:sp>
      <p:sp>
        <p:nvSpPr>
          <p:cNvPr id="12" name="Text 10"/>
          <p:cNvSpPr/>
          <p:nvPr/>
        </p:nvSpPr>
        <p:spPr>
          <a:xfrm>
            <a:off x="557213" y="2876075"/>
            <a:ext cx="3680460" cy="442627"/>
          </a:xfrm>
          <a:prstGeom prst="rect">
            <a:avLst/>
          </a:prstGeom>
          <a:noFill/>
          <a:ln/>
        </p:spPr>
        <p:txBody>
          <a:bodyPr wrap="square" rtlCol="0" anchor="t"/>
          <a:lstStyle/>
          <a:p>
            <a:pPr marL="0" indent="0">
              <a:buNone/>
            </a:pPr>
            <a:r>
              <a:rPr lang="en-US" sz="1100" i="1" dirty="0">
                <a:solidFill>
                  <a:srgbClr val="5B6B7C"/>
                </a:solidFill>
                <a:latin typeface="Calibri" pitchFamily="34" charset="0"/>
                <a:ea typeface="Calibri" pitchFamily="34" charset="-122"/>
                <a:cs typeface="Calibri" pitchFamily="34" charset="-120"/>
              </a:rPr>
              <a:t>Attack rate = cumulative incidence across an outbreak window. A single-day point prevalence would capture only a handful of active cases on that day — missing the full outbreak burden.</a:t>
            </a:r>
            <a:endParaRPr lang="en-US" sz="1100" dirty="0"/>
          </a:p>
        </p:txBody>
      </p:sp>
      <p:sp>
        <p:nvSpPr>
          <p:cNvPr id="13" name="Shape 11"/>
          <p:cNvSpPr/>
          <p:nvPr/>
        </p:nvSpPr>
        <p:spPr>
          <a:xfrm>
            <a:off x="4537710" y="1789653"/>
            <a:ext cx="3937635" cy="2500000"/>
          </a:xfrm>
          <a:prstGeom prst="roundRect">
            <a:avLst>
              <a:gd name="adj" fmla="val 2556"/>
            </a:avLst>
          </a:prstGeom>
          <a:solidFill>
            <a:srgbClr val="25374F"/>
          </a:solidFill>
          <a:ln/>
          <a:effectLst>
            <a:outerShdw blurRad="76200" dist="25400" dir="2700000" algn="bl" rotWithShape="0">
              <a:srgbClr val="1B2A3D">
                <a:alpha val="8000"/>
              </a:srgbClr>
            </a:outerShdw>
          </a:effectLst>
        </p:spPr>
        <p:txBody>
          <a:bodyPr/>
          <a:lstStyle/>
          <a:p>
            <a:endParaRPr lang="en-ZW" sz="1100"/>
          </a:p>
        </p:txBody>
      </p:sp>
      <p:sp>
        <p:nvSpPr>
          <p:cNvPr id="14" name="Text 12"/>
          <p:cNvSpPr/>
          <p:nvPr/>
        </p:nvSpPr>
        <p:spPr>
          <a:xfrm>
            <a:off x="4666298" y="1903953"/>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THE BATHTUB PRINCIPLE: P ≈ I × D</a:t>
            </a:r>
            <a:endParaRPr lang="en-US" sz="1100" dirty="0"/>
          </a:p>
        </p:txBody>
      </p:sp>
      <p:sp>
        <p:nvSpPr>
          <p:cNvPr id="18" name="Text 16"/>
          <p:cNvSpPr/>
          <p:nvPr/>
        </p:nvSpPr>
        <p:spPr>
          <a:xfrm>
            <a:off x="6828971" y="2169052"/>
            <a:ext cx="1517787" cy="1807862"/>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ART-era Zimbabwe paradox: HIV incidence has fallen, yet prevalence stays high (~13%) — ART extends duration dramatically, so the drain is plugged even as new infections decline.</a:t>
            </a:r>
            <a:endParaRPr lang="en-US" sz="1100" dirty="0"/>
          </a:p>
        </p:txBody>
      </p:sp>
      <p:pic>
        <p:nvPicPr>
          <p:cNvPr id="19" name="Picture 18">
            <a:extLst>
              <a:ext uri="{FF2B5EF4-FFF2-40B4-BE49-F238E27FC236}">
                <a16:creationId xmlns:a16="http://schemas.microsoft.com/office/drawing/2014/main" id="{102148D1-E35C-DF84-1E61-87D7A65AD2DE}"/>
              </a:ext>
            </a:extLst>
          </p:cNvPr>
          <p:cNvPicPr>
            <a:picLocks noChangeAspect="1"/>
          </p:cNvPicPr>
          <p:nvPr/>
        </p:nvPicPr>
        <p:blipFill>
          <a:blip r:embed="rId3"/>
          <a:stretch>
            <a:fillRect/>
          </a:stretch>
        </p:blipFill>
        <p:spPr>
          <a:xfrm>
            <a:off x="7965371" y="133434"/>
            <a:ext cx="1085760" cy="590382"/>
          </a:xfrm>
          <a:prstGeom prst="rect">
            <a:avLst/>
          </a:prstGeom>
        </p:spPr>
      </p:pic>
      <p:pic>
        <p:nvPicPr>
          <p:cNvPr id="3" name="Picture 2">
            <a:extLst>
              <a:ext uri="{FF2B5EF4-FFF2-40B4-BE49-F238E27FC236}">
                <a16:creationId xmlns:a16="http://schemas.microsoft.com/office/drawing/2014/main" id="{9E0FE6EE-E1F4-EBF3-1438-FE2364FAD90B}"/>
              </a:ext>
            </a:extLst>
          </p:cNvPr>
          <p:cNvPicPr>
            <a:picLocks noChangeAspect="1"/>
          </p:cNvPicPr>
          <p:nvPr/>
        </p:nvPicPr>
        <p:blipFill>
          <a:blip r:embed="rId4"/>
          <a:stretch>
            <a:fillRect/>
          </a:stretch>
        </p:blipFill>
        <p:spPr>
          <a:xfrm>
            <a:off x="4762106" y="2169052"/>
            <a:ext cx="1958584" cy="195858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INCIDENCE</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Incidence Risk (Cumulative Incidence)</a:t>
            </a:r>
            <a:endParaRPr lang="en-US" sz="2200" dirty="0"/>
          </a:p>
        </p:txBody>
      </p:sp>
      <p:sp>
        <p:nvSpPr>
          <p:cNvPr id="8" name="Text 6"/>
          <p:cNvSpPr/>
          <p:nvPr/>
        </p:nvSpPr>
        <p:spPr>
          <a:xfrm>
            <a:off x="428625" y="1138428"/>
            <a:ext cx="8046720" cy="42976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Incidence risk </a:t>
            </a:r>
            <a:r>
              <a:rPr lang="en-US" sz="1100" dirty="0">
                <a:solidFill>
                  <a:srgbClr val="27313B"/>
                </a:solidFill>
                <a:latin typeface="Calibri" pitchFamily="34" charset="0"/>
                <a:ea typeface="Calibri" pitchFamily="34" charset="-122"/>
                <a:cs typeface="Calibri" pitchFamily="34" charset="-120"/>
              </a:rPr>
              <a:t>measures the probability that a disease-free person will develop the disease over a defined time window.</a:t>
            </a:r>
            <a:endParaRPr lang="en-US" sz="1100" dirty="0"/>
          </a:p>
        </p:txBody>
      </p:sp>
      <p:sp>
        <p:nvSpPr>
          <p:cNvPr id="9" name="Text 7"/>
          <p:cNvSpPr/>
          <p:nvPr/>
        </p:nvSpPr>
        <p:spPr>
          <a:xfrm>
            <a:off x="428625" y="1625346"/>
            <a:ext cx="3937635" cy="22402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Formula &amp; Key Requirements</a:t>
            </a:r>
            <a:endParaRPr lang="en-US" sz="1100" b="1" dirty="0"/>
          </a:p>
        </p:txBody>
      </p:sp>
      <p:sp>
        <p:nvSpPr>
          <p:cNvPr id="10" name="Text 8"/>
          <p:cNvSpPr/>
          <p:nvPr/>
        </p:nvSpPr>
        <p:spPr>
          <a:xfrm>
            <a:off x="428625" y="1906524"/>
            <a:ext cx="3937635" cy="314039"/>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Inc. risk </a:t>
            </a:r>
            <a:r>
              <a:rPr lang="en-US" sz="1100" dirty="0">
                <a:solidFill>
                  <a:srgbClr val="27313B"/>
                </a:solidFill>
                <a:latin typeface="Calibri" pitchFamily="34" charset="0"/>
                <a:ea typeface="Calibri" pitchFamily="34" charset="-122"/>
                <a:cs typeface="Calibri" pitchFamily="34" charset="-120"/>
              </a:rPr>
              <a:t>= New cases in period T ÷ Population at risk and disease-free at start of T</a:t>
            </a:r>
            <a:endParaRPr lang="en-US" sz="1100" dirty="0"/>
          </a:p>
        </p:txBody>
      </p:sp>
      <p:sp>
        <p:nvSpPr>
          <p:cNvPr id="11" name="Text 9"/>
          <p:cNvSpPr/>
          <p:nvPr/>
        </p:nvSpPr>
        <p:spPr>
          <a:xfrm>
            <a:off x="428625" y="2277713"/>
            <a:ext cx="3937635" cy="63550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Denominator</a:t>
            </a:r>
            <a:r>
              <a:rPr lang="en-US" sz="1100" dirty="0">
                <a:solidFill>
                  <a:srgbClr val="27313B"/>
                </a:solidFill>
                <a:latin typeface="Calibri" pitchFamily="34" charset="0"/>
                <a:ea typeface="Calibri" pitchFamily="34" charset="-122"/>
                <a:cs typeface="Calibri" pitchFamily="34" charset="-120"/>
              </a:rPr>
              <a:t> must contain only people free of disease at baseline and biologically capable of developing it.</a:t>
            </a:r>
            <a:endParaRPr lang="en-US" sz="1100" dirty="0"/>
          </a:p>
        </p:txBody>
      </p:sp>
      <p:sp>
        <p:nvSpPr>
          <p:cNvPr id="12" name="Text 10"/>
          <p:cNvSpPr/>
          <p:nvPr/>
        </p:nvSpPr>
        <p:spPr>
          <a:xfrm>
            <a:off x="428625" y="2970371"/>
            <a:ext cx="3937635" cy="63550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Assumes a closed cohort with uniform, complete follow-up — losses to follow-up are not accounted for by the simple proportion.</a:t>
            </a:r>
            <a:endParaRPr lang="en-US" sz="1100" dirty="0"/>
          </a:p>
        </p:txBody>
      </p:sp>
      <p:sp>
        <p:nvSpPr>
          <p:cNvPr id="13" name="Text 11"/>
          <p:cNvSpPr/>
          <p:nvPr/>
        </p:nvSpPr>
        <p:spPr>
          <a:xfrm>
            <a:off x="428625" y="3663029"/>
            <a:ext cx="3937635"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Bounded 0–1 (0–100%); interpreted as a probability for an individual entering the cohort.</a:t>
            </a:r>
            <a:endParaRPr lang="en-US" sz="1100" dirty="0"/>
          </a:p>
        </p:txBody>
      </p:sp>
      <p:sp>
        <p:nvSpPr>
          <p:cNvPr id="14" name="Shape 12"/>
          <p:cNvSpPr/>
          <p:nvPr/>
        </p:nvSpPr>
        <p:spPr>
          <a:xfrm>
            <a:off x="4537710" y="1625346"/>
            <a:ext cx="3937635" cy="1914525"/>
          </a:xfrm>
          <a:prstGeom prst="roundRect">
            <a:avLst>
              <a:gd name="adj" fmla="val 3109"/>
            </a:avLst>
          </a:prstGeom>
          <a:solidFill>
            <a:srgbClr val="25374F"/>
          </a:solidFill>
          <a:ln/>
          <a:effectLst>
            <a:outerShdw blurRad="76200" dist="25400" dir="2700000" algn="bl" rotWithShape="0">
              <a:srgbClr val="1B2A3D">
                <a:alpha val="8000"/>
              </a:srgbClr>
            </a:outerShdw>
          </a:effectLst>
        </p:spPr>
        <p:txBody>
          <a:bodyPr/>
          <a:lstStyle/>
          <a:p>
            <a:endParaRPr lang="en-ZW" sz="1100"/>
          </a:p>
        </p:txBody>
      </p:sp>
      <p:sp>
        <p:nvSpPr>
          <p:cNvPr id="15" name="Text 13"/>
          <p:cNvSpPr/>
          <p:nvPr/>
        </p:nvSpPr>
        <p:spPr>
          <a:xfrm>
            <a:off x="4666298" y="1739646"/>
            <a:ext cx="3680460" cy="301181"/>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CHITUNGWIZA CENTRAL HOSPITAL COHORT — Cheza A et al., PLoS One 2021</a:t>
            </a:r>
            <a:endParaRPr lang="en-US" sz="1100" dirty="0"/>
          </a:p>
        </p:txBody>
      </p:sp>
      <p:sp>
        <p:nvSpPr>
          <p:cNvPr id="16" name="Text 14"/>
          <p:cNvSpPr/>
          <p:nvPr/>
        </p:nvSpPr>
        <p:spPr>
          <a:xfrm>
            <a:off x="4666298" y="2097977"/>
            <a:ext cx="3680460" cy="609791"/>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203 adult PLHIV enrolled on ART in January 2010 — followed for 10 years with minimal loss to follow-up. Incidence of NCDs (new events) calculated among those free of each condition at baseline.</a:t>
            </a:r>
            <a:endParaRPr lang="en-US" sz="1100" dirty="0"/>
          </a:p>
        </p:txBody>
      </p:sp>
      <p:sp>
        <p:nvSpPr>
          <p:cNvPr id="17" name="Text 15"/>
          <p:cNvSpPr/>
          <p:nvPr/>
        </p:nvSpPr>
        <p:spPr>
          <a:xfrm>
            <a:off x="4666298" y="2764917"/>
            <a:ext cx="3680460" cy="301181"/>
          </a:xfrm>
          <a:prstGeom prst="rect">
            <a:avLst/>
          </a:prstGeom>
          <a:noFill/>
          <a:ln/>
        </p:spPr>
        <p:txBody>
          <a:bodyPr wrap="square" rtlCol="0" anchor="t"/>
          <a:lstStyle/>
          <a:p>
            <a:pPr marL="0" indent="0">
              <a:buNone/>
            </a:pPr>
            <a:endParaRPr lang="en-US" sz="1100" dirty="0">
              <a:solidFill>
                <a:srgbClr val="FFFFFF"/>
              </a:solidFill>
              <a:latin typeface="Calibri" pitchFamily="34" charset="0"/>
              <a:ea typeface="Calibri" pitchFamily="34" charset="-122"/>
              <a:cs typeface="Calibri" pitchFamily="34" charset="-120"/>
            </a:endParaRPr>
          </a:p>
          <a:p>
            <a:pPr marL="0" indent="0">
              <a:buNone/>
            </a:pPr>
            <a:r>
              <a:rPr lang="en-US" sz="1100" dirty="0">
                <a:solidFill>
                  <a:srgbClr val="FFFFFF"/>
                </a:solidFill>
                <a:latin typeface="Calibri" pitchFamily="34" charset="0"/>
                <a:ea typeface="Calibri" pitchFamily="34" charset="-122"/>
                <a:cs typeface="Calibri" pitchFamily="34" charset="-120"/>
              </a:rPr>
              <a:t>Fixed 10-year window · Near-complete follow-up → Incidence risk is appropriate</a:t>
            </a:r>
            <a:endParaRPr lang="en-US" sz="1100" dirty="0"/>
          </a:p>
        </p:txBody>
      </p:sp>
      <p:pic>
        <p:nvPicPr>
          <p:cNvPr id="18" name="Picture 17">
            <a:extLst>
              <a:ext uri="{FF2B5EF4-FFF2-40B4-BE49-F238E27FC236}">
                <a16:creationId xmlns:a16="http://schemas.microsoft.com/office/drawing/2014/main" id="{A3B3B1D9-A3C1-3EBC-BF14-EFEAAA088C4D}"/>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INCIDENCE</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Person-Time: The Denominator for Open Cohorts</a:t>
            </a:r>
            <a:endParaRPr lang="en-US" sz="2200" dirty="0"/>
          </a:p>
        </p:txBody>
      </p:sp>
      <p:sp>
        <p:nvSpPr>
          <p:cNvPr id="8" name="Text 6"/>
          <p:cNvSpPr/>
          <p:nvPr/>
        </p:nvSpPr>
        <p:spPr>
          <a:xfrm>
            <a:off x="428625" y="1515618"/>
            <a:ext cx="8046720" cy="42976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When cohort members are observed for variable lengths of time — due to staggered enrolment, losses or competing exits — a simple count denominator is inadequate. We replace it with person-time at risk.</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28625" y="2002536"/>
          <a:ext cx="8046720" cy="1405128"/>
        </p:xfrm>
        <a:graphic>
          <a:graphicData uri="http://schemas.openxmlformats.org/drawingml/2006/table">
            <a:tbl>
              <a:tblPr/>
              <a:tblGrid>
                <a:gridCol w="2682240">
                  <a:extLst>
                    <a:ext uri="{9D8B030D-6E8A-4147-A177-3AD203B41FA5}">
                      <a16:colId xmlns:a16="http://schemas.microsoft.com/office/drawing/2014/main" val="20000"/>
                    </a:ext>
                  </a:extLst>
                </a:gridCol>
                <a:gridCol w="2682240">
                  <a:extLst>
                    <a:ext uri="{9D8B030D-6E8A-4147-A177-3AD203B41FA5}">
                      <a16:colId xmlns:a16="http://schemas.microsoft.com/office/drawing/2014/main" val="20001"/>
                    </a:ext>
                  </a:extLst>
                </a:gridCol>
                <a:gridCol w="2682240">
                  <a:extLst>
                    <a:ext uri="{9D8B030D-6E8A-4147-A177-3AD203B41FA5}">
                      <a16:colId xmlns:a16="http://schemas.microsoft.com/office/drawing/2014/main" val="20002"/>
                    </a:ext>
                  </a:extLst>
                </a:gridCol>
              </a:tblGrid>
              <a:tr h="25603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Patient</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Follow-up history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Person-years contributed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Remained disease-free for all 5 years</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5.0 PY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B</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Developed the outcome at exactly year 2 → stops contributing</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2.0 PY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Lost to follow-up at year 3.5 → censored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3.5 PY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1 event (Patient B)</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10.5 person-years</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p:nvPr/>
        </p:nvSpPr>
        <p:spPr>
          <a:xfrm>
            <a:off x="428625" y="3382709"/>
            <a:ext cx="8046720" cy="224028"/>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Incidence Rate</a:t>
            </a:r>
            <a:endParaRPr lang="en-US" sz="1100" dirty="0"/>
          </a:p>
        </p:txBody>
      </p:sp>
      <p:sp>
        <p:nvSpPr>
          <p:cNvPr id="9" name="Text 8"/>
          <p:cNvSpPr/>
          <p:nvPr/>
        </p:nvSpPr>
        <p:spPr>
          <a:xfrm>
            <a:off x="428625" y="3663887"/>
            <a:ext cx="8046720" cy="17259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1 event / 10.5 PY = 0.095 per PY = 9.5 per 100 person-years</a:t>
            </a:r>
            <a:endParaRPr lang="en-US" sz="1100" dirty="0"/>
          </a:p>
        </p:txBody>
      </p:sp>
      <p:sp>
        <p:nvSpPr>
          <p:cNvPr id="12" name="Text 9"/>
          <p:cNvSpPr/>
          <p:nvPr/>
        </p:nvSpPr>
        <p:spPr>
          <a:xfrm>
            <a:off x="428625" y="3893630"/>
            <a:ext cx="8046720" cy="339757"/>
          </a:xfrm>
          <a:prstGeom prst="rect">
            <a:avLst/>
          </a:prstGeom>
          <a:noFill/>
          <a:ln/>
        </p:spPr>
        <p:txBody>
          <a:bodyPr wrap="square" rtlCol="0" anchor="t"/>
          <a:lstStyle/>
          <a:p>
            <a:pPr marL="0" indent="0">
              <a:buNone/>
            </a:pPr>
            <a:r>
              <a:rPr lang="en-US" sz="1100" dirty="0">
                <a:solidFill>
                  <a:srgbClr val="5B6B7C"/>
                </a:solidFill>
                <a:latin typeface="Calibri" pitchFamily="34" charset="0"/>
                <a:ea typeface="Calibri" pitchFamily="34" charset="-122"/>
                <a:cs typeface="Calibri" pitchFamily="34" charset="-120"/>
              </a:rPr>
              <a:t>Each participant contributes time only while (a) actively observed and (b) free of the outcome. Unlike incidence risk, the rate is unbounded — it can exceed 1.0/PY for recurrent events.</a:t>
            </a:r>
            <a:endParaRPr lang="en-US" sz="1100" dirty="0"/>
          </a:p>
        </p:txBody>
      </p:sp>
      <p:pic>
        <p:nvPicPr>
          <p:cNvPr id="13" name="Picture 12">
            <a:extLst>
              <a:ext uri="{FF2B5EF4-FFF2-40B4-BE49-F238E27FC236}">
                <a16:creationId xmlns:a16="http://schemas.microsoft.com/office/drawing/2014/main" id="{9607D6C3-B821-6F1D-E291-E67D6E7B96B4}"/>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1100" b="1" dirty="0">
                <a:solidFill>
                  <a:srgbClr val="E63425"/>
                </a:solidFill>
                <a:latin typeface="Calibri" pitchFamily="34" charset="0"/>
                <a:ea typeface="Calibri" pitchFamily="34" charset="-122"/>
                <a:cs typeface="Calibri" pitchFamily="34" charset="-120"/>
              </a:rPr>
              <a:t>Research Masterclass for Clinicians</a:t>
            </a:r>
            <a:endParaRPr lang="en-US" sz="110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1100" dirty="0">
                <a:solidFill>
                  <a:srgbClr val="5B6B7C"/>
                </a:solidFill>
                <a:latin typeface="Calibri" pitchFamily="34" charset="0"/>
                <a:ea typeface="Calibri" pitchFamily="34" charset="-122"/>
                <a:cs typeface="Calibri" pitchFamily="34" charset="-120"/>
              </a:rPr>
              <a:t>www.newlandsclinic.org.zw</a:t>
            </a:r>
            <a:endParaRPr lang="en-US" sz="11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INCIDENCE RATE — REGIONAL EVIDENCE</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Incidence Rate: Mortality at Newlands Clinic, Harare</a:t>
            </a:r>
            <a:endParaRPr lang="en-US" sz="2200" dirty="0"/>
          </a:p>
        </p:txBody>
      </p:sp>
      <p:sp>
        <p:nvSpPr>
          <p:cNvPr id="8" name="Text 6"/>
          <p:cNvSpPr/>
          <p:nvPr/>
        </p:nvSpPr>
        <p:spPr>
          <a:xfrm>
            <a:off x="399825" y="1083779"/>
            <a:ext cx="8046720" cy="224028"/>
          </a:xfrm>
          <a:prstGeom prst="rect">
            <a:avLst/>
          </a:prstGeom>
          <a:noFill/>
          <a:ln/>
        </p:spPr>
        <p:txBody>
          <a:bodyPr wrap="square" rtlCol="0" anchor="t"/>
          <a:lstStyle/>
          <a:p>
            <a:pPr marL="0" indent="0">
              <a:buNone/>
            </a:pPr>
            <a:r>
              <a:rPr lang="en-US" sz="1200" dirty="0">
                <a:solidFill>
                  <a:srgbClr val="27313B"/>
                </a:solidFill>
                <a:latin typeface="Calibri" pitchFamily="34" charset="0"/>
                <a:ea typeface="Calibri" pitchFamily="34" charset="-122"/>
                <a:cs typeface="Calibri" pitchFamily="34" charset="-120"/>
              </a:rPr>
              <a:t>Chimbetete C et al. PLoS One. 2020;15(8):e0237904 — Newlands Clinic, Harare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402479237"/>
              </p:ext>
            </p:extLst>
          </p:nvPr>
        </p:nvGraphicFramePr>
        <p:xfrm>
          <a:off x="428625" y="1380367"/>
          <a:ext cx="3937636" cy="1280160"/>
        </p:xfrm>
        <a:graphic>
          <a:graphicData uri="http://schemas.openxmlformats.org/drawingml/2006/table">
            <a:tbl>
              <a:tblPr/>
              <a:tblGrid>
                <a:gridCol w="1968818">
                  <a:extLst>
                    <a:ext uri="{9D8B030D-6E8A-4147-A177-3AD203B41FA5}">
                      <a16:colId xmlns:a16="http://schemas.microsoft.com/office/drawing/2014/main" val="20000"/>
                    </a:ext>
                  </a:extLst>
                </a:gridCol>
                <a:gridCol w="1968818">
                  <a:extLst>
                    <a:ext uri="{9D8B030D-6E8A-4147-A177-3AD203B41FA5}">
                      <a16:colId xmlns:a16="http://schemas.microsoft.com/office/drawing/2014/main" val="20001"/>
                    </a:ext>
                  </a:extLst>
                </a:gridCol>
              </a:tblGrid>
              <a:tr h="25603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Parameter</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Patients followed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4,868</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Person-years accumulated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27,527</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Deaths during follow-up</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506</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All-cause mortality rate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18.4 per 1,000 PY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p:nvPr/>
        </p:nvSpPr>
        <p:spPr>
          <a:xfrm>
            <a:off x="428625" y="2760540"/>
            <a:ext cx="3937635" cy="166164"/>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506 / 27,527 = 0.01837 per PY= 18.4 per 1,000 person-years</a:t>
            </a:r>
            <a:endParaRPr lang="en-US" sz="1100" dirty="0"/>
          </a:p>
        </p:txBody>
      </p:sp>
      <p:sp>
        <p:nvSpPr>
          <p:cNvPr id="11" name="Text 8"/>
          <p:cNvSpPr/>
          <p:nvPr/>
        </p:nvSpPr>
        <p:spPr>
          <a:xfrm>
            <a:off x="428625" y="2983853"/>
            <a:ext cx="3937635" cy="314039"/>
          </a:xfrm>
          <a:prstGeom prst="rect">
            <a:avLst/>
          </a:prstGeom>
          <a:noFill/>
          <a:ln/>
        </p:spPr>
        <p:txBody>
          <a:bodyPr wrap="square" rtlCol="0" anchor="t"/>
          <a:lstStyle/>
          <a:p>
            <a:pPr marL="0" indent="0">
              <a:buNone/>
            </a:pPr>
            <a:r>
              <a:rPr lang="en-US" sz="1100" dirty="0">
                <a:solidFill>
                  <a:srgbClr val="5B6B7C"/>
                </a:solidFill>
                <a:latin typeface="Calibri" pitchFamily="34" charset="0"/>
                <a:ea typeface="Calibri" pitchFamily="34" charset="-122"/>
                <a:cs typeface="Calibri" pitchFamily="34" charset="-120"/>
              </a:rPr>
              <a:t>Simple count denominator (506/4,868 = 10.4%) would incorrectly treat a patient observed for 1 month the same as one followed 13 years.</a:t>
            </a:r>
            <a:endParaRPr lang="en-US" sz="1100" dirty="0"/>
          </a:p>
        </p:txBody>
      </p:sp>
      <p:sp>
        <p:nvSpPr>
          <p:cNvPr id="9" name="Shape 9"/>
          <p:cNvSpPr/>
          <p:nvPr/>
        </p:nvSpPr>
        <p:spPr>
          <a:xfrm>
            <a:off x="4537710" y="1380367"/>
            <a:ext cx="3937635" cy="3737753"/>
          </a:xfrm>
          <a:prstGeom prst="roundRect">
            <a:avLst>
              <a:gd name="adj" fmla="val 1223"/>
            </a:avLst>
          </a:prstGeom>
          <a:solidFill>
            <a:srgbClr val="25374F"/>
          </a:solidFill>
          <a:ln/>
          <a:effectLst>
            <a:outerShdw blurRad="76200" dist="25400" dir="2700000" algn="bl" rotWithShape="0">
              <a:srgbClr val="1B2A3D">
                <a:alpha val="8000"/>
              </a:srgbClr>
            </a:outerShdw>
          </a:effectLst>
        </p:spPr>
        <p:txBody>
          <a:bodyPr/>
          <a:lstStyle/>
          <a:p>
            <a:endParaRPr lang="en-ZW"/>
          </a:p>
        </p:txBody>
      </p:sp>
      <p:sp>
        <p:nvSpPr>
          <p:cNvPr id="13" name="Text 10"/>
          <p:cNvSpPr/>
          <p:nvPr/>
        </p:nvSpPr>
        <p:spPr>
          <a:xfrm>
            <a:off x="4666298" y="1494667"/>
            <a:ext cx="3680460" cy="159734"/>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LEADING CAUSES OF DEATH</a:t>
            </a:r>
            <a:endParaRPr lang="en-US" sz="1100" dirty="0"/>
          </a:p>
        </p:txBody>
      </p:sp>
      <p:sp>
        <p:nvSpPr>
          <p:cNvPr id="14" name="Text 11"/>
          <p:cNvSpPr/>
          <p:nvPr/>
        </p:nvSpPr>
        <p:spPr>
          <a:xfrm>
            <a:off x="4666298" y="1711551"/>
            <a:ext cx="3680460" cy="224028"/>
          </a:xfrm>
          <a:prstGeom prst="rect">
            <a:avLst/>
          </a:prstGeom>
          <a:noFill/>
          <a:ln/>
        </p:spPr>
        <p:txBody>
          <a:bodyPr wrap="square" rtlCol="0" anchor="t"/>
          <a:lstStyle/>
          <a:p>
            <a:pPr marL="0" indent="0">
              <a:buNone/>
            </a:pPr>
            <a:r>
              <a:rPr lang="en-US" sz="1100" dirty="0">
                <a:solidFill>
                  <a:srgbClr val="E8ECF0"/>
                </a:solidFill>
                <a:latin typeface="Calibri" pitchFamily="34" charset="0"/>
                <a:ea typeface="Calibri" pitchFamily="34" charset="-122"/>
                <a:cs typeface="Calibri" pitchFamily="34" charset="-120"/>
              </a:rPr>
              <a:t>Tuberculosis</a:t>
            </a:r>
            <a:endParaRPr lang="en-US" sz="1100" dirty="0"/>
          </a:p>
        </p:txBody>
      </p:sp>
      <p:sp>
        <p:nvSpPr>
          <p:cNvPr id="15" name="Text 12"/>
          <p:cNvSpPr/>
          <p:nvPr/>
        </p:nvSpPr>
        <p:spPr>
          <a:xfrm>
            <a:off x="4666298" y="1992729"/>
            <a:ext cx="3680460" cy="224028"/>
          </a:xfrm>
          <a:prstGeom prst="rect">
            <a:avLst/>
          </a:prstGeom>
          <a:noFill/>
          <a:ln/>
        </p:spPr>
        <p:txBody>
          <a:bodyPr wrap="square" rtlCol="0" anchor="t"/>
          <a:lstStyle/>
          <a:p>
            <a:pPr marL="0" indent="0">
              <a:buNone/>
            </a:pPr>
            <a:r>
              <a:rPr lang="en-US" sz="1100" dirty="0">
                <a:solidFill>
                  <a:srgbClr val="E63425"/>
                </a:solidFill>
                <a:latin typeface="Calibri" pitchFamily="34" charset="0"/>
                <a:ea typeface="Calibri" pitchFamily="34" charset="-122"/>
                <a:cs typeface="Calibri" pitchFamily="34" charset="-120"/>
              </a:rPr>
              <a:t>14.1%</a:t>
            </a:r>
            <a:endParaRPr lang="en-US" sz="1100" dirty="0"/>
          </a:p>
        </p:txBody>
      </p:sp>
      <p:sp>
        <p:nvSpPr>
          <p:cNvPr id="16" name="Text 13"/>
          <p:cNvSpPr/>
          <p:nvPr/>
        </p:nvSpPr>
        <p:spPr>
          <a:xfrm>
            <a:off x="4666298" y="2273907"/>
            <a:ext cx="3680460" cy="224028"/>
          </a:xfrm>
          <a:prstGeom prst="rect">
            <a:avLst/>
          </a:prstGeom>
          <a:noFill/>
          <a:ln/>
        </p:spPr>
        <p:txBody>
          <a:bodyPr wrap="square" rtlCol="0" anchor="t"/>
          <a:lstStyle/>
          <a:p>
            <a:pPr marL="0" indent="0">
              <a:buNone/>
            </a:pPr>
            <a:r>
              <a:rPr lang="en-US" sz="1100" dirty="0">
                <a:solidFill>
                  <a:srgbClr val="E8ECF0"/>
                </a:solidFill>
                <a:latin typeface="Calibri" pitchFamily="34" charset="0"/>
                <a:ea typeface="Calibri" pitchFamily="34" charset="-122"/>
                <a:cs typeface="Calibri" pitchFamily="34" charset="-120"/>
              </a:rPr>
              <a:t>Non-communicable diseases</a:t>
            </a:r>
            <a:endParaRPr lang="en-US" sz="1100" dirty="0"/>
          </a:p>
        </p:txBody>
      </p:sp>
      <p:sp>
        <p:nvSpPr>
          <p:cNvPr id="17" name="Text 14"/>
          <p:cNvSpPr/>
          <p:nvPr/>
        </p:nvSpPr>
        <p:spPr>
          <a:xfrm>
            <a:off x="4666298" y="2555085"/>
            <a:ext cx="3680460" cy="224028"/>
          </a:xfrm>
          <a:prstGeom prst="rect">
            <a:avLst/>
          </a:prstGeom>
          <a:noFill/>
          <a:ln/>
        </p:spPr>
        <p:txBody>
          <a:bodyPr wrap="square" rtlCol="0" anchor="t"/>
          <a:lstStyle/>
          <a:p>
            <a:pPr marL="0" indent="0">
              <a:buNone/>
            </a:pPr>
            <a:r>
              <a:rPr lang="en-US" sz="1100" dirty="0">
                <a:solidFill>
                  <a:srgbClr val="E63425"/>
                </a:solidFill>
                <a:latin typeface="Calibri" pitchFamily="34" charset="0"/>
                <a:ea typeface="Calibri" pitchFamily="34" charset="-122"/>
                <a:cs typeface="Calibri" pitchFamily="34" charset="-120"/>
              </a:rPr>
              <a:t>11.9%</a:t>
            </a:r>
            <a:endParaRPr lang="en-US" sz="1100" dirty="0"/>
          </a:p>
        </p:txBody>
      </p:sp>
      <p:sp>
        <p:nvSpPr>
          <p:cNvPr id="18" name="Text 15"/>
          <p:cNvSpPr/>
          <p:nvPr/>
        </p:nvSpPr>
        <p:spPr>
          <a:xfrm>
            <a:off x="4666298" y="2836263"/>
            <a:ext cx="3680460" cy="224028"/>
          </a:xfrm>
          <a:prstGeom prst="rect">
            <a:avLst/>
          </a:prstGeom>
          <a:noFill/>
          <a:ln/>
        </p:spPr>
        <p:txBody>
          <a:bodyPr wrap="square" rtlCol="0" anchor="t"/>
          <a:lstStyle/>
          <a:p>
            <a:pPr marL="0" indent="0">
              <a:buNone/>
            </a:pPr>
            <a:r>
              <a:rPr lang="en-US" sz="1100" dirty="0">
                <a:solidFill>
                  <a:srgbClr val="E8ECF0"/>
                </a:solidFill>
                <a:latin typeface="Calibri" pitchFamily="34" charset="0"/>
                <a:ea typeface="Calibri" pitchFamily="34" charset="-122"/>
                <a:cs typeface="Calibri" pitchFamily="34" charset="-120"/>
              </a:rPr>
              <a:t>Malignancies</a:t>
            </a:r>
            <a:endParaRPr lang="en-US" sz="1100" dirty="0"/>
          </a:p>
        </p:txBody>
      </p:sp>
      <p:sp>
        <p:nvSpPr>
          <p:cNvPr id="19" name="Text 16"/>
          <p:cNvSpPr/>
          <p:nvPr/>
        </p:nvSpPr>
        <p:spPr>
          <a:xfrm>
            <a:off x="4666298" y="3117441"/>
            <a:ext cx="3680460" cy="224028"/>
          </a:xfrm>
          <a:prstGeom prst="rect">
            <a:avLst/>
          </a:prstGeom>
          <a:noFill/>
          <a:ln/>
        </p:spPr>
        <p:txBody>
          <a:bodyPr wrap="square" rtlCol="0" anchor="t"/>
          <a:lstStyle/>
          <a:p>
            <a:pPr marL="0" indent="0">
              <a:buNone/>
            </a:pPr>
            <a:r>
              <a:rPr lang="en-US" sz="1100" dirty="0">
                <a:solidFill>
                  <a:srgbClr val="E63425"/>
                </a:solidFill>
                <a:latin typeface="Calibri" pitchFamily="34" charset="0"/>
                <a:ea typeface="Calibri" pitchFamily="34" charset="-122"/>
                <a:cs typeface="Calibri" pitchFamily="34" charset="-120"/>
              </a:rPr>
              <a:t>10.7%</a:t>
            </a:r>
            <a:endParaRPr lang="en-US" sz="1100" dirty="0"/>
          </a:p>
        </p:txBody>
      </p:sp>
      <p:sp>
        <p:nvSpPr>
          <p:cNvPr id="20" name="Text 17"/>
          <p:cNvSpPr/>
          <p:nvPr/>
        </p:nvSpPr>
        <p:spPr>
          <a:xfrm>
            <a:off x="4666298" y="3398619"/>
            <a:ext cx="3680460" cy="224028"/>
          </a:xfrm>
          <a:prstGeom prst="rect">
            <a:avLst/>
          </a:prstGeom>
          <a:noFill/>
          <a:ln/>
        </p:spPr>
        <p:txBody>
          <a:bodyPr wrap="square" rtlCol="0" anchor="t"/>
          <a:lstStyle/>
          <a:p>
            <a:pPr marL="0" indent="0">
              <a:buNone/>
            </a:pPr>
            <a:r>
              <a:rPr lang="en-US" sz="1100" dirty="0">
                <a:solidFill>
                  <a:srgbClr val="E8ECF0"/>
                </a:solidFill>
                <a:latin typeface="Calibri" pitchFamily="34" charset="0"/>
                <a:ea typeface="Calibri" pitchFamily="34" charset="-122"/>
                <a:cs typeface="Calibri" pitchFamily="34" charset="-120"/>
              </a:rPr>
              <a:t>Meningitis</a:t>
            </a:r>
            <a:endParaRPr lang="en-US" sz="1100" dirty="0"/>
          </a:p>
        </p:txBody>
      </p:sp>
      <p:sp>
        <p:nvSpPr>
          <p:cNvPr id="21" name="Text 18"/>
          <p:cNvSpPr/>
          <p:nvPr/>
        </p:nvSpPr>
        <p:spPr>
          <a:xfrm>
            <a:off x="4666298" y="3679797"/>
            <a:ext cx="3680460" cy="224028"/>
          </a:xfrm>
          <a:prstGeom prst="rect">
            <a:avLst/>
          </a:prstGeom>
          <a:noFill/>
          <a:ln/>
        </p:spPr>
        <p:txBody>
          <a:bodyPr wrap="square" rtlCol="0" anchor="t"/>
          <a:lstStyle/>
          <a:p>
            <a:pPr marL="0" indent="0">
              <a:buNone/>
            </a:pPr>
            <a:r>
              <a:rPr lang="en-US" sz="1100" dirty="0">
                <a:solidFill>
                  <a:srgbClr val="E63425"/>
                </a:solidFill>
                <a:latin typeface="Calibri" pitchFamily="34" charset="0"/>
                <a:ea typeface="Calibri" pitchFamily="34" charset="-122"/>
                <a:cs typeface="Calibri" pitchFamily="34" charset="-120"/>
              </a:rPr>
              <a:t>9.1%</a:t>
            </a:r>
            <a:endParaRPr lang="en-US" sz="1100" dirty="0"/>
          </a:p>
        </p:txBody>
      </p:sp>
      <p:sp>
        <p:nvSpPr>
          <p:cNvPr id="22" name="Text 19"/>
          <p:cNvSpPr/>
          <p:nvPr/>
        </p:nvSpPr>
        <p:spPr>
          <a:xfrm>
            <a:off x="4666298" y="3960975"/>
            <a:ext cx="3680460" cy="224028"/>
          </a:xfrm>
          <a:prstGeom prst="rect">
            <a:avLst/>
          </a:prstGeom>
          <a:noFill/>
          <a:ln/>
        </p:spPr>
        <p:txBody>
          <a:bodyPr wrap="square" rtlCol="0" anchor="t"/>
          <a:lstStyle/>
          <a:p>
            <a:pPr marL="0" indent="0">
              <a:buNone/>
            </a:pPr>
            <a:r>
              <a:rPr lang="en-US" sz="1100" dirty="0">
                <a:solidFill>
                  <a:srgbClr val="E8ECF0"/>
                </a:solidFill>
                <a:latin typeface="Calibri" pitchFamily="34" charset="0"/>
                <a:ea typeface="Calibri" pitchFamily="34" charset="-122"/>
                <a:cs typeface="Calibri" pitchFamily="34" charset="-120"/>
              </a:rPr>
              <a:t>Unknown</a:t>
            </a:r>
            <a:endParaRPr lang="en-US" sz="1100" dirty="0"/>
          </a:p>
        </p:txBody>
      </p:sp>
      <p:sp>
        <p:nvSpPr>
          <p:cNvPr id="23" name="Text 20"/>
          <p:cNvSpPr/>
          <p:nvPr/>
        </p:nvSpPr>
        <p:spPr>
          <a:xfrm>
            <a:off x="4666298" y="4242153"/>
            <a:ext cx="3680460" cy="224028"/>
          </a:xfrm>
          <a:prstGeom prst="rect">
            <a:avLst/>
          </a:prstGeom>
          <a:noFill/>
          <a:ln/>
        </p:spPr>
        <p:txBody>
          <a:bodyPr wrap="square" rtlCol="0" anchor="t"/>
          <a:lstStyle/>
          <a:p>
            <a:pPr marL="0" indent="0">
              <a:buNone/>
            </a:pPr>
            <a:r>
              <a:rPr lang="en-US" sz="1100" dirty="0">
                <a:solidFill>
                  <a:srgbClr val="E63425"/>
                </a:solidFill>
                <a:latin typeface="Calibri" pitchFamily="34" charset="0"/>
                <a:ea typeface="Calibri" pitchFamily="34" charset="-122"/>
                <a:cs typeface="Calibri" pitchFamily="34" charset="-120"/>
              </a:rPr>
              <a:t>15.0%</a:t>
            </a:r>
            <a:endParaRPr lang="en-US" sz="1100" dirty="0"/>
          </a:p>
        </p:txBody>
      </p:sp>
      <p:sp>
        <p:nvSpPr>
          <p:cNvPr id="24" name="Text 21"/>
          <p:cNvSpPr/>
          <p:nvPr/>
        </p:nvSpPr>
        <p:spPr>
          <a:xfrm>
            <a:off x="4666298" y="4523331"/>
            <a:ext cx="3680460" cy="423339"/>
          </a:xfrm>
          <a:prstGeom prst="rect">
            <a:avLst/>
          </a:prstGeom>
          <a:noFill/>
          <a:ln/>
        </p:spPr>
        <p:txBody>
          <a:bodyPr wrap="square" rtlCol="0" anchor="t"/>
          <a:lstStyle/>
          <a:p>
            <a:pPr marL="0" indent="0">
              <a:buNone/>
            </a:pPr>
            <a:r>
              <a:rPr lang="en-US" sz="1100" i="1" dirty="0">
                <a:solidFill>
                  <a:srgbClr val="9FB0C2"/>
                </a:solidFill>
                <a:latin typeface="Calibri" pitchFamily="34" charset="0"/>
                <a:ea typeface="Calibri" pitchFamily="34" charset="-122"/>
                <a:cs typeface="Calibri" pitchFamily="34" charset="-120"/>
              </a:rPr>
              <a:t>Near-threefold increase in the NCD/malignancy share of deaths across 2004–2017 — only detectable using person-time allowing comparison across calendar eras.</a:t>
            </a:r>
            <a:endParaRPr lang="en-US" sz="1100" dirty="0"/>
          </a:p>
        </p:txBody>
      </p:sp>
      <p:pic>
        <p:nvPicPr>
          <p:cNvPr id="25" name="Picture 24">
            <a:extLst>
              <a:ext uri="{FF2B5EF4-FFF2-40B4-BE49-F238E27FC236}">
                <a16:creationId xmlns:a16="http://schemas.microsoft.com/office/drawing/2014/main" id="{B9C4F8BE-9675-22A2-C908-B6B80FC949D7}"/>
              </a:ext>
            </a:extLst>
          </p:cNvPr>
          <p:cNvPicPr>
            <a:picLocks noChangeAspect="1"/>
          </p:cNvPicPr>
          <p:nvPr/>
        </p:nvPicPr>
        <p:blipFill>
          <a:blip r:embed="rId3"/>
          <a:stretch>
            <a:fillRect/>
          </a:stretch>
        </p:blipFill>
        <p:spPr>
          <a:xfrm>
            <a:off x="7965371" y="133434"/>
            <a:ext cx="1085760" cy="590382"/>
          </a:xfrm>
          <a:prstGeom prst="rect">
            <a:avLst/>
          </a:prstGeom>
        </p:spPr>
      </p:pic>
      <p:pic>
        <p:nvPicPr>
          <p:cNvPr id="3" name="Picture 2">
            <a:extLst>
              <a:ext uri="{FF2B5EF4-FFF2-40B4-BE49-F238E27FC236}">
                <a16:creationId xmlns:a16="http://schemas.microsoft.com/office/drawing/2014/main" id="{83885285-5BE3-427D-D254-6F7316E958B6}"/>
              </a:ext>
            </a:extLst>
          </p:cNvPr>
          <p:cNvPicPr>
            <a:picLocks noChangeAspect="1"/>
          </p:cNvPicPr>
          <p:nvPr/>
        </p:nvPicPr>
        <p:blipFill>
          <a:blip r:embed="rId4"/>
          <a:stretch>
            <a:fillRect/>
          </a:stretch>
        </p:blipFill>
        <p:spPr>
          <a:xfrm>
            <a:off x="1182914" y="3698337"/>
            <a:ext cx="2095335" cy="6814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3 — CHECK YOUR UNDERSTANDING</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Dynamic Rate Calculation</a:t>
            </a:r>
            <a:endParaRPr lang="en-US" sz="2200" dirty="0"/>
          </a:p>
        </p:txBody>
      </p:sp>
      <p:sp>
        <p:nvSpPr>
          <p:cNvPr id="8" name="Text 6"/>
          <p:cNvSpPr/>
          <p:nvPr/>
        </p:nvSpPr>
        <p:spPr>
          <a:xfrm>
            <a:off x="428625" y="1138428"/>
            <a:ext cx="8046720" cy="37833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 study tracks open-cohort patients for hypertension. The investigators compile a total of 2,000 person-years of observation time. Over this period, 14 new confirmed hypertension cases are diagnosed.</a:t>
            </a:r>
            <a:endParaRPr lang="en-US" sz="1100" dirty="0"/>
          </a:p>
        </p:txBody>
      </p:sp>
      <p:sp>
        <p:nvSpPr>
          <p:cNvPr id="9" name="Text 7"/>
          <p:cNvSpPr/>
          <p:nvPr/>
        </p:nvSpPr>
        <p:spPr>
          <a:xfrm>
            <a:off x="428625" y="1573911"/>
            <a:ext cx="8046720" cy="185452"/>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What is the incidence rate per 1,000 person-years?</a:t>
            </a:r>
            <a:endParaRPr lang="en-US" sz="1100" dirty="0"/>
          </a:p>
        </p:txBody>
      </p:sp>
      <p:sp>
        <p:nvSpPr>
          <p:cNvPr id="101" name="Card101"/>
          <p:cNvSpPr/>
          <p:nvPr/>
        </p:nvSpPr>
        <p:spPr>
          <a:xfrm>
            <a:off x="428625" y="1816513"/>
            <a:ext cx="8046720" cy="750000"/>
          </a:xfrm>
          <a:prstGeom prst="roundRect">
            <a:avLst>
              <a:gd name="adj" fmla="val 4500"/>
            </a:avLst>
          </a:prstGeom>
          <a:solidFill>
            <a:srgbClr val="F4F5F7"/>
          </a:solidFill>
          <a:ln/>
          <a:effectLst>
            <a:outerShdw blurRad="76200" dist="25400" dir="2700000" algn="bl" rotWithShape="0">
              <a:srgbClr val="1B2A3D">
                <a:alpha val="8000"/>
              </a:srgbClr>
            </a:outerShdw>
          </a:effectLst>
        </p:spPr>
        <p:txBody>
          <a:bodyPr/>
          <a:lstStyle/>
          <a:p>
            <a:endParaRPr lang="en-ZW" sz="1100"/>
          </a:p>
        </p:txBody>
      </p:sp>
      <p:sp>
        <p:nvSpPr>
          <p:cNvPr id="102" name="Icon102"/>
          <p:cNvSpPr/>
          <p:nvPr/>
        </p:nvSpPr>
        <p:spPr>
          <a:xfrm>
            <a:off x="520065" y="1907953"/>
            <a:ext cx="158750" cy="158750"/>
          </a:xfrm>
          <a:prstGeom prst="ellipse">
            <a:avLst/>
          </a:prstGeom>
          <a:solidFill>
            <a:srgbClr val="E63425"/>
          </a:solidFill>
          <a:ln/>
        </p:spPr>
        <p:txBody>
          <a:bodyPr/>
          <a:lstStyle/>
          <a:p>
            <a:endParaRPr lang="en-ZW" sz="1100"/>
          </a:p>
        </p:txBody>
      </p:sp>
      <p:sp>
        <p:nvSpPr>
          <p:cNvPr id="202" name="IconTxt202"/>
          <p:cNvSpPr/>
          <p:nvPr/>
        </p:nvSpPr>
        <p:spPr>
          <a:xfrm>
            <a:off x="520065" y="1907953"/>
            <a:ext cx="158750" cy="15875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03" name="Label103"/>
          <p:cNvSpPr/>
          <p:nvPr/>
        </p:nvSpPr>
        <p:spPr>
          <a:xfrm>
            <a:off x="770255" y="1927328"/>
            <a:ext cx="7613650" cy="200000"/>
          </a:xfrm>
          <a:prstGeom prst="rect">
            <a:avLst/>
          </a:prstGeom>
          <a:noFill/>
          <a:ln/>
        </p:spPr>
        <p:txBody>
          <a:bodyPr wrap="square" rtlCol="0" anchor="ctr"/>
          <a:lstStyle/>
          <a:p>
            <a:pPr marL="0" indent="0">
              <a:buNone/>
            </a:pPr>
            <a:r>
              <a:rPr lang="en-US" sz="1050" b="1" kern="0" spc="75" dirty="0">
                <a:solidFill>
                  <a:srgbClr val="E63425"/>
                </a:solidFill>
                <a:latin typeface="Calibri" pitchFamily="34" charset="0"/>
                <a:ea typeface="Calibri" pitchFamily="34" charset="-122"/>
                <a:cs typeface="Calibri" pitchFamily="34" charset="-120"/>
              </a:rPr>
              <a:t>THE ANSWER</a:t>
            </a:r>
            <a:endParaRPr lang="en-US" sz="1050" dirty="0"/>
          </a:p>
        </p:txBody>
      </p:sp>
      <p:sp>
        <p:nvSpPr>
          <p:cNvPr id="104" name="Body104"/>
          <p:cNvSpPr/>
          <p:nvPr/>
        </p:nvSpPr>
        <p:spPr>
          <a:xfrm>
            <a:off x="520065" y="2146703"/>
            <a:ext cx="7863840" cy="328370"/>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Rate = 14 / 2,000 PY = 0.007 per PY. Scaled to per 1,000 person-years: 0.007 × 1,000 = 7.0 per 1,000 PY.</a:t>
            </a:r>
            <a:endParaRPr lang="en-US" sz="1100" dirty="0"/>
          </a:p>
        </p:txBody>
      </p:sp>
      <p:sp>
        <p:nvSpPr>
          <p:cNvPr id="201" name="Card201"/>
          <p:cNvSpPr/>
          <p:nvPr/>
        </p:nvSpPr>
        <p:spPr>
          <a:xfrm>
            <a:off x="428625" y="2756513"/>
            <a:ext cx="8046720" cy="950000"/>
          </a:xfrm>
          <a:prstGeom prst="roundRect">
            <a:avLst>
              <a:gd name="adj" fmla="val 4500"/>
            </a:avLst>
          </a:prstGeom>
          <a:solidFill>
            <a:srgbClr val="25374F"/>
          </a:solidFill>
          <a:ln/>
          <a:effectLst>
            <a:outerShdw blurRad="76200" dist="25400" dir="2700000" algn="bl" rotWithShape="0">
              <a:srgbClr val="1B2A3D">
                <a:alpha val="8000"/>
              </a:srgbClr>
            </a:outerShdw>
          </a:effectLst>
        </p:spPr>
        <p:txBody>
          <a:bodyPr/>
          <a:lstStyle/>
          <a:p>
            <a:endParaRPr lang="en-ZW" sz="1100"/>
          </a:p>
        </p:txBody>
      </p:sp>
      <p:sp>
        <p:nvSpPr>
          <p:cNvPr id="2" name="Icon202"/>
          <p:cNvSpPr/>
          <p:nvPr/>
        </p:nvSpPr>
        <p:spPr>
          <a:xfrm>
            <a:off x="520065" y="2847953"/>
            <a:ext cx="158750" cy="158750"/>
          </a:xfrm>
          <a:prstGeom prst="ellipse">
            <a:avLst/>
          </a:prstGeom>
          <a:solidFill>
            <a:srgbClr val="F2A93B"/>
          </a:solidFill>
          <a:ln/>
        </p:spPr>
        <p:txBody>
          <a:bodyPr/>
          <a:lstStyle/>
          <a:p>
            <a:endParaRPr lang="en-ZW" sz="1100"/>
          </a:p>
        </p:txBody>
      </p:sp>
      <p:sp>
        <p:nvSpPr>
          <p:cNvPr id="302" name="IconTxt302"/>
          <p:cNvSpPr/>
          <p:nvPr/>
        </p:nvSpPr>
        <p:spPr>
          <a:xfrm>
            <a:off x="520065" y="2847953"/>
            <a:ext cx="158750" cy="15875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03" name="Label203"/>
          <p:cNvSpPr/>
          <p:nvPr/>
        </p:nvSpPr>
        <p:spPr>
          <a:xfrm>
            <a:off x="770255" y="2867328"/>
            <a:ext cx="7613650" cy="200000"/>
          </a:xfrm>
          <a:prstGeom prst="rect">
            <a:avLst/>
          </a:prstGeom>
          <a:noFill/>
          <a:ln/>
        </p:spPr>
        <p:txBody>
          <a:bodyPr wrap="square" rtlCol="0" anchor="ctr"/>
          <a:lstStyle/>
          <a:p>
            <a:pPr marL="0" indent="0">
              <a:buNone/>
            </a:pPr>
            <a:r>
              <a:rPr lang="en-US" sz="1050" b="1" kern="0" spc="75" dirty="0">
                <a:solidFill>
                  <a:srgbClr val="F2A93B"/>
                </a:solidFill>
                <a:latin typeface="Calibri" pitchFamily="34" charset="0"/>
                <a:ea typeface="Calibri" pitchFamily="34" charset="-122"/>
                <a:cs typeface="Calibri" pitchFamily="34" charset="-120"/>
              </a:rPr>
              <a:t>COMMON MISTAKE TO AVOID</a:t>
            </a:r>
            <a:endParaRPr lang="en-US" sz="1050" dirty="0"/>
          </a:p>
        </p:txBody>
      </p:sp>
      <p:sp>
        <p:nvSpPr>
          <p:cNvPr id="204" name="Body204"/>
          <p:cNvSpPr/>
          <p:nvPr/>
        </p:nvSpPr>
        <p:spPr>
          <a:xfrm>
            <a:off x="520065" y="3086703"/>
            <a:ext cx="7863840" cy="528370"/>
          </a:xfrm>
          <a:prstGeom prst="rect">
            <a:avLst/>
          </a:prstGeom>
          <a:noFill/>
          <a:ln/>
        </p:spPr>
        <p:txBody>
          <a:bodyPr wrap="square" rtlCol="0" anchor="t"/>
          <a:lstStyle/>
          <a:p>
            <a:pPr marL="0" indent="0">
              <a:buNone/>
            </a:pPr>
            <a:r>
              <a:rPr lang="en-US" sz="1100" dirty="0">
                <a:solidFill>
                  <a:srgbClr val="DCE3EA"/>
                </a:solidFill>
                <a:latin typeface="Calibri" pitchFamily="34" charset="0"/>
                <a:ea typeface="Calibri" pitchFamily="34" charset="-122"/>
                <a:cs typeface="Calibri" pitchFamily="34" charset="-120"/>
              </a:rPr>
              <a:t>The usual slip is forgetting to rescale — 0.007 per PY and 7.0 per 1,000 PY are the same rate on different bases. Person-time denominators don’t need a baseline headcount; the total time observed is enough.</a:t>
            </a:r>
            <a:endParaRPr lang="en-US" sz="1100" dirty="0"/>
          </a:p>
        </p:txBody>
      </p:sp>
      <p:pic>
        <p:nvPicPr>
          <p:cNvPr id="12" name="Picture 11">
            <a:extLst>
              <a:ext uri="{FF2B5EF4-FFF2-40B4-BE49-F238E27FC236}">
                <a16:creationId xmlns:a16="http://schemas.microsoft.com/office/drawing/2014/main" id="{DFEFD94B-0BC0-7444-19EC-D538B6854293}"/>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500"/>
                                        <p:tgtEl>
                                          <p:spTgt spid="1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fade">
                                      <p:cBhvr>
                                        <p:cTn id="10" dur="500"/>
                                        <p:tgtEl>
                                          <p:spTgt spid="1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1"/>
                                        </p:tgtEl>
                                        <p:attrNameLst>
                                          <p:attrName>style.visibility</p:attrName>
                                        </p:attrNameLst>
                                      </p:cBhvr>
                                      <p:to>
                                        <p:strVal val="visible"/>
                                      </p:to>
                                    </p:set>
                                    <p:animEffect transition="in" filter="fade">
                                      <p:cBhvr>
                                        <p:cTn id="13" dur="500"/>
                                        <p:tgtEl>
                                          <p:spTgt spid="10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500"/>
                                        <p:tgtEl>
                                          <p:spTgt spid="10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3"/>
                                        </p:tgtEl>
                                        <p:attrNameLst>
                                          <p:attrName>style.visibility</p:attrName>
                                        </p:attrNameLst>
                                      </p:cBhvr>
                                      <p:to>
                                        <p:strVal val="visible"/>
                                      </p:to>
                                    </p:set>
                                    <p:animEffect transition="in" filter="fade">
                                      <p:cBhvr>
                                        <p:cTn id="21" dur="500"/>
                                        <p:tgtEl>
                                          <p:spTgt spid="20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1"/>
                                        </p:tgtEl>
                                        <p:attrNameLst>
                                          <p:attrName>style.visibility</p:attrName>
                                        </p:attrNameLst>
                                      </p:cBhvr>
                                      <p:to>
                                        <p:strVal val="visible"/>
                                      </p:to>
                                    </p:set>
                                    <p:animEffect transition="in" filter="fade">
                                      <p:cBhvr>
                                        <p:cTn id="24" dur="500"/>
                                        <p:tgtEl>
                                          <p:spTgt spid="20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4"/>
                                        </p:tgtEl>
                                        <p:attrNameLst>
                                          <p:attrName>style.visibility</p:attrName>
                                        </p:attrNameLst>
                                      </p:cBhvr>
                                      <p:to>
                                        <p:strVal val="visible"/>
                                      </p:to>
                                    </p:set>
                                    <p:animEffect transition="in" filter="fade">
                                      <p:cBhvr>
                                        <p:cTn id="30"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201" grpId="0" animBg="1"/>
      <p:bldP spid="2" grpId="0" animBg="1"/>
      <p:bldP spid="203" grpId="0" animBg="1"/>
      <p:bldP spid="20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4 · ODDS</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Odds: When Cases and Non-Cases Are Compared Directly</a:t>
            </a:r>
            <a:endParaRPr lang="en-US" sz="2200" dirty="0"/>
          </a:p>
        </p:txBody>
      </p:sp>
      <p:sp>
        <p:nvSpPr>
          <p:cNvPr id="8" name="Text 6"/>
          <p:cNvSpPr/>
          <p:nvPr/>
        </p:nvSpPr>
        <p:spPr>
          <a:xfrm>
            <a:off x="428625" y="1515617"/>
            <a:ext cx="4397727" cy="749171"/>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Probability vs Odds</a:t>
            </a:r>
            <a:endParaRPr lang="en-US" sz="1100" b="1" dirty="0"/>
          </a:p>
        </p:txBody>
      </p:sp>
      <p:sp>
        <p:nvSpPr>
          <p:cNvPr id="9" name="Text 7"/>
          <p:cNvSpPr/>
          <p:nvPr/>
        </p:nvSpPr>
        <p:spPr>
          <a:xfrm>
            <a:off x="428625" y="1796796"/>
            <a:ext cx="4397727" cy="577167"/>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Probability = Cases / Total</a:t>
            </a:r>
            <a:br>
              <a:rPr lang="en-US" sz="1100" dirty="0">
                <a:solidFill>
                  <a:srgbClr val="27313B"/>
                </a:solidFill>
                <a:latin typeface="Calibri" pitchFamily="34" charset="0"/>
                <a:ea typeface="Calibri" pitchFamily="34" charset="-122"/>
                <a:cs typeface="Calibri" pitchFamily="34" charset="-120"/>
              </a:rPr>
            </a:br>
            <a:r>
              <a:rPr lang="en-US" sz="1100" dirty="0">
                <a:solidFill>
                  <a:srgbClr val="27313B"/>
                </a:solidFill>
                <a:latin typeface="Calibri" pitchFamily="34" charset="0"/>
                <a:ea typeface="Calibri" pitchFamily="34" charset="-122"/>
                <a:cs typeface="Calibri" pitchFamily="34" charset="-120"/>
              </a:rPr>
              <a:t>Odds = Cases / Non-cases</a:t>
            </a:r>
            <a:endParaRPr lang="en-US" sz="1100" dirty="0"/>
          </a:p>
        </p:txBody>
      </p:sp>
      <p:sp>
        <p:nvSpPr>
          <p:cNvPr id="10" name="Text 8"/>
          <p:cNvSpPr/>
          <p:nvPr/>
        </p:nvSpPr>
        <p:spPr>
          <a:xfrm>
            <a:off x="428625" y="2246539"/>
            <a:ext cx="4397727" cy="1609188"/>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Odds</a:t>
            </a:r>
            <a:r>
              <a:rPr lang="en-US" sz="1100" dirty="0">
                <a:solidFill>
                  <a:srgbClr val="27313B"/>
                </a:solidFill>
                <a:latin typeface="Calibri" pitchFamily="34" charset="0"/>
                <a:ea typeface="Calibri" pitchFamily="34" charset="-122"/>
                <a:cs typeface="Calibri" pitchFamily="34" charset="-120"/>
              </a:rPr>
              <a:t> = Probability / (1 − Probability). When prevalence &lt;10%, odds ≈ probability. When prevalence is high, the two diverge substantially.</a:t>
            </a:r>
            <a:endParaRPr lang="en-US" sz="1100" dirty="0"/>
          </a:p>
        </p:txBody>
      </p:sp>
      <p:sp>
        <p:nvSpPr>
          <p:cNvPr id="11" name="Text 9"/>
          <p:cNvSpPr/>
          <p:nvPr/>
        </p:nvSpPr>
        <p:spPr>
          <a:xfrm>
            <a:off x="393592" y="2778413"/>
            <a:ext cx="3985481" cy="2211202"/>
          </a:xfrm>
          <a:prstGeom prst="rect">
            <a:avLst/>
          </a:prstGeom>
          <a:noFill/>
          <a:ln/>
        </p:spPr>
        <p:txBody>
          <a:bodyPr wrap="square" rtlCol="0" anchor="t"/>
          <a:lstStyle/>
          <a:p>
            <a:pPr marL="0" indent="0">
              <a:buNone/>
            </a:pPr>
            <a:r>
              <a:rPr lang="en-US" sz="1100" b="1" dirty="0">
                <a:solidFill>
                  <a:srgbClr val="27313B"/>
                </a:solidFill>
                <a:latin typeface="Calibri" pitchFamily="34" charset="0"/>
                <a:ea typeface="Calibri" pitchFamily="34" charset="-122"/>
                <a:cs typeface="Calibri" pitchFamily="34" charset="-120"/>
              </a:rPr>
              <a:t>Why odds? </a:t>
            </a:r>
            <a:r>
              <a:rPr lang="en-US" sz="1100" dirty="0">
                <a:solidFill>
                  <a:srgbClr val="27313B"/>
                </a:solidFill>
                <a:latin typeface="Calibri" pitchFamily="34" charset="0"/>
                <a:ea typeface="Calibri" pitchFamily="34" charset="-122"/>
                <a:cs typeface="Calibri" pitchFamily="34" charset="-120"/>
              </a:rPr>
              <a:t>Logistic regression models log-odds. Odds are therefore the natural output of case-control studies and any binary regression analysis. The Odds Ratio is the standard effect measure in case-control designs.</a:t>
            </a:r>
            <a:endParaRPr lang="en-US" sz="1100" dirty="0"/>
          </a:p>
        </p:txBody>
      </p:sp>
      <p:sp>
        <p:nvSpPr>
          <p:cNvPr id="12" name="Shape 10"/>
          <p:cNvSpPr/>
          <p:nvPr/>
        </p:nvSpPr>
        <p:spPr>
          <a:xfrm>
            <a:off x="4537710" y="1515617"/>
            <a:ext cx="4397727" cy="3391815"/>
          </a:xfrm>
          <a:prstGeom prst="roundRect">
            <a:avLst>
              <a:gd name="adj" fmla="val 4508"/>
            </a:avLst>
          </a:prstGeom>
          <a:solidFill>
            <a:srgbClr val="25374F"/>
          </a:solidFill>
          <a:ln/>
          <a:effectLst>
            <a:outerShdw blurRad="76200" dist="25400" dir="2700000" algn="bl" rotWithShape="0">
              <a:srgbClr val="1B2A3D">
                <a:alpha val="8000"/>
              </a:srgbClr>
            </a:outerShdw>
          </a:effectLst>
        </p:spPr>
        <p:txBody>
          <a:bodyPr/>
          <a:lstStyle/>
          <a:p>
            <a:endParaRPr lang="en-ZW" sz="1100"/>
          </a:p>
        </p:txBody>
      </p:sp>
      <p:sp>
        <p:nvSpPr>
          <p:cNvPr id="13" name="Text 11"/>
          <p:cNvSpPr/>
          <p:nvPr/>
        </p:nvSpPr>
        <p:spPr>
          <a:xfrm>
            <a:off x="4666298" y="1629918"/>
            <a:ext cx="4110502" cy="534166"/>
          </a:xfrm>
          <a:prstGeom prst="rect">
            <a:avLst/>
          </a:prstGeom>
          <a:noFill/>
          <a:ln/>
        </p:spPr>
        <p:txBody>
          <a:bodyPr wrap="square" rtlCol="0" anchor="t"/>
          <a:lstStyle/>
          <a:p>
            <a:pPr marL="0" indent="0">
              <a:buNone/>
            </a:pPr>
            <a:r>
              <a:rPr lang="en-US" sz="1100" b="1" dirty="0">
                <a:solidFill>
                  <a:srgbClr val="E63425"/>
                </a:solidFill>
                <a:latin typeface="Calibri" pitchFamily="34" charset="0"/>
                <a:ea typeface="Calibri" pitchFamily="34" charset="-122"/>
                <a:cs typeface="Calibri" pitchFamily="34" charset="-120"/>
              </a:rPr>
              <a:t>CENTRAL OBESITY BY SEX — CHIHOTA ET AL., 2022</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0327694"/>
              </p:ext>
            </p:extLst>
          </p:nvPr>
        </p:nvGraphicFramePr>
        <p:xfrm>
          <a:off x="4666300" y="2093051"/>
          <a:ext cx="4110500" cy="2332293"/>
        </p:xfrm>
        <a:graphic>
          <a:graphicData uri="http://schemas.openxmlformats.org/drawingml/2006/table">
            <a:tbl>
              <a:tblPr/>
              <a:tblGrid>
                <a:gridCol w="805702">
                  <a:extLst>
                    <a:ext uri="{9D8B030D-6E8A-4147-A177-3AD203B41FA5}">
                      <a16:colId xmlns:a16="http://schemas.microsoft.com/office/drawing/2014/main" val="20000"/>
                    </a:ext>
                  </a:extLst>
                </a:gridCol>
                <a:gridCol w="838498">
                  <a:extLst>
                    <a:ext uri="{9D8B030D-6E8A-4147-A177-3AD203B41FA5}">
                      <a16:colId xmlns:a16="http://schemas.microsoft.com/office/drawing/2014/main" val="20001"/>
                    </a:ext>
                  </a:extLst>
                </a:gridCol>
                <a:gridCol w="822100">
                  <a:extLst>
                    <a:ext uri="{9D8B030D-6E8A-4147-A177-3AD203B41FA5}">
                      <a16:colId xmlns:a16="http://schemas.microsoft.com/office/drawing/2014/main" val="20002"/>
                    </a:ext>
                  </a:extLst>
                </a:gridCol>
                <a:gridCol w="822100">
                  <a:extLst>
                    <a:ext uri="{9D8B030D-6E8A-4147-A177-3AD203B41FA5}">
                      <a16:colId xmlns:a16="http://schemas.microsoft.com/office/drawing/2014/main" val="20003"/>
                    </a:ext>
                  </a:extLst>
                </a:gridCol>
                <a:gridCol w="822100">
                  <a:extLst>
                    <a:ext uri="{9D8B030D-6E8A-4147-A177-3AD203B41FA5}">
                      <a16:colId xmlns:a16="http://schemas.microsoft.com/office/drawing/2014/main" val="20004"/>
                    </a:ext>
                  </a:extLst>
                </a:gridCol>
              </a:tblGrid>
              <a:tr h="777431">
                <a:tc>
                  <a:txBody>
                    <a:bodyPr/>
                    <a:lstStyle/>
                    <a:p>
                      <a:pPr marL="0" indent="0">
                        <a:buNone/>
                      </a:pP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Cases</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Non-cases</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Probability</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Odds</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777431">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Women</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365</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158</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70%</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2.31</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777431">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Men</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57</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321</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15%</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1100" dirty="0">
                          <a:solidFill>
                            <a:schemeClr val="bg1"/>
                          </a:solidFill>
                          <a:latin typeface="Calibri" pitchFamily="34" charset="0"/>
                          <a:ea typeface="Calibri" pitchFamily="34" charset="-122"/>
                          <a:cs typeface="Calibri" pitchFamily="34" charset="-120"/>
                        </a:rPr>
                        <a:t>0.18</a:t>
                      </a:r>
                      <a:endParaRPr lang="en-US" sz="1100" dirty="0">
                        <a:solidFill>
                          <a:schemeClr val="bg1"/>
                        </a:solidFill>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5" name="Text 12"/>
          <p:cNvSpPr/>
          <p:nvPr/>
        </p:nvSpPr>
        <p:spPr>
          <a:xfrm>
            <a:off x="4681321" y="1862917"/>
            <a:ext cx="4110502" cy="55566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Odds Ratio (F vs M) = 2.31/0.18 ≈ 13.0</a:t>
            </a:r>
            <a:endParaRPr lang="en-US" sz="1100" dirty="0"/>
          </a:p>
        </p:txBody>
      </p:sp>
      <p:sp>
        <p:nvSpPr>
          <p:cNvPr id="16" name="Text 13"/>
          <p:cNvSpPr/>
          <p:nvPr/>
        </p:nvSpPr>
        <p:spPr>
          <a:xfrm>
            <a:off x="4646998" y="4425344"/>
            <a:ext cx="4110502" cy="964176"/>
          </a:xfrm>
          <a:prstGeom prst="rect">
            <a:avLst/>
          </a:prstGeom>
          <a:noFill/>
          <a:ln/>
        </p:spPr>
        <p:txBody>
          <a:bodyPr wrap="square" rtlCol="0" anchor="t"/>
          <a:lstStyle/>
          <a:p>
            <a:pPr marL="0" indent="0">
              <a:buNone/>
            </a:pPr>
            <a:r>
              <a:rPr lang="en-US" sz="1100" i="1" dirty="0">
                <a:solidFill>
                  <a:srgbClr val="9FB0C2"/>
                </a:solidFill>
                <a:latin typeface="Calibri" pitchFamily="34" charset="0"/>
                <a:ea typeface="Calibri" pitchFamily="34" charset="-122"/>
                <a:cs typeface="Calibri" pitchFamily="34" charset="-120"/>
              </a:rPr>
              <a:t>A 70% probability becomes odds of 2.31 — not 0.70. The rare-disease approximation (OR≈RR) does NOT apply here.</a:t>
            </a:r>
            <a:endParaRPr lang="en-US" sz="1100" dirty="0"/>
          </a:p>
        </p:txBody>
      </p:sp>
      <p:pic>
        <p:nvPicPr>
          <p:cNvPr id="17" name="Picture 16">
            <a:extLst>
              <a:ext uri="{FF2B5EF4-FFF2-40B4-BE49-F238E27FC236}">
                <a16:creationId xmlns:a16="http://schemas.microsoft.com/office/drawing/2014/main" id="{468829E0-E27D-0C15-3867-B7842D2D0205}"/>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5 · PUTTING IT TOGETHER</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Choosing the Right Measure of Occurrence</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8625" y="1138428"/>
          <a:ext cx="8046720" cy="2036064"/>
        </p:xfrm>
        <a:graphic>
          <a:graphicData uri="http://schemas.openxmlformats.org/drawingml/2006/table">
            <a:tbl>
              <a:tblPr/>
              <a:tblGrid>
                <a:gridCol w="1609344">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1609344">
                  <a:extLst>
                    <a:ext uri="{9D8B030D-6E8A-4147-A177-3AD203B41FA5}">
                      <a16:colId xmlns:a16="http://schemas.microsoft.com/office/drawing/2014/main" val="20002"/>
                    </a:ext>
                  </a:extLst>
                </a:gridCol>
                <a:gridCol w="1609344">
                  <a:extLst>
                    <a:ext uri="{9D8B030D-6E8A-4147-A177-3AD203B41FA5}">
                      <a16:colId xmlns:a16="http://schemas.microsoft.com/office/drawing/2014/main" val="20003"/>
                    </a:ext>
                  </a:extLst>
                </a:gridCol>
                <a:gridCol w="1609344">
                  <a:extLst>
                    <a:ext uri="{9D8B030D-6E8A-4147-A177-3AD203B41FA5}">
                      <a16:colId xmlns:a16="http://schemas.microsoft.com/office/drawing/2014/main" val="20004"/>
                    </a:ext>
                  </a:extLst>
                </a:gridCol>
              </a:tblGrid>
              <a:tr h="25603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Measure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Denominator</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Bounded?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Best suited to</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Regional example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25374F"/>
                    </a:solidFill>
                  </a:tcPr>
                </a:tc>
                <a:extLst>
                  <a:ext uri="{0D108BD9-81ED-4DB2-BD59-A6C34878D82A}">
                    <a16:rowId xmlns:a16="http://schemas.microsoft.com/office/drawing/2014/main" val="10000"/>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Point prevalence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Total pop. at one moment</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Cross-sectional burden</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Chihota MetS screen: 19%</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Period prevalence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Pop. at start of window</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Outbreak surveillance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Zimbabwe cholera attack rate: 0.23%</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Incidence risk</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At-risk count at baseline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Closed cohorts, fixed follow-up</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Cheza NCD incidence, Chitungwiza</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Incidence rate</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Person-time at risk</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Unbounded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Open/dynamic cohorts</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Chimbetete mortality: 18.4/1,000 PY</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Odds</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Number of non-cases</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Unbounded</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Case-control; logistic regression</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tc>
                  <a:txBody>
                    <a:bodyPr/>
                    <a:lstStyle/>
                    <a:p>
                      <a:pPr marL="0" indent="0">
                        <a:buNone/>
                      </a:pPr>
                      <a:r>
                        <a:rPr lang="en-US" sz="950" dirty="0">
                          <a:solidFill>
                            <a:srgbClr val="27313B"/>
                          </a:solidFill>
                          <a:latin typeface="Calibri" pitchFamily="34" charset="0"/>
                          <a:ea typeface="Calibri" pitchFamily="34" charset="-122"/>
                          <a:cs typeface="Calibri" pitchFamily="34" charset="-120"/>
                        </a:rPr>
                        <a:t>Chihota central obesity OR≈13.0</a:t>
                      </a:r>
                      <a:endParaRPr lang="en-US" sz="950" dirty="0">
                        <a:latin typeface="Calibri" charset="0"/>
                        <a:ea typeface="Calibri" charset="0"/>
                        <a:cs typeface="Calibri" charset="0"/>
                      </a:endParaRPr>
                    </a:p>
                  </a:txBody>
                  <a:tcPr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500062" y="3230348"/>
            <a:ext cx="142875" cy="142875"/>
          </a:xfrm>
          <a:prstGeom prst="ellipse">
            <a:avLst/>
          </a:prstGeom>
          <a:solidFill>
            <a:srgbClr val="2E8B9B"/>
          </a:solidFill>
          <a:ln/>
        </p:spPr>
        <p:txBody>
          <a:bodyPr/>
          <a:lstStyle/>
          <a:p>
            <a:endParaRPr lang="en-ZW" sz="1100"/>
          </a:p>
        </p:txBody>
      </p:sp>
      <p:sp>
        <p:nvSpPr>
          <p:cNvPr id="10" name="Text 7"/>
          <p:cNvSpPr/>
          <p:nvPr/>
        </p:nvSpPr>
        <p:spPr>
          <a:xfrm>
            <a:off x="714375" y="3216061"/>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Am I counting existing cases at one moment?→</a:t>
            </a:r>
            <a:r>
              <a:rPr lang="en-US" sz="1100" b="1" dirty="0">
                <a:solidFill>
                  <a:srgbClr val="27313B"/>
                </a:solidFill>
                <a:latin typeface="Calibri" pitchFamily="34" charset="0"/>
                <a:ea typeface="Calibri" pitchFamily="34" charset="-122"/>
                <a:cs typeface="Calibri" pitchFamily="34" charset="-120"/>
              </a:rPr>
              <a:t>Point prevalence</a:t>
            </a:r>
            <a:endParaRPr lang="en-US" sz="1100" b="1" dirty="0"/>
          </a:p>
        </p:txBody>
      </p:sp>
      <p:sp>
        <p:nvSpPr>
          <p:cNvPr id="11" name="Shape 8"/>
          <p:cNvSpPr/>
          <p:nvPr/>
        </p:nvSpPr>
        <p:spPr>
          <a:xfrm>
            <a:off x="500062" y="3548674"/>
            <a:ext cx="142875" cy="142875"/>
          </a:xfrm>
          <a:prstGeom prst="ellipse">
            <a:avLst/>
          </a:prstGeom>
          <a:solidFill>
            <a:srgbClr val="2E8B9B"/>
          </a:solidFill>
          <a:ln/>
        </p:spPr>
        <p:txBody>
          <a:bodyPr/>
          <a:lstStyle/>
          <a:p>
            <a:endParaRPr lang="en-ZW" sz="1100"/>
          </a:p>
        </p:txBody>
      </p:sp>
      <p:sp>
        <p:nvSpPr>
          <p:cNvPr id="12" name="Text 9"/>
          <p:cNvSpPr/>
          <p:nvPr/>
        </p:nvSpPr>
        <p:spPr>
          <a:xfrm>
            <a:off x="714375" y="3534386"/>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Am I counting cases across a window (incl. outbreak)?→</a:t>
            </a:r>
            <a:r>
              <a:rPr lang="en-US" sz="1100" b="1" dirty="0">
                <a:solidFill>
                  <a:srgbClr val="27313B"/>
                </a:solidFill>
                <a:latin typeface="Calibri" pitchFamily="34" charset="0"/>
                <a:ea typeface="Calibri" pitchFamily="34" charset="-122"/>
                <a:cs typeface="Calibri" pitchFamily="34" charset="-120"/>
              </a:rPr>
              <a:t>Period prevalence / attack rate</a:t>
            </a:r>
            <a:endParaRPr lang="en-US" sz="1100" b="1" dirty="0"/>
          </a:p>
        </p:txBody>
      </p:sp>
      <p:sp>
        <p:nvSpPr>
          <p:cNvPr id="13" name="Shape 10"/>
          <p:cNvSpPr/>
          <p:nvPr/>
        </p:nvSpPr>
        <p:spPr>
          <a:xfrm>
            <a:off x="500062" y="3866999"/>
            <a:ext cx="142875" cy="142875"/>
          </a:xfrm>
          <a:prstGeom prst="ellipse">
            <a:avLst/>
          </a:prstGeom>
          <a:solidFill>
            <a:srgbClr val="2E8B9B"/>
          </a:solidFill>
          <a:ln/>
        </p:spPr>
        <p:txBody>
          <a:bodyPr/>
          <a:lstStyle/>
          <a:p>
            <a:endParaRPr lang="en-ZW" sz="1100"/>
          </a:p>
        </p:txBody>
      </p:sp>
      <p:sp>
        <p:nvSpPr>
          <p:cNvPr id="14" name="Text 11"/>
          <p:cNvSpPr/>
          <p:nvPr/>
        </p:nvSpPr>
        <p:spPr>
          <a:xfrm>
            <a:off x="714375" y="3852712"/>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New transitions, closed cohort, complete follow-up?→</a:t>
            </a:r>
            <a:r>
              <a:rPr lang="en-US" sz="1100" b="1" dirty="0">
                <a:solidFill>
                  <a:srgbClr val="27313B"/>
                </a:solidFill>
                <a:latin typeface="Calibri" pitchFamily="34" charset="0"/>
                <a:ea typeface="Calibri" pitchFamily="34" charset="-122"/>
                <a:cs typeface="Calibri" pitchFamily="34" charset="-120"/>
              </a:rPr>
              <a:t>Incidence risk</a:t>
            </a:r>
            <a:endParaRPr lang="en-US" sz="1100" b="1" dirty="0"/>
          </a:p>
        </p:txBody>
      </p:sp>
      <p:sp>
        <p:nvSpPr>
          <p:cNvPr id="8" name="Shape 12"/>
          <p:cNvSpPr/>
          <p:nvPr/>
        </p:nvSpPr>
        <p:spPr>
          <a:xfrm>
            <a:off x="500062" y="4185325"/>
            <a:ext cx="142875" cy="142875"/>
          </a:xfrm>
          <a:prstGeom prst="ellipse">
            <a:avLst/>
          </a:prstGeom>
          <a:solidFill>
            <a:srgbClr val="2E8B9B"/>
          </a:solidFill>
          <a:ln/>
        </p:spPr>
        <p:txBody>
          <a:bodyPr/>
          <a:lstStyle/>
          <a:p>
            <a:endParaRPr lang="en-ZW" sz="1100"/>
          </a:p>
        </p:txBody>
      </p:sp>
      <p:sp>
        <p:nvSpPr>
          <p:cNvPr id="16" name="Text 13"/>
          <p:cNvSpPr/>
          <p:nvPr/>
        </p:nvSpPr>
        <p:spPr>
          <a:xfrm>
            <a:off x="714375" y="4171037"/>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New transitions, open cohort or variable follow-up?→</a:t>
            </a:r>
            <a:r>
              <a:rPr lang="en-US" sz="1100" b="1" dirty="0">
                <a:solidFill>
                  <a:srgbClr val="27313B"/>
                </a:solidFill>
                <a:latin typeface="Calibri" pitchFamily="34" charset="0"/>
                <a:ea typeface="Calibri" pitchFamily="34" charset="-122"/>
                <a:cs typeface="Calibri" pitchFamily="34" charset="-120"/>
              </a:rPr>
              <a:t>Incidence rate (person-time)</a:t>
            </a:r>
            <a:endParaRPr lang="en-US" sz="1100" b="1" dirty="0"/>
          </a:p>
        </p:txBody>
      </p:sp>
      <p:sp>
        <p:nvSpPr>
          <p:cNvPr id="17" name="Shape 14"/>
          <p:cNvSpPr/>
          <p:nvPr/>
        </p:nvSpPr>
        <p:spPr>
          <a:xfrm>
            <a:off x="500062" y="4503650"/>
            <a:ext cx="142875" cy="142875"/>
          </a:xfrm>
          <a:prstGeom prst="ellipse">
            <a:avLst/>
          </a:prstGeom>
          <a:solidFill>
            <a:srgbClr val="2E8B9B"/>
          </a:solidFill>
          <a:ln/>
        </p:spPr>
        <p:txBody>
          <a:bodyPr/>
          <a:lstStyle/>
          <a:p>
            <a:endParaRPr lang="en-ZW" sz="1100"/>
          </a:p>
        </p:txBody>
      </p:sp>
      <p:sp>
        <p:nvSpPr>
          <p:cNvPr id="18" name="Text 15"/>
          <p:cNvSpPr/>
          <p:nvPr/>
        </p:nvSpPr>
        <p:spPr>
          <a:xfrm>
            <a:off x="714375" y="4489363"/>
            <a:ext cx="7832408" cy="275463"/>
          </a:xfrm>
          <a:prstGeom prst="rect">
            <a:avLst/>
          </a:prstGeom>
          <a:noFill/>
          <a:ln/>
        </p:spPr>
        <p:txBody>
          <a:bodyPr wrap="square" rtlCol="0" anchor="t"/>
          <a:lstStyle/>
          <a:p>
            <a:pPr marL="0" indent="0">
              <a:buNone/>
            </a:pPr>
            <a:r>
              <a:rPr lang="en-US" sz="1100" dirty="0">
                <a:solidFill>
                  <a:srgbClr val="27313B"/>
                </a:solidFill>
                <a:latin typeface="Calibri" pitchFamily="34" charset="0"/>
                <a:ea typeface="Calibri" pitchFamily="34" charset="-122"/>
                <a:cs typeface="Calibri" pitchFamily="34" charset="-120"/>
              </a:rPr>
              <a:t>Cases &amp; controls sampled separately?→</a:t>
            </a:r>
            <a:r>
              <a:rPr lang="en-US" sz="1100" b="1" dirty="0">
                <a:solidFill>
                  <a:srgbClr val="27313B"/>
                </a:solidFill>
                <a:latin typeface="Calibri" pitchFamily="34" charset="0"/>
                <a:ea typeface="Calibri" pitchFamily="34" charset="-122"/>
                <a:cs typeface="Calibri" pitchFamily="34" charset="-120"/>
              </a:rPr>
              <a:t>Odds (and odds ratio)</a:t>
            </a:r>
            <a:endParaRPr lang="en-US" sz="1100" b="1" dirty="0"/>
          </a:p>
        </p:txBody>
      </p:sp>
      <p:pic>
        <p:nvPicPr>
          <p:cNvPr id="19" name="Picture 18">
            <a:extLst>
              <a:ext uri="{FF2B5EF4-FFF2-40B4-BE49-F238E27FC236}">
                <a16:creationId xmlns:a16="http://schemas.microsoft.com/office/drawing/2014/main" id="{BD93041C-B86F-E7FA-C709-FFF2F4EE2E5A}"/>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5 · READING CRITICALLY</a:t>
            </a:r>
            <a:endParaRPr lang="en-US" sz="1050" dirty="0"/>
          </a:p>
        </p:txBody>
      </p:sp>
      <p:sp>
        <p:nvSpPr>
          <p:cNvPr id="7" name="Text 5"/>
          <p:cNvSpPr/>
          <p:nvPr/>
        </p:nvSpPr>
        <p:spPr>
          <a:xfrm>
            <a:off x="428625" y="628650"/>
            <a:ext cx="7680960" cy="77266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Common Pitfalls in Reporting Measures of Occurrence</a:t>
            </a:r>
            <a:endParaRPr lang="en-US" sz="2200" dirty="0"/>
          </a:p>
        </p:txBody>
      </p:sp>
      <p:sp>
        <p:nvSpPr>
          <p:cNvPr id="8" name="Shape 6"/>
          <p:cNvSpPr/>
          <p:nvPr/>
        </p:nvSpPr>
        <p:spPr>
          <a:xfrm>
            <a:off x="428625" y="1515618"/>
            <a:ext cx="8046720" cy="609791"/>
          </a:xfrm>
          <a:prstGeom prst="roundRect">
            <a:avLst>
              <a:gd name="adj" fmla="val 8997"/>
            </a:avLst>
          </a:prstGeom>
          <a:solidFill>
            <a:srgbClr val="F4F5F7"/>
          </a:solidFill>
          <a:ln/>
        </p:spPr>
        <p:txBody>
          <a:bodyPr/>
          <a:lstStyle/>
          <a:p>
            <a:endParaRPr lang="en-ZW"/>
          </a:p>
        </p:txBody>
      </p:sp>
      <p:sp>
        <p:nvSpPr>
          <p:cNvPr id="9" name="Shape 7"/>
          <p:cNvSpPr/>
          <p:nvPr/>
        </p:nvSpPr>
        <p:spPr>
          <a:xfrm>
            <a:off x="500063" y="1587056"/>
            <a:ext cx="100013" cy="100013"/>
          </a:xfrm>
          <a:prstGeom prst="ellipse">
            <a:avLst/>
          </a:prstGeom>
          <a:solidFill>
            <a:srgbClr val="E63425"/>
          </a:solidFill>
          <a:ln/>
        </p:spPr>
        <p:txBody>
          <a:bodyPr/>
          <a:lstStyle/>
          <a:p>
            <a:endParaRPr lang="en-ZW"/>
          </a:p>
        </p:txBody>
      </p:sp>
      <p:sp>
        <p:nvSpPr>
          <p:cNvPr id="10" name="Text 8"/>
          <p:cNvSpPr/>
          <p:nvPr/>
        </p:nvSpPr>
        <p:spPr>
          <a:xfrm>
            <a:off x="485775" y="1503261"/>
            <a:ext cx="7932420" cy="366903"/>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CALLING A PROPORTION A “RATE”</a:t>
            </a:r>
          </a:p>
          <a:p>
            <a:pPr marL="0" indent="0" algn="ctr">
              <a:buNone/>
            </a:pPr>
            <a:r>
              <a:rPr lang="en-US" sz="1100" dirty="0">
                <a:solidFill>
                  <a:srgbClr val="27313B"/>
                </a:solidFill>
                <a:latin typeface="Calibri" pitchFamily="34" charset="0"/>
                <a:ea typeface="Calibri" pitchFamily="34" charset="-122"/>
                <a:cs typeface="Calibri" pitchFamily="34" charset="-120"/>
              </a:rPr>
              <a:t>Prevalence and cumulative incidence are proportions, not true rates. “Prevalence rate” is a common but imprecise term. Always check whether time is in the denominator.</a:t>
            </a:r>
            <a:endParaRPr lang="en-US" sz="1100" dirty="0"/>
          </a:p>
        </p:txBody>
      </p:sp>
      <p:sp>
        <p:nvSpPr>
          <p:cNvPr id="11" name="Shape 9"/>
          <p:cNvSpPr/>
          <p:nvPr/>
        </p:nvSpPr>
        <p:spPr>
          <a:xfrm>
            <a:off x="428625" y="2196846"/>
            <a:ext cx="8046720" cy="798386"/>
          </a:xfrm>
          <a:prstGeom prst="roundRect">
            <a:avLst>
              <a:gd name="adj" fmla="val 6872"/>
            </a:avLst>
          </a:prstGeom>
          <a:solidFill>
            <a:srgbClr val="F4F5F7"/>
          </a:solidFill>
          <a:ln/>
        </p:spPr>
        <p:txBody>
          <a:bodyPr/>
          <a:lstStyle/>
          <a:p>
            <a:endParaRPr lang="en-ZW"/>
          </a:p>
        </p:txBody>
      </p:sp>
      <p:sp>
        <p:nvSpPr>
          <p:cNvPr id="12" name="Shape 10"/>
          <p:cNvSpPr/>
          <p:nvPr/>
        </p:nvSpPr>
        <p:spPr>
          <a:xfrm>
            <a:off x="500063" y="2268284"/>
            <a:ext cx="100013" cy="100013"/>
          </a:xfrm>
          <a:prstGeom prst="ellipse">
            <a:avLst/>
          </a:prstGeom>
          <a:solidFill>
            <a:srgbClr val="F2A93B"/>
          </a:solidFill>
          <a:ln/>
        </p:spPr>
        <p:txBody>
          <a:bodyPr/>
          <a:lstStyle/>
          <a:p>
            <a:endParaRPr lang="en-ZW"/>
          </a:p>
        </p:txBody>
      </p:sp>
      <p:sp>
        <p:nvSpPr>
          <p:cNvPr id="13" name="Text 11"/>
          <p:cNvSpPr/>
          <p:nvPr/>
        </p:nvSpPr>
        <p:spPr>
          <a:xfrm>
            <a:off x="485775" y="2289272"/>
            <a:ext cx="7932420" cy="555498"/>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IGNORING LOSSES TO FOLLOW-UP</a:t>
            </a:r>
          </a:p>
          <a:p>
            <a:pPr marL="0" indent="0" algn="ctr">
              <a:buNone/>
            </a:pPr>
            <a:r>
              <a:rPr lang="en-US" sz="1100" dirty="0">
                <a:solidFill>
                  <a:srgbClr val="27313B"/>
                </a:solidFill>
                <a:latin typeface="Calibri" pitchFamily="34" charset="0"/>
                <a:ea typeface="Calibri" pitchFamily="34" charset="-122"/>
                <a:cs typeface="Calibri" pitchFamily="34" charset="-120"/>
              </a:rPr>
              <a:t>Using baseline count as denominator when 20% of participants are lost underestimates incidence risk. Person-time denominators (incidence rate) correctly account for censoring and variable observation periods.</a:t>
            </a:r>
            <a:endParaRPr lang="en-US" sz="1100" dirty="0"/>
          </a:p>
        </p:txBody>
      </p:sp>
      <p:sp>
        <p:nvSpPr>
          <p:cNvPr id="14" name="Shape 12"/>
          <p:cNvSpPr/>
          <p:nvPr/>
        </p:nvSpPr>
        <p:spPr>
          <a:xfrm>
            <a:off x="428625" y="3066669"/>
            <a:ext cx="8046720" cy="798386"/>
          </a:xfrm>
          <a:prstGeom prst="roundRect">
            <a:avLst>
              <a:gd name="adj" fmla="val 6872"/>
            </a:avLst>
          </a:prstGeom>
          <a:solidFill>
            <a:srgbClr val="F4F5F7"/>
          </a:solidFill>
          <a:ln/>
        </p:spPr>
        <p:txBody>
          <a:bodyPr/>
          <a:lstStyle/>
          <a:p>
            <a:endParaRPr lang="en-ZW"/>
          </a:p>
        </p:txBody>
      </p:sp>
      <p:sp>
        <p:nvSpPr>
          <p:cNvPr id="15" name="Shape 13"/>
          <p:cNvSpPr/>
          <p:nvPr/>
        </p:nvSpPr>
        <p:spPr>
          <a:xfrm>
            <a:off x="500063" y="3138107"/>
            <a:ext cx="100013" cy="100013"/>
          </a:xfrm>
          <a:prstGeom prst="ellipse">
            <a:avLst/>
          </a:prstGeom>
          <a:solidFill>
            <a:srgbClr val="2E8B9B"/>
          </a:solidFill>
          <a:ln/>
        </p:spPr>
        <p:txBody>
          <a:bodyPr/>
          <a:lstStyle/>
          <a:p>
            <a:endParaRPr lang="en-ZW"/>
          </a:p>
        </p:txBody>
      </p:sp>
      <p:sp>
        <p:nvSpPr>
          <p:cNvPr id="16" name="Text 14"/>
          <p:cNvSpPr/>
          <p:nvPr/>
        </p:nvSpPr>
        <p:spPr>
          <a:xfrm>
            <a:off x="485775" y="3116961"/>
            <a:ext cx="7932420" cy="555498"/>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CONFLATING ODDS AND PROBABILITY</a:t>
            </a:r>
          </a:p>
          <a:p>
            <a:pPr marL="0" indent="0" algn="ctr">
              <a:buNone/>
            </a:pPr>
            <a:r>
              <a:rPr lang="en-US" sz="1100" dirty="0">
                <a:solidFill>
                  <a:srgbClr val="27313B"/>
                </a:solidFill>
                <a:latin typeface="Calibri" pitchFamily="34" charset="0"/>
                <a:ea typeface="Calibri" pitchFamily="34" charset="-122"/>
                <a:cs typeface="Calibri" pitchFamily="34" charset="-120"/>
              </a:rPr>
              <a:t>Software outputs odds ratios from logistic regression, often misreported as relative risks. When prevalence &gt;10%, OR &gt; RR significantly — central obesity at 70% prevalence illustrates this starkly.</a:t>
            </a:r>
            <a:endParaRPr lang="en-US" sz="1100" dirty="0"/>
          </a:p>
        </p:txBody>
      </p:sp>
      <p:sp>
        <p:nvSpPr>
          <p:cNvPr id="17" name="Shape 15"/>
          <p:cNvSpPr/>
          <p:nvPr/>
        </p:nvSpPr>
        <p:spPr>
          <a:xfrm>
            <a:off x="428625" y="3936492"/>
            <a:ext cx="8046720" cy="609791"/>
          </a:xfrm>
          <a:prstGeom prst="roundRect">
            <a:avLst>
              <a:gd name="adj" fmla="val 8997"/>
            </a:avLst>
          </a:prstGeom>
          <a:solidFill>
            <a:srgbClr val="F4F5F7"/>
          </a:solidFill>
          <a:ln/>
        </p:spPr>
        <p:txBody>
          <a:bodyPr/>
          <a:lstStyle/>
          <a:p>
            <a:endParaRPr lang="en-ZW"/>
          </a:p>
        </p:txBody>
      </p:sp>
      <p:sp>
        <p:nvSpPr>
          <p:cNvPr id="18" name="Shape 16"/>
          <p:cNvSpPr/>
          <p:nvPr/>
        </p:nvSpPr>
        <p:spPr>
          <a:xfrm>
            <a:off x="500063" y="4007930"/>
            <a:ext cx="100013" cy="100013"/>
          </a:xfrm>
          <a:prstGeom prst="ellipse">
            <a:avLst/>
          </a:prstGeom>
          <a:solidFill>
            <a:srgbClr val="5B9A56"/>
          </a:solidFill>
          <a:ln/>
        </p:spPr>
        <p:txBody>
          <a:bodyPr/>
          <a:lstStyle/>
          <a:p>
            <a:endParaRPr lang="en-ZW"/>
          </a:p>
        </p:txBody>
      </p:sp>
      <p:sp>
        <p:nvSpPr>
          <p:cNvPr id="19" name="Text 17"/>
          <p:cNvSpPr/>
          <p:nvPr/>
        </p:nvSpPr>
        <p:spPr>
          <a:xfrm>
            <a:off x="485775" y="3951583"/>
            <a:ext cx="7932420" cy="366903"/>
          </a:xfrm>
          <a:prstGeom prst="rect">
            <a:avLst/>
          </a:prstGeom>
          <a:noFill/>
          <a:ln/>
        </p:spPr>
        <p:txBody>
          <a:bodyPr wrap="square" rtlCol="0" anchor="t"/>
          <a:lstStyle/>
          <a:p>
            <a:pPr marL="0" indent="0" algn="ctr">
              <a:buNone/>
            </a:pPr>
            <a:r>
              <a:rPr lang="en-US" sz="1100" b="1" dirty="0">
                <a:solidFill>
                  <a:srgbClr val="27313B"/>
                </a:solidFill>
                <a:latin typeface="Calibri" pitchFamily="34" charset="0"/>
                <a:ea typeface="Calibri" pitchFamily="34" charset="-122"/>
                <a:cs typeface="Calibri" pitchFamily="34" charset="-120"/>
              </a:rPr>
              <a:t>WRONG SCALE FOR RATES</a:t>
            </a:r>
          </a:p>
          <a:p>
            <a:pPr marL="0" indent="0" algn="ctr">
              <a:buNone/>
            </a:pPr>
            <a:r>
              <a:rPr lang="en-US" sz="1100" dirty="0">
                <a:solidFill>
                  <a:srgbClr val="27313B"/>
                </a:solidFill>
                <a:latin typeface="Calibri" pitchFamily="34" charset="0"/>
                <a:ea typeface="Calibri" pitchFamily="34" charset="-122"/>
                <a:cs typeface="Calibri" pitchFamily="34" charset="-120"/>
              </a:rPr>
              <a:t>18.4 per 1,000 PY, 0.0184 per PY and 184 per 10,000 PY are identical mathematically. Choose a base that makes the number interpretable to your audience without unnecessary decimal places.</a:t>
            </a:r>
            <a:endParaRPr lang="en-US" sz="1100" dirty="0"/>
          </a:p>
        </p:txBody>
      </p:sp>
      <p:pic>
        <p:nvPicPr>
          <p:cNvPr id="20" name="Picture 19">
            <a:extLst>
              <a:ext uri="{FF2B5EF4-FFF2-40B4-BE49-F238E27FC236}">
                <a16:creationId xmlns:a16="http://schemas.microsoft.com/office/drawing/2014/main" id="{A4F1C37C-DA47-34A6-32A5-14BC50C60E40}"/>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6">
    <p:bg>
      <p:bgPr>
        <a:solidFill>
          <a:srgbClr val="25374F"/>
        </a:solidFill>
        <a:effectLst/>
      </p:bgPr>
    </p:bg>
    <p:spTree>
      <p:nvGrpSpPr>
        <p:cNvPr id="1" name=""/>
        <p:cNvGrpSpPr/>
        <p:nvPr/>
      </p:nvGrpSpPr>
      <p:grpSpPr>
        <a:xfrm>
          <a:off x="0" y="0"/>
          <a:ext cx="0" cy="0"/>
          <a:chOff x="0" y="0"/>
          <a:chExt cx="0" cy="0"/>
        </a:xfrm>
      </p:grpSpPr>
      <p:sp>
        <p:nvSpPr>
          <p:cNvPr id="3" name="Text 1"/>
          <p:cNvSpPr/>
          <p:nvPr/>
        </p:nvSpPr>
        <p:spPr>
          <a:xfrm>
            <a:off x="428625" y="428625"/>
            <a:ext cx="7315200" cy="219456"/>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SECTION 6 · RECAP</a:t>
            </a:r>
            <a:endParaRPr lang="en-US" sz="1050" dirty="0"/>
          </a:p>
        </p:txBody>
      </p:sp>
      <p:sp>
        <p:nvSpPr>
          <p:cNvPr id="4" name="Text 2"/>
          <p:cNvSpPr/>
          <p:nvPr/>
        </p:nvSpPr>
        <p:spPr>
          <a:xfrm>
            <a:off x="428625" y="642938"/>
            <a:ext cx="8229600" cy="365760"/>
          </a:xfrm>
          <a:prstGeom prst="rect">
            <a:avLst/>
          </a:prstGeom>
          <a:noFill/>
          <a:ln/>
        </p:spPr>
        <p:txBody>
          <a:bodyPr wrap="square" rtlCol="0" anchor="ctr"/>
          <a:lstStyle/>
          <a:p>
            <a:pPr marL="0" indent="0">
              <a:buNone/>
            </a:pPr>
            <a:r>
              <a:rPr lang="en-US" sz="2200" b="1" dirty="0">
                <a:solidFill>
                  <a:srgbClr val="FFFFFF"/>
                </a:solidFill>
                <a:latin typeface="Poppins" pitchFamily="34" charset="0"/>
                <a:ea typeface="Poppins" pitchFamily="34" charset="-122"/>
                <a:cs typeface="Poppins" pitchFamily="34" charset="-120"/>
              </a:rPr>
              <a:t>Key Takeaways</a:t>
            </a:r>
            <a:endParaRPr lang="en-US" sz="2200" dirty="0"/>
          </a:p>
        </p:txBody>
      </p:sp>
      <p:sp>
        <p:nvSpPr>
          <p:cNvPr id="5" name="Shape 3"/>
          <p:cNvSpPr/>
          <p:nvPr/>
        </p:nvSpPr>
        <p:spPr>
          <a:xfrm>
            <a:off x="428625" y="1287876"/>
            <a:ext cx="142875" cy="142875"/>
          </a:xfrm>
          <a:prstGeom prst="ellipse">
            <a:avLst/>
          </a:prstGeom>
          <a:solidFill>
            <a:srgbClr val="E63425"/>
          </a:solidFill>
          <a:ln/>
        </p:spPr>
        <p:txBody>
          <a:bodyPr/>
          <a:lstStyle/>
          <a:p>
            <a:endParaRPr lang="en-ZW" sz="1100"/>
          </a:p>
        </p:txBody>
      </p:sp>
      <p:sp>
        <p:nvSpPr>
          <p:cNvPr id="6" name="Text 4"/>
          <p:cNvSpPr/>
          <p:nvPr/>
        </p:nvSpPr>
        <p:spPr>
          <a:xfrm>
            <a:off x="428625" y="1280732"/>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7" name="Text 5"/>
          <p:cNvSpPr/>
          <p:nvPr/>
        </p:nvSpPr>
        <p:spPr>
          <a:xfrm>
            <a:off x="642938" y="1273588"/>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Proportions are bounded 0–1; true rates have person-time in the denominator and are unbounded — the terms are not interchangeable.</a:t>
            </a:r>
            <a:endParaRPr lang="en-US" sz="1100" dirty="0"/>
          </a:p>
        </p:txBody>
      </p:sp>
      <p:sp>
        <p:nvSpPr>
          <p:cNvPr id="8" name="Shape 6"/>
          <p:cNvSpPr/>
          <p:nvPr/>
        </p:nvSpPr>
        <p:spPr>
          <a:xfrm>
            <a:off x="428625" y="1849089"/>
            <a:ext cx="142875" cy="142875"/>
          </a:xfrm>
          <a:prstGeom prst="ellipse">
            <a:avLst/>
          </a:prstGeom>
          <a:solidFill>
            <a:srgbClr val="E63425"/>
          </a:solidFill>
          <a:ln/>
        </p:spPr>
        <p:txBody>
          <a:bodyPr/>
          <a:lstStyle/>
          <a:p>
            <a:endParaRPr lang="en-ZW" sz="1100"/>
          </a:p>
        </p:txBody>
      </p:sp>
      <p:sp>
        <p:nvSpPr>
          <p:cNvPr id="9" name="Text 7"/>
          <p:cNvSpPr/>
          <p:nvPr/>
        </p:nvSpPr>
        <p:spPr>
          <a:xfrm>
            <a:off x="428625" y="1841945"/>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0" name="Text 8"/>
          <p:cNvSpPr/>
          <p:nvPr/>
        </p:nvSpPr>
        <p:spPr>
          <a:xfrm>
            <a:off x="642938" y="1834801"/>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Point prevalence photographs a pool of existing cases at one instant. Period prevalence (attack rate) captures all cases over a window.</a:t>
            </a:r>
            <a:endParaRPr lang="en-US" sz="1100" dirty="0"/>
          </a:p>
        </p:txBody>
      </p:sp>
      <p:sp>
        <p:nvSpPr>
          <p:cNvPr id="11" name="Shape 9"/>
          <p:cNvSpPr/>
          <p:nvPr/>
        </p:nvSpPr>
        <p:spPr>
          <a:xfrm>
            <a:off x="428625" y="2410302"/>
            <a:ext cx="142875" cy="142875"/>
          </a:xfrm>
          <a:prstGeom prst="ellipse">
            <a:avLst/>
          </a:prstGeom>
          <a:solidFill>
            <a:srgbClr val="E63425"/>
          </a:solidFill>
          <a:ln/>
        </p:spPr>
        <p:txBody>
          <a:bodyPr/>
          <a:lstStyle/>
          <a:p>
            <a:endParaRPr lang="en-ZW" sz="1100"/>
          </a:p>
        </p:txBody>
      </p:sp>
      <p:sp>
        <p:nvSpPr>
          <p:cNvPr id="12" name="Text 10"/>
          <p:cNvSpPr/>
          <p:nvPr/>
        </p:nvSpPr>
        <p:spPr>
          <a:xfrm>
            <a:off x="428625" y="2403158"/>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3" name="Text 11"/>
          <p:cNvSpPr/>
          <p:nvPr/>
        </p:nvSpPr>
        <p:spPr>
          <a:xfrm>
            <a:off x="642938" y="2396014"/>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The bathtub: P ≈ I × D. ART extended HIV survival duration and kept Zimbabwean HIV prevalence high even as incidence declined.</a:t>
            </a:r>
            <a:endParaRPr lang="en-US" sz="1100" dirty="0"/>
          </a:p>
        </p:txBody>
      </p:sp>
      <p:sp>
        <p:nvSpPr>
          <p:cNvPr id="14" name="Shape 12"/>
          <p:cNvSpPr/>
          <p:nvPr/>
        </p:nvSpPr>
        <p:spPr>
          <a:xfrm>
            <a:off x="428625" y="2971515"/>
            <a:ext cx="142875" cy="142875"/>
          </a:xfrm>
          <a:prstGeom prst="ellipse">
            <a:avLst/>
          </a:prstGeom>
          <a:solidFill>
            <a:srgbClr val="E63425"/>
          </a:solidFill>
          <a:ln/>
        </p:spPr>
        <p:txBody>
          <a:bodyPr/>
          <a:lstStyle/>
          <a:p>
            <a:endParaRPr lang="en-ZW" sz="1100"/>
          </a:p>
        </p:txBody>
      </p:sp>
      <p:sp>
        <p:nvSpPr>
          <p:cNvPr id="15" name="Text 13"/>
          <p:cNvSpPr/>
          <p:nvPr/>
        </p:nvSpPr>
        <p:spPr>
          <a:xfrm>
            <a:off x="428625" y="2964371"/>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6" name="Text 14"/>
          <p:cNvSpPr/>
          <p:nvPr/>
        </p:nvSpPr>
        <p:spPr>
          <a:xfrm>
            <a:off x="642938" y="2957227"/>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Incidence risk suits closed cohorts with complete, uniform follow-up. Person-time (incidence rate) is required for dynamic, open cohorts.</a:t>
            </a:r>
            <a:endParaRPr lang="en-US" sz="1100" dirty="0"/>
          </a:p>
        </p:txBody>
      </p:sp>
      <p:sp>
        <p:nvSpPr>
          <p:cNvPr id="17" name="Shape 15"/>
          <p:cNvSpPr/>
          <p:nvPr/>
        </p:nvSpPr>
        <p:spPr>
          <a:xfrm>
            <a:off x="428625" y="3532728"/>
            <a:ext cx="142875" cy="142875"/>
          </a:xfrm>
          <a:prstGeom prst="ellipse">
            <a:avLst/>
          </a:prstGeom>
          <a:solidFill>
            <a:srgbClr val="E63425"/>
          </a:solidFill>
          <a:ln/>
        </p:spPr>
        <p:txBody>
          <a:bodyPr/>
          <a:lstStyle/>
          <a:p>
            <a:endParaRPr lang="en-ZW" sz="1100"/>
          </a:p>
        </p:txBody>
      </p:sp>
      <p:sp>
        <p:nvSpPr>
          <p:cNvPr id="18" name="Text 16"/>
          <p:cNvSpPr/>
          <p:nvPr/>
        </p:nvSpPr>
        <p:spPr>
          <a:xfrm>
            <a:off x="428625" y="3525584"/>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9" name="Text 17"/>
          <p:cNvSpPr/>
          <p:nvPr/>
        </p:nvSpPr>
        <p:spPr>
          <a:xfrm>
            <a:off x="642938" y="3518440"/>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Odds = cases / non-cases; bounded only below (0). The rare-disease approximation fails at high prevalence — OR is not then a close approximation of RR.</a:t>
            </a:r>
            <a:endParaRPr lang="en-US" sz="1100" dirty="0"/>
          </a:p>
        </p:txBody>
      </p:sp>
      <p:sp>
        <p:nvSpPr>
          <p:cNvPr id="20" name="Shape 18"/>
          <p:cNvSpPr/>
          <p:nvPr/>
        </p:nvSpPr>
        <p:spPr>
          <a:xfrm>
            <a:off x="428625" y="4093940"/>
            <a:ext cx="142875" cy="142875"/>
          </a:xfrm>
          <a:prstGeom prst="ellipse">
            <a:avLst/>
          </a:prstGeom>
          <a:solidFill>
            <a:srgbClr val="E63425"/>
          </a:solidFill>
          <a:ln/>
        </p:spPr>
        <p:txBody>
          <a:bodyPr/>
          <a:lstStyle/>
          <a:p>
            <a:endParaRPr lang="en-ZW" sz="1100"/>
          </a:p>
        </p:txBody>
      </p:sp>
      <p:sp>
        <p:nvSpPr>
          <p:cNvPr id="21" name="Text 19"/>
          <p:cNvSpPr/>
          <p:nvPr/>
        </p:nvSpPr>
        <p:spPr>
          <a:xfrm>
            <a:off x="428625" y="4086797"/>
            <a:ext cx="142875" cy="142875"/>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22" name="Text 20"/>
          <p:cNvSpPr/>
          <p:nvPr/>
        </p:nvSpPr>
        <p:spPr>
          <a:xfrm>
            <a:off x="642938" y="4079653"/>
            <a:ext cx="7466648" cy="489776"/>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The right measure is chosen by asking: existing or new? Fixed or variable follow-up? Cases and controls pre-sampled separately?</a:t>
            </a:r>
            <a:endParaRPr lang="en-US" sz="1100" dirty="0"/>
          </a:p>
        </p:txBody>
      </p:sp>
      <p:sp>
        <p:nvSpPr>
          <p:cNvPr id="23" name="Text 21"/>
          <p:cNvSpPr/>
          <p:nvPr/>
        </p:nvSpPr>
        <p:spPr>
          <a:xfrm>
            <a:off x="428625" y="4869180"/>
            <a:ext cx="3657600" cy="182880"/>
          </a:xfrm>
          <a:prstGeom prst="rect">
            <a:avLst/>
          </a:prstGeom>
          <a:noFill/>
          <a:ln/>
        </p:spPr>
        <p:txBody>
          <a:bodyPr wrap="square" rtlCol="0" anchor="ctr"/>
          <a:lstStyle/>
          <a:p>
            <a:pPr marL="0" indent="0">
              <a:buNone/>
            </a:pPr>
            <a:r>
              <a:rPr lang="en-US" sz="800" dirty="0">
                <a:solidFill>
                  <a:srgbClr val="9FB0C2"/>
                </a:solidFill>
                <a:latin typeface="Calibri" pitchFamily="34" charset="0"/>
                <a:ea typeface="Calibri" pitchFamily="34" charset="-122"/>
                <a:cs typeface="Calibri" pitchFamily="34" charset="-120"/>
              </a:rPr>
              <a:t>www.newlandsclinic.org.zw</a:t>
            </a:r>
            <a:endParaRPr lang="en-US" sz="800" dirty="0"/>
          </a:p>
        </p:txBody>
      </p:sp>
      <p:pic>
        <p:nvPicPr>
          <p:cNvPr id="24" name="Picture 23">
            <a:extLst>
              <a:ext uri="{FF2B5EF4-FFF2-40B4-BE49-F238E27FC236}">
                <a16:creationId xmlns:a16="http://schemas.microsoft.com/office/drawing/2014/main" id="{10C9CD00-F8DA-D14E-83DA-F41F41381E17}"/>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28625" y="4759452"/>
            <a:ext cx="4572000" cy="201168"/>
          </a:xfrm>
          <a:prstGeom prst="rect">
            <a:avLst/>
          </a:prstGeom>
          <a:noFill/>
          <a:ln/>
        </p:spPr>
        <p:txBody>
          <a:bodyPr wrap="square" rtlCol="0" anchor="ctr"/>
          <a:lstStyle/>
          <a:p>
            <a:pPr marL="0" indent="0">
              <a:buNone/>
            </a:pPr>
            <a:r>
              <a:rPr lang="en-US" sz="950" b="1" dirty="0">
                <a:solidFill>
                  <a:srgbClr val="E63425"/>
                </a:solidFill>
                <a:latin typeface="Calibri" pitchFamily="34" charset="0"/>
                <a:ea typeface="Calibri" pitchFamily="34" charset="-122"/>
                <a:cs typeface="Calibri" pitchFamily="34" charset="-120"/>
              </a:rPr>
              <a:t>Research Masterclass for Clinicians</a:t>
            </a:r>
            <a:endParaRPr lang="en-US" sz="950" dirty="0"/>
          </a:p>
        </p:txBody>
      </p:sp>
      <p:sp>
        <p:nvSpPr>
          <p:cNvPr id="5" name="Text 3"/>
          <p:cNvSpPr/>
          <p:nvPr/>
        </p:nvSpPr>
        <p:spPr>
          <a:xfrm>
            <a:off x="428625" y="4924044"/>
            <a:ext cx="4572000" cy="182880"/>
          </a:xfrm>
          <a:prstGeom prst="rect">
            <a:avLst/>
          </a:prstGeom>
          <a:noFill/>
          <a:ln/>
        </p:spPr>
        <p:txBody>
          <a:bodyPr wrap="square" rtlCol="0" anchor="ctr"/>
          <a:lstStyle/>
          <a:p>
            <a:pPr marL="0" indent="0">
              <a:buNone/>
            </a:pPr>
            <a:r>
              <a:rPr lang="en-US" sz="800" dirty="0">
                <a:solidFill>
                  <a:srgbClr val="5B6B7C"/>
                </a:solidFill>
                <a:latin typeface="Calibri" pitchFamily="34" charset="0"/>
                <a:ea typeface="Calibri" pitchFamily="34" charset="-122"/>
                <a:cs typeface="Calibri" pitchFamily="34" charset="-120"/>
              </a:rPr>
              <a:t>www.newlandsclinic.org.zw</a:t>
            </a:r>
            <a:endParaRPr lang="en-US" sz="800" dirty="0"/>
          </a:p>
        </p:txBody>
      </p:sp>
      <p:sp>
        <p:nvSpPr>
          <p:cNvPr id="6" name="Text 4"/>
          <p:cNvSpPr/>
          <p:nvPr/>
        </p:nvSpPr>
        <p:spPr>
          <a:xfrm>
            <a:off x="428625" y="428625"/>
            <a:ext cx="7680960" cy="201168"/>
          </a:xfrm>
          <a:prstGeom prst="rect">
            <a:avLst/>
          </a:prstGeom>
          <a:noFill/>
          <a:ln/>
        </p:spPr>
        <p:txBody>
          <a:bodyPr wrap="square" rtlCol="0" anchor="ctr"/>
          <a:lstStyle/>
          <a:p>
            <a:pPr marL="0" indent="0">
              <a:buNone/>
            </a:pPr>
            <a:r>
              <a:rPr lang="en-US" sz="1050" b="1" kern="0" spc="100" dirty="0">
                <a:solidFill>
                  <a:srgbClr val="E63425"/>
                </a:solidFill>
                <a:latin typeface="Calibri" pitchFamily="34" charset="0"/>
                <a:ea typeface="Calibri" pitchFamily="34" charset="-122"/>
                <a:cs typeface="Calibri" pitchFamily="34" charset="-120"/>
              </a:rPr>
              <a:t>REFERENCES</a:t>
            </a:r>
            <a:endParaRPr lang="en-US" sz="1050" dirty="0"/>
          </a:p>
        </p:txBody>
      </p:sp>
      <p:sp>
        <p:nvSpPr>
          <p:cNvPr id="7" name="Text 5"/>
          <p:cNvSpPr/>
          <p:nvPr/>
        </p:nvSpPr>
        <p:spPr>
          <a:xfrm>
            <a:off x="428625" y="628650"/>
            <a:ext cx="7680960" cy="395478"/>
          </a:xfrm>
          <a:prstGeom prst="rect">
            <a:avLst/>
          </a:prstGeom>
          <a:noFill/>
          <a:ln/>
        </p:spPr>
        <p:txBody>
          <a:bodyPr wrap="square" rtlCol="0" anchor="t"/>
          <a:lstStyle/>
          <a:p>
            <a:pPr marL="0" indent="0">
              <a:buNone/>
            </a:pPr>
            <a:r>
              <a:rPr lang="en-US" sz="2200" b="1" dirty="0">
                <a:solidFill>
                  <a:srgbClr val="25374F"/>
                </a:solidFill>
                <a:latin typeface="Poppins" pitchFamily="34" charset="0"/>
                <a:ea typeface="Poppins" pitchFamily="34" charset="-122"/>
                <a:cs typeface="Poppins" pitchFamily="34" charset="-120"/>
              </a:rPr>
              <a:t>Peer-Reviewed Sources Used in This Session</a:t>
            </a:r>
            <a:endParaRPr lang="en-US" sz="2200" dirty="0"/>
          </a:p>
        </p:txBody>
      </p:sp>
      <p:sp>
        <p:nvSpPr>
          <p:cNvPr id="8" name="Text 6"/>
          <p:cNvSpPr/>
          <p:nvPr/>
        </p:nvSpPr>
        <p:spPr>
          <a:xfrm>
            <a:off x="428625" y="1138428"/>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Chihota BV, Mandiriri A, Shamu T, et al. for IeDEA Southern Africa. Metabolic syndrome among treatment-naïve people living with and without HIV in Zambia and Zimbabwe. J Int AIDS Soc. 2022;25(12):e26047.</a:t>
            </a:r>
            <a:endParaRPr lang="en-US" sz="1050" dirty="0"/>
          </a:p>
        </p:txBody>
      </p:sp>
      <p:sp>
        <p:nvSpPr>
          <p:cNvPr id="9" name="Text 7"/>
          <p:cNvSpPr/>
          <p:nvPr/>
        </p:nvSpPr>
        <p:spPr>
          <a:xfrm>
            <a:off x="428625" y="1933956"/>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Chimbetete C, Shamu T, Roelens M, Bote S, Mudzviti T, Keiser O. Mortality trends and causes of death among HIV positive patients at Newlands Clinic in Harare, Zimbabwe. PLoS One. 2020;15(8):e0237904.</a:t>
            </a:r>
            <a:endParaRPr lang="en-US" sz="1050" dirty="0"/>
          </a:p>
        </p:txBody>
      </p:sp>
      <p:sp>
        <p:nvSpPr>
          <p:cNvPr id="10" name="Text 8"/>
          <p:cNvSpPr/>
          <p:nvPr/>
        </p:nvSpPr>
        <p:spPr>
          <a:xfrm>
            <a:off x="428625" y="2729484"/>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Shamu T, Egger M, Mudzviti T, Chimbetete C, Manasa J, Anderegg N, et al. Body weight and blood pressure changes on dolutegravir-, efavirenz- or atazanavir-based ART in Zimbabwe. J Int AIDS Soc. 2024;27(2):e26216.</a:t>
            </a:r>
            <a:endParaRPr lang="en-US" sz="1050" dirty="0"/>
          </a:p>
        </p:txBody>
      </p:sp>
      <p:sp>
        <p:nvSpPr>
          <p:cNvPr id="11" name="Text 9"/>
          <p:cNvSpPr/>
          <p:nvPr/>
        </p:nvSpPr>
        <p:spPr>
          <a:xfrm>
            <a:off x="428625" y="3525012"/>
            <a:ext cx="3937635" cy="558356"/>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Cheza A, Tlou B, Zhou DT. Incidence of NCDs in HIV patients on ART: Chitungwiza Central Hospital retrospective cohort 2010–2019. PLoS One. 2021;16(5):e0252180.</a:t>
            </a:r>
            <a:endParaRPr lang="en-US" sz="1050" dirty="0"/>
          </a:p>
        </p:txBody>
      </p:sp>
      <p:sp>
        <p:nvSpPr>
          <p:cNvPr id="12" name="Text 10"/>
          <p:cNvSpPr/>
          <p:nvPr/>
        </p:nvSpPr>
        <p:spPr>
          <a:xfrm>
            <a:off x="4537710" y="1138428"/>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Sabapathy K, Mwita FC, Dauya E, et al. Prevalence of hypertension and high-normal blood pressure among young adults in Zimbabwe. Lancet Child Adolesc Health. 2024;8(2):101–111.</a:t>
            </a:r>
            <a:endParaRPr lang="en-US" sz="1050" dirty="0"/>
          </a:p>
        </p:txBody>
      </p:sp>
      <p:sp>
        <p:nvSpPr>
          <p:cNvPr id="13" name="Text 11"/>
          <p:cNvSpPr/>
          <p:nvPr/>
        </p:nvSpPr>
        <p:spPr>
          <a:xfrm>
            <a:off x="4537710" y="1933956"/>
            <a:ext cx="3937635" cy="738378"/>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Marumure J, Nyila MA. Cholera outbreaks in Zimbabwe: an in-depth analysis of drivers, constraints and reimagining the use of medicinal plants. J Trop Med. 2024;2024:1981991.</a:t>
            </a:r>
            <a:endParaRPr lang="en-US" sz="1050" dirty="0"/>
          </a:p>
        </p:txBody>
      </p:sp>
      <p:sp>
        <p:nvSpPr>
          <p:cNvPr id="14" name="Text 12"/>
          <p:cNvSpPr/>
          <p:nvPr/>
        </p:nvSpPr>
        <p:spPr>
          <a:xfrm>
            <a:off x="4537710" y="2729484"/>
            <a:ext cx="3937635" cy="378333"/>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WHO Regional Office for Africa. Zimbabwe declares cholera outbreak over. 9 August 2024. afro.who.int</a:t>
            </a:r>
            <a:endParaRPr lang="en-US" sz="1050" dirty="0"/>
          </a:p>
        </p:txBody>
      </p:sp>
      <p:sp>
        <p:nvSpPr>
          <p:cNvPr id="15" name="Text 13"/>
          <p:cNvSpPr/>
          <p:nvPr/>
        </p:nvSpPr>
        <p:spPr>
          <a:xfrm>
            <a:off x="4537710" y="3164967"/>
            <a:ext cx="3937635" cy="558356"/>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Zimbabwe National Statistics Agency. 2022 Population and Housing Census Preliminary Report. Harare: ZIMSTAT; 2022.</a:t>
            </a:r>
            <a:endParaRPr lang="en-US" sz="1050" dirty="0"/>
          </a:p>
        </p:txBody>
      </p:sp>
      <p:sp>
        <p:nvSpPr>
          <p:cNvPr id="16" name="Text 14"/>
          <p:cNvSpPr/>
          <p:nvPr/>
        </p:nvSpPr>
        <p:spPr>
          <a:xfrm>
            <a:off x="4537710" y="3780473"/>
            <a:ext cx="3937635" cy="378333"/>
          </a:xfrm>
          <a:prstGeom prst="rect">
            <a:avLst/>
          </a:prstGeom>
          <a:noFill/>
          <a:ln/>
        </p:spPr>
        <p:txBody>
          <a:bodyPr wrap="square" rtlCol="0" anchor="t"/>
          <a:lstStyle/>
          <a:p>
            <a:pPr marL="0" indent="0" algn="l">
              <a:buNone/>
            </a:pPr>
            <a:r>
              <a:rPr lang="en-US" sz="1050" dirty="0">
                <a:solidFill>
                  <a:srgbClr val="5B6B7C"/>
                </a:solidFill>
                <a:latin typeface="Calibri" pitchFamily="34" charset="0"/>
                <a:ea typeface="Calibri" pitchFamily="34" charset="-122"/>
                <a:cs typeface="Calibri" pitchFamily="34" charset="-120"/>
              </a:rPr>
              <a:t>Porta M, Greenland S, Last JM (eds). A Dictionary of Epidemiology. 5th ed. Oxford University Press; 2008.</a:t>
            </a:r>
            <a:endParaRPr lang="en-US" sz="1050" dirty="0"/>
          </a:p>
        </p:txBody>
      </p:sp>
      <p:pic>
        <p:nvPicPr>
          <p:cNvPr id="17" name="Picture 16">
            <a:extLst>
              <a:ext uri="{FF2B5EF4-FFF2-40B4-BE49-F238E27FC236}">
                <a16:creationId xmlns:a16="http://schemas.microsoft.com/office/drawing/2014/main" id="{35E10B90-5610-354C-544A-73608B08E198}"/>
              </a:ext>
            </a:extLst>
          </p:cNvPr>
          <p:cNvPicPr>
            <a:picLocks noChangeAspect="1"/>
          </p:cNvPicPr>
          <p:nvPr/>
        </p:nvPicPr>
        <p:blipFill>
          <a:blip r:embed="rId3"/>
          <a:stretch>
            <a:fillRect/>
          </a:stretch>
        </p:blipFill>
        <p:spPr>
          <a:xfrm>
            <a:off x="7965371" y="133434"/>
            <a:ext cx="1085760" cy="59038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TotalTime>
  <Words>4204</Words>
  <Application>Microsoft Office PowerPoint</Application>
  <PresentationFormat>On-screen Show (16:9)</PresentationFormat>
  <Paragraphs>577</Paragraphs>
  <Slides>35</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Calibri</vt:lpstr>
      <vt:lpstr>Courier New</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Measures of Disease Occurrence — Research Masterclass for Clinicians</dc:title>
  <dc:subject>PptxGenJS Presentation</dc:subject>
  <dc:creator>Newlands Clinic</dc:creator>
  <cp:lastModifiedBy>Tinei Shamu</cp:lastModifiedBy>
  <cp:revision>2</cp:revision>
  <dcterms:created xsi:type="dcterms:W3CDTF">2026-07-03T10:26:31Z</dcterms:created>
  <dcterms:modified xsi:type="dcterms:W3CDTF">2026-07-22T10:56:41Z</dcterms:modified>
</cp:coreProperties>
</file>