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5D8223-031C-4DE1-9ADA-7C7A75759DFB}" v="1" dt="2026-08-18T08:20:21.5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48" d="100"/>
          <a:sy n="48" d="100"/>
        </p:scale>
        <p:origin x="67" y="7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ydney Malunga" userId="f348baeb-1f05-486c-bbcc-2da6e207d963" providerId="ADAL" clId="{DE3B0BC8-E27C-48FE-86D3-D2EF9400FA41}"/>
    <pc:docChg chg="custSel modSld">
      <pc:chgData name="Sydney Malunga" userId="f348baeb-1f05-486c-bbcc-2da6e207d963" providerId="ADAL" clId="{DE3B0BC8-E27C-48FE-86D3-D2EF9400FA41}" dt="2026-08-18T08:20:26.669" v="12" actId="20577"/>
      <pc:docMkLst>
        <pc:docMk/>
      </pc:docMkLst>
      <pc:sldChg chg="addSp delSp modSp mod">
        <pc:chgData name="Sydney Malunga" userId="f348baeb-1f05-486c-bbcc-2da6e207d963" providerId="ADAL" clId="{DE3B0BC8-E27C-48FE-86D3-D2EF9400FA41}" dt="2026-08-18T08:20:26.669" v="12" actId="20577"/>
        <pc:sldMkLst>
          <pc:docMk/>
          <pc:sldMk cId="0" sldId="256"/>
        </pc:sldMkLst>
        <pc:spChg chg="del">
          <ac:chgData name="Sydney Malunga" userId="f348baeb-1f05-486c-bbcc-2da6e207d963" providerId="ADAL" clId="{DE3B0BC8-E27C-48FE-86D3-D2EF9400FA41}" dt="2026-08-18T08:17:19.782" v="0" actId="478"/>
          <ac:spMkLst>
            <pc:docMk/>
            <pc:sldMk cId="0" sldId="256"/>
            <ac:spMk id="2" creationId="{00000000-0000-0000-0000-000000000000}"/>
          </ac:spMkLst>
        </pc:spChg>
        <pc:spChg chg="del">
          <ac:chgData name="Sydney Malunga" userId="f348baeb-1f05-486c-bbcc-2da6e207d963" providerId="ADAL" clId="{DE3B0BC8-E27C-48FE-86D3-D2EF9400FA41}" dt="2026-08-18T08:18:33.773" v="2" actId="478"/>
          <ac:spMkLst>
            <pc:docMk/>
            <pc:sldMk cId="0" sldId="256"/>
            <ac:spMk id="3" creationId="{00000000-0000-0000-0000-000000000000}"/>
          </ac:spMkLst>
        </pc:spChg>
        <pc:spChg chg="mod">
          <ac:chgData name="Sydney Malunga" userId="f348baeb-1f05-486c-bbcc-2da6e207d963" providerId="ADAL" clId="{DE3B0BC8-E27C-48FE-86D3-D2EF9400FA41}" dt="2026-08-18T08:20:26.669" v="12" actId="20577"/>
          <ac:spMkLst>
            <pc:docMk/>
            <pc:sldMk cId="0" sldId="256"/>
            <ac:spMk id="5" creationId="{00000000-0000-0000-0000-000000000000}"/>
          </ac:spMkLst>
        </pc:spChg>
        <pc:spChg chg="del">
          <ac:chgData name="Sydney Malunga" userId="f348baeb-1f05-486c-bbcc-2da6e207d963" providerId="ADAL" clId="{DE3B0BC8-E27C-48FE-86D3-D2EF9400FA41}" dt="2026-08-18T08:18:24.518" v="1" actId="478"/>
          <ac:spMkLst>
            <pc:docMk/>
            <pc:sldMk cId="0" sldId="256"/>
            <ac:spMk id="8" creationId="{00000000-0000-0000-0000-000000000000}"/>
          </ac:spMkLst>
        </pc:spChg>
        <pc:spChg chg="add">
          <ac:chgData name="Sydney Malunga" userId="f348baeb-1f05-486c-bbcc-2da6e207d963" providerId="ADAL" clId="{DE3B0BC8-E27C-48FE-86D3-D2EF9400FA41}" dt="2026-08-18T08:18:34.878" v="3" actId="22"/>
          <ac:spMkLst>
            <pc:docMk/>
            <pc:sldMk cId="0" sldId="256"/>
            <ac:spMk id="11" creationId="{DA933BB7-28E8-4C33-3E1B-377F671DA44A}"/>
          </ac:spMkLst>
        </pc:spChg>
        <pc:spChg chg="add">
          <ac:chgData name="Sydney Malunga" userId="f348baeb-1f05-486c-bbcc-2da6e207d963" providerId="ADAL" clId="{DE3B0BC8-E27C-48FE-86D3-D2EF9400FA41}" dt="2026-08-18T08:18:34.878" v="3" actId="22"/>
          <ac:spMkLst>
            <pc:docMk/>
            <pc:sldMk cId="0" sldId="256"/>
            <ac:spMk id="13" creationId="{20034615-B532-A184-B94E-C72455F7C5EE}"/>
          </ac:spMkLst>
        </pc:spChg>
        <pc:spChg chg="add">
          <ac:chgData name="Sydney Malunga" userId="f348baeb-1f05-486c-bbcc-2da6e207d963" providerId="ADAL" clId="{DE3B0BC8-E27C-48FE-86D3-D2EF9400FA41}" dt="2026-08-18T08:18:34.878" v="3" actId="22"/>
          <ac:spMkLst>
            <pc:docMk/>
            <pc:sldMk cId="0" sldId="256"/>
            <ac:spMk id="15" creationId="{128CA0EC-220B-E3CB-47B8-A4E9F61F6816}"/>
          </ac:spMkLst>
        </pc:spChg>
        <pc:spChg chg="add">
          <ac:chgData name="Sydney Malunga" userId="f348baeb-1f05-486c-bbcc-2da6e207d963" providerId="ADAL" clId="{DE3B0BC8-E27C-48FE-86D3-D2EF9400FA41}" dt="2026-08-18T08:18:34.878" v="3" actId="22"/>
          <ac:spMkLst>
            <pc:docMk/>
            <pc:sldMk cId="0" sldId="256"/>
            <ac:spMk id="17" creationId="{50F50062-F1A9-BDFF-8F27-01BA2A4A01CF}"/>
          </ac:spMkLst>
        </pc:spChg>
        <pc:spChg chg="add">
          <ac:chgData name="Sydney Malunga" userId="f348baeb-1f05-486c-bbcc-2da6e207d963" providerId="ADAL" clId="{DE3B0BC8-E27C-48FE-86D3-D2EF9400FA41}" dt="2026-08-18T08:18:34.878" v="3" actId="22"/>
          <ac:spMkLst>
            <pc:docMk/>
            <pc:sldMk cId="0" sldId="256"/>
            <ac:spMk id="19" creationId="{B50013B6-A0E1-AC32-BC71-D890FA61D06D}"/>
          </ac:spMkLst>
        </pc:spChg>
        <pc:picChg chg="mod">
          <ac:chgData name="Sydney Malunga" userId="f348baeb-1f05-486c-bbcc-2da6e207d963" providerId="ADAL" clId="{DE3B0BC8-E27C-48FE-86D3-D2EF9400FA41}" dt="2026-08-18T08:18:42.222" v="4" actId="1076"/>
          <ac:picMkLst>
            <pc:docMk/>
            <pc:sldMk cId="0" sldId="256"/>
            <ac:picMk id="4" creationId="{00000000-0000-0000-0000-000000000000}"/>
          </ac:picMkLst>
        </pc:picChg>
      </pc:sldChg>
      <pc:sldChg chg="delSp mod">
        <pc:chgData name="Sydney Malunga" userId="f348baeb-1f05-486c-bbcc-2da6e207d963" providerId="ADAL" clId="{DE3B0BC8-E27C-48FE-86D3-D2EF9400FA41}" dt="2026-08-18T08:19:06.043" v="5" actId="478"/>
        <pc:sldMkLst>
          <pc:docMk/>
          <pc:sldMk cId="0" sldId="272"/>
        </pc:sldMkLst>
        <pc:spChg chg="del">
          <ac:chgData name="Sydney Malunga" userId="f348baeb-1f05-486c-bbcc-2da6e207d963" providerId="ADAL" clId="{DE3B0BC8-E27C-48FE-86D3-D2EF9400FA41}" dt="2026-08-18T08:19:06.043" v="5" actId="478"/>
          <ac:spMkLst>
            <pc:docMk/>
            <pc:sldMk cId="0" sldId="272"/>
            <ac:spMk id="2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Probability</c:v>
                </c:pt>
              </c:strCache>
            </c:strRef>
          </c:tx>
          <c:spPr>
            <a:solidFill>
              <a:srgbClr val="E63425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5374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k=0</c:v>
                </c:pt>
                <c:pt idx="1">
                  <c:v>k=1</c:v>
                </c:pt>
                <c:pt idx="2">
                  <c:v>k=2</c:v>
                </c:pt>
                <c:pt idx="3">
                  <c:v>k=3</c:v>
                </c:pt>
                <c:pt idx="4">
                  <c:v>k=4</c:v>
                </c:pt>
                <c:pt idx="5">
                  <c:v>k=5+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15</c:v>
                </c:pt>
                <c:pt idx="1">
                  <c:v>30</c:v>
                </c:pt>
                <c:pt idx="2">
                  <c:v>27</c:v>
                </c:pt>
                <c:pt idx="3">
                  <c:v>14</c:v>
                </c:pt>
                <c:pt idx="4">
                  <c:v>5</c:v>
                </c:pt>
                <c:pt idx="5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535-42BD-B2AE-9FC0C756B12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1039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37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187" y="394252"/>
            <a:ext cx="1828800" cy="12059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96596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kern="0" spc="2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 ·  </a:t>
            </a:r>
            <a:r>
              <a:rPr lang="en-US" sz="1400" b="1" kern="0" spc="20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548640" y="2423160"/>
            <a:ext cx="8778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Theory &amp; Statistical Distributions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548640" y="3703320"/>
            <a:ext cx="8778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Binomial &amp; Normal Distributions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548640" y="6309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www.newlandsclinic.org.zw</a:t>
            </a:r>
            <a:endParaRPr lang="en-US" sz="1100" dirty="0"/>
          </a:p>
        </p:txBody>
      </p:sp>
      <p:sp>
        <p:nvSpPr>
          <p:cNvPr id="11" name="Shape 1">
            <a:extLst>
              <a:ext uri="{FF2B5EF4-FFF2-40B4-BE49-F238E27FC236}">
                <a16:creationId xmlns:a16="http://schemas.microsoft.com/office/drawing/2014/main" id="{DA933BB7-28E8-4C33-3E1B-377F671DA44A}"/>
              </a:ext>
            </a:extLst>
          </p:cNvPr>
          <p:cNvSpPr/>
          <p:nvPr/>
        </p:nvSpPr>
        <p:spPr>
          <a:xfrm>
            <a:off x="7985455" y="2834640"/>
            <a:ext cx="4206240" cy="42062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13" name="Shape 2">
            <a:extLst>
              <a:ext uri="{FF2B5EF4-FFF2-40B4-BE49-F238E27FC236}">
                <a16:creationId xmlns:a16="http://schemas.microsoft.com/office/drawing/2014/main" id="{20034615-B532-A184-B94E-C72455F7C5EE}"/>
              </a:ext>
            </a:extLst>
          </p:cNvPr>
          <p:cNvSpPr/>
          <p:nvPr/>
        </p:nvSpPr>
        <p:spPr>
          <a:xfrm>
            <a:off x="8945575" y="5394960"/>
            <a:ext cx="384048" cy="640080"/>
          </a:xfrm>
          <a:prstGeom prst="rect">
            <a:avLst/>
          </a:prstGeom>
          <a:solidFill>
            <a:srgbClr val="2E8B9B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15" name="Shape 3">
            <a:extLst>
              <a:ext uri="{FF2B5EF4-FFF2-40B4-BE49-F238E27FC236}">
                <a16:creationId xmlns:a16="http://schemas.microsoft.com/office/drawing/2014/main" id="{128CA0EC-220B-E3CB-47B8-A4E9F61F6816}"/>
              </a:ext>
            </a:extLst>
          </p:cNvPr>
          <p:cNvSpPr/>
          <p:nvPr/>
        </p:nvSpPr>
        <p:spPr>
          <a:xfrm>
            <a:off x="9448495" y="4617720"/>
            <a:ext cx="384048" cy="1417320"/>
          </a:xfrm>
          <a:prstGeom prst="rect">
            <a:avLst/>
          </a:prstGeom>
          <a:solidFill>
            <a:srgbClr val="E63425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17" name="Shape 4">
            <a:extLst>
              <a:ext uri="{FF2B5EF4-FFF2-40B4-BE49-F238E27FC236}">
                <a16:creationId xmlns:a16="http://schemas.microsoft.com/office/drawing/2014/main" id="{50F50062-F1A9-BDFF-8F27-01BA2A4A01CF}"/>
              </a:ext>
            </a:extLst>
          </p:cNvPr>
          <p:cNvSpPr/>
          <p:nvPr/>
        </p:nvSpPr>
        <p:spPr>
          <a:xfrm>
            <a:off x="9951415" y="5074920"/>
            <a:ext cx="384048" cy="960120"/>
          </a:xfrm>
          <a:prstGeom prst="rect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19" name="Shape 5">
            <a:extLst>
              <a:ext uri="{FF2B5EF4-FFF2-40B4-BE49-F238E27FC236}">
                <a16:creationId xmlns:a16="http://schemas.microsoft.com/office/drawing/2014/main" id="{B50013B6-A0E1-AC32-BC71-D890FA61D06D}"/>
              </a:ext>
            </a:extLst>
          </p:cNvPr>
          <p:cNvSpPr/>
          <p:nvPr/>
        </p:nvSpPr>
        <p:spPr>
          <a:xfrm>
            <a:off x="10454335" y="4800600"/>
            <a:ext cx="384048" cy="1234440"/>
          </a:xfrm>
          <a:prstGeom prst="rect">
            <a:avLst/>
          </a:prstGeom>
          <a:solidFill>
            <a:srgbClr val="5B9A56"/>
          </a:solidFill>
          <a:ln/>
        </p:spPr>
        <p:txBody>
          <a:bodyPr/>
          <a:lstStyle/>
          <a:p>
            <a:endParaRPr lang="en-ZW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9551" y="292608"/>
            <a:ext cx="603504" cy="39796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9692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10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TOPIC 3 · STATISTICS FOR EPIDEMIOLOGY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548640" y="621792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5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Theory &amp; Statistical Distributions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statistical test you will run later in this course — t-tests, chi-square, confidence intervals — is built on probability. Today we build that foundation from scratch, in plain language.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548640" y="2148840"/>
            <a:ext cx="384048" cy="384048"/>
          </a:xfrm>
          <a:prstGeom prst="ellipse">
            <a:avLst/>
          </a:prstGeom>
          <a:solidFill>
            <a:srgbClr val="25374F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7" name="Text 4"/>
          <p:cNvSpPr/>
          <p:nvPr/>
        </p:nvSpPr>
        <p:spPr>
          <a:xfrm>
            <a:off x="548640" y="21488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115568" y="2093976"/>
            <a:ext cx="5989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probability in plain language and read the symbols P(A), “or”, “and” and P(A|B).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2898648"/>
            <a:ext cx="384048" cy="384048"/>
          </a:xfrm>
          <a:prstGeom prst="ellipse">
            <a:avLst/>
          </a:prstGeom>
          <a:solidFill>
            <a:srgbClr val="25374F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10" name="Text 7"/>
          <p:cNvSpPr/>
          <p:nvPr/>
        </p:nvSpPr>
        <p:spPr>
          <a:xfrm>
            <a:off x="548640" y="28986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115568" y="2843784"/>
            <a:ext cx="5989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addition (OR) rule and multiplication (AND) rule to simple examples.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48640" y="3648456"/>
            <a:ext cx="384048" cy="384048"/>
          </a:xfrm>
          <a:prstGeom prst="ellipse">
            <a:avLst/>
          </a:prstGeom>
          <a:solidFill>
            <a:srgbClr val="25374F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13" name="Text 10"/>
          <p:cNvSpPr/>
          <p:nvPr/>
        </p:nvSpPr>
        <p:spPr>
          <a:xfrm>
            <a:off x="548640" y="36484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115568" y="3593592"/>
            <a:ext cx="5989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a diagnostic test result using sensitivity, specificity and predictive value.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548640" y="4398264"/>
            <a:ext cx="384048" cy="384048"/>
          </a:xfrm>
          <a:prstGeom prst="ellipse">
            <a:avLst/>
          </a:prstGeom>
          <a:solidFill>
            <a:srgbClr val="25374F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16" name="Text 13"/>
          <p:cNvSpPr/>
          <p:nvPr/>
        </p:nvSpPr>
        <p:spPr>
          <a:xfrm>
            <a:off x="548640" y="43982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115568" y="4343400"/>
            <a:ext cx="5989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a binomial (counting) scenario from a normal (measuring) scenario.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548640" y="5148072"/>
            <a:ext cx="384048" cy="384048"/>
          </a:xfrm>
          <a:prstGeom prst="ellipse">
            <a:avLst/>
          </a:prstGeom>
          <a:solidFill>
            <a:srgbClr val="25374F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19" name="Text 16"/>
          <p:cNvSpPr/>
          <p:nvPr/>
        </p:nvSpPr>
        <p:spPr>
          <a:xfrm>
            <a:off x="548640" y="51480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115568" y="5093208"/>
            <a:ext cx="5989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a binomial probability and read a bell curve using the 68–95–99.7 rule and z-scores.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7269480" y="2103120"/>
            <a:ext cx="4370832" cy="3794760"/>
          </a:xfrm>
          <a:prstGeom prst="roundRect">
            <a:avLst>
              <a:gd name="adj" fmla="val 1928"/>
            </a:avLst>
          </a:prstGeom>
          <a:solidFill>
            <a:srgbClr val="25374F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22" name="Text 19"/>
          <p:cNvSpPr/>
          <p:nvPr/>
        </p:nvSpPr>
        <p:spPr>
          <a:xfrm>
            <a:off x="7543800" y="23317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7543800" y="274320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DC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test result, every p-value, and every confidence interval you will meet in this course rests on the two distributions covered today.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7543800" y="420624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9F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calculators needed — every formula is paired with a picture.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MASTERCLASS FOR CLINICIANS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9551" y="292608"/>
            <a:ext cx="603504" cy="39796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9692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10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· FOUNDATIONS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548640" y="621792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5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Probability Matters to a Clinician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48640" y="146304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is simply the mathematics of uncertainty — and clinical medicine runs on uncertainty. No test is perfect. No patient is the textbook patient.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2377440"/>
            <a:ext cx="6400800" cy="1508760"/>
          </a:xfrm>
          <a:prstGeom prst="roundRect">
            <a:avLst>
              <a:gd name="adj" fmla="val 4848"/>
            </a:avLst>
          </a:prstGeom>
          <a:solidFill>
            <a:srgbClr val="F4F5F7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7" name="Text 4"/>
          <p:cNvSpPr/>
          <p:nvPr/>
        </p:nvSpPr>
        <p:spPr>
          <a:xfrm>
            <a:off x="777240" y="2542032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90.0%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2606040" y="2514600"/>
            <a:ext cx="42062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5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Positive-percent agreement (sensitivity-type measure) of routine rapid HIV testing among women, Zimbabwe's 2017 antenatal surveillance (Gregson S et al., J Int AIDS Soc, 2021).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4023360"/>
            <a:ext cx="6400800" cy="1508760"/>
          </a:xfrm>
          <a:prstGeom prst="roundRect">
            <a:avLst>
              <a:gd name="adj" fmla="val 4848"/>
            </a:avLst>
          </a:prstGeom>
          <a:solidFill>
            <a:srgbClr val="F4F5F7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10" name="Text 7"/>
          <p:cNvSpPr/>
          <p:nvPr/>
        </p:nvSpPr>
        <p:spPr>
          <a:xfrm>
            <a:off x="777240" y="4187952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16.7%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2606040" y="4160520"/>
            <a:ext cx="42062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5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 of 3,110 Harare deliveries classified as low birth weight — a proportion that is really a binomial probability (Feresu SA et al., PLoS ONE, 2015).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498080" y="1463040"/>
            <a:ext cx="4142232" cy="4434840"/>
          </a:xfrm>
          <a:prstGeom prst="roundRect">
            <a:avLst>
              <a:gd name="adj" fmla="val 1766"/>
            </a:avLst>
          </a:prstGeom>
          <a:solidFill>
            <a:srgbClr val="25374F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13" name="Text 10"/>
          <p:cNvSpPr/>
          <p:nvPr/>
        </p:nvSpPr>
        <p:spPr>
          <a:xfrm>
            <a:off x="7772400" y="1691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DEFINITION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772400" y="2103120"/>
            <a:ext cx="36118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DC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probability is a number between 0 and 1 (0%–100%) that says how likely something is.
</a:t>
            </a: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en-US" sz="1350" dirty="0">
                <a:solidFill>
                  <a:srgbClr val="DC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never happens.  </a:t>
            </a: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en-US" sz="1350" dirty="0">
                <a:solidFill>
                  <a:srgbClr val="DC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always happens.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7772400" y="4114800"/>
            <a:ext cx="361188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9F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like a weather forecast: “30% chance of rain over Harare this afternoon” means on 30 out of every 100 similar days, it would rain.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MASTERCLASS FOR CLINICIANS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9551" y="292608"/>
            <a:ext cx="603504" cy="39796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9692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10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· FOUNDATIONS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548640" y="621792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5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Language of Probability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alphabet — every symbol explained the moment it appears.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10607040" cy="374904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09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86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Symbol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Say it as…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What it means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6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C32A1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P(A)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“P of A”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probability that event A happens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6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C32A1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P(A or B)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“P of A or B”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happens, B happens, or both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86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C32A1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P(A and B)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“P of A and B”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 A and B happen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86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C32A1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P(A|B)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“P of A given B”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Probability of A once we know B is true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86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C32A1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n, p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“n”, “p”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 size; probability of “success” on one trial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86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C32A1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μ, σ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“mu”, “sigma”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population mean (average); the standard deviation (spread)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86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C32A1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z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“z-score”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many SDs a value sits from the mean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580644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rule: a probability is never negative and never bigger than 1 (100%). If your answer breaks that rule, check your arithmetic.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MASTERCLASS FOR CLINICIANS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9551" y="292608"/>
            <a:ext cx="603504" cy="39796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9692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10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· FOUNDATIONS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548640" y="621792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5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Basic Rules: OR (add) and AND (multiply)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508760"/>
            <a:ext cx="5074920" cy="4297680"/>
          </a:xfrm>
          <a:prstGeom prst="roundRect">
            <a:avLst>
              <a:gd name="adj" fmla="val 1702"/>
            </a:avLst>
          </a:prstGeom>
          <a:solidFill>
            <a:srgbClr val="F4F5F7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6" name="Text 3"/>
          <p:cNvSpPr/>
          <p:nvPr/>
        </p:nvSpPr>
        <p:spPr>
          <a:xfrm>
            <a:off x="822960" y="17373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50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 — ADDITION (OR)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822960" y="21031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53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P(A or B) = P(A) + P(B)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960" y="260604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valid when A and B cannot both happen (mutually exclusive)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22960" y="3246120"/>
            <a:ext cx="4572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group A and group O never overlap. If ~30% of donors are group A and ~46% are group O (illustrative figures):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22960" y="4434840"/>
            <a:ext cx="452628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E3E7EB"/>
            </a:solidFill>
            <a:prstDash val="solid"/>
          </a:ln>
        </p:spPr>
        <p:txBody>
          <a:bodyPr/>
          <a:lstStyle/>
          <a:p>
            <a:endParaRPr lang="en-ZW"/>
          </a:p>
        </p:txBody>
      </p:sp>
      <p:sp>
        <p:nvSpPr>
          <p:cNvPr id="11" name="Text 8"/>
          <p:cNvSpPr/>
          <p:nvPr/>
        </p:nvSpPr>
        <p:spPr>
          <a:xfrm>
            <a:off x="822960" y="4434840"/>
            <a:ext cx="4526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3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P(A or O) = 0.30 + 0.46 = 0.76 (76%)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989320" y="1508760"/>
            <a:ext cx="5074920" cy="4297680"/>
          </a:xfrm>
          <a:prstGeom prst="roundRect">
            <a:avLst>
              <a:gd name="adj" fmla="val 1702"/>
            </a:avLst>
          </a:prstGeom>
          <a:solidFill>
            <a:srgbClr val="F4F5F7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13" name="Text 10"/>
          <p:cNvSpPr/>
          <p:nvPr/>
        </p:nvSpPr>
        <p:spPr>
          <a:xfrm>
            <a:off x="6263640" y="17373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50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2 — MULTIPLICATION (AND)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263640" y="21031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53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P(A and B) = P(A) × P(B)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6263640" y="260604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valid when A and B are independent (one doesn't affect the other)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6263640" y="3246120"/>
            <a:ext cx="4572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68.6% of 315 Bulawayo second-line ART patients are virally suppressed (Musomekwa &amp; van Wyk, 2025). Two unrelated patients — both suppressed?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263640" y="4434840"/>
            <a:ext cx="452628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E3E7EB"/>
            </a:solidFill>
            <a:prstDash val="solid"/>
          </a:ln>
        </p:spPr>
        <p:txBody>
          <a:bodyPr/>
          <a:lstStyle/>
          <a:p>
            <a:endParaRPr lang="en-ZW"/>
          </a:p>
        </p:txBody>
      </p:sp>
      <p:sp>
        <p:nvSpPr>
          <p:cNvPr id="18" name="Text 15"/>
          <p:cNvSpPr/>
          <p:nvPr/>
        </p:nvSpPr>
        <p:spPr>
          <a:xfrm>
            <a:off x="6263640" y="4434840"/>
            <a:ext cx="4526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3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0.686 × 0.686 = 0.47 (47%)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48640" y="598932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makes numbers bigger (easier for at least one to happen).  AND makes numbers smaller (harder for both to happen).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MASTERCLASS FOR CLINICIANS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9551" y="292608"/>
            <a:ext cx="603504" cy="39796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9692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10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— CHECK YOUR UNDERSTANDING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548640" y="621792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5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or AND? Applying the Rules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48640" y="146304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Southern African blood bank, roughly 46% of donors are blood group O and 30% are blood group A.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201168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donor walks in. What is the probability they are group A OR group O?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514600"/>
            <a:ext cx="106070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3E7EB"/>
            </a:solidFill>
            <a:prstDash val="solid"/>
          </a:ln>
        </p:spPr>
        <p:txBody>
          <a:bodyPr/>
          <a:lstStyle/>
          <a:p>
            <a:endParaRPr lang="en-ZW"/>
          </a:p>
        </p:txBody>
      </p:sp>
      <p:sp>
        <p:nvSpPr>
          <p:cNvPr id="8" name="Text 5"/>
          <p:cNvSpPr/>
          <p:nvPr/>
        </p:nvSpPr>
        <p:spPr>
          <a:xfrm>
            <a:off x="731520" y="251460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0.30 × 0.46 = 0.14 (14%)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3136392"/>
            <a:ext cx="10607040" cy="502920"/>
          </a:xfrm>
          <a:prstGeom prst="roundRect">
            <a:avLst>
              <a:gd name="adj" fmla="val 10909"/>
            </a:avLst>
          </a:prstGeom>
          <a:solidFill>
            <a:srgbClr val="EAF5EA"/>
          </a:solidFill>
          <a:ln w="22225">
            <a:solidFill>
              <a:srgbClr val="5B9A56"/>
            </a:solidFill>
            <a:prstDash val="solid"/>
          </a:ln>
        </p:spPr>
        <p:txBody>
          <a:bodyPr/>
          <a:lstStyle/>
          <a:p>
            <a:endParaRPr lang="en-ZW"/>
          </a:p>
        </p:txBody>
      </p:sp>
      <p:sp>
        <p:nvSpPr>
          <p:cNvPr id="10" name="Text 7"/>
          <p:cNvSpPr/>
          <p:nvPr/>
        </p:nvSpPr>
        <p:spPr>
          <a:xfrm>
            <a:off x="731520" y="3136392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5C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0.30 + 0.46 = 0.76 (76%)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3758184"/>
            <a:ext cx="106070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3E7EB"/>
            </a:solidFill>
            <a:prstDash val="solid"/>
          </a:ln>
        </p:spPr>
        <p:txBody>
          <a:bodyPr/>
          <a:lstStyle/>
          <a:p>
            <a:endParaRPr lang="en-ZW"/>
          </a:p>
        </p:txBody>
      </p:sp>
      <p:sp>
        <p:nvSpPr>
          <p:cNvPr id="12" name="Text 9"/>
          <p:cNvSpPr/>
          <p:nvPr/>
        </p:nvSpPr>
        <p:spPr>
          <a:xfrm>
            <a:off x="731520" y="3758184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0.46 − 0.30 = 0.16 (16%)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4379976"/>
            <a:ext cx="106070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3E7EB"/>
            </a:solidFill>
            <a:prstDash val="solid"/>
          </a:ln>
        </p:spPr>
        <p:txBody>
          <a:bodyPr/>
          <a:lstStyle/>
          <a:p>
            <a:endParaRPr lang="en-ZW"/>
          </a:p>
        </p:txBody>
      </p:sp>
      <p:sp>
        <p:nvSpPr>
          <p:cNvPr id="14" name="Text 11"/>
          <p:cNvSpPr/>
          <p:nvPr/>
        </p:nvSpPr>
        <p:spPr>
          <a:xfrm>
            <a:off x="731520" y="4379976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be calculated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48640" y="5074920"/>
            <a:ext cx="10607040" cy="1051560"/>
          </a:xfrm>
          <a:prstGeom prst="roundRect">
            <a:avLst>
              <a:gd name="adj" fmla="val 5217"/>
            </a:avLst>
          </a:prstGeom>
          <a:solidFill>
            <a:srgbClr val="F4F5F7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16" name="Shape 13"/>
          <p:cNvSpPr/>
          <p:nvPr/>
        </p:nvSpPr>
        <p:spPr>
          <a:xfrm>
            <a:off x="548640" y="5074920"/>
            <a:ext cx="54864" cy="1051560"/>
          </a:xfrm>
          <a:prstGeom prst="rect">
            <a:avLst/>
          </a:prstGeom>
          <a:solidFill>
            <a:srgbClr val="25374F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17" name="Text 14"/>
          <p:cNvSpPr/>
          <p:nvPr/>
        </p:nvSpPr>
        <p:spPr>
          <a:xfrm>
            <a:off x="822960" y="5074920"/>
            <a:ext cx="10058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8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Correct! Blood group A and O are mutually exclusive — nobody is both at once. The addition rule applies: P(A or O) = P(A) + P(O) = 0.30 + 0.46 = 0.76 (76%).</a:t>
            </a:r>
            <a:endParaRPr lang="en-US" sz="1180" dirty="0"/>
          </a:p>
        </p:txBody>
      </p:sp>
      <p:sp>
        <p:nvSpPr>
          <p:cNvPr id="18" name="Text 15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MASTERCLASS FOR CLINICIANS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9551" y="292608"/>
            <a:ext cx="603504" cy="39796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9692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10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APPLIED PROBABILITY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548640" y="621792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5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in Diagnostic Testing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diagnostic test estimates a conditional probability, P(A|B) — “probability of A, given B.”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0607040" cy="118872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3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Term</a:t>
                      </a:r>
                      <a:endParaRPr lang="en-US" sz="13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In symbols</a:t>
                      </a:r>
                      <a:endParaRPr lang="en-US" sz="13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Plain-language question</a:t>
                      </a:r>
                      <a:endParaRPr lang="en-US" sz="13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53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Sensitivity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731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P(test+ | disease)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 those truly sick, how many does the test catch?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53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731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P(test− | no disease)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 those truly well, how many does the test clear?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3246120"/>
            <a:ext cx="10607040" cy="1828800"/>
          </a:xfrm>
          <a:prstGeom prst="roundRect">
            <a:avLst>
              <a:gd name="adj" fmla="val 4000"/>
            </a:avLst>
          </a:prstGeom>
          <a:solidFill>
            <a:srgbClr val="F4F5F7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6" name="Text 4"/>
          <p:cNvSpPr/>
          <p:nvPr/>
        </p:nvSpPr>
        <p:spPr>
          <a:xfrm>
            <a:off x="777240" y="340156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ZIMBABWE EVIDENCE — GREGSON S ET AL., J INT AIDS SOC 2021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777240" y="370332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 national antenatal HIV surveillance, 62 sites: positive-percent agreement (sensitivity-type) among women = </a:t>
            </a:r>
            <a:r>
              <a:rPr lang="en-US" sz="1300" b="1" dirty="0">
                <a:solidFill>
                  <a:srgbClr val="25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90.0%</a:t>
            </a:r>
            <a:r>
              <a:rPr lang="en-US" sz="13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negative-percent agreement (specificity-type) = </a:t>
            </a:r>
            <a:r>
              <a:rPr lang="en-US" sz="1300" b="1" dirty="0">
                <a:solidFill>
                  <a:srgbClr val="25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99.9%.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777240" y="425196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terms: of every 100 truly HIV-positive women, the routine test correctly caught about 90 — missing roughly 10, mostly due to storeroom humidity/temperature and premature reading of results.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548640" y="525780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25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distinction:  </a:t>
            </a:r>
            <a:r>
              <a:rPr lang="en-US" sz="13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“What's my chance of having HIV given a positive test?” runs in the </a:t>
            </a:r>
            <a:r>
              <a:rPr lang="en-US" sz="1300" i="1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opposite</a:t>
            </a:r>
            <a:r>
              <a:rPr lang="en-US" sz="13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direction to sensitivity, and depends on how common HIV is locally — not on the test alone.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MASTERCLASS FOR CLINICIANS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9551" y="292608"/>
            <a:ext cx="603504" cy="39796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9692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10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· BUILDING BLOCKS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548640" y="621792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5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Variables &amp; Probability Distributions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random variable is a quantity whose exact value is uncertain, but whose possible values — and how likely each is — can be described.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548640" y="2103120"/>
            <a:ext cx="5074920" cy="3566160"/>
          </a:xfrm>
          <a:prstGeom prst="roundRect">
            <a:avLst>
              <a:gd name="adj" fmla="val 2051"/>
            </a:avLst>
          </a:prstGeom>
          <a:solidFill>
            <a:srgbClr val="F4F5F7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7" name="Shape 4"/>
          <p:cNvSpPr/>
          <p:nvPr/>
        </p:nvSpPr>
        <p:spPr>
          <a:xfrm>
            <a:off x="822960" y="2331720"/>
            <a:ext cx="384048" cy="384048"/>
          </a:xfrm>
          <a:prstGeom prst="ellipse">
            <a:avLst/>
          </a:prstGeom>
          <a:solidFill>
            <a:srgbClr val="E63425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8" name="Text 5"/>
          <p:cNvSpPr/>
          <p:nvPr/>
        </p:nvSpPr>
        <p:spPr>
          <a:xfrm>
            <a:off x="822960" y="23317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371600" y="23317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5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Discrete: counting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22960" y="2880360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Whole-number, countable values. Nothing “in between.”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22960" y="3566160"/>
            <a:ext cx="4526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r>
              <a:rPr lang="en-US" sz="12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LBW babies among the next 10 births: 0, 1, 2 … 10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22960" y="443484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Distribution:  </a:t>
            </a:r>
            <a:r>
              <a:rPr lang="en-US" sz="1300" b="1" dirty="0">
                <a:solidFill>
                  <a:srgbClr val="25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Binomial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989320" y="2103120"/>
            <a:ext cx="5074920" cy="3566160"/>
          </a:xfrm>
          <a:prstGeom prst="roundRect">
            <a:avLst>
              <a:gd name="adj" fmla="val 2051"/>
            </a:avLst>
          </a:prstGeom>
          <a:solidFill>
            <a:srgbClr val="25374F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14" name="Shape 11"/>
          <p:cNvSpPr/>
          <p:nvPr/>
        </p:nvSpPr>
        <p:spPr>
          <a:xfrm>
            <a:off x="6263640" y="2331720"/>
            <a:ext cx="384048" cy="384048"/>
          </a:xfrm>
          <a:prstGeom prst="ellipse">
            <a:avLst/>
          </a:prstGeom>
          <a:solidFill>
            <a:srgbClr val="2E8B9B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15" name="Text 12"/>
          <p:cNvSpPr/>
          <p:nvPr/>
        </p:nvSpPr>
        <p:spPr>
          <a:xfrm>
            <a:off x="6263640" y="23317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812280" y="23317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Continuous: measuring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6263640" y="2880360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DC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value in a range — infinitely many possibilities.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263640" y="3566160"/>
            <a:ext cx="4526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r>
              <a:rPr lang="en-US" sz="1200" dirty="0">
                <a:solidFill>
                  <a:srgbClr val="DC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newborn's birth weight: 2.94, 3.107, 3.1072 kg…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263640" y="443484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Distribution: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48640" y="5852160"/>
            <a:ext cx="10607040" cy="594360"/>
          </a:xfrm>
          <a:prstGeom prst="roundRect">
            <a:avLst>
              <a:gd name="adj" fmla="val 9231"/>
            </a:avLst>
          </a:prstGeom>
          <a:solidFill>
            <a:srgbClr val="F4F5F7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21" name="Text 18"/>
          <p:cNvSpPr/>
          <p:nvPr/>
        </p:nvSpPr>
        <p:spPr>
          <a:xfrm>
            <a:off x="777240" y="5852160"/>
            <a:ext cx="10149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question tells them apart:  </a:t>
            </a:r>
            <a:r>
              <a:rPr lang="en-US" sz="1250" b="1" dirty="0">
                <a:solidFill>
                  <a:srgbClr val="25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“Am I counting occurrences, or measuring an amount?”</a:t>
            </a:r>
            <a:r>
              <a:rPr lang="en-US" sz="125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Counting → binomial family. Measuring → normal family.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MASTERCLASS FOR CLINICIANS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9551" y="292608"/>
            <a:ext cx="603504" cy="39796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9692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10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· DISCRETE DISTRIBUTIONS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548640" y="621792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5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Binomial Distribution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Answers: “If I repeat the same yes/no experiment n times, each with the same chance p of ‘yes’, what's the probability of exactly k ‘yeses’?”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548640" y="2286000"/>
            <a:ext cx="5074920" cy="3566160"/>
          </a:xfrm>
          <a:prstGeom prst="roundRect">
            <a:avLst>
              <a:gd name="adj" fmla="val 2051"/>
            </a:avLst>
          </a:prstGeom>
          <a:solidFill>
            <a:srgbClr val="F4F5F7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7" name="Text 4"/>
          <p:cNvSpPr/>
          <p:nvPr/>
        </p:nvSpPr>
        <p:spPr>
          <a:xfrm>
            <a:off x="822960" y="24871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REQUIRED CONDITIONS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22960" y="2834640"/>
            <a:ext cx="45720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3000"/>
              </a:lnSpc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 number of trials, n</a:t>
            </a:r>
            <a:endParaRPr lang="en-US" sz="1400" dirty="0"/>
          </a:p>
          <a:p>
            <a:pPr marL="342900" indent="-342900">
              <a:lnSpc>
                <a:spcPts val="3000"/>
              </a:lnSpc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trial has two possible outcomes</a:t>
            </a:r>
            <a:endParaRPr lang="en-US" sz="1400" dirty="0"/>
          </a:p>
          <a:p>
            <a:pPr marL="342900" indent="-342900">
              <a:lnSpc>
                <a:spcPts val="3000"/>
              </a:lnSpc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probability of success, p, is constant</a:t>
            </a:r>
            <a:endParaRPr lang="en-US" sz="1400" dirty="0"/>
          </a:p>
          <a:p>
            <a:pPr marL="342900" indent="-342900">
              <a:lnSpc>
                <a:spcPts val="3000"/>
              </a:lnSpc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Trials are independent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89320" y="2286000"/>
            <a:ext cx="5074920" cy="1554480"/>
          </a:xfrm>
          <a:prstGeom prst="roundRect">
            <a:avLst>
              <a:gd name="adj" fmla="val 4118"/>
            </a:avLst>
          </a:prstGeom>
          <a:solidFill>
            <a:srgbClr val="F4F5F7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10" name="Text 7"/>
          <p:cNvSpPr/>
          <p:nvPr/>
        </p:nvSpPr>
        <p:spPr>
          <a:xfrm>
            <a:off x="6172200" y="242316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53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P(X=k) = ⁿCₖ pᵏ (1−p)ⁿ⁻ᵏ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6217920" y="306324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“ways to arrange k successes” × “chance of k successes” × “chance of the rest failing”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989320" y="4023360"/>
            <a:ext cx="5074920" cy="1234440"/>
          </a:xfrm>
          <a:prstGeom prst="roundRect">
            <a:avLst>
              <a:gd name="adj" fmla="val 5185"/>
            </a:avLst>
          </a:prstGeom>
          <a:solidFill>
            <a:srgbClr val="F4F5F7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13" name="Text 10"/>
          <p:cNvSpPr/>
          <p:nvPr/>
        </p:nvSpPr>
        <p:spPr>
          <a:xfrm>
            <a:off x="6172200" y="4187952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253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 = n×p     SD = √[np(1−p)]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6217920" y="470916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count, and typical spread around it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MASTERCLASS FOR CLINICIANS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9551" y="292608"/>
            <a:ext cx="603504" cy="39796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9692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10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· REGIONAL EVIDENCE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548640" y="621792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5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Picturing the Binomial Shape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48640" y="146304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BIRTHS, p = 16.7% LOW BIRTH WEIGHT (FERESU ET AL., 2015)</a:t>
            </a:r>
            <a:endParaRPr lang="en-US" sz="11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48640" y="1783080"/>
          <a:ext cx="566928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544068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likely: 1–2 LBW babies out of the next 10 (mean = 10×0.167 ≈ 1.7)</a:t>
            </a:r>
            <a:endParaRPr lang="en-US" sz="1150" dirty="0"/>
          </a:p>
        </p:txBody>
      </p:sp>
      <p:sp>
        <p:nvSpPr>
          <p:cNvPr id="8" name="Shape 4"/>
          <p:cNvSpPr/>
          <p:nvPr/>
        </p:nvSpPr>
        <p:spPr>
          <a:xfrm>
            <a:off x="6583680" y="1783080"/>
            <a:ext cx="4572000" cy="4114800"/>
          </a:xfrm>
          <a:prstGeom prst="roundRect">
            <a:avLst>
              <a:gd name="adj" fmla="val 1778"/>
            </a:avLst>
          </a:prstGeom>
          <a:solidFill>
            <a:srgbClr val="25374F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9" name="Text 5"/>
          <p:cNvSpPr/>
          <p:nvPr/>
        </p:nvSpPr>
        <p:spPr>
          <a:xfrm>
            <a:off x="6812280" y="196596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MUSOMEKWA &amp; VAN WYK, 2025 — BULAWAYO ART COHORT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6812280" y="251460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DC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315 patients on second-line ART for ≥ 6 months; 68.6% virally suppressed.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812280" y="3291840"/>
            <a:ext cx="4114800" cy="960120"/>
          </a:xfrm>
          <a:prstGeom prst="roundRect">
            <a:avLst>
              <a:gd name="adj" fmla="val 5714"/>
            </a:avLst>
          </a:prstGeom>
          <a:solidFill>
            <a:srgbClr val="2E3D52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12" name="Text 8"/>
          <p:cNvSpPr/>
          <p:nvPr/>
        </p:nvSpPr>
        <p:spPr>
          <a:xfrm>
            <a:off x="6995160" y="340156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n×p = 315×0.686 = 216.2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995160" y="37947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F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the 216 patients actually observed as suppressed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6812280" y="4434840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9F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binomial mean formula matches real clinic data almost exactly.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MASTERCLASS FOR CLINICIANS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9551" y="292608"/>
            <a:ext cx="603504" cy="39796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9692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10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— CHECK YOUR UNDERSTANDING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548640" y="621792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5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the Binomial Distribution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48640" y="146304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Feresu et al. (2015) found 16.7% low birth weight among 3,110 Harare deliveries. You want to model the number of LBW babies among the next 10 births at a similar facility.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201168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distribution applies, and what is the most important condition to check first?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514600"/>
            <a:ext cx="106070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3E7EB"/>
            </a:solidFill>
            <a:prstDash val="solid"/>
          </a:ln>
        </p:spPr>
        <p:txBody>
          <a:bodyPr/>
          <a:lstStyle/>
          <a:p>
            <a:endParaRPr lang="en-ZW"/>
          </a:p>
        </p:txBody>
      </p:sp>
      <p:sp>
        <p:nvSpPr>
          <p:cNvPr id="8" name="Text 5"/>
          <p:cNvSpPr/>
          <p:nvPr/>
        </p:nvSpPr>
        <p:spPr>
          <a:xfrm>
            <a:off x="731520" y="251460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distribution; check that birth weight is measured precisely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3136392"/>
            <a:ext cx="10607040" cy="502920"/>
          </a:xfrm>
          <a:prstGeom prst="roundRect">
            <a:avLst>
              <a:gd name="adj" fmla="val 10909"/>
            </a:avLst>
          </a:prstGeom>
          <a:solidFill>
            <a:srgbClr val="EAF5EA"/>
          </a:solidFill>
          <a:ln w="22225">
            <a:solidFill>
              <a:srgbClr val="5B9A56"/>
            </a:solidFill>
            <a:prstDash val="solid"/>
          </a:ln>
        </p:spPr>
        <p:txBody>
          <a:bodyPr/>
          <a:lstStyle/>
          <a:p>
            <a:endParaRPr lang="en-ZW"/>
          </a:p>
        </p:txBody>
      </p:sp>
      <p:sp>
        <p:nvSpPr>
          <p:cNvPr id="10" name="Text 7"/>
          <p:cNvSpPr/>
          <p:nvPr/>
        </p:nvSpPr>
        <p:spPr>
          <a:xfrm>
            <a:off x="731520" y="3136392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5C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Binomial distribution; check that each birth is genuinely an independent trial with roughly constant probability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3758184"/>
            <a:ext cx="106070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3E7EB"/>
            </a:solidFill>
            <a:prstDash val="solid"/>
          </a:ln>
        </p:spPr>
        <p:txBody>
          <a:bodyPr/>
          <a:lstStyle/>
          <a:p>
            <a:endParaRPr lang="en-ZW"/>
          </a:p>
        </p:txBody>
      </p:sp>
      <p:sp>
        <p:nvSpPr>
          <p:cNvPr id="12" name="Text 9"/>
          <p:cNvSpPr/>
          <p:nvPr/>
        </p:nvSpPr>
        <p:spPr>
          <a:xfrm>
            <a:off x="731520" y="3758184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Binomial distribution; no conditions are required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4379976"/>
            <a:ext cx="106070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3E7EB"/>
            </a:solidFill>
            <a:prstDash val="solid"/>
          </a:ln>
        </p:spPr>
        <p:txBody>
          <a:bodyPr/>
          <a:lstStyle/>
          <a:p>
            <a:endParaRPr lang="en-ZW"/>
          </a:p>
        </p:txBody>
      </p:sp>
      <p:sp>
        <p:nvSpPr>
          <p:cNvPr id="14" name="Text 11"/>
          <p:cNvSpPr/>
          <p:nvPr/>
        </p:nvSpPr>
        <p:spPr>
          <a:xfrm>
            <a:off x="731520" y="4379976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distribution; check that σ is known exactly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48640" y="5074920"/>
            <a:ext cx="10607040" cy="1051560"/>
          </a:xfrm>
          <a:prstGeom prst="roundRect">
            <a:avLst>
              <a:gd name="adj" fmla="val 5217"/>
            </a:avLst>
          </a:prstGeom>
          <a:solidFill>
            <a:srgbClr val="F4F5F7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16" name="Shape 13"/>
          <p:cNvSpPr/>
          <p:nvPr/>
        </p:nvSpPr>
        <p:spPr>
          <a:xfrm>
            <a:off x="548640" y="5074920"/>
            <a:ext cx="54864" cy="1051560"/>
          </a:xfrm>
          <a:prstGeom prst="rect">
            <a:avLst/>
          </a:prstGeom>
          <a:solidFill>
            <a:srgbClr val="25374F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17" name="Text 14"/>
          <p:cNvSpPr/>
          <p:nvPr/>
        </p:nvSpPr>
        <p:spPr>
          <a:xfrm>
            <a:off x="822960" y="5074920"/>
            <a:ext cx="10058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8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Correct! Counting a yes/no outcome (LBW or not) over a fixed number of births is a binomial scenario. The condition most likely to be violated is independence — repeat pregnancies and shared community risk factors can make births non-independent.</a:t>
            </a:r>
            <a:endParaRPr lang="en-US" sz="1180" dirty="0"/>
          </a:p>
        </p:txBody>
      </p:sp>
      <p:sp>
        <p:nvSpPr>
          <p:cNvPr id="18" name="Text 15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MASTERCLASS FOR CLINICIANS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9551" y="292608"/>
            <a:ext cx="603504" cy="39796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9692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10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· CONTINUOUS DISTRIBUTIONS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548640" y="621792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5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Normal Distribution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symmetric bell curve, fully described by μ (centre) and σ (spread). Most values cluster near the average.</a:t>
            </a:r>
            <a:endParaRPr lang="en-US" sz="1350" dirty="0"/>
          </a:p>
        </p:txBody>
      </p:sp>
      <p:pic>
        <p:nvPicPr>
          <p:cNvPr id="6" name="Image 1" descr="bellcur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6728" y="1783080"/>
            <a:ext cx="8778240" cy="37490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5696712"/>
            <a:ext cx="10607040" cy="594360"/>
          </a:xfrm>
          <a:prstGeom prst="roundRect">
            <a:avLst>
              <a:gd name="adj" fmla="val 9231"/>
            </a:avLst>
          </a:prstGeom>
          <a:solidFill>
            <a:srgbClr val="F4F5F7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8" name="Text 4"/>
          <p:cNvSpPr/>
          <p:nvPr/>
        </p:nvSpPr>
        <p:spPr>
          <a:xfrm>
            <a:off x="777240" y="5696712"/>
            <a:ext cx="10149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68–95–99.7 rule:  </a:t>
            </a:r>
            <a:r>
              <a:rPr lang="en-US" sz="13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68% of values lie within ±1σ of the mean, 95% within ±2σ, and 99.7% within ±3σ.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MASTERCLASS FOR CLINICIANS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9551" y="292608"/>
            <a:ext cx="603504" cy="39796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9692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10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· REGIONAL EVIDENCE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548640" y="621792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5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Zimbabwean Birth Weight as a Bell Curve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5074920" cy="4434840"/>
          </a:xfrm>
          <a:prstGeom prst="roundRect">
            <a:avLst>
              <a:gd name="adj" fmla="val 1649"/>
            </a:avLst>
          </a:prstGeom>
          <a:solidFill>
            <a:srgbClr val="F4F5F7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6" name="Text 3"/>
          <p:cNvSpPr/>
          <p:nvPr/>
        </p:nvSpPr>
        <p:spPr>
          <a:xfrm>
            <a:off x="822960" y="181051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MUNJANJA &amp; MASONA, CENT AFR J MED, 1990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822960" y="2331720"/>
            <a:ext cx="4526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Birthweight-for-gestation standards from 5,872 women with confirmed dates, Harare. Near term, birth weight clusters symmetrically around the 50th centile — the signature of an approximately normal distribution.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22960" y="3749040"/>
            <a:ext cx="452628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E7EB"/>
            </a:solidFill>
            <a:prstDash val="solid"/>
          </a:ln>
        </p:spPr>
        <p:txBody>
          <a:bodyPr/>
          <a:lstStyle/>
          <a:p>
            <a:endParaRPr lang="en-ZW"/>
          </a:p>
        </p:txBody>
      </p:sp>
      <p:sp>
        <p:nvSpPr>
          <p:cNvPr id="9" name="Text 6"/>
          <p:cNvSpPr/>
          <p:nvPr/>
        </p:nvSpPr>
        <p:spPr>
          <a:xfrm>
            <a:off x="822960" y="374904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3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μ ≈ 3.1 kg    σ ≈ 0.45 kg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22960" y="4224528"/>
            <a:ext cx="4526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rounded teaching values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22960" y="4617720"/>
            <a:ext cx="4526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low-birth-weight cutoff (2.5 kg): z = (2.5−3.1)/0.45 = −1.33 → theoretical lowest ~9% of a perfect bell curve.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989320" y="1600200"/>
            <a:ext cx="5074920" cy="4434840"/>
          </a:xfrm>
          <a:prstGeom prst="roundRect">
            <a:avLst>
              <a:gd name="adj" fmla="val 1649"/>
            </a:avLst>
          </a:prstGeom>
          <a:solidFill>
            <a:srgbClr val="25374F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13" name="Text 10"/>
          <p:cNvSpPr/>
          <p:nvPr/>
        </p:nvSpPr>
        <p:spPr>
          <a:xfrm>
            <a:off x="6263640" y="181051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TEACHING MOMENT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6263640" y="224028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DC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Theoretical prediction: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~9%</a:t>
            </a:r>
            <a:r>
              <a:rPr lang="en-US" sz="1400" dirty="0">
                <a:solidFill>
                  <a:srgbClr val="DC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below 2.5 kg.
Actually observed (Feresu et al., 2015):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16.7%</a:t>
            </a:r>
            <a:r>
              <a:rPr lang="en-US" sz="1400" dirty="0">
                <a:solidFill>
                  <a:srgbClr val="DC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263640" y="3291840"/>
            <a:ext cx="45720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9F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birth-weight distributions have a heavier lower tail than a perfect bell curve (prematurity, malaria, hypertensive disease, undernutrition). The normal distribution is a useful approximation — not an exact law of nature.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MASTERCLASS FOR CLINICIANS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9551" y="292608"/>
            <a:ext cx="603504" cy="39796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9692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10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· CONTINUOUS DISTRIBUTIONS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548640" y="621792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5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Standardising with Z-scores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z-score puts any value from any normal distribution onto one universal scale: “how many SDs above or below average.”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3566160" y="1920240"/>
            <a:ext cx="5029200" cy="868680"/>
          </a:xfrm>
          <a:prstGeom prst="roundRect">
            <a:avLst>
              <a:gd name="adj" fmla="val 7368"/>
            </a:avLst>
          </a:prstGeom>
          <a:solidFill>
            <a:srgbClr val="F4F5F7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7" name="Text 4"/>
          <p:cNvSpPr/>
          <p:nvPr/>
        </p:nvSpPr>
        <p:spPr>
          <a:xfrm>
            <a:off x="3566160" y="20116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53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= (x − μ) / σ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3566160" y="248716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value, minus average, divided by typical spread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3017520"/>
            <a:ext cx="5074920" cy="3017520"/>
          </a:xfrm>
          <a:prstGeom prst="roundRect">
            <a:avLst>
              <a:gd name="adj" fmla="val 2424"/>
            </a:avLst>
          </a:prstGeom>
          <a:solidFill>
            <a:srgbClr val="F4F5F7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10" name="Shape 7"/>
          <p:cNvSpPr/>
          <p:nvPr/>
        </p:nvSpPr>
        <p:spPr>
          <a:xfrm>
            <a:off x="822960" y="3246120"/>
            <a:ext cx="365760" cy="365760"/>
          </a:xfrm>
          <a:prstGeom prst="ellipse">
            <a:avLst/>
          </a:prstGeom>
          <a:solidFill>
            <a:srgbClr val="E63425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11" name="Text 8"/>
          <p:cNvSpPr/>
          <p:nvPr/>
        </p:nvSpPr>
        <p:spPr>
          <a:xfrm>
            <a:off x="822960" y="3246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353312" y="32461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5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Birth weight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822960" y="3749040"/>
            <a:ext cx="4526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Baby weighs 2.5 kg. μ=3.1, σ=0.45: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22960" y="4389120"/>
            <a:ext cx="45262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7EB"/>
            </a:solidFill>
            <a:prstDash val="solid"/>
          </a:ln>
        </p:spPr>
        <p:txBody>
          <a:bodyPr/>
          <a:lstStyle/>
          <a:p>
            <a:endParaRPr lang="en-ZW"/>
          </a:p>
        </p:txBody>
      </p:sp>
      <p:sp>
        <p:nvSpPr>
          <p:cNvPr id="15" name="Text 12"/>
          <p:cNvSpPr/>
          <p:nvPr/>
        </p:nvSpPr>
        <p:spPr>
          <a:xfrm>
            <a:off x="822960" y="4389120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53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= −1.33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822960" y="5029200"/>
            <a:ext cx="4526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Light, but well within the ±2σ (95%) band — not extreme.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989320" y="3017520"/>
            <a:ext cx="5074920" cy="3017520"/>
          </a:xfrm>
          <a:prstGeom prst="roundRect">
            <a:avLst>
              <a:gd name="adj" fmla="val 2424"/>
            </a:avLst>
          </a:prstGeom>
          <a:solidFill>
            <a:srgbClr val="25374F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18" name="Shape 15"/>
          <p:cNvSpPr/>
          <p:nvPr/>
        </p:nvSpPr>
        <p:spPr>
          <a:xfrm>
            <a:off x="6263640" y="3246120"/>
            <a:ext cx="365760" cy="365760"/>
          </a:xfrm>
          <a:prstGeom prst="ellipse">
            <a:avLst/>
          </a:prstGeom>
          <a:solidFill>
            <a:srgbClr val="2E8B9B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19" name="Text 16"/>
          <p:cNvSpPr/>
          <p:nvPr/>
        </p:nvSpPr>
        <p:spPr>
          <a:xfrm>
            <a:off x="6263640" y="3246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793992" y="32461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pressure (illustrative)</a:t>
            </a:r>
            <a:endParaRPr lang="en-US" sz="1550" dirty="0"/>
          </a:p>
        </p:txBody>
      </p:sp>
      <p:sp>
        <p:nvSpPr>
          <p:cNvPr id="21" name="Text 18"/>
          <p:cNvSpPr/>
          <p:nvPr/>
        </p:nvSpPr>
        <p:spPr>
          <a:xfrm>
            <a:off x="6263640" y="3749040"/>
            <a:ext cx="4526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DC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 morning: μ=128, σ=15 mmHg. Patient reads 158: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263640" y="4389120"/>
            <a:ext cx="4526280" cy="548640"/>
          </a:xfrm>
          <a:prstGeom prst="roundRect">
            <a:avLst>
              <a:gd name="adj" fmla="val 10000"/>
            </a:avLst>
          </a:prstGeom>
          <a:solidFill>
            <a:srgbClr val="2E3D52"/>
          </a:solidFill>
          <a:ln w="12700"/>
        </p:spPr>
        <p:txBody>
          <a:bodyPr/>
          <a:lstStyle/>
          <a:p>
            <a:endParaRPr lang="en-ZW"/>
          </a:p>
        </p:txBody>
      </p:sp>
      <p:sp>
        <p:nvSpPr>
          <p:cNvPr id="23" name="Text 20"/>
          <p:cNvSpPr/>
          <p:nvPr/>
        </p:nvSpPr>
        <p:spPr>
          <a:xfrm>
            <a:off x="6263640" y="4389120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= +2.00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6263640" y="5029200"/>
            <a:ext cx="4526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9F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at the edge of the 95% band — among the highest ~2.5% of readings; worth a repeat.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MASTERCLASS FOR CLINICIANS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9551" y="292608"/>
            <a:ext cx="603504" cy="39796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9692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10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· PUTTING IT TOGETHER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548640" y="621792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5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Rule or Distribution</a:t>
            </a:r>
            <a:endParaRPr lang="en-US" sz="2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0607040" cy="129032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Tool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Variable type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Parameters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Shape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Regional example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5374F"/>
                          </a:solidFill>
                        </a:rPr>
                        <a:t>Binomial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7313B"/>
                          </a:solidFill>
                        </a:rPr>
                        <a:t>Discrete (counting)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7313B"/>
                          </a:solidFill>
                        </a:rPr>
                        <a:t>n, p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7313B"/>
                          </a:solidFill>
                        </a:rPr>
                        <a:t>Bar chart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7313B"/>
                          </a:solidFill>
                        </a:rPr>
                        <a:t>Musomekwa &amp; van Wyk viral suppression, n=315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5374F"/>
                          </a:solidFill>
                        </a:rPr>
                        <a:t>Normal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7313B"/>
                          </a:solidFill>
                        </a:rPr>
                        <a:t>Continuous (measuring)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7313B"/>
                          </a:solidFill>
                        </a:rPr>
                        <a:t>μ, σ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7313B"/>
                          </a:solidFill>
                        </a:rPr>
                        <a:t>Symmetric bell curve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7313B"/>
                          </a:solidFill>
                        </a:rPr>
                        <a:t>Munjanja &amp; Masona birth weight standards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2971800"/>
            <a:ext cx="7040880" cy="658368"/>
          </a:xfrm>
          <a:prstGeom prst="roundRect">
            <a:avLst>
              <a:gd name="adj" fmla="val 8333"/>
            </a:avLst>
          </a:prstGeom>
          <a:solidFill>
            <a:srgbClr val="F4F5F7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7" name="Text 3"/>
          <p:cNvSpPr/>
          <p:nvPr/>
        </p:nvSpPr>
        <p:spPr>
          <a:xfrm>
            <a:off x="731520" y="2971800"/>
            <a:ext cx="6675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Counting a yes/no outcome across fixed, independent trials?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7726680" y="2971800"/>
            <a:ext cx="411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8229600" y="2971800"/>
            <a:ext cx="2926080" cy="658368"/>
          </a:xfrm>
          <a:prstGeom prst="roundRect">
            <a:avLst>
              <a:gd name="adj" fmla="val 8333"/>
            </a:avLst>
          </a:prstGeom>
          <a:solidFill>
            <a:srgbClr val="E63425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10" name="Text 6"/>
          <p:cNvSpPr/>
          <p:nvPr/>
        </p:nvSpPr>
        <p:spPr>
          <a:xfrm>
            <a:off x="8229600" y="2971800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Binomial distribution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48640" y="3749040"/>
            <a:ext cx="7040880" cy="658368"/>
          </a:xfrm>
          <a:prstGeom prst="roundRect">
            <a:avLst>
              <a:gd name="adj" fmla="val 8333"/>
            </a:avLst>
          </a:prstGeom>
          <a:solidFill>
            <a:srgbClr val="F4F5F7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12" name="Text 8"/>
          <p:cNvSpPr/>
          <p:nvPr/>
        </p:nvSpPr>
        <p:spPr>
          <a:xfrm>
            <a:off x="731520" y="3749040"/>
            <a:ext cx="6675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a continuous quantity clustering around an average?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7726680" y="3749040"/>
            <a:ext cx="411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8229600" y="3749040"/>
            <a:ext cx="2926080" cy="658368"/>
          </a:xfrm>
          <a:prstGeom prst="roundRect">
            <a:avLst>
              <a:gd name="adj" fmla="val 8333"/>
            </a:avLst>
          </a:prstGeom>
          <a:solidFill>
            <a:srgbClr val="2E8B9B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15" name="Text 11"/>
          <p:cNvSpPr/>
          <p:nvPr/>
        </p:nvSpPr>
        <p:spPr>
          <a:xfrm>
            <a:off x="8229600" y="3749040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distribution</a:t>
            </a:r>
            <a:endParaRPr lang="en-US" sz="1200" dirty="0"/>
          </a:p>
        </p:txBody>
      </p:sp>
      <p:sp>
        <p:nvSpPr>
          <p:cNvPr id="5" name="Shape 12"/>
          <p:cNvSpPr/>
          <p:nvPr/>
        </p:nvSpPr>
        <p:spPr>
          <a:xfrm>
            <a:off x="548640" y="4526280"/>
            <a:ext cx="7040880" cy="658368"/>
          </a:xfrm>
          <a:prstGeom prst="roundRect">
            <a:avLst>
              <a:gd name="adj" fmla="val 8333"/>
            </a:avLst>
          </a:prstGeom>
          <a:solidFill>
            <a:srgbClr val="F4F5F7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17" name="Text 13"/>
          <p:cNvSpPr/>
          <p:nvPr/>
        </p:nvSpPr>
        <p:spPr>
          <a:xfrm>
            <a:off x="731520" y="4526280"/>
            <a:ext cx="6675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Asking P(A) + P(B) for mutually exclusive events?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7726680" y="4526280"/>
            <a:ext cx="411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8229600" y="4526280"/>
            <a:ext cx="2926080" cy="658368"/>
          </a:xfrm>
          <a:prstGeom prst="roundRect">
            <a:avLst>
              <a:gd name="adj" fmla="val 8333"/>
            </a:avLst>
          </a:prstGeom>
          <a:solidFill>
            <a:srgbClr val="F2A93B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20" name="Text 16"/>
          <p:cNvSpPr/>
          <p:nvPr/>
        </p:nvSpPr>
        <p:spPr>
          <a:xfrm>
            <a:off x="8229600" y="4526280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 (OR) rule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548640" y="5303520"/>
            <a:ext cx="7040880" cy="658368"/>
          </a:xfrm>
          <a:prstGeom prst="roundRect">
            <a:avLst>
              <a:gd name="adj" fmla="val 8333"/>
            </a:avLst>
          </a:prstGeom>
          <a:solidFill>
            <a:srgbClr val="F4F5F7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22" name="Text 18"/>
          <p:cNvSpPr/>
          <p:nvPr/>
        </p:nvSpPr>
        <p:spPr>
          <a:xfrm>
            <a:off x="731520" y="5303520"/>
            <a:ext cx="6675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Asking P(A) × P(B) for independent events?</a:t>
            </a:r>
            <a:endParaRPr lang="en-US" sz="1250" dirty="0"/>
          </a:p>
        </p:txBody>
      </p:sp>
      <p:sp>
        <p:nvSpPr>
          <p:cNvPr id="23" name="Text 19"/>
          <p:cNvSpPr/>
          <p:nvPr/>
        </p:nvSpPr>
        <p:spPr>
          <a:xfrm>
            <a:off x="7726680" y="5303520"/>
            <a:ext cx="411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8229600" y="5303520"/>
            <a:ext cx="2926080" cy="658368"/>
          </a:xfrm>
          <a:prstGeom prst="roundRect">
            <a:avLst>
              <a:gd name="adj" fmla="val 8333"/>
            </a:avLst>
          </a:prstGeom>
          <a:solidFill>
            <a:srgbClr val="5B6B7C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25" name="Text 21"/>
          <p:cNvSpPr/>
          <p:nvPr/>
        </p:nvSpPr>
        <p:spPr>
          <a:xfrm>
            <a:off x="8229600" y="5303520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Multiplication (AND) rule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MASTERCLASS FOR CLINICIANS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9551" y="292608"/>
            <a:ext cx="603504" cy="39796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9692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10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 · READING CRITICALLY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548640" y="621792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5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Pitfalls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5074920" cy="2240280"/>
          </a:xfrm>
          <a:prstGeom prst="roundRect">
            <a:avLst>
              <a:gd name="adj" fmla="val 3265"/>
            </a:avLst>
          </a:prstGeom>
          <a:solidFill>
            <a:srgbClr val="F4F5F7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6" name="Shape 3"/>
          <p:cNvSpPr/>
          <p:nvPr/>
        </p:nvSpPr>
        <p:spPr>
          <a:xfrm>
            <a:off x="822960" y="1856232"/>
            <a:ext cx="310896" cy="310896"/>
          </a:xfrm>
          <a:prstGeom prst="ellipse">
            <a:avLst/>
          </a:prstGeom>
          <a:solidFill>
            <a:srgbClr val="E63425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7" name="Text 4"/>
          <p:cNvSpPr/>
          <p:nvPr/>
        </p:nvSpPr>
        <p:spPr>
          <a:xfrm>
            <a:off x="822960" y="2258568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25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ASSUMING INDEPENDENCE THAT DOESN'T HOLD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" y="2770632"/>
            <a:ext cx="4526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pregnancies from the same mother, or shared clinic-level risk factors, can violate the binomial model's independence requirement.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989320" y="1600200"/>
            <a:ext cx="5074920" cy="2240280"/>
          </a:xfrm>
          <a:prstGeom prst="roundRect">
            <a:avLst>
              <a:gd name="adj" fmla="val 3265"/>
            </a:avLst>
          </a:prstGeom>
          <a:solidFill>
            <a:srgbClr val="F4F5F7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10" name="Shape 7"/>
          <p:cNvSpPr/>
          <p:nvPr/>
        </p:nvSpPr>
        <p:spPr>
          <a:xfrm>
            <a:off x="6263640" y="1856232"/>
            <a:ext cx="310896" cy="310896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11" name="Text 8"/>
          <p:cNvSpPr/>
          <p:nvPr/>
        </p:nvSpPr>
        <p:spPr>
          <a:xfrm>
            <a:off x="6263640" y="2258568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25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TREATING A SKEWED VARIABLE AS NORMAL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263640" y="2770632"/>
            <a:ext cx="4526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Viral load and CD4 count are right-skewed, not bell-shaped. Applying z-scores directly without a log-transform is a common error.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48640" y="3977640"/>
            <a:ext cx="5074920" cy="2240280"/>
          </a:xfrm>
          <a:prstGeom prst="roundRect">
            <a:avLst>
              <a:gd name="adj" fmla="val 3265"/>
            </a:avLst>
          </a:prstGeom>
          <a:solidFill>
            <a:srgbClr val="F4F5F7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14" name="Shape 11"/>
          <p:cNvSpPr/>
          <p:nvPr/>
        </p:nvSpPr>
        <p:spPr>
          <a:xfrm>
            <a:off x="822960" y="4233672"/>
            <a:ext cx="310896" cy="310896"/>
          </a:xfrm>
          <a:prstGeom prst="ellipse">
            <a:avLst/>
          </a:prstGeom>
          <a:solidFill>
            <a:srgbClr val="2E8B9B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15" name="Text 12"/>
          <p:cNvSpPr/>
          <p:nvPr/>
        </p:nvSpPr>
        <p:spPr>
          <a:xfrm>
            <a:off x="822960" y="4636008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25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CONFUSING SENSITIVITY WITH PREDICTIVE VALUE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22960" y="5148072"/>
            <a:ext cx="4526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P(test+|disease) and P(disease|test+) run in opposite directions. Predictive value shifts with local prevalence; sensitivity/specificity do not.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989320" y="3977640"/>
            <a:ext cx="5074920" cy="2240280"/>
          </a:xfrm>
          <a:prstGeom prst="roundRect">
            <a:avLst>
              <a:gd name="adj" fmla="val 3265"/>
            </a:avLst>
          </a:prstGeom>
          <a:solidFill>
            <a:srgbClr val="F4F5F7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18" name="Shape 15"/>
          <p:cNvSpPr/>
          <p:nvPr/>
        </p:nvSpPr>
        <p:spPr>
          <a:xfrm>
            <a:off x="6263640" y="4233672"/>
            <a:ext cx="310896" cy="310896"/>
          </a:xfrm>
          <a:prstGeom prst="ellipse">
            <a:avLst/>
          </a:prstGeom>
          <a:solidFill>
            <a:srgbClr val="5B9A56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19" name="Text 16"/>
          <p:cNvSpPr/>
          <p:nvPr/>
        </p:nvSpPr>
        <p:spPr>
          <a:xfrm>
            <a:off x="6263640" y="4636008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25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MISTAKING “UNUSUAL” FOR “IMPOSSIBLE”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263640" y="5148072"/>
            <a:ext cx="4526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z-score beyond ±2 occurs about 1 in 20 times by chance alone — uncommon, not impossible. Hypothesis testing (Topic 4) handles this properly.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MASTERCLASS FOR CLINICIANS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537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9551" y="320040"/>
            <a:ext cx="603504" cy="3979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 · RECAP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48640" y="77724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548640" y="1709928"/>
            <a:ext cx="292608" cy="292608"/>
          </a:xfrm>
          <a:prstGeom prst="ellipse">
            <a:avLst/>
          </a:prstGeom>
          <a:solidFill>
            <a:srgbClr val="E63425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7" name="Text 4"/>
          <p:cNvSpPr/>
          <p:nvPr/>
        </p:nvSpPr>
        <p:spPr>
          <a:xfrm>
            <a:off x="548640" y="170992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05840" y="1645920"/>
            <a:ext cx="10058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(mutually exclusive) → add probabilities. AND (independent) → multiply probabilities. Adding raises the chance; multiplying lowers it.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2423160"/>
            <a:ext cx="292608" cy="292608"/>
          </a:xfrm>
          <a:prstGeom prst="ellipse">
            <a:avLst/>
          </a:prstGeom>
          <a:solidFill>
            <a:srgbClr val="E63425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10" name="Text 7"/>
          <p:cNvSpPr/>
          <p:nvPr/>
        </p:nvSpPr>
        <p:spPr>
          <a:xfrm>
            <a:off x="548640" y="24231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05840" y="2359152"/>
            <a:ext cx="10058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diagnostic test's sensitivity and specificity are fixed properties of the test; predictive value depends on local disease prevalence too.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48640" y="3136392"/>
            <a:ext cx="292608" cy="292608"/>
          </a:xfrm>
          <a:prstGeom prst="ellipse">
            <a:avLst/>
          </a:prstGeom>
          <a:solidFill>
            <a:srgbClr val="E63425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13" name="Text 10"/>
          <p:cNvSpPr/>
          <p:nvPr/>
        </p:nvSpPr>
        <p:spPr>
          <a:xfrm>
            <a:off x="548640" y="31363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005840" y="3072384"/>
            <a:ext cx="10058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 random variables count occurrences (binomial family); continuous random variables measure amounts (normal family).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548640" y="3849624"/>
            <a:ext cx="292608" cy="292608"/>
          </a:xfrm>
          <a:prstGeom prst="ellipse">
            <a:avLst/>
          </a:prstGeom>
          <a:solidFill>
            <a:srgbClr val="E63425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16" name="Text 13"/>
          <p:cNvSpPr/>
          <p:nvPr/>
        </p:nvSpPr>
        <p:spPr>
          <a:xfrm>
            <a:off x="548640" y="384962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005840" y="3785616"/>
            <a:ext cx="10058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binomial distribution needs fixed n, two outcomes, constant p and independent trials. Its mean is simply n×p.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548640" y="4562856"/>
            <a:ext cx="292608" cy="292608"/>
          </a:xfrm>
          <a:prstGeom prst="ellipse">
            <a:avLst/>
          </a:prstGeom>
          <a:solidFill>
            <a:srgbClr val="E63425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19" name="Text 16"/>
          <p:cNvSpPr/>
          <p:nvPr/>
        </p:nvSpPr>
        <p:spPr>
          <a:xfrm>
            <a:off x="548640" y="456285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005840" y="4498848"/>
            <a:ext cx="10058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normal (bell) curve is described by μ and σ; the 68-95-99.7 rule tells you how values cluster around the mean.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548640" y="5276088"/>
            <a:ext cx="292608" cy="292608"/>
          </a:xfrm>
          <a:prstGeom prst="ellipse">
            <a:avLst/>
          </a:prstGeom>
          <a:solidFill>
            <a:srgbClr val="E63425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22" name="Text 19"/>
          <p:cNvSpPr/>
          <p:nvPr/>
        </p:nvSpPr>
        <p:spPr>
          <a:xfrm>
            <a:off x="548640" y="527608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005840" y="5212080"/>
            <a:ext cx="10058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z-score, z=(x−μ)/σ, puts any measurement on one universal scale — the bridge to hypothesis testing in Topic 4.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www.newlandsclinic.org.zw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9551" y="292608"/>
            <a:ext cx="603504" cy="39796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9692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10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548640" y="621792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5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Peer-Reviewed Sources Used in This Session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48640" y="1691640"/>
            <a:ext cx="50749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Munjanja SP, Masona D. Zimbabwean birthweight for gestation standards. Cent Afr J Med. 1990;36(6):144–147. PMID: 2261629.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3154680"/>
            <a:ext cx="50749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Feresu SA, Harlow SD, Woelk GB. Risk Factors for Low Birthweight in Zimbabwean Women: A Secondary Data Analysis. PLoS ONE. 2015;10(6):e0129705.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4617720"/>
            <a:ext cx="50749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Musomekwa K, van Wyk B. HIV Viral Re-Suppression on Second-Line ART in Southern Zimbabwe. Int J Environ Res Public Health. 2025;22(5):730.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989320" y="1691640"/>
            <a:ext cx="50749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Gregson S, Moorhouse L, Dadirai T, et al. Comprehensive investigation of sources of misclassification errors in routine HIV testing in Zimbabwe. J Int AIDS Soc. 2021;24(4):e25700.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989320" y="3154680"/>
            <a:ext cx="50749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Sabapathy K, Mwita FC, Dauya E, et al. Prevalence of hypertension and high-normal blood pressure among young adults in Zimbabwe. Lancet Child Adolesc Health. 2024;8(2):101–111.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989320" y="4617720"/>
            <a:ext cx="50749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Rosner B. Fundamentals of Biostatistics. 8th ed. Cengage Learning; 2015.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MASTERCLASS FOR CLINICIANS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2628</Words>
  <Application>Microsoft Office PowerPoint</Application>
  <PresentationFormat>Widescreen</PresentationFormat>
  <Paragraphs>281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Sydney Malunga</cp:lastModifiedBy>
  <cp:revision>1</cp:revision>
  <dcterms:created xsi:type="dcterms:W3CDTF">2026-08-17T12:12:20Z</dcterms:created>
  <dcterms:modified xsi:type="dcterms:W3CDTF">2026-08-18T08:20:30Z</dcterms:modified>
</cp:coreProperties>
</file>