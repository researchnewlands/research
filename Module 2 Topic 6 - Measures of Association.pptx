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Malunga" userId="f348baeb-1f05-486c-bbcc-2da6e207d963" providerId="ADAL" clId="{DE3B0BC8-E27C-48FE-86D3-D2EF9400FA41}"/>
    <pc:docChg chg="custSel modSld">
      <pc:chgData name="Sydney Malunga" userId="f348baeb-1f05-486c-bbcc-2da6e207d963" providerId="ADAL" clId="{DE3B0BC8-E27C-48FE-86D3-D2EF9400FA41}" dt="2026-08-18T08:33:58.931" v="42" actId="478"/>
      <pc:docMkLst>
        <pc:docMk/>
      </pc:docMkLst>
      <pc:sldChg chg="addSp modSp mod">
        <pc:chgData name="Sydney Malunga" userId="f348baeb-1f05-486c-bbcc-2da6e207d963" providerId="ADAL" clId="{DE3B0BC8-E27C-48FE-86D3-D2EF9400FA41}" dt="2026-08-18T08:31:43.392" v="20" actId="22"/>
        <pc:sldMkLst>
          <pc:docMk/>
          <pc:sldMk cId="0" sldId="256"/>
        </pc:sldMkLst>
        <pc:spChg chg="mod">
          <ac:chgData name="Sydney Malunga" userId="f348baeb-1f05-486c-bbcc-2da6e207d963" providerId="ADAL" clId="{DE3B0BC8-E27C-48FE-86D3-D2EF9400FA41}" dt="2026-08-18T08:31:25.039" v="1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31:16.496" v="2" actId="207"/>
          <ac:spMkLst>
            <pc:docMk/>
            <pc:sldMk cId="0" sldId="256"/>
            <ac:spMk id="6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1:43.392" v="20" actId="22"/>
          <ac:spMkLst>
            <pc:docMk/>
            <pc:sldMk cId="0" sldId="256"/>
            <ac:spMk id="9" creationId="{F974BA68-58F4-E8C0-4F17-A02083446093}"/>
          </ac:spMkLst>
        </pc:spChg>
        <pc:spChg chg="add">
          <ac:chgData name="Sydney Malunga" userId="f348baeb-1f05-486c-bbcc-2da6e207d963" providerId="ADAL" clId="{DE3B0BC8-E27C-48FE-86D3-D2EF9400FA41}" dt="2026-08-18T08:31:43.392" v="20" actId="22"/>
          <ac:spMkLst>
            <pc:docMk/>
            <pc:sldMk cId="0" sldId="256"/>
            <ac:spMk id="11" creationId="{7BDA15CA-1819-91C5-E27D-CC09A1B1D24A}"/>
          </ac:spMkLst>
        </pc:spChg>
        <pc:spChg chg="add">
          <ac:chgData name="Sydney Malunga" userId="f348baeb-1f05-486c-bbcc-2da6e207d963" providerId="ADAL" clId="{DE3B0BC8-E27C-48FE-86D3-D2EF9400FA41}" dt="2026-08-18T08:31:43.392" v="20" actId="22"/>
          <ac:spMkLst>
            <pc:docMk/>
            <pc:sldMk cId="0" sldId="256"/>
            <ac:spMk id="13" creationId="{672BF6A5-8C36-CF08-D8BD-9B3EF7135904}"/>
          </ac:spMkLst>
        </pc:spChg>
        <pc:spChg chg="add">
          <ac:chgData name="Sydney Malunga" userId="f348baeb-1f05-486c-bbcc-2da6e207d963" providerId="ADAL" clId="{DE3B0BC8-E27C-48FE-86D3-D2EF9400FA41}" dt="2026-08-18T08:31:43.392" v="20" actId="22"/>
          <ac:spMkLst>
            <pc:docMk/>
            <pc:sldMk cId="0" sldId="256"/>
            <ac:spMk id="15" creationId="{2AEE9BEE-0E23-A904-E77A-3B745CC0C16F}"/>
          </ac:spMkLst>
        </pc:spChg>
        <pc:spChg chg="add">
          <ac:chgData name="Sydney Malunga" userId="f348baeb-1f05-486c-bbcc-2da6e207d963" providerId="ADAL" clId="{DE3B0BC8-E27C-48FE-86D3-D2EF9400FA41}" dt="2026-08-18T08:31:43.392" v="20" actId="22"/>
          <ac:spMkLst>
            <pc:docMk/>
            <pc:sldMk cId="0" sldId="256"/>
            <ac:spMk id="17" creationId="{54881EBA-E5FF-69F0-19EC-4FD7CEEEEEC7}"/>
          </ac:spMkLst>
        </pc:spChg>
      </pc:sldChg>
      <pc:sldChg chg="delSp mod">
        <pc:chgData name="Sydney Malunga" userId="f348baeb-1f05-486c-bbcc-2da6e207d963" providerId="ADAL" clId="{DE3B0BC8-E27C-48FE-86D3-D2EF9400FA41}" dt="2026-08-18T08:32:36.613" v="21" actId="478"/>
        <pc:sldMkLst>
          <pc:docMk/>
          <pc:sldMk cId="0" sldId="257"/>
        </pc:sldMkLst>
        <pc:spChg chg="del">
          <ac:chgData name="Sydney Malunga" userId="f348baeb-1f05-486c-bbcc-2da6e207d963" providerId="ADAL" clId="{DE3B0BC8-E27C-48FE-86D3-D2EF9400FA41}" dt="2026-08-18T08:32:36.613" v="21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2:40.261" v="22" actId="478"/>
        <pc:sldMkLst>
          <pc:docMk/>
          <pc:sldMk cId="0" sldId="258"/>
        </pc:sldMkLst>
        <pc:spChg chg="del">
          <ac:chgData name="Sydney Malunga" userId="f348baeb-1f05-486c-bbcc-2da6e207d963" providerId="ADAL" clId="{DE3B0BC8-E27C-48FE-86D3-D2EF9400FA41}" dt="2026-08-18T08:32:40.261" v="22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2:42.561" v="23" actId="478"/>
        <pc:sldMkLst>
          <pc:docMk/>
          <pc:sldMk cId="0" sldId="259"/>
        </pc:sldMkLst>
        <pc:spChg chg="del">
          <ac:chgData name="Sydney Malunga" userId="f348baeb-1f05-486c-bbcc-2da6e207d963" providerId="ADAL" clId="{DE3B0BC8-E27C-48FE-86D3-D2EF9400FA41}" dt="2026-08-18T08:32:42.561" v="23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2:45.623" v="24" actId="478"/>
        <pc:sldMkLst>
          <pc:docMk/>
          <pc:sldMk cId="0" sldId="260"/>
        </pc:sldMkLst>
        <pc:spChg chg="del">
          <ac:chgData name="Sydney Malunga" userId="f348baeb-1f05-486c-bbcc-2da6e207d963" providerId="ADAL" clId="{DE3B0BC8-E27C-48FE-86D3-D2EF9400FA41}" dt="2026-08-18T08:32:45.623" v="24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10.587" v="25" actId="478"/>
        <pc:sldMkLst>
          <pc:docMk/>
          <pc:sldMk cId="0" sldId="261"/>
        </pc:sldMkLst>
        <pc:spChg chg="del">
          <ac:chgData name="Sydney Malunga" userId="f348baeb-1f05-486c-bbcc-2da6e207d963" providerId="ADAL" clId="{DE3B0BC8-E27C-48FE-86D3-D2EF9400FA41}" dt="2026-08-18T08:33:10.587" v="25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13.083" v="26" actId="478"/>
        <pc:sldMkLst>
          <pc:docMk/>
          <pc:sldMk cId="0" sldId="262"/>
        </pc:sldMkLst>
        <pc:spChg chg="del">
          <ac:chgData name="Sydney Malunga" userId="f348baeb-1f05-486c-bbcc-2da6e207d963" providerId="ADAL" clId="{DE3B0BC8-E27C-48FE-86D3-D2EF9400FA41}" dt="2026-08-18T08:33:13.083" v="26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16.103" v="27" actId="478"/>
        <pc:sldMkLst>
          <pc:docMk/>
          <pc:sldMk cId="0" sldId="263"/>
        </pc:sldMkLst>
        <pc:spChg chg="del">
          <ac:chgData name="Sydney Malunga" userId="f348baeb-1f05-486c-bbcc-2da6e207d963" providerId="ADAL" clId="{DE3B0BC8-E27C-48FE-86D3-D2EF9400FA41}" dt="2026-08-18T08:33:16.103" v="27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19.573" v="28" actId="478"/>
        <pc:sldMkLst>
          <pc:docMk/>
          <pc:sldMk cId="0" sldId="264"/>
        </pc:sldMkLst>
        <pc:spChg chg="del">
          <ac:chgData name="Sydney Malunga" userId="f348baeb-1f05-486c-bbcc-2da6e207d963" providerId="ADAL" clId="{DE3B0BC8-E27C-48FE-86D3-D2EF9400FA41}" dt="2026-08-18T08:33:19.573" v="28" actId="478"/>
          <ac:spMkLst>
            <pc:docMk/>
            <pc:sldMk cId="0" sldId="264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23.463" v="29" actId="478"/>
        <pc:sldMkLst>
          <pc:docMk/>
          <pc:sldMk cId="0" sldId="265"/>
        </pc:sldMkLst>
        <pc:spChg chg="del">
          <ac:chgData name="Sydney Malunga" userId="f348baeb-1f05-486c-bbcc-2da6e207d963" providerId="ADAL" clId="{DE3B0BC8-E27C-48FE-86D3-D2EF9400FA41}" dt="2026-08-18T08:33:23.463" v="29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26.395" v="30" actId="478"/>
        <pc:sldMkLst>
          <pc:docMk/>
          <pc:sldMk cId="0" sldId="266"/>
        </pc:sldMkLst>
        <pc:spChg chg="del">
          <ac:chgData name="Sydney Malunga" userId="f348baeb-1f05-486c-bbcc-2da6e207d963" providerId="ADAL" clId="{DE3B0BC8-E27C-48FE-86D3-D2EF9400FA41}" dt="2026-08-18T08:33:26.395" v="30" actId="478"/>
          <ac:spMkLst>
            <pc:docMk/>
            <pc:sldMk cId="0" sldId="266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28.719" v="31" actId="478"/>
        <pc:sldMkLst>
          <pc:docMk/>
          <pc:sldMk cId="0" sldId="267"/>
        </pc:sldMkLst>
        <pc:spChg chg="del">
          <ac:chgData name="Sydney Malunga" userId="f348baeb-1f05-486c-bbcc-2da6e207d963" providerId="ADAL" clId="{DE3B0BC8-E27C-48FE-86D3-D2EF9400FA41}" dt="2026-08-18T08:33:28.719" v="31" actId="478"/>
          <ac:spMkLst>
            <pc:docMk/>
            <pc:sldMk cId="0" sldId="267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32.051" v="32" actId="478"/>
        <pc:sldMkLst>
          <pc:docMk/>
          <pc:sldMk cId="0" sldId="268"/>
        </pc:sldMkLst>
        <pc:spChg chg="del">
          <ac:chgData name="Sydney Malunga" userId="f348baeb-1f05-486c-bbcc-2da6e207d963" providerId="ADAL" clId="{DE3B0BC8-E27C-48FE-86D3-D2EF9400FA41}" dt="2026-08-18T08:33:32.051" v="32" actId="478"/>
          <ac:spMkLst>
            <pc:docMk/>
            <pc:sldMk cId="0" sldId="268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35.332" v="33" actId="478"/>
        <pc:sldMkLst>
          <pc:docMk/>
          <pc:sldMk cId="0" sldId="270"/>
        </pc:sldMkLst>
        <pc:spChg chg="del">
          <ac:chgData name="Sydney Malunga" userId="f348baeb-1f05-486c-bbcc-2da6e207d963" providerId="ADAL" clId="{DE3B0BC8-E27C-48FE-86D3-D2EF9400FA41}" dt="2026-08-18T08:33:35.332" v="33" actId="478"/>
          <ac:spMkLst>
            <pc:docMk/>
            <pc:sldMk cId="0" sldId="270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37.723" v="34" actId="478"/>
        <pc:sldMkLst>
          <pc:docMk/>
          <pc:sldMk cId="0" sldId="271"/>
        </pc:sldMkLst>
        <pc:spChg chg="del">
          <ac:chgData name="Sydney Malunga" userId="f348baeb-1f05-486c-bbcc-2da6e207d963" providerId="ADAL" clId="{DE3B0BC8-E27C-48FE-86D3-D2EF9400FA41}" dt="2026-08-18T08:33:37.723" v="34" actId="478"/>
          <ac:spMkLst>
            <pc:docMk/>
            <pc:sldMk cId="0" sldId="271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39.861" v="35" actId="478"/>
        <pc:sldMkLst>
          <pc:docMk/>
          <pc:sldMk cId="0" sldId="272"/>
        </pc:sldMkLst>
        <pc:spChg chg="del">
          <ac:chgData name="Sydney Malunga" userId="f348baeb-1f05-486c-bbcc-2da6e207d963" providerId="ADAL" clId="{DE3B0BC8-E27C-48FE-86D3-D2EF9400FA41}" dt="2026-08-18T08:33:39.861" v="35" actId="478"/>
          <ac:spMkLst>
            <pc:docMk/>
            <pc:sldMk cId="0" sldId="272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42.299" v="36" actId="478"/>
        <pc:sldMkLst>
          <pc:docMk/>
          <pc:sldMk cId="0" sldId="273"/>
        </pc:sldMkLst>
        <pc:spChg chg="del">
          <ac:chgData name="Sydney Malunga" userId="f348baeb-1f05-486c-bbcc-2da6e207d963" providerId="ADAL" clId="{DE3B0BC8-E27C-48FE-86D3-D2EF9400FA41}" dt="2026-08-18T08:33:42.299" v="36" actId="478"/>
          <ac:spMkLst>
            <pc:docMk/>
            <pc:sldMk cId="0" sldId="273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45.787" v="37" actId="478"/>
        <pc:sldMkLst>
          <pc:docMk/>
          <pc:sldMk cId="0" sldId="274"/>
        </pc:sldMkLst>
        <pc:spChg chg="del">
          <ac:chgData name="Sydney Malunga" userId="f348baeb-1f05-486c-bbcc-2da6e207d963" providerId="ADAL" clId="{DE3B0BC8-E27C-48FE-86D3-D2EF9400FA41}" dt="2026-08-18T08:33:45.787" v="37" actId="478"/>
          <ac:spMkLst>
            <pc:docMk/>
            <pc:sldMk cId="0" sldId="274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49.128" v="38" actId="478"/>
        <pc:sldMkLst>
          <pc:docMk/>
          <pc:sldMk cId="0" sldId="275"/>
        </pc:sldMkLst>
        <pc:spChg chg="del">
          <ac:chgData name="Sydney Malunga" userId="f348baeb-1f05-486c-bbcc-2da6e207d963" providerId="ADAL" clId="{DE3B0BC8-E27C-48FE-86D3-D2EF9400FA41}" dt="2026-08-18T08:33:49.128" v="38" actId="478"/>
          <ac:spMkLst>
            <pc:docMk/>
            <pc:sldMk cId="0" sldId="275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51.958" v="39" actId="478"/>
        <pc:sldMkLst>
          <pc:docMk/>
          <pc:sldMk cId="0" sldId="276"/>
        </pc:sldMkLst>
        <pc:spChg chg="del">
          <ac:chgData name="Sydney Malunga" userId="f348baeb-1f05-486c-bbcc-2da6e207d963" providerId="ADAL" clId="{DE3B0BC8-E27C-48FE-86D3-D2EF9400FA41}" dt="2026-08-18T08:33:51.958" v="39" actId="478"/>
          <ac:spMkLst>
            <pc:docMk/>
            <pc:sldMk cId="0" sldId="276"/>
            <ac:spMk id="3" creationId="{00000000-0000-0000-0000-000000000000}"/>
          </ac:spMkLst>
        </pc:spChg>
      </pc:sldChg>
      <pc:sldChg chg="delSp mod">
        <pc:chgData name="Sydney Malunga" userId="f348baeb-1f05-486c-bbcc-2da6e207d963" providerId="ADAL" clId="{DE3B0BC8-E27C-48FE-86D3-D2EF9400FA41}" dt="2026-08-18T08:33:55.169" v="40" actId="478"/>
        <pc:sldMkLst>
          <pc:docMk/>
          <pc:sldMk cId="0" sldId="277"/>
        </pc:sldMkLst>
        <pc:spChg chg="del">
          <ac:chgData name="Sydney Malunga" userId="f348baeb-1f05-486c-bbcc-2da6e207d963" providerId="ADAL" clId="{DE3B0BC8-E27C-48FE-86D3-D2EF9400FA41}" dt="2026-08-18T08:33:55.169" v="40" actId="478"/>
          <ac:spMkLst>
            <pc:docMk/>
            <pc:sldMk cId="0" sldId="277"/>
            <ac:spMk id="3" creationId="{00000000-0000-0000-0000-000000000000}"/>
          </ac:spMkLst>
        </pc:spChg>
      </pc:sldChg>
      <pc:sldChg chg="delSp modSp mod">
        <pc:chgData name="Sydney Malunga" userId="f348baeb-1f05-486c-bbcc-2da6e207d963" providerId="ADAL" clId="{DE3B0BC8-E27C-48FE-86D3-D2EF9400FA41}" dt="2026-08-18T08:33:58.931" v="42" actId="478"/>
        <pc:sldMkLst>
          <pc:docMk/>
          <pc:sldMk cId="0" sldId="278"/>
        </pc:sldMkLst>
        <pc:spChg chg="del mod">
          <ac:chgData name="Sydney Malunga" userId="f348baeb-1f05-486c-bbcc-2da6e207d963" providerId="ADAL" clId="{DE3B0BC8-E27C-48FE-86D3-D2EF9400FA41}" dt="2026-08-18T08:33:58.931" v="42" actId="478"/>
          <ac:spMkLst>
            <pc:docMk/>
            <pc:sldMk cId="0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45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D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3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188720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· TOPIC 6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of Association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Correlation, Risk Ratios, Odds Ratios and Confounding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Masterclass for Clinicians · Newlands Clinic, Harare</a:t>
            </a:r>
            <a:endParaRPr lang="en-US" sz="13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974BA68-58F4-E8C0-4F17-A02083446093}"/>
              </a:ext>
            </a:extLst>
          </p:cNvPr>
          <p:cNvSpPr/>
          <p:nvPr/>
        </p:nvSpPr>
        <p:spPr>
          <a:xfrm>
            <a:off x="8723392" y="3784284"/>
            <a:ext cx="3703625" cy="3611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BDA15CA-1819-91C5-E27D-CC09A1B1D24A}"/>
              </a:ext>
            </a:extLst>
          </p:cNvPr>
          <p:cNvSpPr/>
          <p:nvPr/>
        </p:nvSpPr>
        <p:spPr>
          <a:xfrm>
            <a:off x="9683512" y="5750244"/>
            <a:ext cx="384048" cy="640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672BF6A5-8C36-CF08-D8BD-9B3EF7135904}"/>
              </a:ext>
            </a:extLst>
          </p:cNvPr>
          <p:cNvSpPr/>
          <p:nvPr/>
        </p:nvSpPr>
        <p:spPr>
          <a:xfrm>
            <a:off x="10186432" y="4973004"/>
            <a:ext cx="384048" cy="14173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2AEE9BEE-0E23-A904-E77A-3B745CC0C16F}"/>
              </a:ext>
            </a:extLst>
          </p:cNvPr>
          <p:cNvSpPr/>
          <p:nvPr/>
        </p:nvSpPr>
        <p:spPr>
          <a:xfrm>
            <a:off x="10689352" y="5430204"/>
            <a:ext cx="384048" cy="9601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54881EBA-E5FF-69F0-19EC-4FD7CEEEEEC7}"/>
              </a:ext>
            </a:extLst>
          </p:cNvPr>
          <p:cNvSpPr/>
          <p:nvPr/>
        </p:nvSpPr>
        <p:spPr>
          <a:xfrm>
            <a:off x="11192272" y="5155884"/>
            <a:ext cx="384048" cy="123444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SESSION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will be able to…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2×2 table: exposure vs outcome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and interpret a Risk Ratio (RR)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and interpret an Odds Ratio (OR)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when RR and OR agree — and when they mislead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a Pearson correlation (r)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confounding and read a crude vs adjusted estimate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confounding apart from effect modification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· FOUNDATIONS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 we need measures of association?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research is the search for relationships: does X go with Y? A measure of association is one number summarising the strength and direction of that relationship — and none of them mean anything until we've asked whether a third factor explains it.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19BA6">
                <a:alpha val="25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22960" y="3630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= 2.80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45994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Retinopathy and nephropathy, 344 diabetic outpatients (Machingura et al., 2017).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34290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19BA6">
                <a:alpha val="25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629400" y="3630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ZAMBIA &amp; ZIMBABWE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3931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629400" y="45994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correlation between CD4 count and telomere length in children with HIV (Innes et al., 2025).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topic gives you the tools to read RR, OR, and r correctly — and to ask: associated, or just confounded?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· THE BASIC BUILDING BLOCK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2×2 table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286000"/>
          <a:ext cx="8686800" cy="192024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 present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 absent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537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Exposed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537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exposed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RR and OR in this topic is built from just four counts: a, b, c and d. Exposure = the possible risk factor. Outcome = the health event we are counting.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· COMPARING RISKS DIRECTLY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Risk Ratio (RR)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5374F"/>
          </a:solidFill>
          <a:ln w="1270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2A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76148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in the exposed group, divided by risk in the unexposed group.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37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RR  =  </a:t>
            </a:r>
            <a:r>
              <a:rPr lang="en-US" sz="2200" b="1" dirty="0">
                <a:solidFill>
                  <a:srgbClr val="C32A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[a ÷ (a+b)]  ÷  [c ÷ (c+d)]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4988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“Risk” = out of everyone exposed, what proportion got the outcome? Do the same for the unexposed group, then divide.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naturally in cohort studies and trials, where we follow a defined group forward in time and can count a genuine risk.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· READING THE NUMBER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RR values mean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5F7"/>
          </a:solidFill>
          <a:ln w="19050">
            <a:solidFill>
              <a:srgbClr val="5B6B7C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 = 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3035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difference in risk between exposed and unexposed — the “no effect” line.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5F7"/>
          </a:solidFill>
          <a:ln w="1905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675120" y="24871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3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 &gt; 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75120" y="3035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risk in the exposed group (harmful exposure). RR &lt; 1 = lower risk (protective).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Betera et al. 2024, Beitbridge &amp; Lupane: adults had a significantly LOWER relative risk of severe malaria than children (RR &lt; 1, 95% CI excludes 1) — a real cohort, a real risk.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· WHEN WE CANNOT MEASURE “RISK” DIRECTLY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Odds, in plain language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219456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ODDS vs RISK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76148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compares outcome-cases to EVERYONE. Odds compares outcome-cases to those WITHOUT the outcome.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4 of 10 patients have the outcome: risk = 4/10 (40%); odds = 4/6.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Odds is the tool behind case-control studies and logistic regression — the commonest analysis method in clinical papers.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· THE ODDS RATIO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Odds Ratio (OR)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25374F"/>
          </a:solidFill>
          <a:ln w="1270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2A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7614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Odds of the outcome in the exposed group, divided by odds of the outcome in the unexposed group.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37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  =  </a:t>
            </a:r>
            <a:r>
              <a:rPr lang="en-US" sz="2100" b="1" dirty="0">
                <a:solidFill>
                  <a:srgbClr val="C32A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(a÷b) ÷ (c÷d)  =  (a×d) ÷ (b×c)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“Cross-multiplying” the 2×2 table — usable even without a known population at risk.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Machingura et al. 2017, Harare: OR = 2.80 (95% CI 1.64–4.97) for retinopathy predicting nephropathy — odds nearly 3× higher with retinopathy present.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 · WHEN THE TWO NUMBERS AGREE, AND WHEN THEY DON'T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 vs OR: the rare-outcome rule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905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 is RARE (&lt;10%)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03580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Odds ≈ risk numerically, so OR ≈ RR. This is the “rare disease assumption”.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905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675120" y="24871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3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 is COMMON (&gt;20–30%)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75120" y="303580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Odds and risk diverge — OR OVERSTATES the true RR. Always check how common the outcome was.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Harare nephropathy prevalence was 36.5% — COMMON, not rare. The OR of 2.80 exaggerates the true relative risk of nephropathy.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 · MEASURING A STRAIGHT-LINE RELATIONSHIP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(Pearson's r)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761488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number from −1 to +1 summarising the strength and direction of a straight-line relationship between TWO CONTINUOUS variables, measured in the SAME people.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from RR/OR: no “exposed vs unexposed” groups — just two measurements per person, like CD4 count and telomere length.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 · READING 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 number 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188720" y="3017520"/>
            <a:ext cx="9784080" cy="0"/>
          </a:xfrm>
          <a:prstGeom prst="line">
            <a:avLst/>
          </a:prstGeom>
          <a:noFill/>
          <a:ln w="254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1106424" y="2935224"/>
            <a:ext cx="164592" cy="164592"/>
          </a:xfrm>
          <a:prstGeom prst="ellipse">
            <a:avLst/>
          </a:prstGeom>
          <a:solidFill>
            <a:srgbClr val="E63425"/>
          </a:solidFill>
          <a:ln w="127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18288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887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negative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98464" y="2935224"/>
            <a:ext cx="164592" cy="164592"/>
          </a:xfrm>
          <a:prstGeom prst="ellips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507492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920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straight-line relationship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890504" y="2935224"/>
            <a:ext cx="164592" cy="164592"/>
          </a:xfrm>
          <a:prstGeom prst="ellipse">
            <a:avLst/>
          </a:prstGeom>
          <a:solidFill>
            <a:srgbClr val="5B9A56"/>
          </a:solidFill>
          <a:ln w="127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996696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5953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positive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Closer to −1 or +1 = tighter relationship. Closer to 0 = weaker straight-line relationship. Sign shows direction only, not strength.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 · WORKED EXAMPLE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in a Zambia–Zimbabwe cohort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Innes et al. 2025, J Infect Dis: children with perinatal HIV on long-term ART. Pearson correlation reported between CD4 count and telomere length, and between viral load and telomere length.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CD4 count tended to go with LONGER telomeres (positive r)</a:t>
            </a:r>
            <a:endParaRPr lang="en-US" sz="1700" dirty="0"/>
          </a:p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viral load tended to go with SHORTER telomeres (negative r)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is not causation — a third factor (like duration of untreated infection) could drive both measurements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 · THE QUESTION EVERY ASSOCIATION MUST SURVIVE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confounding?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25374F"/>
          </a:solidFill>
          <a:ln w="1270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2A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7614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third variable that is (1) linked to the exposure, (2) an independent risk factor for the outcome, and (3) NOT a step on the causal pathway between them.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example: age. Often linked to many exposures AND independently raises risk of many outcomes — without being “on the pathway” itself.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0" y="38404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MASTERCLASS · MODULE 2, TOPIC 6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 · TWO KINDS OF ESTIMATE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Crude vs adjusted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Crude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9992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raw, unadjusted association — straight from a simple 2×2 table, ignoring everything else.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675120" y="2487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Adjusted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99923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association after holding one or more confounders statistically constant (usually regression) — written aOR or “adjusted RR”.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adjusted number should more closely reflect the true, independent relationship between exposure and outcome.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8 · SEEING IT HAPPEN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Confounding in action — HIV, age and frailty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1,034 middle-aged and older Zimbabweans (21.6% living with HIV). After adjusting for AGE and years on ART: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 status overall: aOR = 0.99 (95% CI 0.42–2.33) — NOT significant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5 extra years living with HIV: aOR = 2.03 — independently raised frailty odds</a:t>
            </a:r>
            <a:endParaRPr lang="en-US" sz="1600" dirty="0"/>
          </a:p>
          <a:p>
            <a:pPr marL="342900" indent="-342900"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5 extra years on ART: aOR = 0.39 — independently LOWERED frailty odds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was the confounder lurking behind a crude comparison — adjustment separated two real, opposite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8 · A SECOND EXAMPLE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Confounding — hazardous drinking &amp; sexual risk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CHIEDZA survey, 17,585 Zimbabwean youth aged 18–24. Age, wealth, and other socio-demographic factors could plausibly affect both drinking AND sexual behaviour — so the authors adjusted for them.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9959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Hazardous drinking &amp; &gt;1 sexual partner in men: aOR = 3.40 (95% CI 2.71–4.26) — association SURVIVED adjustment.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practice: identify plausible confounders in advance, measure them, adjust, and report both crude and adjusted where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7–9 · SEEING THE DIFFERENCE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Confounder vs effect modifier — the picture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CONFOUNDER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3246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905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3246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905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374904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50592" y="3566160"/>
            <a:ext cx="1271016" cy="0"/>
          </a:xfrm>
          <a:prstGeom prst="line">
            <a:avLst/>
          </a:prstGeom>
          <a:noFill/>
          <a:ln w="28575">
            <a:solidFill>
              <a:srgbClr val="E63425"/>
            </a:solidFill>
            <a:prstDash val="solid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2148840" y="25146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CEAE8"/>
          </a:solidFill>
          <a:ln w="1905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214884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32A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CONFOUNDER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 flipH="1">
            <a:off x="1783080" y="3182112"/>
            <a:ext cx="868680" cy="36576"/>
          </a:xfrm>
          <a:prstGeom prst="line">
            <a:avLst/>
          </a:prstGeom>
          <a:noFill/>
          <a:ln w="28575">
            <a:solidFill>
              <a:srgbClr val="C32A1D"/>
            </a:solidFill>
            <a:prstDash val="solid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3383280" y="3182112"/>
            <a:ext cx="822960" cy="36576"/>
          </a:xfrm>
          <a:prstGeom prst="line">
            <a:avLst/>
          </a:prstGeom>
          <a:noFill/>
          <a:ln w="28575">
            <a:solidFill>
              <a:srgbClr val="C32A1D"/>
            </a:solidFill>
            <a:prstDash val="solid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548640" y="4114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to BOTH exposure and outcome — distorts the exposure→outcome estimate unless we adjust for it.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53328" y="2148840"/>
            <a:ext cx="0" cy="278892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9" name="Text 16"/>
          <p:cNvSpPr/>
          <p:nvPr/>
        </p:nvSpPr>
        <p:spPr>
          <a:xfrm>
            <a:off x="6400800" y="21214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EFFECT MODIFIER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3246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905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653796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601200" y="3246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905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3" name="Text 20"/>
          <p:cNvSpPr/>
          <p:nvPr/>
        </p:nvSpPr>
        <p:spPr>
          <a:xfrm>
            <a:off x="960120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302752" y="3566160"/>
            <a:ext cx="1271016" cy="0"/>
          </a:xfrm>
          <a:prstGeom prst="line">
            <a:avLst/>
          </a:prstGeom>
          <a:noFill/>
          <a:ln w="28575">
            <a:solidFill>
              <a:srgbClr val="2E8B9B"/>
            </a:solidFill>
            <a:prstDash val="solid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25" name="Shape 22"/>
          <p:cNvSpPr/>
          <p:nvPr/>
        </p:nvSpPr>
        <p:spPr>
          <a:xfrm>
            <a:off x="8001000" y="25146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7F3F5"/>
          </a:solidFill>
          <a:ln w="19050">
            <a:solidFill>
              <a:srgbClr val="2E8B9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6" name="Text 23"/>
          <p:cNvSpPr/>
          <p:nvPr/>
        </p:nvSpPr>
        <p:spPr>
          <a:xfrm>
            <a:off x="800100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 flipH="1">
            <a:off x="8869680" y="3182112"/>
            <a:ext cx="45720" cy="18288"/>
          </a:xfrm>
          <a:prstGeom prst="line">
            <a:avLst/>
          </a:prstGeom>
          <a:noFill/>
          <a:ln w="28575">
            <a:solidFill>
              <a:srgbClr val="1D5D68"/>
            </a:solidFill>
            <a:prstDash val="dash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28" name="Shape 25"/>
          <p:cNvSpPr/>
          <p:nvPr/>
        </p:nvSpPr>
        <p:spPr>
          <a:xfrm>
            <a:off x="8851392" y="3163824"/>
            <a:ext cx="45720" cy="384048"/>
          </a:xfrm>
          <a:prstGeom prst="line">
            <a:avLst/>
          </a:prstGeom>
          <a:noFill/>
          <a:ln w="28575">
            <a:solidFill>
              <a:srgbClr val="1D5D68"/>
            </a:solidFill>
            <a:prstDash val="dash"/>
            <a:tailEnd type="triangle"/>
          </a:ln>
        </p:spPr>
        <p:txBody>
          <a:bodyPr/>
          <a:lstStyle/>
          <a:p>
            <a:endParaRPr lang="en-ZW"/>
          </a:p>
        </p:txBody>
      </p:sp>
      <p:sp>
        <p:nvSpPr>
          <p:cNvPr id="29" name="Text 26"/>
          <p:cNvSpPr/>
          <p:nvPr/>
        </p:nvSpPr>
        <p:spPr>
          <a:xfrm>
            <a:off x="6400800" y="41148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the STRENGTH of the exposure→outcome link itself — a real finding, reported by subgroup.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Left: the confounder sends its own arrows into BOTH boxes — adjust it away. Right: the effect modifier points at the ARROW between them, changing its strength by subgroup.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9 · NOT THE SAME AS CONFOUNDING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 modification (interaction)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905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32A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Confounding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nuisance distorting the true association. We try to remove it by adjusting. The goal is ONE adjusted answer.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9050">
            <a:solidFill>
              <a:srgbClr val="2E8B9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675120" y="2487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5D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 modification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75120" y="2971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finding: the effect genuinely differs by subgroup. We report each subgroup separately — not adjust it away.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9 · WORKED EXAMPLE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 modification — Harare vs Bulawayo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Biobehavioural survey, 1,143 MSM in Harare and Bulawayo: harassment/abuse was linked to higher odds of having both male and female recent partnerships — but the strength differed by city.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9959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MSM in Harare reporting harassment: aOR = 3.16 (95% CI 1.72–5.79) vs Bulawayo — a genuinely different effect size by city.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modified the effect — it did not simply confound it. Report both city-specific estimates.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10 · A FAST SHORTCUT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significance off any CI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331720"/>
          <a:ext cx="9601200" cy="2468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“No effect” value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Significant if CI…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 Ratio (RR)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not cross 1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Odds Ratio (OR)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not cross 1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Correlation (r)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731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not cross 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10 · THREE REAL ESTIMATES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number 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874520" y="2286000"/>
            <a:ext cx="0" cy="3291840"/>
          </a:xfrm>
          <a:prstGeom prst="line">
            <a:avLst/>
          </a:prstGeom>
          <a:noFill/>
          <a:ln w="19050">
            <a:solidFill>
              <a:srgbClr val="E3E7EB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OR/RR = 1 (no effect)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0" y="2788920"/>
            <a:ext cx="2377440" cy="0"/>
          </a:xfrm>
          <a:prstGeom prst="line">
            <a:avLst/>
          </a:prstGeom>
          <a:noFill/>
          <a:ln w="635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Shape 7"/>
          <p:cNvSpPr/>
          <p:nvPr/>
        </p:nvSpPr>
        <p:spPr>
          <a:xfrm>
            <a:off x="3858768" y="2715768"/>
            <a:ext cx="146304" cy="146304"/>
          </a:xfrm>
          <a:prstGeom prst="ellipse">
            <a:avLst/>
          </a:prstGeom>
          <a:solidFill>
            <a:srgbClr val="5B9A56"/>
          </a:solidFill>
          <a:ln w="127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5303520" y="2532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Retinopathy→nephropathy: OR 2.80 (1.64–4.97) — significant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417320" y="3794760"/>
            <a:ext cx="3017520" cy="0"/>
          </a:xfrm>
          <a:prstGeom prst="line">
            <a:avLst/>
          </a:prstGeom>
          <a:noFill/>
          <a:ln w="635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2852928" y="3721608"/>
            <a:ext cx="146304" cy="14630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4617720" y="3538728"/>
            <a:ext cx="6903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HIV→frailty (adjusted): OR 0.99 (0.42–2.33) — not significant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783080" y="4800600"/>
            <a:ext cx="4206240" cy="0"/>
          </a:xfrm>
          <a:prstGeom prst="line">
            <a:avLst/>
          </a:prstGeom>
          <a:noFill/>
          <a:ln w="635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3584448" y="4727448"/>
            <a:ext cx="146304" cy="146304"/>
          </a:xfrm>
          <a:prstGeom prst="ellipse">
            <a:avLst/>
          </a:prstGeom>
          <a:solidFill>
            <a:srgbClr val="E63425"/>
          </a:solidFill>
          <a:ln w="127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6172200" y="454456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BP control→complications: POR 7.71 (1.78–33.4) — wide but significant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&amp; red intervals sit fully right of the dashed line (significant). Orange straddles it (not significant).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11 · READING PAPERS CRITICALLY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pitfalls to watch for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04672" y="2496312"/>
            <a:ext cx="164592" cy="164592"/>
          </a:xfrm>
          <a:prstGeom prst="ellipse">
            <a:avLst/>
          </a:prstGeom>
          <a:solidFill>
            <a:srgbClr val="E63425"/>
          </a:solidFill>
          <a:ln w="127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1078992" y="2404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treated as RR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86207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outcome is common, OR overstates the true relative risk.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2402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Shape 9"/>
          <p:cNvSpPr/>
          <p:nvPr/>
        </p:nvSpPr>
        <p:spPr>
          <a:xfrm>
            <a:off x="6656832" y="2496312"/>
            <a:ext cx="164592" cy="164592"/>
          </a:xfrm>
          <a:prstGeom prst="ellipse">
            <a:avLst/>
          </a:prstGeom>
          <a:solidFill>
            <a:srgbClr val="2E8B9B"/>
          </a:solidFill>
          <a:ln w="12700">
            <a:solidFill>
              <a:srgbClr val="2E8B9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931152" y="2404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≠ causation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675120" y="286207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underlying driver can produce a correlation with no direct causal link.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2062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804672" y="446227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1078992" y="43708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Ignoring confounding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22960" y="482803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check whether the study adjusted for the obvious candidates (age, sex, wealth).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0" y="42062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0" name="Shape 17"/>
          <p:cNvSpPr/>
          <p:nvPr/>
        </p:nvSpPr>
        <p:spPr>
          <a:xfrm>
            <a:off x="6656832" y="4462272"/>
            <a:ext cx="164592" cy="164592"/>
          </a:xfrm>
          <a:prstGeom prst="ellipse">
            <a:avLst/>
          </a:prstGeom>
          <a:solidFill>
            <a:srgbClr val="5B9A56"/>
          </a:solidFill>
          <a:ln w="127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6931152" y="43708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Confounding ≠ effect modification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675120" y="482803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subgroup difference should be reported, not adjusted away.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822960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12 · 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RR and OR is built from a 2×2 table: exposure vs outcome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 = risk in exposed ÷ risk in unexposed — needs a defined cohort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= odds in exposed ÷ odds in unexposed — usable without one; OR ≈ RR only when the outcome is RARE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(r), −1 to +1, measures a straight-line relationship between two continuous variables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Confounding: a third variable linked to both exposure and outcome — adjust for it (crude vs adjusted)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 modification: a real subgroup difference in effect size — report it, don't adjust it away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650" dirty="0">
                <a:solidFill>
                  <a:srgbClr val="2731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shortcut: “no effect” = 1 for RR/OR, 0 for r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188720" cy="78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TOPIC 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3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Module 3 — Introduction to Data Analysis in 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Masterclass for Clinicians · Newlands Clinic, Harare · research@newlandsclinic.org.zw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1969</Words>
  <Application>Microsoft Office PowerPoint</Application>
  <PresentationFormat>Widescreen</PresentationFormat>
  <Paragraphs>231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IBM Plex Mono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Sydney Malunga</cp:lastModifiedBy>
  <cp:revision>1</cp:revision>
  <dcterms:created xsi:type="dcterms:W3CDTF">2026-08-18T07:40:02Z</dcterms:created>
  <dcterms:modified xsi:type="dcterms:W3CDTF">2026-08-18T08:34:03Z</dcterms:modified>
</cp:coreProperties>
</file>