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77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dney Malunga" userId="f348baeb-1f05-486c-bbcc-2da6e207d963" providerId="ADAL" clId="{DE3B0BC8-E27C-48FE-86D3-D2EF9400FA41}"/>
    <pc:docChg chg="undo custSel delSld modSld">
      <pc:chgData name="Sydney Malunga" userId="f348baeb-1f05-486c-bbcc-2da6e207d963" providerId="ADAL" clId="{DE3B0BC8-E27C-48FE-86D3-D2EF9400FA41}" dt="2026-08-18T08:20:12.265" v="58" actId="20577"/>
      <pc:docMkLst>
        <pc:docMk/>
      </pc:docMkLst>
      <pc:sldChg chg="addSp delSp modSp mod">
        <pc:chgData name="Sydney Malunga" userId="f348baeb-1f05-486c-bbcc-2da6e207d963" providerId="ADAL" clId="{DE3B0BC8-E27C-48FE-86D3-D2EF9400FA41}" dt="2026-08-18T08:20:12.265" v="58" actId="20577"/>
        <pc:sldMkLst>
          <pc:docMk/>
          <pc:sldMk cId="0" sldId="256"/>
        </pc:sldMkLst>
        <pc:spChg chg="del">
          <ac:chgData name="Sydney Malunga" userId="f348baeb-1f05-486c-bbcc-2da6e207d963" providerId="ADAL" clId="{DE3B0BC8-E27C-48FE-86D3-D2EF9400FA41}" dt="2026-08-18T08:09:41.856" v="9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Sydney Malunga" userId="f348baeb-1f05-486c-bbcc-2da6e207d963" providerId="ADAL" clId="{DE3B0BC8-E27C-48FE-86D3-D2EF9400FA41}" dt="2026-08-18T08:20:12.265" v="58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Sydney Malunga" userId="f348baeb-1f05-486c-bbcc-2da6e207d963" providerId="ADAL" clId="{DE3B0BC8-E27C-48FE-86D3-D2EF9400FA41}" dt="2026-08-18T08:07:21.999" v="2" actId="207"/>
          <ac:spMkLst>
            <pc:docMk/>
            <pc:sldMk cId="0" sldId="256"/>
            <ac:spMk id="5" creationId="{00000000-0000-0000-0000-000000000000}"/>
          </ac:spMkLst>
        </pc:spChg>
        <pc:spChg chg="del">
          <ac:chgData name="Sydney Malunga" userId="f348baeb-1f05-486c-bbcc-2da6e207d963" providerId="ADAL" clId="{DE3B0BC8-E27C-48FE-86D3-D2EF9400FA41}" dt="2026-08-18T08:12:48.445" v="38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Sydney Malunga" userId="f348baeb-1f05-486c-bbcc-2da6e207d963" providerId="ADAL" clId="{DE3B0BC8-E27C-48FE-86D3-D2EF9400FA41}" dt="2026-08-18T08:10:34.629" v="11" actId="20577"/>
          <ac:spMkLst>
            <pc:docMk/>
            <pc:sldMk cId="0" sldId="256"/>
            <ac:spMk id="7" creationId="{00000000-0000-0000-0000-000000000000}"/>
          </ac:spMkLst>
        </pc:spChg>
        <pc:spChg chg="add del">
          <ac:chgData name="Sydney Malunga" userId="f348baeb-1f05-486c-bbcc-2da6e207d963" providerId="ADAL" clId="{DE3B0BC8-E27C-48FE-86D3-D2EF9400FA41}" dt="2026-08-18T08:09:09.515" v="7" actId="22"/>
          <ac:spMkLst>
            <pc:docMk/>
            <pc:sldMk cId="0" sldId="256"/>
            <ac:spMk id="10" creationId="{CEAEE33F-5F52-0116-73A6-A0A02749ED1C}"/>
          </ac:spMkLst>
        </pc:spChg>
        <pc:spChg chg="add del">
          <ac:chgData name="Sydney Malunga" userId="f348baeb-1f05-486c-bbcc-2da6e207d963" providerId="ADAL" clId="{DE3B0BC8-E27C-48FE-86D3-D2EF9400FA41}" dt="2026-08-18T08:09:09.515" v="7" actId="22"/>
          <ac:spMkLst>
            <pc:docMk/>
            <pc:sldMk cId="0" sldId="256"/>
            <ac:spMk id="12" creationId="{424455C5-9DB9-8A2F-0467-7D9E66472676}"/>
          </ac:spMkLst>
        </pc:spChg>
        <pc:spChg chg="add del">
          <ac:chgData name="Sydney Malunga" userId="f348baeb-1f05-486c-bbcc-2da6e207d963" providerId="ADAL" clId="{DE3B0BC8-E27C-48FE-86D3-D2EF9400FA41}" dt="2026-08-18T08:09:09.515" v="7" actId="22"/>
          <ac:spMkLst>
            <pc:docMk/>
            <pc:sldMk cId="0" sldId="256"/>
            <ac:spMk id="14" creationId="{54268981-0AF5-175E-6709-6B9708FF7CC3}"/>
          </ac:spMkLst>
        </pc:spChg>
        <pc:spChg chg="add del">
          <ac:chgData name="Sydney Malunga" userId="f348baeb-1f05-486c-bbcc-2da6e207d963" providerId="ADAL" clId="{DE3B0BC8-E27C-48FE-86D3-D2EF9400FA41}" dt="2026-08-18T08:09:09.515" v="7" actId="22"/>
          <ac:spMkLst>
            <pc:docMk/>
            <pc:sldMk cId="0" sldId="256"/>
            <ac:spMk id="16" creationId="{0E9997F2-7E75-439F-DB36-72F77B1CA863}"/>
          </ac:spMkLst>
        </pc:spChg>
        <pc:spChg chg="add del">
          <ac:chgData name="Sydney Malunga" userId="f348baeb-1f05-486c-bbcc-2da6e207d963" providerId="ADAL" clId="{DE3B0BC8-E27C-48FE-86D3-D2EF9400FA41}" dt="2026-08-18T08:09:09.515" v="7" actId="22"/>
          <ac:spMkLst>
            <pc:docMk/>
            <pc:sldMk cId="0" sldId="256"/>
            <ac:spMk id="18" creationId="{4536EA42-BEF2-498C-88F6-DD9B0EC09C4F}"/>
          </ac:spMkLst>
        </pc:spChg>
        <pc:spChg chg="add">
          <ac:chgData name="Sydney Malunga" userId="f348baeb-1f05-486c-bbcc-2da6e207d963" providerId="ADAL" clId="{DE3B0BC8-E27C-48FE-86D3-D2EF9400FA41}" dt="2026-08-18T08:09:10.757" v="8" actId="22"/>
          <ac:spMkLst>
            <pc:docMk/>
            <pc:sldMk cId="0" sldId="256"/>
            <ac:spMk id="20" creationId="{41F1F9D3-09FA-D039-45AB-C46357BE2139}"/>
          </ac:spMkLst>
        </pc:spChg>
        <pc:spChg chg="add">
          <ac:chgData name="Sydney Malunga" userId="f348baeb-1f05-486c-bbcc-2da6e207d963" providerId="ADAL" clId="{DE3B0BC8-E27C-48FE-86D3-D2EF9400FA41}" dt="2026-08-18T08:09:10.757" v="8" actId="22"/>
          <ac:spMkLst>
            <pc:docMk/>
            <pc:sldMk cId="0" sldId="256"/>
            <ac:spMk id="22" creationId="{E9953F56-F66A-F43D-2C55-45618C1BCF3B}"/>
          </ac:spMkLst>
        </pc:spChg>
        <pc:spChg chg="add">
          <ac:chgData name="Sydney Malunga" userId="f348baeb-1f05-486c-bbcc-2da6e207d963" providerId="ADAL" clId="{DE3B0BC8-E27C-48FE-86D3-D2EF9400FA41}" dt="2026-08-18T08:09:10.757" v="8" actId="22"/>
          <ac:spMkLst>
            <pc:docMk/>
            <pc:sldMk cId="0" sldId="256"/>
            <ac:spMk id="24" creationId="{88009DCE-F936-CD5E-8B61-D8E0AA408327}"/>
          </ac:spMkLst>
        </pc:spChg>
        <pc:spChg chg="add">
          <ac:chgData name="Sydney Malunga" userId="f348baeb-1f05-486c-bbcc-2da6e207d963" providerId="ADAL" clId="{DE3B0BC8-E27C-48FE-86D3-D2EF9400FA41}" dt="2026-08-18T08:09:10.757" v="8" actId="22"/>
          <ac:spMkLst>
            <pc:docMk/>
            <pc:sldMk cId="0" sldId="256"/>
            <ac:spMk id="26" creationId="{A39640FF-0BC6-7A9B-E1CE-AC6D18EFB436}"/>
          </ac:spMkLst>
        </pc:spChg>
        <pc:spChg chg="add">
          <ac:chgData name="Sydney Malunga" userId="f348baeb-1f05-486c-bbcc-2da6e207d963" providerId="ADAL" clId="{DE3B0BC8-E27C-48FE-86D3-D2EF9400FA41}" dt="2026-08-18T08:09:10.757" v="8" actId="22"/>
          <ac:spMkLst>
            <pc:docMk/>
            <pc:sldMk cId="0" sldId="256"/>
            <ac:spMk id="28" creationId="{F4FCB057-CD7D-315D-56EC-E05E254AE7DB}"/>
          </ac:spMkLst>
        </pc:spChg>
        <pc:picChg chg="add mod">
          <ac:chgData name="Sydney Malunga" userId="f348baeb-1f05-486c-bbcc-2da6e207d963" providerId="ADAL" clId="{DE3B0BC8-E27C-48FE-86D3-D2EF9400FA41}" dt="2026-08-18T08:11:37.075" v="16" actId="14100"/>
          <ac:picMkLst>
            <pc:docMk/>
            <pc:sldMk cId="0" sldId="256"/>
            <ac:picMk id="30" creationId="{1F577042-1410-641C-DCC8-848A695E14AF}"/>
          </ac:picMkLst>
        </pc:picChg>
      </pc:sldChg>
      <pc:sldChg chg="addSp modSp mod">
        <pc:chgData name="Sydney Malunga" userId="f348baeb-1f05-486c-bbcc-2da6e207d963" providerId="ADAL" clId="{DE3B0BC8-E27C-48FE-86D3-D2EF9400FA41}" dt="2026-08-18T08:11:50.158" v="18" actId="1076"/>
        <pc:sldMkLst>
          <pc:docMk/>
          <pc:sldMk cId="0" sldId="257"/>
        </pc:sldMkLst>
        <pc:picChg chg="add mod">
          <ac:chgData name="Sydney Malunga" userId="f348baeb-1f05-486c-bbcc-2da6e207d963" providerId="ADAL" clId="{DE3B0BC8-E27C-48FE-86D3-D2EF9400FA41}" dt="2026-08-18T08:11:50.158" v="18" actId="1076"/>
          <ac:picMkLst>
            <pc:docMk/>
            <pc:sldMk cId="0" sldId="257"/>
            <ac:picMk id="8" creationId="{53D902B7-0800-0322-03BE-A8DC9D0DD17D}"/>
          </ac:picMkLst>
        </pc:picChg>
      </pc:sldChg>
      <pc:sldChg chg="addSp mod">
        <pc:chgData name="Sydney Malunga" userId="f348baeb-1f05-486c-bbcc-2da6e207d963" providerId="ADAL" clId="{DE3B0BC8-E27C-48FE-86D3-D2EF9400FA41}" dt="2026-08-18T08:11:54.406" v="19" actId="22"/>
        <pc:sldMkLst>
          <pc:docMk/>
          <pc:sldMk cId="0" sldId="258"/>
        </pc:sldMkLst>
        <pc:picChg chg="add">
          <ac:chgData name="Sydney Malunga" userId="f348baeb-1f05-486c-bbcc-2da6e207d963" providerId="ADAL" clId="{DE3B0BC8-E27C-48FE-86D3-D2EF9400FA41}" dt="2026-08-18T08:11:54.406" v="19" actId="22"/>
          <ac:picMkLst>
            <pc:docMk/>
            <pc:sldMk cId="0" sldId="258"/>
            <ac:picMk id="16" creationId="{20F66BA4-B28D-4A0D-E755-B6A39402E5CE}"/>
          </ac:picMkLst>
        </pc:picChg>
      </pc:sldChg>
      <pc:sldChg chg="addSp mod">
        <pc:chgData name="Sydney Malunga" userId="f348baeb-1f05-486c-bbcc-2da6e207d963" providerId="ADAL" clId="{DE3B0BC8-E27C-48FE-86D3-D2EF9400FA41}" dt="2026-08-18T08:11:58.299" v="20" actId="22"/>
        <pc:sldMkLst>
          <pc:docMk/>
          <pc:sldMk cId="0" sldId="259"/>
        </pc:sldMkLst>
        <pc:picChg chg="add">
          <ac:chgData name="Sydney Malunga" userId="f348baeb-1f05-486c-bbcc-2da6e207d963" providerId="ADAL" clId="{DE3B0BC8-E27C-48FE-86D3-D2EF9400FA41}" dt="2026-08-18T08:11:58.299" v="20" actId="22"/>
          <ac:picMkLst>
            <pc:docMk/>
            <pc:sldMk cId="0" sldId="259"/>
            <ac:picMk id="18" creationId="{889A7274-A15D-2061-A5BB-62081FEBBDE7}"/>
          </ac:picMkLst>
        </pc:picChg>
      </pc:sldChg>
      <pc:sldChg chg="addSp mod">
        <pc:chgData name="Sydney Malunga" userId="f348baeb-1f05-486c-bbcc-2da6e207d963" providerId="ADAL" clId="{DE3B0BC8-E27C-48FE-86D3-D2EF9400FA41}" dt="2026-08-18T08:12:00.540" v="21" actId="22"/>
        <pc:sldMkLst>
          <pc:docMk/>
          <pc:sldMk cId="0" sldId="260"/>
        </pc:sldMkLst>
        <pc:picChg chg="add">
          <ac:chgData name="Sydney Malunga" userId="f348baeb-1f05-486c-bbcc-2da6e207d963" providerId="ADAL" clId="{DE3B0BC8-E27C-48FE-86D3-D2EF9400FA41}" dt="2026-08-18T08:12:00.540" v="21" actId="22"/>
          <ac:picMkLst>
            <pc:docMk/>
            <pc:sldMk cId="0" sldId="260"/>
            <ac:picMk id="15" creationId="{5ABF2D49-0807-FF56-5907-E2C63EB2CF8C}"/>
          </ac:picMkLst>
        </pc:picChg>
      </pc:sldChg>
      <pc:sldChg chg="addSp mod">
        <pc:chgData name="Sydney Malunga" userId="f348baeb-1f05-486c-bbcc-2da6e207d963" providerId="ADAL" clId="{DE3B0BC8-E27C-48FE-86D3-D2EF9400FA41}" dt="2026-08-18T08:12:02.089" v="22" actId="22"/>
        <pc:sldMkLst>
          <pc:docMk/>
          <pc:sldMk cId="0" sldId="261"/>
        </pc:sldMkLst>
        <pc:picChg chg="add">
          <ac:chgData name="Sydney Malunga" userId="f348baeb-1f05-486c-bbcc-2da6e207d963" providerId="ADAL" clId="{DE3B0BC8-E27C-48FE-86D3-D2EF9400FA41}" dt="2026-08-18T08:12:02.089" v="22" actId="22"/>
          <ac:picMkLst>
            <pc:docMk/>
            <pc:sldMk cId="0" sldId="261"/>
            <ac:picMk id="28" creationId="{6AFA0D04-83FB-0EAA-70A5-83A3B76FE2A8}"/>
          </ac:picMkLst>
        </pc:picChg>
      </pc:sldChg>
      <pc:sldChg chg="addSp mod">
        <pc:chgData name="Sydney Malunga" userId="f348baeb-1f05-486c-bbcc-2da6e207d963" providerId="ADAL" clId="{DE3B0BC8-E27C-48FE-86D3-D2EF9400FA41}" dt="2026-08-18T08:12:03.703" v="23" actId="22"/>
        <pc:sldMkLst>
          <pc:docMk/>
          <pc:sldMk cId="0" sldId="262"/>
        </pc:sldMkLst>
        <pc:picChg chg="add">
          <ac:chgData name="Sydney Malunga" userId="f348baeb-1f05-486c-bbcc-2da6e207d963" providerId="ADAL" clId="{DE3B0BC8-E27C-48FE-86D3-D2EF9400FA41}" dt="2026-08-18T08:12:03.703" v="23" actId="22"/>
          <ac:picMkLst>
            <pc:docMk/>
            <pc:sldMk cId="0" sldId="262"/>
            <ac:picMk id="11" creationId="{EC9249FC-1B5B-9C96-F33A-A98FEDFD165F}"/>
          </ac:picMkLst>
        </pc:picChg>
      </pc:sldChg>
      <pc:sldChg chg="addSp mod">
        <pc:chgData name="Sydney Malunga" userId="f348baeb-1f05-486c-bbcc-2da6e207d963" providerId="ADAL" clId="{DE3B0BC8-E27C-48FE-86D3-D2EF9400FA41}" dt="2026-08-18T08:12:05.258" v="24" actId="22"/>
        <pc:sldMkLst>
          <pc:docMk/>
          <pc:sldMk cId="0" sldId="263"/>
        </pc:sldMkLst>
        <pc:picChg chg="add">
          <ac:chgData name="Sydney Malunga" userId="f348baeb-1f05-486c-bbcc-2da6e207d963" providerId="ADAL" clId="{DE3B0BC8-E27C-48FE-86D3-D2EF9400FA41}" dt="2026-08-18T08:12:05.258" v="24" actId="22"/>
          <ac:picMkLst>
            <pc:docMk/>
            <pc:sldMk cId="0" sldId="263"/>
            <ac:picMk id="13" creationId="{E1F9687A-801F-F2FB-DB65-5257E771EF65}"/>
          </ac:picMkLst>
        </pc:picChg>
      </pc:sldChg>
      <pc:sldChg chg="addSp mod">
        <pc:chgData name="Sydney Malunga" userId="f348baeb-1f05-486c-bbcc-2da6e207d963" providerId="ADAL" clId="{DE3B0BC8-E27C-48FE-86D3-D2EF9400FA41}" dt="2026-08-18T08:12:07.358" v="25" actId="22"/>
        <pc:sldMkLst>
          <pc:docMk/>
          <pc:sldMk cId="0" sldId="264"/>
        </pc:sldMkLst>
        <pc:picChg chg="add">
          <ac:chgData name="Sydney Malunga" userId="f348baeb-1f05-486c-bbcc-2da6e207d963" providerId="ADAL" clId="{DE3B0BC8-E27C-48FE-86D3-D2EF9400FA41}" dt="2026-08-18T08:12:07.358" v="25" actId="22"/>
          <ac:picMkLst>
            <pc:docMk/>
            <pc:sldMk cId="0" sldId="264"/>
            <ac:picMk id="18" creationId="{EC3B3BE8-147E-8C58-E04E-D72CBDA04E95}"/>
          </ac:picMkLst>
        </pc:picChg>
      </pc:sldChg>
      <pc:sldChg chg="addSp mod">
        <pc:chgData name="Sydney Malunga" userId="f348baeb-1f05-486c-bbcc-2da6e207d963" providerId="ADAL" clId="{DE3B0BC8-E27C-48FE-86D3-D2EF9400FA41}" dt="2026-08-18T08:12:10.978" v="26" actId="22"/>
        <pc:sldMkLst>
          <pc:docMk/>
          <pc:sldMk cId="0" sldId="265"/>
        </pc:sldMkLst>
        <pc:picChg chg="add">
          <ac:chgData name="Sydney Malunga" userId="f348baeb-1f05-486c-bbcc-2da6e207d963" providerId="ADAL" clId="{DE3B0BC8-E27C-48FE-86D3-D2EF9400FA41}" dt="2026-08-18T08:12:10.978" v="26" actId="22"/>
          <ac:picMkLst>
            <pc:docMk/>
            <pc:sldMk cId="0" sldId="265"/>
            <ac:picMk id="10" creationId="{E1863A6C-C0ED-0786-37F9-DD1DF0745A57}"/>
          </ac:picMkLst>
        </pc:picChg>
      </pc:sldChg>
      <pc:sldChg chg="addSp mod">
        <pc:chgData name="Sydney Malunga" userId="f348baeb-1f05-486c-bbcc-2da6e207d963" providerId="ADAL" clId="{DE3B0BC8-E27C-48FE-86D3-D2EF9400FA41}" dt="2026-08-18T08:12:13.043" v="27" actId="22"/>
        <pc:sldMkLst>
          <pc:docMk/>
          <pc:sldMk cId="0" sldId="266"/>
        </pc:sldMkLst>
        <pc:picChg chg="add">
          <ac:chgData name="Sydney Malunga" userId="f348baeb-1f05-486c-bbcc-2da6e207d963" providerId="ADAL" clId="{DE3B0BC8-E27C-48FE-86D3-D2EF9400FA41}" dt="2026-08-18T08:12:13.043" v="27" actId="22"/>
          <ac:picMkLst>
            <pc:docMk/>
            <pc:sldMk cId="0" sldId="266"/>
            <ac:picMk id="15" creationId="{C86C247D-57AC-DA33-339D-9CF7765C391C}"/>
          </ac:picMkLst>
        </pc:picChg>
      </pc:sldChg>
      <pc:sldChg chg="addSp mod">
        <pc:chgData name="Sydney Malunga" userId="f348baeb-1f05-486c-bbcc-2da6e207d963" providerId="ADAL" clId="{DE3B0BC8-E27C-48FE-86D3-D2EF9400FA41}" dt="2026-08-18T08:12:14.518" v="28" actId="22"/>
        <pc:sldMkLst>
          <pc:docMk/>
          <pc:sldMk cId="0" sldId="267"/>
        </pc:sldMkLst>
        <pc:picChg chg="add">
          <ac:chgData name="Sydney Malunga" userId="f348baeb-1f05-486c-bbcc-2da6e207d963" providerId="ADAL" clId="{DE3B0BC8-E27C-48FE-86D3-D2EF9400FA41}" dt="2026-08-18T08:12:14.518" v="28" actId="22"/>
          <ac:picMkLst>
            <pc:docMk/>
            <pc:sldMk cId="0" sldId="267"/>
            <ac:picMk id="18" creationId="{20BA3FC4-C9FA-89BD-F4B3-51B383D63833}"/>
          </ac:picMkLst>
        </pc:picChg>
      </pc:sldChg>
      <pc:sldChg chg="addSp mod">
        <pc:chgData name="Sydney Malunga" userId="f348baeb-1f05-486c-bbcc-2da6e207d963" providerId="ADAL" clId="{DE3B0BC8-E27C-48FE-86D3-D2EF9400FA41}" dt="2026-08-18T08:12:15.985" v="29" actId="22"/>
        <pc:sldMkLst>
          <pc:docMk/>
          <pc:sldMk cId="0" sldId="268"/>
        </pc:sldMkLst>
        <pc:picChg chg="add">
          <ac:chgData name="Sydney Malunga" userId="f348baeb-1f05-486c-bbcc-2da6e207d963" providerId="ADAL" clId="{DE3B0BC8-E27C-48FE-86D3-D2EF9400FA41}" dt="2026-08-18T08:12:15.985" v="29" actId="22"/>
          <ac:picMkLst>
            <pc:docMk/>
            <pc:sldMk cId="0" sldId="268"/>
            <ac:picMk id="14" creationId="{565568DE-750D-8AE9-C685-CFDF808FC59A}"/>
          </ac:picMkLst>
        </pc:picChg>
      </pc:sldChg>
      <pc:sldChg chg="addSp mod">
        <pc:chgData name="Sydney Malunga" userId="f348baeb-1f05-486c-bbcc-2da6e207d963" providerId="ADAL" clId="{DE3B0BC8-E27C-48FE-86D3-D2EF9400FA41}" dt="2026-08-18T08:12:18.310" v="30" actId="22"/>
        <pc:sldMkLst>
          <pc:docMk/>
          <pc:sldMk cId="0" sldId="269"/>
        </pc:sldMkLst>
        <pc:picChg chg="add">
          <ac:chgData name="Sydney Malunga" userId="f348baeb-1f05-486c-bbcc-2da6e207d963" providerId="ADAL" clId="{DE3B0BC8-E27C-48FE-86D3-D2EF9400FA41}" dt="2026-08-18T08:12:18.310" v="30" actId="22"/>
          <ac:picMkLst>
            <pc:docMk/>
            <pc:sldMk cId="0" sldId="269"/>
            <ac:picMk id="13" creationId="{E72BF675-5DCE-DA71-CEDF-A42B81B84571}"/>
          </ac:picMkLst>
        </pc:picChg>
      </pc:sldChg>
      <pc:sldChg chg="addSp mod">
        <pc:chgData name="Sydney Malunga" userId="f348baeb-1f05-486c-bbcc-2da6e207d963" providerId="ADAL" clId="{DE3B0BC8-E27C-48FE-86D3-D2EF9400FA41}" dt="2026-08-18T08:12:20.457" v="31" actId="22"/>
        <pc:sldMkLst>
          <pc:docMk/>
          <pc:sldMk cId="0" sldId="270"/>
        </pc:sldMkLst>
        <pc:picChg chg="add">
          <ac:chgData name="Sydney Malunga" userId="f348baeb-1f05-486c-bbcc-2da6e207d963" providerId="ADAL" clId="{DE3B0BC8-E27C-48FE-86D3-D2EF9400FA41}" dt="2026-08-18T08:12:20.457" v="31" actId="22"/>
          <ac:picMkLst>
            <pc:docMk/>
            <pc:sldMk cId="0" sldId="270"/>
            <ac:picMk id="10" creationId="{3AB92022-772E-A730-4330-AF35FD4F71DF}"/>
          </ac:picMkLst>
        </pc:picChg>
      </pc:sldChg>
      <pc:sldChg chg="addSp mod">
        <pc:chgData name="Sydney Malunga" userId="f348baeb-1f05-486c-bbcc-2da6e207d963" providerId="ADAL" clId="{DE3B0BC8-E27C-48FE-86D3-D2EF9400FA41}" dt="2026-08-18T08:12:24.315" v="32" actId="22"/>
        <pc:sldMkLst>
          <pc:docMk/>
          <pc:sldMk cId="0" sldId="271"/>
        </pc:sldMkLst>
        <pc:picChg chg="add">
          <ac:chgData name="Sydney Malunga" userId="f348baeb-1f05-486c-bbcc-2da6e207d963" providerId="ADAL" clId="{DE3B0BC8-E27C-48FE-86D3-D2EF9400FA41}" dt="2026-08-18T08:12:24.315" v="32" actId="22"/>
          <ac:picMkLst>
            <pc:docMk/>
            <pc:sldMk cId="0" sldId="271"/>
            <ac:picMk id="21" creationId="{3590E142-F878-CF9F-5042-15836700FD1E}"/>
          </ac:picMkLst>
        </pc:picChg>
      </pc:sldChg>
      <pc:sldChg chg="addSp mod">
        <pc:chgData name="Sydney Malunga" userId="f348baeb-1f05-486c-bbcc-2da6e207d963" providerId="ADAL" clId="{DE3B0BC8-E27C-48FE-86D3-D2EF9400FA41}" dt="2026-08-18T08:12:33.277" v="33" actId="22"/>
        <pc:sldMkLst>
          <pc:docMk/>
          <pc:sldMk cId="0" sldId="272"/>
        </pc:sldMkLst>
        <pc:picChg chg="add">
          <ac:chgData name="Sydney Malunga" userId="f348baeb-1f05-486c-bbcc-2da6e207d963" providerId="ADAL" clId="{DE3B0BC8-E27C-48FE-86D3-D2EF9400FA41}" dt="2026-08-18T08:12:33.277" v="33" actId="22"/>
          <ac:picMkLst>
            <pc:docMk/>
            <pc:sldMk cId="0" sldId="272"/>
            <ac:picMk id="15" creationId="{7FD32170-5CA0-E9E3-0B43-968741E1DA3A}"/>
          </ac:picMkLst>
        </pc:picChg>
      </pc:sldChg>
      <pc:sldChg chg="addSp mod">
        <pc:chgData name="Sydney Malunga" userId="f348baeb-1f05-486c-bbcc-2da6e207d963" providerId="ADAL" clId="{DE3B0BC8-E27C-48FE-86D3-D2EF9400FA41}" dt="2026-08-18T08:12:34.540" v="34" actId="22"/>
        <pc:sldMkLst>
          <pc:docMk/>
          <pc:sldMk cId="0" sldId="273"/>
        </pc:sldMkLst>
        <pc:picChg chg="add">
          <ac:chgData name="Sydney Malunga" userId="f348baeb-1f05-486c-bbcc-2da6e207d963" providerId="ADAL" clId="{DE3B0BC8-E27C-48FE-86D3-D2EF9400FA41}" dt="2026-08-18T08:12:34.540" v="34" actId="22"/>
          <ac:picMkLst>
            <pc:docMk/>
            <pc:sldMk cId="0" sldId="273"/>
            <ac:picMk id="8" creationId="{0CC8EFB6-B6D4-0398-012E-C27A30D5DDBD}"/>
          </ac:picMkLst>
        </pc:picChg>
      </pc:sldChg>
      <pc:sldChg chg="addSp mod">
        <pc:chgData name="Sydney Malunga" userId="f348baeb-1f05-486c-bbcc-2da6e207d963" providerId="ADAL" clId="{DE3B0BC8-E27C-48FE-86D3-D2EF9400FA41}" dt="2026-08-18T08:12:35.771" v="35" actId="22"/>
        <pc:sldMkLst>
          <pc:docMk/>
          <pc:sldMk cId="0" sldId="274"/>
        </pc:sldMkLst>
        <pc:picChg chg="add">
          <ac:chgData name="Sydney Malunga" userId="f348baeb-1f05-486c-bbcc-2da6e207d963" providerId="ADAL" clId="{DE3B0BC8-E27C-48FE-86D3-D2EF9400FA41}" dt="2026-08-18T08:12:35.771" v="35" actId="22"/>
          <ac:picMkLst>
            <pc:docMk/>
            <pc:sldMk cId="0" sldId="274"/>
            <ac:picMk id="8" creationId="{7DFF2549-310F-660D-A060-D4381003A265}"/>
          </ac:picMkLst>
        </pc:picChg>
      </pc:sldChg>
      <pc:sldChg chg="addSp mod">
        <pc:chgData name="Sydney Malunga" userId="f348baeb-1f05-486c-bbcc-2da6e207d963" providerId="ADAL" clId="{DE3B0BC8-E27C-48FE-86D3-D2EF9400FA41}" dt="2026-08-18T08:12:36.734" v="36" actId="22"/>
        <pc:sldMkLst>
          <pc:docMk/>
          <pc:sldMk cId="0" sldId="275"/>
        </pc:sldMkLst>
        <pc:picChg chg="add">
          <ac:chgData name="Sydney Malunga" userId="f348baeb-1f05-486c-bbcc-2da6e207d963" providerId="ADAL" clId="{DE3B0BC8-E27C-48FE-86D3-D2EF9400FA41}" dt="2026-08-18T08:12:36.734" v="36" actId="22"/>
          <ac:picMkLst>
            <pc:docMk/>
            <pc:sldMk cId="0" sldId="275"/>
            <ac:picMk id="11" creationId="{EF8D204B-9C9C-061B-3567-508E5D7D2E69}"/>
          </ac:picMkLst>
        </pc:picChg>
      </pc:sldChg>
      <pc:sldChg chg="addSp mod">
        <pc:chgData name="Sydney Malunga" userId="f348baeb-1f05-486c-bbcc-2da6e207d963" providerId="ADAL" clId="{DE3B0BC8-E27C-48FE-86D3-D2EF9400FA41}" dt="2026-08-18T08:12:38.106" v="37" actId="22"/>
        <pc:sldMkLst>
          <pc:docMk/>
          <pc:sldMk cId="0" sldId="276"/>
        </pc:sldMkLst>
        <pc:picChg chg="add">
          <ac:chgData name="Sydney Malunga" userId="f348baeb-1f05-486c-bbcc-2da6e207d963" providerId="ADAL" clId="{DE3B0BC8-E27C-48FE-86D3-D2EF9400FA41}" dt="2026-08-18T08:12:38.106" v="37" actId="22"/>
          <ac:picMkLst>
            <pc:docMk/>
            <pc:sldMk cId="0" sldId="276"/>
            <ac:picMk id="9" creationId="{7986C12C-D87A-DC8B-ADAA-3F45709164EF}"/>
          </ac:picMkLst>
        </pc:picChg>
      </pc:sldChg>
      <pc:sldChg chg="delSp del mod">
        <pc:chgData name="Sydney Malunga" userId="f348baeb-1f05-486c-bbcc-2da6e207d963" providerId="ADAL" clId="{DE3B0BC8-E27C-48FE-86D3-D2EF9400FA41}" dt="2026-08-18T08:10:56.469" v="12" actId="2696"/>
        <pc:sldMkLst>
          <pc:docMk/>
          <pc:sldMk cId="0" sldId="277"/>
        </pc:sldMkLst>
        <pc:spChg chg="del">
          <ac:chgData name="Sydney Malunga" userId="f348baeb-1f05-486c-bbcc-2da6e207d963" providerId="ADAL" clId="{DE3B0BC8-E27C-48FE-86D3-D2EF9400FA41}" dt="2026-08-18T08:10:15.548" v="10" actId="478"/>
          <ac:spMkLst>
            <pc:docMk/>
            <pc:sldMk cId="0" sldId="277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696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8745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</a:t>
            </a:r>
            <a:r>
              <a:rPr lang="en-US" sz="1400" b="1" kern="0" spc="20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Statistics</a:t>
            </a:r>
            <a:endParaRPr lang="en-US" sz="4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Epidemiology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406908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and Descriptive Measures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www.newlandsclinic.org.zw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22</a:t>
            </a:r>
            <a:endParaRPr lang="en-US" sz="1000" dirty="0"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41F1F9D3-09FA-D039-45AB-C46357BE2139}"/>
              </a:ext>
            </a:extLst>
          </p:cNvPr>
          <p:cNvSpPr/>
          <p:nvPr/>
        </p:nvSpPr>
        <p:spPr>
          <a:xfrm>
            <a:off x="7985455" y="2834640"/>
            <a:ext cx="4206240" cy="4206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E9953F56-F66A-F43D-2C55-45618C1BCF3B}"/>
              </a:ext>
            </a:extLst>
          </p:cNvPr>
          <p:cNvSpPr/>
          <p:nvPr/>
        </p:nvSpPr>
        <p:spPr>
          <a:xfrm>
            <a:off x="8945575" y="5394960"/>
            <a:ext cx="384048" cy="640080"/>
          </a:xfrm>
          <a:prstGeom prst="rect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88009DCE-F936-CD5E-8B61-D8E0AA408327}"/>
              </a:ext>
            </a:extLst>
          </p:cNvPr>
          <p:cNvSpPr/>
          <p:nvPr/>
        </p:nvSpPr>
        <p:spPr>
          <a:xfrm>
            <a:off x="9448495" y="4617720"/>
            <a:ext cx="384048" cy="1417320"/>
          </a:xfrm>
          <a:prstGeom prst="rect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A39640FF-0BC6-7A9B-E1CE-AC6D18EFB436}"/>
              </a:ext>
            </a:extLst>
          </p:cNvPr>
          <p:cNvSpPr/>
          <p:nvPr/>
        </p:nvSpPr>
        <p:spPr>
          <a:xfrm>
            <a:off x="9951415" y="5074920"/>
            <a:ext cx="384048" cy="96012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F4FCB057-CD7D-315D-56EC-E05E254AE7DB}"/>
              </a:ext>
            </a:extLst>
          </p:cNvPr>
          <p:cNvSpPr/>
          <p:nvPr/>
        </p:nvSpPr>
        <p:spPr>
          <a:xfrm>
            <a:off x="10454335" y="4800600"/>
            <a:ext cx="384048" cy="1234440"/>
          </a:xfrm>
          <a:prstGeom prst="rect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  <p:pic>
        <p:nvPicPr>
          <p:cNvPr id="30" name="Image 0" descr="/home/claude/build/logo.png">
            <a:extLst>
              <a:ext uri="{FF2B5EF4-FFF2-40B4-BE49-F238E27FC236}">
                <a16:creationId xmlns:a16="http://schemas.microsoft.com/office/drawing/2014/main" id="{1F577042-1410-641C-DCC8-848A695E1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93" y="283464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session, you should be able 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statistics is — both as data and as methods.</a:t>
            </a:r>
            <a:endParaRPr lang="en-US" sz="1800" dirty="0"/>
          </a:p>
          <a:p>
            <a:pPr marL="342900" indent="-342900" algn="l">
              <a:lnSpc>
                <a:spcPct val="12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variable as categorical (nominal / ordinal) or numerical (discrete / continuous).</a:t>
            </a:r>
            <a:endParaRPr lang="en-US" sz="1800" dirty="0"/>
          </a:p>
          <a:p>
            <a:pPr marL="342900" indent="-342900" algn="l">
              <a:lnSpc>
                <a:spcPct val="12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summary measure — percentage, mean/SD, or median/IQR — for each data type.</a:t>
            </a:r>
            <a:endParaRPr lang="en-US" sz="1800" dirty="0"/>
          </a:p>
          <a:p>
            <a:pPr marL="342900" indent="-342900" algn="l">
              <a:lnSpc>
                <a:spcPct val="12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descriptive and inferential statistics.</a:t>
            </a:r>
            <a:endParaRPr lang="en-US" sz="1800" dirty="0"/>
          </a:p>
          <a:p>
            <a:pPr marL="342900" indent="-342900" algn="l">
              <a:lnSpc>
                <a:spcPct val="12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where statistics is applied across an epidemiological study.</a:t>
            </a:r>
            <a:endParaRPr lang="en-US" sz="1800" dirty="0"/>
          </a:p>
          <a:p>
            <a:pPr marL="342900" indent="-342900" algn="l">
              <a:lnSpc>
                <a:spcPct val="12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statistical roadmap of Module 2.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22</a:t>
            </a:r>
            <a:endParaRPr lang="en-US" sz="1000" dirty="0"/>
          </a:p>
        </p:txBody>
      </p:sp>
      <p:pic>
        <p:nvPicPr>
          <p:cNvPr id="8" name="Image 0" descr="/home/claude/build/logo.png">
            <a:extLst>
              <a:ext uri="{FF2B5EF4-FFF2-40B4-BE49-F238E27FC236}">
                <a16:creationId xmlns:a16="http://schemas.microsoft.com/office/drawing/2014/main" id="{53D902B7-0800-0322-03BE-A8DC9D0DD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Statistics Matters to a Clinician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underlies almost every published sentence with a number in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6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6" name="Text 4"/>
          <p:cNvSpPr/>
          <p:nvPr/>
        </p:nvSpPr>
        <p:spPr>
          <a:xfrm>
            <a:off x="804672" y="2459736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34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 (86–274)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3118104"/>
            <a:ext cx="4837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baseline CD4 count, cells/µL, with IQR — people ≥50y starting ART, Newlands Clinic (Shamu et al. 2021, PLoS ONE).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4028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6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9" name="Text 7"/>
          <p:cNvSpPr/>
          <p:nvPr/>
        </p:nvSpPr>
        <p:spPr>
          <a:xfrm>
            <a:off x="6428232" y="2459736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634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15.5%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28232" y="3118104"/>
            <a:ext cx="4837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4,110 patients with hypertension at baseline, same cohort (Chimbetete et al. 2017, Trop Med Int Health).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CEAE8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2" name="Text 10"/>
          <p:cNvSpPr/>
          <p:nvPr/>
        </p:nvSpPr>
        <p:spPr>
          <a:xfrm>
            <a:off x="777240" y="489204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3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figure needed a median and a range. The other needed only a percentage — matching the summary to the data is the core skill of this session.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22</a:t>
            </a:r>
            <a:endParaRPr lang="en-US" sz="1000" dirty="0"/>
          </a:p>
        </p:txBody>
      </p:sp>
      <p:pic>
        <p:nvPicPr>
          <p:cNvPr id="16" name="Image 0" descr="/home/claude/build/logo.png">
            <a:extLst>
              <a:ext uri="{FF2B5EF4-FFF2-40B4-BE49-F238E27FC236}">
                <a16:creationId xmlns:a16="http://schemas.microsoft.com/office/drawing/2014/main" id="{20F66BA4-B28D-4A0D-E755-B6A39402E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Statistics?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834640"/>
          </a:xfrm>
          <a:prstGeom prst="roundRect">
            <a:avLst>
              <a:gd name="adj" fmla="val 3871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5" name="Shape 3"/>
          <p:cNvSpPr/>
          <p:nvPr/>
        </p:nvSpPr>
        <p:spPr>
          <a:xfrm>
            <a:off x="804672" y="2084832"/>
            <a:ext cx="402336" cy="402336"/>
          </a:xfrm>
          <a:prstGeom prst="ellipse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" name="Text 4"/>
          <p:cNvSpPr/>
          <p:nvPr/>
        </p:nvSpPr>
        <p:spPr>
          <a:xfrm>
            <a:off x="804672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16736" y="20665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 as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483717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we get when we measure or count things — a birthweight, a CD4 count, the number of typhoid notifications in a district.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2834640"/>
          </a:xfrm>
          <a:prstGeom prst="roundRect">
            <a:avLst>
              <a:gd name="adj" fmla="val 3871"/>
            </a:avLst>
          </a:prstGeom>
          <a:solidFill>
            <a:srgbClr val="25374F"/>
          </a:solidFill>
          <a:ln/>
          <a:effectLst>
            <a:outerShdw blurRad="76200" dist="254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0" name="Shape 8"/>
          <p:cNvSpPr/>
          <p:nvPr/>
        </p:nvSpPr>
        <p:spPr>
          <a:xfrm>
            <a:off x="6428232" y="2084832"/>
            <a:ext cx="402336" cy="402336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Text 9"/>
          <p:cNvSpPr/>
          <p:nvPr/>
        </p:nvSpPr>
        <p:spPr>
          <a:xfrm>
            <a:off x="6428232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940296" y="20665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 as methods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28232" y="2651760"/>
            <a:ext cx="483717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procedures that let us organise, summarise, present and draw conclusions from data.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epidemiological work needs both: collect the data, then apply the methods.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22</a:t>
            </a:r>
            <a:endParaRPr lang="en-US" sz="1000" dirty="0"/>
          </a:p>
        </p:txBody>
      </p:sp>
      <p:pic>
        <p:nvPicPr>
          <p:cNvPr id="18" name="Image 0" descr="/home/claude/build/logo.png">
            <a:extLst>
              <a:ext uri="{FF2B5EF4-FFF2-40B4-BE49-F238E27FC236}">
                <a16:creationId xmlns:a16="http://schemas.microsoft.com/office/drawing/2014/main" id="{889A7274-A15D-2061-A5BB-62081FEBB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“Data”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5" name="Text 3"/>
          <p:cNvSpPr/>
          <p:nvPr/>
        </p:nvSpPr>
        <p:spPr>
          <a:xfrm>
            <a:off x="804672" y="208483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542032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Birthweight (kg), first 20 babies, a Harare maternity unit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834640"/>
            <a:ext cx="483717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2.23   4.10   3.42   2.78   3.85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3.27   3.83   3.05   2.60   3.19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2.40   3.10   2.96   3.31   4.01</a:t>
            </a: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endParaRPr lang="en-US" sz="13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could take any value on a continuous scale.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9" name="Text 7"/>
          <p:cNvSpPr/>
          <p:nvPr/>
        </p:nvSpPr>
        <p:spPr>
          <a:xfrm>
            <a:off x="6428232" y="208483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28232" y="2542032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of death, 506 patients, Newlands Clinic 2004–2017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8232" y="2834640"/>
            <a:ext cx="483717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TB: 71   ·   Malignancy: 54   ·   Meningitis: 39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Non-communicable disease: 60   ·   Unknown: 76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“in between” TB and malignancy.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22</a:t>
            </a:r>
            <a:endParaRPr lang="en-US" sz="1000" dirty="0"/>
          </a:p>
        </p:txBody>
      </p:sp>
      <p:pic>
        <p:nvPicPr>
          <p:cNvPr id="15" name="Image 0" descr="/home/claude/build/logo.png">
            <a:extLst>
              <a:ext uri="{FF2B5EF4-FFF2-40B4-BE49-F238E27FC236}">
                <a16:creationId xmlns:a16="http://schemas.microsoft.com/office/drawing/2014/main" id="{5ABF2D49-0807-FF56-5907-E2C63EB2C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35758" cy="73152"/>
          </a:xfrm>
          <a:prstGeom prst="roundRect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2635758" cy="2834640"/>
          </a:xfrm>
          <a:prstGeom prst="roundRect">
            <a:avLst/>
          </a:prstGeom>
          <a:solidFill>
            <a:srgbClr val="F4F5F7"/>
          </a:solidFill>
          <a:ln/>
          <a:effectLst>
            <a:outerShdw blurRad="63500" dist="25400" dir="5400000" algn="bl" rotWithShape="0">
              <a:srgbClr val="1B2A3D">
                <a:alpha val="14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Nominal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487168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· no order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2699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Sex, HIV status, cause of death.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67278" y="1828800"/>
            <a:ext cx="2635758" cy="73152"/>
          </a:xfrm>
          <a:prstGeom prst="round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Shape 8"/>
          <p:cNvSpPr/>
          <p:nvPr/>
        </p:nvSpPr>
        <p:spPr>
          <a:xfrm>
            <a:off x="3367278" y="1901952"/>
            <a:ext cx="2635758" cy="2834640"/>
          </a:xfrm>
          <a:prstGeom prst="roundRect">
            <a:avLst/>
          </a:prstGeom>
          <a:solidFill>
            <a:srgbClr val="F4F5F7"/>
          </a:solidFill>
          <a:ln/>
          <a:effectLst>
            <a:outerShdw blurRad="63500" dist="25400" dir="5400000" algn="bl" rotWithShape="0">
              <a:srgbClr val="1B2A3D">
                <a:alpha val="14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1" name="Text 9"/>
          <p:cNvSpPr/>
          <p:nvPr/>
        </p:nvSpPr>
        <p:spPr>
          <a:xfrm>
            <a:off x="3550158" y="2103120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50158" y="2487168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· ordered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50158" y="3017520"/>
            <a:ext cx="22699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clinical stage (I–IV), education level.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5916" y="1828800"/>
            <a:ext cx="2635758" cy="73152"/>
          </a:xfrm>
          <a:prstGeom prst="roundRect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5" name="Shape 13"/>
          <p:cNvSpPr/>
          <p:nvPr/>
        </p:nvSpPr>
        <p:spPr>
          <a:xfrm>
            <a:off x="6185916" y="1901952"/>
            <a:ext cx="2635758" cy="2834640"/>
          </a:xfrm>
          <a:prstGeom prst="roundRect">
            <a:avLst/>
          </a:prstGeom>
          <a:solidFill>
            <a:srgbClr val="F4F5F7"/>
          </a:solidFill>
          <a:ln/>
          <a:effectLst>
            <a:outerShdw blurRad="63500" dist="25400" dir="5400000" algn="bl" rotWithShape="0">
              <a:srgbClr val="1B2A3D">
                <a:alpha val="14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6" name="Text 14"/>
          <p:cNvSpPr/>
          <p:nvPr/>
        </p:nvSpPr>
        <p:spPr>
          <a:xfrm>
            <a:off x="6368796" y="2103120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68796" y="2487168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· counted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68796" y="3017520"/>
            <a:ext cx="22699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TB episodes, number of children.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04554" y="1828800"/>
            <a:ext cx="2635758" cy="73152"/>
          </a:xfrm>
          <a:prstGeom prst="roundRect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0" name="Shape 18"/>
          <p:cNvSpPr/>
          <p:nvPr/>
        </p:nvSpPr>
        <p:spPr>
          <a:xfrm>
            <a:off x="9004554" y="1901952"/>
            <a:ext cx="2635758" cy="2834640"/>
          </a:xfrm>
          <a:prstGeom prst="roundRect">
            <a:avLst/>
          </a:prstGeom>
          <a:solidFill>
            <a:srgbClr val="F4F5F7"/>
          </a:solidFill>
          <a:ln/>
          <a:effectLst>
            <a:outerShdw blurRad="63500" dist="25400" dir="5400000" algn="bl" rotWithShape="0">
              <a:srgbClr val="1B2A3D">
                <a:alpha val="14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21" name="Text 19"/>
          <p:cNvSpPr/>
          <p:nvPr/>
        </p:nvSpPr>
        <p:spPr>
          <a:xfrm>
            <a:off x="9187434" y="2103120"/>
            <a:ext cx="22699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87434" y="2487168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· measured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87434" y="3017520"/>
            <a:ext cx="22699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CD4 count, birthweight, BMI, viral load.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029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CD4 count is naturally continuous — but is often re-coded as ordinal (&lt;100 / 100–199 / ≥200 cells/mm³) for simpler presentation.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22</a:t>
            </a:r>
            <a:endParaRPr lang="en-US" sz="1000" dirty="0"/>
          </a:p>
        </p:txBody>
      </p:sp>
      <p:pic>
        <p:nvPicPr>
          <p:cNvPr id="28" name="Image 0" descr="/home/claude/build/logo.png">
            <a:extLst>
              <a:ext uri="{FF2B5EF4-FFF2-40B4-BE49-F238E27FC236}">
                <a16:creationId xmlns:a16="http://schemas.microsoft.com/office/drawing/2014/main" id="{6AFA0D04-83FB-0EAA-70A5-83A3B76FE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Newlands Clinic Data Dictionary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Shamu et al. 2022, Cancer Reports · risk factors for cancer among 3,442 patients starting ART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0698480" cy="1524000"/>
        </p:xfrm>
        <a:graphic>
          <a:graphicData uri="http://schemas.openxmlformats.org/drawingml/2006/table">
            <a:tbl>
              <a:tblPr/>
              <a:tblGrid>
                <a:gridCol w="704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Sex, education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 categorical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clinical stage; CD4 category (&lt;100 / 100–199 / ≥200)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 categorical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at ART initiation (years)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numerical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Cancer diagnosis (yes/no)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 categorical — the outcome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CEAE8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" name="Text 4"/>
          <p:cNvSpPr/>
          <p:nvPr/>
        </p:nvSpPr>
        <p:spPr>
          <a:xfrm>
            <a:off x="777240" y="484632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3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analysing any dataset: list every variable and label its type first.</a:t>
            </a:r>
            <a:endParaRPr lang="en-US" sz="1250" dirty="0"/>
          </a:p>
        </p:txBody>
      </p:sp>
      <p:sp>
        <p:nvSpPr>
          <p:cNvPr id="5" name="Text 5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22</a:t>
            </a:r>
            <a:endParaRPr lang="en-US" sz="1000" dirty="0"/>
          </a:p>
        </p:txBody>
      </p:sp>
      <p:pic>
        <p:nvPicPr>
          <p:cNvPr id="11" name="Image 0" descr="/home/claude/build/logo.png">
            <a:extLst>
              <a:ext uri="{FF2B5EF4-FFF2-40B4-BE49-F238E27FC236}">
                <a16:creationId xmlns:a16="http://schemas.microsoft.com/office/drawing/2014/main" id="{EC9249FC-1B5B-9C96-F33A-A98FEDFD1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Summarising Categorical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949440" cy="1463040"/>
          </a:xfrm>
          <a:prstGeom prst="roundRect">
            <a:avLst>
              <a:gd name="adj" fmla="val 75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5" name="Text 3"/>
          <p:cNvSpPr/>
          <p:nvPr/>
        </p:nvSpPr>
        <p:spPr>
          <a:xfrm>
            <a:off x="804672" y="2084832"/>
            <a:ext cx="6437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report the number and the percentage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542032"/>
            <a:ext cx="6437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percentage on its own is uninformative — always give the denominator too.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1672" cy="1737360"/>
          </a:xfrm>
          <a:prstGeom prst="roundRect">
            <a:avLst>
              <a:gd name="adj" fmla="val 6316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2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“64% (n = 388/605) of TENART cohort patients presented with WHO stage 3 or 4 disease at baseline.”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4800600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Shamu et al. 2017, PLoS ONE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22</a:t>
            </a:r>
            <a:endParaRPr lang="en-US" sz="1000" dirty="0"/>
          </a:p>
        </p:txBody>
      </p:sp>
      <p:pic>
        <p:nvPicPr>
          <p:cNvPr id="13" name="Image 0" descr="/home/claude/build/logo.png">
            <a:extLst>
              <a:ext uri="{FF2B5EF4-FFF2-40B4-BE49-F238E27FC236}">
                <a16:creationId xmlns:a16="http://schemas.microsoft.com/office/drawing/2014/main" id="{E1F9687A-801F-F2FB-DB65-5257E771E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Summarising Numerical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651760"/>
          </a:xfrm>
          <a:prstGeom prst="roundRect">
            <a:avLst>
              <a:gd name="adj" fmla="val 4138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5" name="Shape 3"/>
          <p:cNvSpPr/>
          <p:nvPr/>
        </p:nvSpPr>
        <p:spPr>
          <a:xfrm>
            <a:off x="804672" y="2084832"/>
            <a:ext cx="402336" cy="402336"/>
          </a:xfrm>
          <a:prstGeom prst="ellipse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" name="Text 4"/>
          <p:cNvSpPr/>
          <p:nvPr/>
        </p:nvSpPr>
        <p:spPr>
          <a:xfrm>
            <a:off x="804672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16736" y="20665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Roughly symmetric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48371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SD. The mean is the average; the SD describes the spread around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2651760"/>
          </a:xfrm>
          <a:prstGeom prst="roundRect">
            <a:avLst>
              <a:gd name="adj" fmla="val 4138"/>
            </a:avLst>
          </a:prstGeom>
          <a:solidFill>
            <a:srgbClr val="25374F"/>
          </a:solidFill>
          <a:ln/>
          <a:effectLst>
            <a:outerShdw blurRad="76200" dist="254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0" name="Shape 8"/>
          <p:cNvSpPr/>
          <p:nvPr/>
        </p:nvSpPr>
        <p:spPr>
          <a:xfrm>
            <a:off x="6428232" y="2084832"/>
            <a:ext cx="402336" cy="402336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Text 9"/>
          <p:cNvSpPr/>
          <p:nvPr/>
        </p:nvSpPr>
        <p:spPr>
          <a:xfrm>
            <a:off x="6428232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940296" y="20665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Skewed / has outliers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28232" y="2651760"/>
            <a:ext cx="48371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and IQR. The median is the middle value; the mean would be pulled by extreme values.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clinical lab values (viral load, CRP, income, length of stay) are usually skewed — default to median/IQR unless you have checked otherwise.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22</a:t>
            </a:r>
            <a:endParaRPr lang="en-US" sz="1000" dirty="0"/>
          </a:p>
        </p:txBody>
      </p:sp>
      <p:pic>
        <p:nvPicPr>
          <p:cNvPr id="18" name="Image 0" descr="/home/claude/build/logo.png">
            <a:extLst>
              <a:ext uri="{FF2B5EF4-FFF2-40B4-BE49-F238E27FC236}">
                <a16:creationId xmlns:a16="http://schemas.microsoft.com/office/drawing/2014/main" id="{EC3B3BE8-147E-8C58-E04E-D72CBDA04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“Table 1” — TENART Cohort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Shamu et al. 2017, PLoS ONE · N = 605, Newlands Clinic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1672" cy="12801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(years)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Continuous, skewed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34 (IQR: 17–42)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stage 3 or 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 (n=388)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pulmonary TB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 (n=129)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CEAE8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" name="Text 4"/>
          <p:cNvSpPr/>
          <p:nvPr/>
        </p:nvSpPr>
        <p:spPr>
          <a:xfrm>
            <a:off x="777240" y="429768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3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Table 1 mixes both kinds of summary, one row per variable, matched to that variable's type.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000" dirty="0"/>
          </a:p>
        </p:txBody>
      </p:sp>
      <p:pic>
        <p:nvPicPr>
          <p:cNvPr id="10" name="Image 0" descr="/home/claude/build/logo.png">
            <a:extLst>
              <a:ext uri="{FF2B5EF4-FFF2-40B4-BE49-F238E27FC236}">
                <a16:creationId xmlns:a16="http://schemas.microsoft.com/office/drawing/2014/main" id="{E1863A6C-C0ED-0786-37F9-DD1DF0745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Viral Load Is Reported as a Median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50876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2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described the population using proportions for categorical variables, and medians and interquartile ranges for continuous variables.”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724912"/>
            <a:ext cx="1050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Chimbetete, Shamu &amp; Keiser 2020, PLoS ONE — Zimbabwe's national third-line ART programme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6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Text 6"/>
          <p:cNvSpPr/>
          <p:nvPr/>
        </p:nvSpPr>
        <p:spPr>
          <a:xfrm>
            <a:off x="804672" y="3648456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34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78,845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4672" y="4306824"/>
            <a:ext cx="4837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baseline viral load, copies/ml (IQR: 17,436–256,329) at third-line ART commencement.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342900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25374F"/>
          </a:solidFill>
          <a:ln/>
          <a:effectLst>
            <a:outerShdw blurRad="76200" dist="254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1" name="Text 9"/>
          <p:cNvSpPr/>
          <p:nvPr/>
        </p:nvSpPr>
        <p:spPr>
          <a:xfrm>
            <a:off x="6428232" y="3685032"/>
            <a:ext cx="4837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load is heavily right-skewed — a long tail of very high values would pull the mean upward and misrepresent the typical patient.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000" dirty="0"/>
          </a:p>
        </p:txBody>
      </p:sp>
      <p:pic>
        <p:nvPicPr>
          <p:cNvPr id="15" name="Image 0" descr="/home/claude/build/logo.png">
            <a:extLst>
              <a:ext uri="{FF2B5EF4-FFF2-40B4-BE49-F238E27FC236}">
                <a16:creationId xmlns:a16="http://schemas.microsoft.com/office/drawing/2014/main" id="{C86C247D-57AC-DA33-339D-9CF7765C3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TWO KINDS OF STATISTICS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vs Inferential Statistics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651760"/>
          </a:xfrm>
          <a:prstGeom prst="roundRect">
            <a:avLst>
              <a:gd name="adj" fmla="val 4138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5" name="Shape 3"/>
          <p:cNvSpPr/>
          <p:nvPr/>
        </p:nvSpPr>
        <p:spPr>
          <a:xfrm>
            <a:off x="804672" y="2084832"/>
            <a:ext cx="402336" cy="402336"/>
          </a:xfrm>
          <a:prstGeom prst="ellipse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6" name="Text 4"/>
          <p:cNvSpPr/>
          <p:nvPr/>
        </p:nvSpPr>
        <p:spPr>
          <a:xfrm>
            <a:off x="804672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16736" y="20665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48371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Organise, summarise and present the data we collected. Describes the sample in front of us — nothing more.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2651760"/>
          </a:xfrm>
          <a:prstGeom prst="roundRect">
            <a:avLst>
              <a:gd name="adj" fmla="val 4138"/>
            </a:avLst>
          </a:prstGeom>
          <a:solidFill>
            <a:srgbClr val="25374F"/>
          </a:solidFill>
          <a:ln/>
          <a:effectLst>
            <a:outerShdw blurRad="76200" dist="254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0" name="Shape 8"/>
          <p:cNvSpPr/>
          <p:nvPr/>
        </p:nvSpPr>
        <p:spPr>
          <a:xfrm>
            <a:off x="6428232" y="2084832"/>
            <a:ext cx="402336" cy="402336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Text 9"/>
          <p:cNvSpPr/>
          <p:nvPr/>
        </p:nvSpPr>
        <p:spPr>
          <a:xfrm>
            <a:off x="6428232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940296" y="20665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Inferential statistics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28232" y="2651760"/>
            <a:ext cx="48371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probability theory to draw conclusions about a wider population from a representative sample.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epidemiological data almost always needs both, used for different purposes.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000" dirty="0"/>
          </a:p>
        </p:txBody>
      </p:sp>
      <p:pic>
        <p:nvPicPr>
          <p:cNvPr id="18" name="Image 0" descr="/home/claude/build/logo.png">
            <a:extLst>
              <a:ext uri="{FF2B5EF4-FFF2-40B4-BE49-F238E27FC236}">
                <a16:creationId xmlns:a16="http://schemas.microsoft.com/office/drawing/2014/main" id="{20BA3FC4-C9FA-89BD-F4B3-51B383D63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Inferential Example: ZIMPHIA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6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5" name="Text 3"/>
          <p:cNvSpPr/>
          <p:nvPr/>
        </p:nvSpPr>
        <p:spPr>
          <a:xfrm>
            <a:off x="804672" y="2048256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634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12.9%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706624"/>
            <a:ext cx="4837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national HIV prevalence, adults 15–64, Zimbabwe, 2020 (down from 13.4% in 2015–16).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25374F"/>
          </a:solidFill>
          <a:ln/>
          <a:effectLst>
            <a:outerShdw blurRad="76200" dist="254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Text 6"/>
          <p:cNvSpPr/>
          <p:nvPr/>
        </p:nvSpPr>
        <p:spPr>
          <a:xfrm>
            <a:off x="6428232" y="2084832"/>
            <a:ext cx="483717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tested every Zimbabwean adult. A large household sample was tested, and inferential methods produced a national population estimate, with a margin of uncertainty.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CEAE8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Text 8"/>
          <p:cNvSpPr/>
          <p:nvPr/>
        </p:nvSpPr>
        <p:spPr>
          <a:xfrm>
            <a:off x="777240" y="448056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3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Gonese, Musuka, Ruangtragool et al. 2020, AIDS Res Hum Retroviruses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000" dirty="0"/>
          </a:p>
        </p:txBody>
      </p:sp>
      <p:pic>
        <p:nvPicPr>
          <p:cNvPr id="14" name="Image 0" descr="/home/claude/build/logo.png">
            <a:extLst>
              <a:ext uri="{FF2B5EF4-FFF2-40B4-BE49-F238E27FC236}">
                <a16:creationId xmlns:a16="http://schemas.microsoft.com/office/drawing/2014/main" id="{565568DE-750D-8AE9-C685-CFDF808FC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SEEING THE METHODS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 · Regression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two continuous variables: birthweight and length of pregnancy (gestation).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6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6" name="Text 4"/>
          <p:cNvSpPr/>
          <p:nvPr/>
        </p:nvSpPr>
        <p:spPr>
          <a:xfrm>
            <a:off x="804672" y="2505456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634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+0.207 kg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163824"/>
            <a:ext cx="4837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birthweight for every additional week of gestation, from a fitted regression line.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8600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1B2A3D">
                <a:alpha val="18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9" name="Text 7"/>
          <p:cNvSpPr/>
          <p:nvPr/>
        </p:nvSpPr>
        <p:spPr>
          <a:xfrm>
            <a:off x="6428232" y="2542032"/>
            <a:ext cx="4837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lets us describe the relationship between two continuous variables with a single number — covered in full in Topic 6 of this module.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000" dirty="0"/>
          </a:p>
        </p:txBody>
      </p:sp>
      <p:pic>
        <p:nvPicPr>
          <p:cNvPr id="13" name="Image 0" descr="/home/claude/build/logo.png">
            <a:extLst>
              <a:ext uri="{FF2B5EF4-FFF2-40B4-BE49-F238E27FC236}">
                <a16:creationId xmlns:a16="http://schemas.microsoft.com/office/drawing/2014/main" id="{E72BF675-5DCE-DA71-CEDF-A42B81B8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SEEING THE METHODS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 · The Odds Ratio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Case–control investigation, typhoid outbreak, Harare 2011–2012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1672" cy="9601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Exposed (unboiled water)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exposed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C3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8C2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CEAE8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" name="Text 4"/>
          <p:cNvSpPr/>
          <p:nvPr/>
        </p:nvSpPr>
        <p:spPr>
          <a:xfrm>
            <a:off x="777240" y="434340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3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were roughly 3× more likely to have drunk unboiled water than controls (Polonsky et al. 2014; Muti et al. 2014).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000" dirty="0"/>
          </a:p>
        </p:txBody>
      </p:sp>
      <p:pic>
        <p:nvPicPr>
          <p:cNvPr id="10" name="Image 0" descr="/home/claude/build/logo.png">
            <a:extLst>
              <a:ext uri="{FF2B5EF4-FFF2-40B4-BE49-F238E27FC236}">
                <a16:creationId xmlns:a16="http://schemas.microsoft.com/office/drawing/2014/main" id="{3AB92022-772E-A730-4330-AF35FD4F7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SEEING THE METHODS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Statistics in Epidemiology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935099" y="2743200"/>
            <a:ext cx="8318754" cy="0"/>
          </a:xfrm>
          <a:prstGeom prst="line">
            <a:avLst/>
          </a:prstGeom>
          <a:noFill/>
          <a:ln w="19050">
            <a:solidFill>
              <a:srgbClr val="E3E7EB"/>
            </a:solidFill>
            <a:prstDash val="dash"/>
          </a:ln>
        </p:spPr>
        <p:txBody>
          <a:bodyPr/>
          <a:lstStyle/>
          <a:p>
            <a:endParaRPr lang="en-ZW"/>
          </a:p>
        </p:txBody>
      </p:sp>
      <p:sp>
        <p:nvSpPr>
          <p:cNvPr id="5" name="Shape 3"/>
          <p:cNvSpPr/>
          <p:nvPr/>
        </p:nvSpPr>
        <p:spPr>
          <a:xfrm>
            <a:off x="1551051" y="2377440"/>
            <a:ext cx="768096" cy="768096"/>
          </a:xfrm>
          <a:prstGeom prst="ellipse">
            <a:avLst/>
          </a:prstGeom>
          <a:solidFill>
            <a:srgbClr val="5B9A5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6" name="Text 4"/>
          <p:cNvSpPr/>
          <p:nvPr/>
        </p:nvSpPr>
        <p:spPr>
          <a:xfrm>
            <a:off x="1551051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4098" y="3291840"/>
            <a:ext cx="266200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a suitable sample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3969" y="2377440"/>
            <a:ext cx="768096" cy="768096"/>
          </a:xfrm>
          <a:prstGeom prst="ellipse">
            <a:avLst/>
          </a:prstGeom>
          <a:solidFill>
            <a:srgbClr val="F2A93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9" name="Text 7"/>
          <p:cNvSpPr/>
          <p:nvPr/>
        </p:nvSpPr>
        <p:spPr>
          <a:xfrm>
            <a:off x="4323969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77016" y="3291840"/>
            <a:ext cx="266200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numerically &amp; graphically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96887" y="2377440"/>
            <a:ext cx="768096" cy="768096"/>
          </a:xfrm>
          <a:prstGeom prst="ellipse">
            <a:avLst/>
          </a:prstGeom>
          <a:solidFill>
            <a:srgbClr val="2E8B9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2" name="Text 10"/>
          <p:cNvSpPr/>
          <p:nvPr/>
        </p:nvSpPr>
        <p:spPr>
          <a:xfrm>
            <a:off x="7096887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49934" y="3291840"/>
            <a:ext cx="266200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from sample to population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869805" y="2377440"/>
            <a:ext cx="768096" cy="768096"/>
          </a:xfrm>
          <a:prstGeom prst="ellipse">
            <a:avLst/>
          </a:prstGeom>
          <a:solidFill>
            <a:srgbClr val="E63425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5" name="Text 13"/>
          <p:cNvSpPr/>
          <p:nvPr/>
        </p:nvSpPr>
        <p:spPr>
          <a:xfrm>
            <a:off x="9869805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22852" y="3291840"/>
            <a:ext cx="266200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risk &amp; test hypotheses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846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runs through the entire life of a study — if the data collected are unsuitable, no analysis can rescue the project.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000" dirty="0"/>
          </a:p>
        </p:txBody>
      </p:sp>
      <p:pic>
        <p:nvPicPr>
          <p:cNvPr id="21" name="Image 0" descr="/home/claude/build/logo.png">
            <a:extLst>
              <a:ext uri="{FF2B5EF4-FFF2-40B4-BE49-F238E27FC236}">
                <a16:creationId xmlns:a16="http://schemas.microsoft.com/office/drawing/2014/main" id="{3590E142-F878-CF9F-5042-15836700F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Statistics Can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08676" cy="1691640"/>
          </a:xfrm>
          <a:prstGeom prst="roundRect">
            <a:avLst>
              <a:gd name="adj" fmla="val 6486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8600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 TB diagnosis, what is the chance of surviving the next year?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31636" y="1874520"/>
            <a:ext cx="5408676" cy="1691640"/>
          </a:xfrm>
          <a:prstGeom prst="roundRect">
            <a:avLst>
              <a:gd name="adj" fmla="val 6486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7" name="Text 5"/>
          <p:cNvSpPr/>
          <p:nvPr/>
        </p:nvSpPr>
        <p:spPr>
          <a:xfrm>
            <a:off x="6505956" y="1874520"/>
            <a:ext cx="48600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how much does bed-net use reduce malaria risk?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5408676" cy="1691640"/>
          </a:xfrm>
          <a:prstGeom prst="roundRect">
            <a:avLst>
              <a:gd name="adj" fmla="val 6486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8600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BCG-vaccinated infants less likely to develop TB?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1636" y="3840480"/>
            <a:ext cx="5408676" cy="1691640"/>
          </a:xfrm>
          <a:prstGeom prst="roundRect">
            <a:avLst>
              <a:gd name="adj" fmla="val 6486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Text 9"/>
          <p:cNvSpPr/>
          <p:nvPr/>
        </p:nvSpPr>
        <p:spPr>
          <a:xfrm>
            <a:off x="6505956" y="3840480"/>
            <a:ext cx="48600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switching ART regimen change hypertension risk?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000" dirty="0"/>
          </a:p>
        </p:txBody>
      </p:sp>
      <p:pic>
        <p:nvPicPr>
          <p:cNvPr id="15" name="Image 0" descr="/home/claude/build/logo.png">
            <a:extLst>
              <a:ext uri="{FF2B5EF4-FFF2-40B4-BE49-F238E27FC236}">
                <a16:creationId xmlns:a16="http://schemas.microsoft.com/office/drawing/2014/main" id="{7FD32170-5CA0-E9E3-0B43-968741E1D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 in This Module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10916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Data presentation: tables and figures</a:t>
            </a:r>
            <a:endParaRPr lang="en-US" sz="1900" dirty="0"/>
          </a:p>
          <a:p>
            <a:pPr marL="342900" indent="-342900" algn="l">
              <a:lnSpc>
                <a:spcPct val="125000"/>
              </a:lnSpc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Probability &amp; distributions (Normal, Binomial)</a:t>
            </a:r>
            <a:endParaRPr lang="en-US" sz="1900" dirty="0"/>
          </a:p>
          <a:p>
            <a:pPr marL="342900" indent="-342900" algn="l">
              <a:lnSpc>
                <a:spcPct val="125000"/>
              </a:lnSpc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· Statistical inference &amp; hypothesis testing</a:t>
            </a:r>
            <a:endParaRPr lang="en-US" sz="1900" dirty="0"/>
          </a:p>
          <a:p>
            <a:pPr marL="342900" indent="-342900" algn="l">
              <a:lnSpc>
                <a:spcPct val="125000"/>
              </a:lnSpc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· Comparing means &amp; proportions (t-tests, chi-square)</a:t>
            </a:r>
            <a:endParaRPr lang="en-US" sz="1900" dirty="0"/>
          </a:p>
          <a:p>
            <a:pPr marL="342900" indent="-342900" algn="l">
              <a:lnSpc>
                <a:spcPct val="125000"/>
              </a:lnSpc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 · Measures of association &amp; confounding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000" dirty="0"/>
          </a:p>
        </p:txBody>
      </p:sp>
      <p:pic>
        <p:nvPicPr>
          <p:cNvPr id="8" name="Image 0" descr="/home/claude/build/logo.png">
            <a:extLst>
              <a:ext uri="{FF2B5EF4-FFF2-40B4-BE49-F238E27FC236}">
                <a16:creationId xmlns:a16="http://schemas.microsoft.com/office/drawing/2014/main" id="{0CC8EFB6-B6D4-0398-012E-C27A30D5D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10916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means both data and methods.</a:t>
            </a:r>
            <a:endParaRPr lang="en-US" sz="1800" dirty="0"/>
          </a:p>
          <a:p>
            <a:pPr marL="342900" indent="-342900" algn="l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data first: nominal, ordinal, discrete, or continuous.</a:t>
            </a:r>
            <a:endParaRPr lang="en-US" sz="1800" dirty="0"/>
          </a:p>
          <a:p>
            <a:pPr marL="342900" indent="-342900" algn="l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summary to the type: percentages for categorical; mean/SD or median/IQR for numerical.</a:t>
            </a:r>
            <a:endParaRPr lang="en-US" sz="1800" dirty="0"/>
          </a:p>
          <a:p>
            <a:pPr marL="342900" indent="-342900" algn="l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describes the sample; inferential statistics generalises to the population.</a:t>
            </a:r>
            <a:endParaRPr lang="en-US" sz="1800" dirty="0"/>
          </a:p>
          <a:p>
            <a:pPr marL="342900" indent="-342900" algn="l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is applied across the whole life of a study, not just at the analysis stage.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000" dirty="0"/>
          </a:p>
        </p:txBody>
      </p:sp>
      <p:pic>
        <p:nvPicPr>
          <p:cNvPr id="8" name="Image 0" descr="/home/claude/build/logo.png">
            <a:extLst>
              <a:ext uri="{FF2B5EF4-FFF2-40B4-BE49-F238E27FC236}">
                <a16:creationId xmlns:a16="http://schemas.microsoft.com/office/drawing/2014/main" id="{7DFF2549-310F-660D-A060-D4381003A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SELF-CHECK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554480"/>
          </a:xfrm>
          <a:prstGeom prst="roundRect">
            <a:avLst>
              <a:gd name="adj" fmla="val 7059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105064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273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clinical stage (I, II, III, IV) at ART initiation — what type of data is this, and how should it be summarised?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a neighbour, then compare with the group.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interactive quiz (6 questions) is in the accompanying study notes.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000" dirty="0"/>
          </a:p>
        </p:txBody>
      </p:sp>
      <p:pic>
        <p:nvPicPr>
          <p:cNvPr id="11" name="Image 0" descr="/home/claude/build/logo.png">
            <a:extLst>
              <a:ext uri="{FF2B5EF4-FFF2-40B4-BE49-F238E27FC236}">
                <a16:creationId xmlns:a16="http://schemas.microsoft.com/office/drawing/2014/main" id="{EF8D204B-9C9C-061B-3567-508E5D7D2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Peer-Reviewed 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49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Shamu T, Chimbetete C, Egger M, Mudzviti T. PLoS One. 2021;16(6):e0253000.</a:t>
            </a:r>
            <a:endParaRPr lang="en-US" sz="1250" dirty="0"/>
          </a:p>
          <a:p>
            <a:pPr marL="342900" indent="-342900" algn="l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Chimbetete C, Mugglin C, Shamu T, et al. Trop Med Int Health. 2017;22(7):839–845.</a:t>
            </a:r>
            <a:endParaRPr lang="en-US" sz="1250" dirty="0"/>
          </a:p>
          <a:p>
            <a:pPr marL="342900" indent="-342900" algn="l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Shamu T, Chimbetete C, Shawarira-Bote S, Mudzviti T, Luthy R. PLoS One. 2017;12(10):e0186726.</a:t>
            </a:r>
            <a:endParaRPr lang="en-US" sz="1250" dirty="0"/>
          </a:p>
          <a:p>
            <a:pPr marL="342900" indent="-342900" algn="l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Chimbetete C, Shamu T, Roelens M, Bote S, Mudzviti T, Keiser O. PLoS One. 2020;15(8):e0237904.</a:t>
            </a:r>
            <a:endParaRPr lang="en-US" sz="1250" dirty="0"/>
          </a:p>
          <a:p>
            <a:pPr marL="342900" indent="-342900" algn="l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Chimbetete C, Shamu T, Keiser O. PLoS One. 2020;15(3):e0228601.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172200" y="1828800"/>
            <a:ext cx="5349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Shamu T, Chimbetete C, et al. Cancer Rep (Hoboken). 2022;5(9):e1597.</a:t>
            </a:r>
            <a:endParaRPr lang="en-US" sz="1250" dirty="0"/>
          </a:p>
          <a:p>
            <a:pPr marL="342900" indent="-342900" algn="l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Shawarira-Bote S, Shamu T, Chimbetete C. BMC Infect Dis. 2019;19(1):715.</a:t>
            </a:r>
            <a:endParaRPr lang="en-US" sz="1250" dirty="0"/>
          </a:p>
          <a:p>
            <a:pPr marL="342900" indent="-342900" algn="l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Gonese E, Musuka G, Ruangtragool L, et al. AIDS Res Hum Retroviruses. 2020.</a:t>
            </a:r>
            <a:endParaRPr lang="en-US" sz="1250" dirty="0"/>
          </a:p>
          <a:p>
            <a:pPr marL="342900" indent="-342900" algn="l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Polonsky JA, Martínez-Pino I, Nackers F, et al. PLoS One. 2014;9(12):e114702.</a:t>
            </a:r>
            <a:endParaRPr lang="en-US" sz="1250" dirty="0"/>
          </a:p>
          <a:p>
            <a:pPr marL="342900" indent="-342900" algn="l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Muti M, Gombe N, Tshimanga M, et al. Pan Afr Med J. 2014;18:309.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· Newlands Clinic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25912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000" dirty="0"/>
          </a:p>
        </p:txBody>
      </p:sp>
      <p:pic>
        <p:nvPicPr>
          <p:cNvPr id="9" name="Image 0" descr="/home/claude/build/logo.png">
            <a:extLst>
              <a:ext uri="{FF2B5EF4-FFF2-40B4-BE49-F238E27FC236}">
                <a16:creationId xmlns:a16="http://schemas.microsoft.com/office/drawing/2014/main" id="{7986C12C-D87A-DC8B-ADAA-3F4570916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493" y="182880"/>
            <a:ext cx="1188720" cy="7863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1897</Words>
  <Application>Microsoft Office PowerPoint</Application>
  <PresentationFormat>Widescreen</PresentationFormat>
  <Paragraphs>258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Statistics for Epidemiology — Module 2, Topic 1</dc:title>
  <dc:subject>PptxGenJS Presentation</dc:subject>
  <dc:creator>Newlands Clinic — Research Masterclass for Clinicians</dc:creator>
  <cp:lastModifiedBy>Sydney Malunga</cp:lastModifiedBy>
  <cp:revision>1</cp:revision>
  <dcterms:created xsi:type="dcterms:W3CDTF">2026-08-17T11:49:57Z</dcterms:created>
  <dcterms:modified xsi:type="dcterms:W3CDTF">2026-08-18T08:20:19Z</dcterms:modified>
</cp:coreProperties>
</file>